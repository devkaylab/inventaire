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</c:v>
                </c:pt>
              </c:strCache>
            </c:strRef>
          </c:tx>
          <c:spPr>
            <a:solidFill>
              <a:srgbClr val="1F7A5C"/>
            </a:solidFill>
            <a:effectLst/>
          </c:spPr>
          <c:invertIfNegative val="0"/>
          <c:dLbls>
            <c:numFmt formatCode="#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Critiques</c:v>
                  </c:pt>
                  <c:pt idx="1">
                    <c:v>Élevés</c:v>
                  </c:pt>
                  <c:pt idx="2">
                    <c:v>Moyens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Socle en place</c:v>
                </c:pt>
              </c:strCache>
            </c:strRef>
          </c:tx>
          <c:spPr>
            <a:solidFill>
              <a:srgbClr val="B07A1E"/>
            </a:solidFill>
            <a:effectLst/>
          </c:spPr>
          <c:invertIfNegative val="0"/>
          <c:dLbls>
            <c:numFmt formatCode="#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Critiques</c:v>
                  </c:pt>
                  <c:pt idx="1">
                    <c:v>Élevés</c:v>
                  </c:pt>
                  <c:pt idx="2">
                    <c:v>Moyens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En cours</c:v>
                </c:pt>
              </c:strCache>
            </c:strRef>
          </c:tx>
          <c:spPr>
            <a:solidFill>
              <a:srgbClr val="9B2C2C"/>
            </a:solidFill>
            <a:effectLst/>
          </c:spPr>
          <c:invertIfNegative val="0"/>
          <c:dLbls>
            <c:numFmt formatCode="#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Critiques</c:v>
                  </c:pt>
                  <c:pt idx="1">
                    <c:v>Élevés</c:v>
                  </c:pt>
                  <c:pt idx="2">
                    <c:v>Moyens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1</c:v>
                </c:pt>
              </c:numCache>
            </c:numRef>
          </c:val>
        </c:ser>
        <c:dLbls>
          <c:numFmt formatCode="#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</c:scaling>
        <c:delete val="0"/>
        <c:axPos val="b"/>
        <c:majorGridlines>
          <c:spPr>
            <a:ln w="12700" cap="flat">
              <a:solidFill>
                <a:srgbClr val="E8ED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C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3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de synthèse destiné aux clients entreprises. L’audit du 13 août 2026 a relevé 15 manquements (2 critiques, 7 élevés, 6 moyens). Au 19 août : 13 clos — dont le suivi d’activité, rendu agrégé ce jour-là —, 1 au socle en place (mentions légales, activation à l’immatriculation) et 1 en relecture (documentation juridique).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Plus aucun constat critique ni élevé n’est ouvert. Le seul point en cours relève de la relecture juridique, pas de la sécurité technique.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quatre renforcements datent du 19 août 2026. Ils ne figuraient pas dans l’audit.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 à mettre en avant devant un CSE ou un service juridique : le produit ne permet plus de suivre l’activité individuelle en direct.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Sécurité et protection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données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2918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Quantinvo — bilan de l’audit du 13 août 2026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373075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synthèse à l’usage de nos clients entreprises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Devkaylab · état au 19 août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0" y="160020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784080" y="16002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constats relevés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0" y="283464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5F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9784080" y="28346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0" y="406908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E8B8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9784080" y="40690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démarche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audit volontaire, mené avant toute mise en service à grande échelle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F4F6F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502920" cy="502920"/>
          </a:xfrm>
          <a:prstGeom prst="ellipse">
            <a:avLst/>
          </a:prstGeom>
          <a:solidFill>
            <a:srgbClr val="122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880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Quantinvo traite des données de salariés — qui compte quoi, où et quand. Nous avons voulu savoir ce que le produit faisait réellement, avant de le proposer largement.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61688" y="169164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F4F6F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008" y="1965960"/>
            <a:ext cx="502920" cy="502920"/>
          </a:xfrm>
          <a:prstGeom prst="ellipse">
            <a:avLst/>
          </a:prstGeom>
          <a:solidFill>
            <a:srgbClr val="122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36008" y="2606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Périmètre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36008" y="3017520"/>
            <a:ext cx="2880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mobile, tableau de bord web, base de données et ses règles d’accès, sous-traitants, documents obligatoires et information des personnes.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83296" y="169164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F4F6F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7616" y="1965960"/>
            <a:ext cx="502920" cy="502920"/>
          </a:xfrm>
          <a:prstGeom prst="ellipse">
            <a:avLst/>
          </a:prstGeom>
          <a:solidFill>
            <a:srgbClr val="122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57616" y="2606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Méthode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357616" y="3017520"/>
            <a:ext cx="2880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du code et du schéma de la base, ligne par ligne — pas un questionnaire déclaratif. Chaque constat a été reproduit avant d’être corrigé, puis vérifié après correction.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L’audit a été conduit sur notre initiative, sans obligation réglementaire ni incident déclencheur.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nous en sommes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15 constats, par gravité et par état au 19 août 2026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66751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883664"/>
            <a:ext cx="201168" cy="201168"/>
          </a:xfrm>
          <a:prstGeom prst="ellipse">
            <a:avLst/>
          </a:prstGeom>
          <a:solidFill>
            <a:srgbClr val="1F7A5C"/>
          </a:solidFill>
          <a:ln w="12700">
            <a:solidFill>
              <a:srgbClr val="1F7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01000" y="18288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001000" y="21305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Corrigé, vérifié, et protégé par un test automatique qui fait échouer toute régression.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80960" y="3026664"/>
            <a:ext cx="201168" cy="201168"/>
          </a:xfrm>
          <a:prstGeom prst="ellipse">
            <a:avLst/>
          </a:prstGeom>
          <a:solidFill>
            <a:srgbClr val="B07A1E"/>
          </a:solidFill>
          <a:ln w="12700">
            <a:solidFill>
              <a:srgbClr val="B07A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01000" y="29718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Socle en place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01000" y="32735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page des mentions légales existe ; son activation attend l’immatriculation de l’activité éditrice.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680960" y="4169664"/>
            <a:ext cx="201168" cy="201168"/>
          </a:xfrm>
          <a:prstGeom prst="ellipse">
            <a:avLst/>
          </a:prstGeom>
          <a:solidFill>
            <a:srgbClr val="9B2C2C"/>
          </a:solidFill>
          <a:ln w="12700">
            <a:solidFill>
              <a:srgbClr val="9B2C2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01000" y="41148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001000" y="44165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documentation juridique, rédigée, attend sa relecture par un conseil.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est responsable de quoi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 que pose tout service juridique — voici la réponse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4F6F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7452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Vous, entreprise cliente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19456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Responsable de traitement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4709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d’inventaire : comptages, audits, activité des équipes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décidez des finalités, des durées et de la base légale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informez vos salariés et consultez votre CSE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l’interlocuteur de vos salariés pour leurs droits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4F6F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87452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Devkaylab, éditeur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0" y="219456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Sous-traitant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83680" y="2743200"/>
            <a:ext cx="4709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traitons ces données sur vos seules instructions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assurons la sécurité technique et le cloisonnement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vous alertons sans délai en cas de violation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restons responsables pour nos propres données de relation client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répartition se formalise par un contrat de sous-traitance (article 28 du RGPD) : les clauses sont rédigées et vous sont remises sur demande ; leur relecture juridique est en cours.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constats critiques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deux corrigés, vérifiés et sous test automatique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30352" cy="530352"/>
          </a:xfrm>
          <a:prstGeom prst="ellipse">
            <a:avLst/>
          </a:prstGeom>
          <a:solidFill>
            <a:srgbClr val="9B2C2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17320" y="16459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suivi en direct n’était pas cloisonné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17320" y="205740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 —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canaux de suivi temps réel ne vérifiaient aucune autorisation à l’abonnement : techniquement, l’activité d’un inventaire pouvait être écoutée depuis l’extérieur de l’équipe.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417320" y="2670048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a été fait —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Canaux privés des deux côtés, et autorisation vérifiée par la base au moment de l’abonnement — plus seulement par l’application.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530352" cy="530352"/>
          </a:xfrm>
          <a:prstGeom prst="ellipse">
            <a:avLst/>
          </a:prstGeom>
          <a:solidFill>
            <a:srgbClr val="9B2C2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17320" y="35661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failles connues dans la lecture des fichiers Excel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417320" y="397764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 —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bibliothèque qui lit vos fichiers d’articles et de stock portait deux vulnérabilités publiées, sans version corrigée disponible sur le canal habituel.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417320" y="4590288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a été fait —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officielle corrigée récupérée à la source et figée dans le projet. Les deux failles ont disparu des contrôles de sécurité, un test empêche tout retour en arrière.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trace d’exploitation n’a été relevée : ces constats portaient sur des possibilités, non sur des incidents.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Constats de gravité élevée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constats — 6 clos, 1 au socle en place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402336" cy="402336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162763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Effacement des comptes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206240" y="1627632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suppression d’un compte échouait après un comptage.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509760" y="162763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2231136"/>
            <a:ext cx="402336" cy="402336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07008" y="223113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Durées de conservation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06240" y="2231136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durée posée ni outillée.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509760" y="223113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402336" cy="402336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07008" y="28346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d’activité des salariés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06240" y="28346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nominatif du travail de chacun, en direct.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509760" y="28346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3438144"/>
            <a:ext cx="402336" cy="402336"/>
          </a:xfrm>
          <a:prstGeom prst="ellipse">
            <a:avLst/>
          </a:prstGeom>
          <a:solidFill>
            <a:srgbClr val="B07A1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07008" y="343814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Mentions légales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3438144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site n’identifiait pas son éditeur.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509760" y="343814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Socle en place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041648"/>
            <a:ext cx="402336" cy="402336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07008" y="40416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Politique de confidentialité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06240" y="4041648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Sous-traitants et transferts non déclarés.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509760" y="40416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4645152"/>
            <a:ext cx="402336" cy="402336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E6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07008" y="464515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Hébergement de la politique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206240" y="4645152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L’adresse publiée était introuvable.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509760" y="464515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80" y="5248656"/>
            <a:ext cx="402336" cy="402336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E7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07008" y="52486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Robustesse des mots de passe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206240" y="5248656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trop bas pour un mot de passe seul.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509760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 : la page existe et se remplit depuis un seul fichier ; elle reste discrète tant que l’activité éditrice n’est pas immatriculée — une identification incomplète ne vaut pas mieux qu’aucune page.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Constats de gravité moyenne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constats — 5 clos, 1 en relecture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02336" cy="402336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169164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En-têtes de sécurité du site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480560" y="169164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en-tête : réglages navigateur permissifs.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509760" y="16916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2350008"/>
            <a:ext cx="402336" cy="402336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07008" y="235000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d’invitation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80560" y="2350008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Permettait de tester l’existence d’une adresse.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509760" y="235000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3008376"/>
            <a:ext cx="402336" cy="402336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07008" y="300837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Formulaires publics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3008376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distinctes servant d’oracle ; aucune limite.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509760" y="300837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3666744"/>
            <a:ext cx="402336" cy="402336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07008" y="366674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des actions admin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80560" y="3666744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journal : qui a fait quoi restait inconnu.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509760" y="366674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325112"/>
            <a:ext cx="402336" cy="402336"/>
          </a:xfrm>
          <a:prstGeom prst="ellipse">
            <a:avLst/>
          </a:prstGeom>
          <a:solidFill>
            <a:srgbClr val="9B2C2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07008" y="432511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et contrat de sous-traitance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80560" y="4325112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obligatoires non établis.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509760" y="43251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4983480"/>
            <a:ext cx="402336" cy="402336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07008" y="498348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des droits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80560" y="49834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outil pour accéder à ses données.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509760" y="49834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correction est accompagnée d’un test automatique : réintroduire le défaut fait échouer la suite avant toute mise en ligne.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Au-delà de l’audit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Renforcements décidés depuis, sans qu’aucun constat ne les impose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4F6F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84248"/>
            <a:ext cx="457200" cy="457200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08760" y="1947672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session ne survit plus au navigateur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08760" y="237744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Fermer le navigateur déconnecte. Indispensable sur les postes partagés d’un magasin, où la session précédente restait ouverte.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4F6F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984248"/>
            <a:ext cx="457200" cy="457200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132320" y="1947672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authentification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132320" y="237744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à usage unique en plus du mot de passe. Exigé par le serveur lui-même pour toute action d’administration, pas seulement par l’interface.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4F6F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950208"/>
            <a:ext cx="457200" cy="457200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08760" y="3913632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de passe renforcés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508760" y="43434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caractères, majuscule, minuscule, chiffre et symbole. Les mots de passe présents dans des fuites connues sont refusés.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4F6F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3950208"/>
            <a:ext cx="457200" cy="457200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132320" y="3913632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Réinitialisation autonome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132320" y="43434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« mot de passe oublié » complet, sans divulguer si une adresse correspond à un compte existant.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vivent vos données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Hébergement, prestataires et transferts — déclarés sans exception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12233A"/>
          </a:solidFill>
          <a:ln w="12700">
            <a:solidFill>
              <a:srgbClr val="1223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745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Irlande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5840" y="25603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données, comptes et suivi en direct, hébergés dans l’Union européenne (région eu-west-1).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989320" y="16459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sous-traitants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89320" y="20574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635240" y="205740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données, comptes, temps réel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89320" y="249631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635240" y="2496312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Hébergement du site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89320" y="29352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635240" y="293522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Courriers électroniques de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33741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35240" y="337413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Acheminement des notifications mobiles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79476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traceur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133088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cookie publicitaire ni mesure d’audience. Aucun bandeau à afficher à vos salariés.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61688" y="379476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Cloisonnement en 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61688" y="4133088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droits sont appliqués ligne par ligne par la base de données, pas seulement par l’application.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83296" y="379476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: 72 heures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083296" y="4133088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 écrite. Sur vos données d’inventaire, nous vous alertons sans délai — c’est vous qui notifiez la CNIL.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prestataires établis hors de l’Union européenne, et les transferts qui en découlent, sont nommés dans notre politique de confidentialité et dans notre registre des traitements.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suivi d’activité, repensé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produit du 19 août 2026 — la question que pose tout CSE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697480"/>
          </a:xfrm>
          <a:prstGeom prst="roundRect">
            <a:avLst>
              <a:gd name="adj" fmla="val 3390"/>
            </a:avLst>
          </a:prstGeom>
          <a:solidFill>
            <a:srgbClr val="F4F6F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4708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B2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nom de chaque personne, en direct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L’écran ouvert et la zone en cours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battement toutes les 30 secondes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L’application au premier plan — un téléphone rangé devenait un signal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49240" cy="2697480"/>
          </a:xfrm>
          <a:prstGeom prst="roundRect">
            <a:avLst>
              <a:gd name="adj" fmla="val 3390"/>
            </a:avLst>
          </a:prstGeom>
          <a:solidFill>
            <a:srgbClr val="F4F6F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84708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7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Depuis le 19 août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28600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compteurs : appareils connectés, en comptage, en audit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pilotage passe par l’avancement des zones, pas par les personnes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signal ne porte plus aucun nom, ni aucun identifiant de compte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L’état d’avant-plan a purement disparu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57200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12233A"/>
          </a:solidFill>
          <a:ln w="12700">
            <a:solidFill>
              <a:srgbClr val="1223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709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cela change pour vous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5029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D8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lignes directrices européennes retenaient deux critères pour imposer une analyse d’impact : surveillance systématique et personnes vulnérables. Le premier tombe — il n’en reste qu’un. L’AIPD n’est donc, en principe, plus requise ; cela reste à motiver par écrit avec votre conseil.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reste enregistré : l’auteur de chaque comptage, restitué dans le rapport. Arbitrer un écart suppose de savoir qui a compté — c’est une autre finalité, consultée à la demande.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reste ouvert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points, aucun ne portant sur la sécurité technique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28216"/>
            <a:ext cx="530352" cy="530352"/>
          </a:xfrm>
          <a:prstGeom prst="ellipse">
            <a:avLst/>
          </a:prstGeom>
          <a:solidFill>
            <a:srgbClr val="9B2C2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1732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Documentation juridique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903720" y="171907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Rédigée · relecture à venir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1732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registre des traitements (huit traitements, établis en relisant le code) et les clauses de sous-traitance de l’article 28 sont écrits et disponibles. Ils n’ont pas encore été relus par un conseil juridique, et ne sont donc pas opposables en l’état à un tiers.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417320" y="30632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i="1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— </a:t>
            </a:r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prévue avant la première mise en service contractuelle.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3831336"/>
            <a:ext cx="530352" cy="530352"/>
          </a:xfrm>
          <a:prstGeom prst="ellipse">
            <a:avLst/>
          </a:prstGeom>
          <a:solidFill>
            <a:srgbClr val="B07A1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17320" y="37947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Mentions légales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903720" y="382219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Socle en place · activation administrative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17320" y="4206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page existe et se remplit depuis un seul fichier. Elle reste volontairement discrète tant que l’activité éditrice n’est pas immatriculée : une identification à trous ne vaut pas mieux qu’aucune page.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417320" y="51663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i="1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— </a:t>
            </a:r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en une modification, le jour de l’immatriculation.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46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constat critique ni de gravité élevée ne reste ouvert sur la sécurité du produit.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vous revient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de traitement, trois points à traiter avant le premier inventaire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122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508760" y="17647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Informer vos salariés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08760" y="216712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est observé pendant un inventaire, pourquoi, et pendant combien de temps. Nous vous remettons une note type, à adapter et à diffuser.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566928" cy="566928"/>
          </a:xfrm>
          <a:prstGeom prst="ellipse">
            <a:avLst/>
          </a:prstGeom>
          <a:solidFill>
            <a:srgbClr val="122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30906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Informer votre CSE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08760" y="349300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suivi en direct ayant été retiré, l’obligation de consultation se discute — mais informer le comité social et économique coûte peu et sécurise la démarche.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122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08760" y="44165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Écarter l’analyse d’impact par écrit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08760" y="481888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critère sur six reste rempli : l’AIPD n’est en principe plus requise. Une AIPD écartée se motive par écrit — elle ne se déduit pas d’un silence. Notre analyse vous sert de base.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62356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F4F6F8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6235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fournissons les documents ; la décision et la diffusion vous appartiennent, parce que vous seul déterminez la finalité du traitement.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Vos questions, nos réponses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demandent le plus souvent les services juridiques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384048" cy="384048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66420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données sortent-elles de l’Union européenne 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214884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est en Irlande. Certains prestataires sont établis aux États-Unis ; tous sont nommés dans notre politique.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691640"/>
            <a:ext cx="384048" cy="384048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12280" y="166420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magasin peut-il voir les inventaires d’un autre 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12280" y="214884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Non. Le cloisonnement est appliqué par la base de données ligne par ligne, indépendamment de l’application.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3154680"/>
            <a:ext cx="384048" cy="384048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312724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Utilisez-vous des cookies ou du traçage 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36118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Aucun. Ni mesure d’audience, ni publicité, ni bandeau de consentement.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3640" y="3154680"/>
            <a:ext cx="384048" cy="384048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12280" y="312724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se passe-t-il en cas de violation de données 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12280" y="36118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 écrite. Nous vous alertons sans délai ; sur vos données, c’est vous qui notifiez la CNIL sous 72 heures.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4617720"/>
            <a:ext cx="384048" cy="384048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459028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salariés sont-ils surveillés pendant un inventaire 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50749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Non. Le superviseur voit des compteurs agrégés, jamais qui fait quoi en direct. L’auteur d’un comptage n’apparaît que dans le rapport, après coup.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4617720"/>
            <a:ext cx="384048" cy="384048"/>
          </a:xfrm>
          <a:prstGeom prst="ellipse">
            <a:avLst/>
          </a:prstGeom>
          <a:solidFill>
            <a:srgbClr val="1F7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459028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salarié peut-il récupérer ou effacer ses données ?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12280" y="50749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 : export en un clic depuis son compte, et suppression sur demande — les comptages sont alors anonymisés, pas détruits.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Notre engagement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414016"/>
            <a:ext cx="182880" cy="182880"/>
          </a:xfrm>
          <a:prstGeom prst="ellipse">
            <a:avLst/>
          </a:prstGeom>
          <a:solidFill>
            <a:srgbClr val="5FD3A6"/>
          </a:solidFill>
          <a:ln w="12700">
            <a:solidFill>
              <a:srgbClr val="5FD3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33172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D8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correction est protégée par un test automatique : un défaut réintroduit fait échouer la mise en ligne.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282696"/>
            <a:ext cx="182880" cy="182880"/>
          </a:xfrm>
          <a:prstGeom prst="ellipse">
            <a:avLst/>
          </a:prstGeom>
          <a:solidFill>
            <a:srgbClr val="5FD3A6"/>
          </a:solidFill>
          <a:ln w="12700">
            <a:solidFill>
              <a:srgbClr val="5FD3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32004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D8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n’est pas fait est écrit noir sur blanc, dans ce document comme dans notre politique de confidentialité.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4151376"/>
            <a:ext cx="182880" cy="182880"/>
          </a:xfrm>
          <a:prstGeom prst="ellipse">
            <a:avLst/>
          </a:prstGeom>
          <a:solidFill>
            <a:srgbClr val="5FD3A6"/>
          </a:solidFill>
          <a:ln w="12700">
            <a:solidFill>
              <a:srgbClr val="5FD3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0690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D8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documentation de conformité est tenue à jour à chaque évolution du produit, et peut vous être remise.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5321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Devkaylab · éditeur de Quantinvo · devkaylab@gmail.com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85216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interne à vocation d’information — ne se substitue pas à un avis juridique.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509760" y="219456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1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19.08</a:t>
            </a:r>
            <a:endParaRPr lang="en-US" sz="4000" dirty="0"/>
          </a:p>
          <a:p>
            <a:pPr algn="r" indent="0" marL="0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1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Sécurité et protection des données</dc:title>
  <dc:subject>PptxGenJS Presentation</dc:subject>
  <dc:creator>Devkaylab</dc:creator>
  <cp:lastModifiedBy>Devkaylab</cp:lastModifiedBy>
  <cp:revision>1</cp:revision>
  <dcterms:created xsi:type="dcterms:W3CDTF">2026-08-19T16:23:06Z</dcterms:created>
  <dcterms:modified xsi:type="dcterms:W3CDTF">2026-08-19T16:23:06Z</dcterms:modified>
</cp:coreProperties>
</file>