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Vingt minutes, dix pages. Ce deck s'adresse à quelqu'un qui a déjà une solution d'inventaire, ou qui vient d'en faire chiffrer une. Ouvrir sur ce qui disparaît — la flotte — pas sur nos fonctionnalités.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jamais citer un prix concurrent, même si le prospect en donne un : on parle de postes de coût, pas de montants. Si on nous donne un chiffre, on écoute et on n'y ajoute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vraies captures, prises sur un compte d'essai. Ne pas les commenter une par une : dire « c'est tout », et laisser regarder.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trois lignes, pas les six. La quatrième — la réconciliation — est celle qui parle le plus à quelqu'un qui fait le travail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L'argument du suivi agrégé parle aux RH et au CSE. Le placer ici évite qu'il revienne en objection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consolidation manuelle est le poste le plus détesté du métier, et le plus invisible dans un devis. C'est notre meilleur argument devant quelqu'un qui la fait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mensuel. L'annuel économise 300 € sur Advanced. Et surtout : comparer au budget d'inventaire complet — prestataire, matériel, heures — jamais à un abonnement logiciel.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décisive devant quelqu'un qui connaît déjà le concurrent. Dire les trois limites franchement fait gagner plus de crédit que n'importe quel argument de vente.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sauter cette page pour gagner deux minutes : un prospect qui découvre une limite après coup perd confiance, un prospect averti la comprend.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Clore sur un essai que le prospect peut accepter sans engager personne. Ce n'est pas nous qui comptons pendant la démonstration : ce sont ses équipes. S'ils y arrivent, la démonstration est faite.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Public Sans" pitchFamily="34" charset="0"/>
                <a:ea typeface="Public Sans" pitchFamily="34" charset="-122"/>
                <a:cs typeface="Public Sans" pitchFamily="34" charset="-120"/>
              </a:rPr>
              <a:t>L'essentiel en dix pages</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chivo" pitchFamily="34" charset="0"/>
                <a:ea typeface="Archivo" pitchFamily="34" charset="-122"/>
                <a:cs typeface="Archivo" pitchFamily="34" charset="-120"/>
              </a:rPr>
              <a:t>Le même inventaire, sans la flotte de terminaux.</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Public Sans" pitchFamily="34" charset="0"/>
                <a:ea typeface="Public Sans" pitchFamily="34" charset="-122"/>
                <a:cs typeface="Public Sans" pitchFamily="34" charset="-120"/>
              </a:rPr>
              <a:t>Vos équipes comptent avec le téléphone qu'elles ont déjà. Vous suivez depuis le bureau. Le rapport sort croisé avec votre stock théorique. Rien d'autre à acheter.</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Devkaylab  ·  août 2026  ·  www.quantinvo.com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La vraie question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46304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La licence n’est pas ce que vous payez.</a:t>
            </a:r>
            <a:endParaRPr lang="en-US" sz="2600" dirty="0"/>
          </a:p>
        </p:txBody>
      </p:sp>
      <p:sp>
        <p:nvSpPr>
          <p:cNvPr id="7" name="Text 4"/>
          <p:cNvSpPr/>
          <p:nvPr/>
        </p:nvSpPr>
        <p:spPr>
          <a:xfrm>
            <a:off x="731520" y="3291840"/>
            <a:ext cx="4206240" cy="868680"/>
          </a:xfrm>
          <a:prstGeom prst="rect">
            <a:avLst/>
          </a:prstGeom>
          <a:noFill/>
          <a:ln/>
        </p:spPr>
        <p:txBody>
          <a:bodyPr wrap="square" lIns="0" tIns="0" rIns="0" bIns="0" rtlCol="0" anchor="t"/>
          <a:lstStyle/>
          <a:p>
            <a:pPr indent="0" marL="0">
              <a:buNone/>
            </a:pPr>
            <a:r>
              <a:rPr lang="en-US" sz="5400" b="1" dirty="0">
                <a:solidFill>
                  <a:srgbClr val="1E4D3B"/>
                </a:solidFill>
                <a:latin typeface="Archivo" pitchFamily="34" charset="0"/>
                <a:ea typeface="Archivo" pitchFamily="34" charset="-122"/>
                <a:cs typeface="Archivo" pitchFamily="34" charset="-120"/>
              </a:rPr>
              <a:t>0</a:t>
            </a:r>
            <a:endParaRPr lang="en-US" sz="5400" dirty="0"/>
          </a:p>
        </p:txBody>
      </p:sp>
      <p:sp>
        <p:nvSpPr>
          <p:cNvPr id="8" name="Text 5"/>
          <p:cNvSpPr/>
          <p:nvPr/>
        </p:nvSpPr>
        <p:spPr>
          <a:xfrm>
            <a:off x="731520" y="4206240"/>
            <a:ext cx="4206240" cy="731520"/>
          </a:xfrm>
          <a:prstGeom prst="rect">
            <a:avLst/>
          </a:prstGeom>
          <a:noFill/>
          <a:ln/>
        </p:spPr>
        <p:txBody>
          <a:bodyPr wrap="square" lIns="0" tIns="0" rIns="0" bIns="0" rtlCol="0" anchor="t"/>
          <a:lstStyle/>
          <a:p>
            <a:pPr indent="0" marL="0">
              <a:lnSpc>
                <a:spcPct val="115000"/>
              </a:lnSpc>
              <a:buNone/>
            </a:pPr>
            <a:r>
              <a:rPr lang="en-US" sz="1200" dirty="0">
                <a:solidFill>
                  <a:srgbClr val="575F5C"/>
                </a:solidFill>
                <a:latin typeface="Public Sans" pitchFamily="34" charset="0"/>
                <a:ea typeface="Public Sans" pitchFamily="34" charset="-122"/>
                <a:cs typeface="Public Sans" pitchFamily="34" charset="-120"/>
              </a:rPr>
              <a:t>terminal à acheter, à louer, à charger, à configurer ou à remplacer.</a:t>
            </a:r>
            <a:endParaRPr lang="en-US" sz="1200" dirty="0"/>
          </a:p>
        </p:txBody>
      </p:sp>
      <p:sp>
        <p:nvSpPr>
          <p:cNvPr id="9" name="Text 6"/>
          <p:cNvSpPr/>
          <p:nvPr/>
        </p:nvSpPr>
        <p:spPr>
          <a:xfrm>
            <a:off x="5394960" y="1371600"/>
            <a:ext cx="6062472" cy="4572000"/>
          </a:xfrm>
          <a:prstGeom prst="rect">
            <a:avLst/>
          </a:prstGeom>
          <a:noFill/>
          <a:ln/>
        </p:spPr>
        <p:txBody>
          <a:bodyPr wrap="square" lIns="0" tIns="0" rIns="0" bIns="0" rtlCol="0" anchor="t"/>
          <a:lstStyle/>
          <a:p>
            <a:pPr indent="0" marL="0">
              <a:lnSpc>
                <a:spcPct val="118000"/>
              </a:lnSpc>
              <a:spcAft>
                <a:spcPts val="1300"/>
              </a:spcAft>
              <a:buNone/>
            </a:pPr>
            <a:r>
              <a:rPr lang="en-US" sz="1300" b="1" dirty="0">
                <a:solidFill>
                  <a:srgbClr val="14181A"/>
                </a:solidFill>
                <a:latin typeface="Public Sans" pitchFamily="34" charset="0"/>
                <a:ea typeface="Public Sans" pitchFamily="34" charset="-122"/>
                <a:cs typeface="Public Sans" pitchFamily="34" charset="-120"/>
              </a:rPr>
              <a:t>Le matériel. </a:t>
            </a:r>
            <a:pPr indent="0" marL="0">
              <a:lnSpc>
                <a:spcPct val="118000"/>
              </a:lnSpc>
              <a:spcAft>
                <a:spcPts val="1300"/>
              </a:spcAft>
              <a:buNone/>
            </a:pPr>
            <a:r>
              <a:rPr lang="en-US" sz="1300" dirty="0">
                <a:solidFill>
                  <a:srgbClr val="3A423F"/>
                </a:solidFill>
                <a:latin typeface="Public Sans" pitchFamily="34" charset="0"/>
                <a:ea typeface="Public Sans" pitchFamily="34" charset="-122"/>
                <a:cs typeface="Public Sans" pitchFamily="34" charset="-120"/>
              </a:rPr>
              <a:t>Une flotte de terminaux durcis s'achète ou se loue, se recharge, se configure, se répare et se remplace. Sur trois ans, elle pèse souvent plus lourd que la licence qu'elle sert.</a:t>
            </a:r>
            <a:endParaRPr lang="en-US" sz="1300" dirty="0"/>
          </a:p>
          <a:p>
            <a:pPr indent="0" marL="0">
              <a:lnSpc>
                <a:spcPct val="118000"/>
              </a:lnSpc>
              <a:spcAft>
                <a:spcPts val="1300"/>
              </a:spcAft>
              <a:buNone/>
            </a:pPr>
            <a:r>
              <a:rPr lang="en-US" sz="1300" b="1" dirty="0">
                <a:solidFill>
                  <a:srgbClr val="14181A"/>
                </a:solidFill>
                <a:latin typeface="Public Sans" pitchFamily="34" charset="0"/>
                <a:ea typeface="Public Sans" pitchFamily="34" charset="-122"/>
                <a:cs typeface="Public Sans" pitchFamily="34" charset="-120"/>
              </a:rPr>
              <a:t>Les heures. </a:t>
            </a:r>
            <a:pPr indent="0" marL="0">
              <a:lnSpc>
                <a:spcPct val="118000"/>
              </a:lnSpc>
              <a:spcAft>
                <a:spcPts val="1300"/>
              </a:spcAft>
              <a:buNone/>
            </a:pPr>
            <a:r>
              <a:rPr lang="en-US" sz="1300" dirty="0">
                <a:solidFill>
                  <a:srgbClr val="3A423F"/>
                </a:solidFill>
                <a:latin typeface="Public Sans" pitchFamily="34" charset="0"/>
                <a:ea typeface="Public Sans" pitchFamily="34" charset="-122"/>
                <a:cs typeface="Public Sans" pitchFamily="34" charset="-120"/>
              </a:rPr>
              <a:t>Connecter et vérifier les terminaux un par un avant chaque session, briefer les compteurs sur leur maniement, rester posté sur la plateforme pendant le comptage : c'est un poste à temps partiel que personne ne budgète.</a:t>
            </a:r>
            <a:endParaRPr lang="en-US" sz="1300" dirty="0"/>
          </a:p>
          <a:p>
            <a:pPr indent="0" marL="0">
              <a:lnSpc>
                <a:spcPct val="118000"/>
              </a:lnSpc>
              <a:spcAft>
                <a:spcPts val="1300"/>
              </a:spcAft>
              <a:buNone/>
            </a:pPr>
            <a:r>
              <a:rPr lang="en-US" sz="1300" b="1" dirty="0">
                <a:solidFill>
                  <a:srgbClr val="14181A"/>
                </a:solidFill>
                <a:latin typeface="Public Sans" pitchFamily="34" charset="0"/>
                <a:ea typeface="Public Sans" pitchFamily="34" charset="-122"/>
                <a:cs typeface="Public Sans" pitchFamily="34" charset="-120"/>
              </a:rPr>
              <a:t>La réconciliation. </a:t>
            </a:r>
            <a:pPr indent="0" marL="0">
              <a:lnSpc>
                <a:spcPct val="118000"/>
              </a:lnSpc>
              <a:spcAft>
                <a:spcPts val="1300"/>
              </a:spcAft>
              <a:buNone/>
            </a:pPr>
            <a:r>
              <a:rPr lang="en-US" sz="1300" dirty="0">
                <a:solidFill>
                  <a:srgbClr val="3A423F"/>
                </a:solidFill>
                <a:latin typeface="Public Sans" pitchFamily="34" charset="0"/>
                <a:ea typeface="Public Sans" pitchFamily="34" charset="-122"/>
                <a:cs typeface="Public Sans" pitchFamily="34" charset="-120"/>
              </a:rPr>
              <a:t>Un rapport de variance à rapprocher à la main du stock théorique, après chaque inventaire. C'est long, et c'est là que les erreurs se glissent.</a:t>
            </a:r>
            <a:endParaRPr lang="en-US" sz="1300" dirty="0"/>
          </a:p>
          <a:p>
            <a:pPr indent="0" marL="0">
              <a:lnSpc>
                <a:spcPct val="118000"/>
              </a:lnSpc>
              <a:spcAft>
                <a:spcPts val="1300"/>
              </a:spcAft>
              <a:buNone/>
            </a:pPr>
            <a:r>
              <a:rPr lang="en-US" sz="1300" b="1" dirty="0">
                <a:solidFill>
                  <a:srgbClr val="14181A"/>
                </a:solidFill>
                <a:latin typeface="Public Sans" pitchFamily="34" charset="0"/>
                <a:ea typeface="Public Sans" pitchFamily="34" charset="-122"/>
                <a:cs typeface="Public Sans" pitchFamily="34" charset="-120"/>
              </a:rPr>
              <a:t>Le plafond invisible. </a:t>
            </a:r>
            <a:pPr indent="0" marL="0">
              <a:lnSpc>
                <a:spcPct val="118000"/>
              </a:lnSpc>
              <a:spcAft>
                <a:spcPts val="1300"/>
              </a:spcAft>
              <a:buNone/>
            </a:pPr>
            <a:r>
              <a:rPr lang="en-US" sz="1300" dirty="0">
                <a:solidFill>
                  <a:srgbClr val="3A423F"/>
                </a:solidFill>
                <a:latin typeface="Public Sans" pitchFamily="34" charset="0"/>
                <a:ea typeface="Public Sans" pitchFamily="34" charset="-122"/>
                <a:cs typeface="Public Sans" pitchFamily="34" charset="-120"/>
              </a:rPr>
              <a:t>Quand compter coûte du matériel et du temps de préparation, on compte moins souvent. Le stock dérive entre deux passages, et personne n'a décidé que ce serait ainsi.</a:t>
            </a:r>
            <a:endParaRPr lang="en-US" sz="1300" dirty="0"/>
          </a:p>
        </p:txBody>
      </p:sp>
      <p:sp>
        <p:nvSpPr>
          <p:cNvPr id="10"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l’essentiel</a:t>
            </a:r>
            <a:endParaRPr lang="en-US" sz="900" dirty="0"/>
          </a:p>
        </p:txBody>
      </p:sp>
      <p:sp>
        <p:nvSpPr>
          <p:cNvPr id="11"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Ce que c’est</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chivo" pitchFamily="34" charset="0"/>
                <a:ea typeface="Archivo" pitchFamily="34" charset="-122"/>
                <a:cs typeface="Archivo" pitchFamily="34" charset="-120"/>
              </a:rPr>
              <a:t>Un outil d’inventaire complet, sur le téléphone qu’ils ont déjà</a:t>
            </a:r>
            <a:endParaRPr lang="en-US" sz="2500" dirty="0"/>
          </a:p>
        </p:txBody>
      </p:sp>
      <p:sp>
        <p:nvSpPr>
          <p:cNvPr id="7" name="Text 4"/>
          <p:cNvSpPr/>
          <p:nvPr/>
        </p:nvSpPr>
        <p:spPr>
          <a:xfrm>
            <a:off x="731520" y="187452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chivo" pitchFamily="34" charset="0"/>
                <a:ea typeface="Archivo" pitchFamily="34" charset="-122"/>
                <a:cs typeface="Archivo" pitchFamily="34" charset="-120"/>
              </a:rPr>
              <a:t>On imprime les balises</a:t>
            </a:r>
            <a:endParaRPr lang="en-US" sz="1350" dirty="0"/>
          </a:p>
        </p:txBody>
      </p:sp>
      <p:sp>
        <p:nvSpPr>
          <p:cNvPr id="8" name="Text 5"/>
          <p:cNvSpPr/>
          <p:nvPr/>
        </p:nvSpPr>
        <p:spPr>
          <a:xfrm>
            <a:off x="731520" y="225856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Public Sans" pitchFamily="34" charset="0"/>
                <a:ea typeface="Public Sans" pitchFamily="34" charset="-122"/>
                <a:cs typeface="Public Sans" pitchFamily="34" charset="-120"/>
              </a:rPr>
              <a:t>Une planche d'étiquettes numérotées, en PDF, imprimée depuis l'outil. Aucun matériel à réserver.</a:t>
            </a:r>
            <a:endParaRPr lang="en-US" sz="1100" dirty="0"/>
          </a:p>
        </p:txBody>
      </p:sp>
      <p:sp>
        <p:nvSpPr>
          <p:cNvPr id="9" name="Shape 6"/>
          <p:cNvSpPr/>
          <p:nvPr/>
        </p:nvSpPr>
        <p:spPr>
          <a:xfrm>
            <a:off x="731520" y="2880360"/>
            <a:ext cx="3392424" cy="3319272"/>
          </a:xfrm>
          <a:prstGeom prst="roundRect">
            <a:avLst>
              <a:gd name="adj" fmla="val 1102"/>
            </a:avLst>
          </a:prstGeom>
          <a:solidFill>
            <a:srgbClr val="F2F3F1"/>
          </a:solidFill>
          <a:ln w="12700">
            <a:solidFill>
              <a:srgbClr val="F2F3F1"/>
            </a:solidFill>
            <a:prstDash val="solid"/>
          </a:ln>
        </p:spPr>
      </p:sp>
      <p:pic>
        <p:nvPicPr>
          <p:cNvPr id="10" name="Image 1" descr="preencoded.png">    </p:cNvPr>
          <p:cNvPicPr>
            <a:picLocks noChangeAspect="1"/>
          </p:cNvPicPr>
          <p:nvPr/>
        </p:nvPicPr>
        <p:blipFill>
          <a:blip r:embed="rId2"/>
          <a:stretch>
            <a:fillRect/>
          </a:stretch>
        </p:blipFill>
        <p:spPr>
          <a:xfrm>
            <a:off x="1042416" y="2880963"/>
            <a:ext cx="2770632" cy="3318669"/>
          </a:xfrm>
          <a:prstGeom prst="rect">
            <a:avLst/>
          </a:prstGeom>
        </p:spPr>
      </p:pic>
      <p:sp>
        <p:nvSpPr>
          <p:cNvPr id="11" name="Text 7"/>
          <p:cNvSpPr/>
          <p:nvPr/>
        </p:nvSpPr>
        <p:spPr>
          <a:xfrm>
            <a:off x="4398264" y="187452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chivo" pitchFamily="34" charset="0"/>
                <a:ea typeface="Archivo" pitchFamily="34" charset="-122"/>
                <a:cs typeface="Archivo" pitchFamily="34" charset="-120"/>
              </a:rPr>
              <a:t>On scanne la zone, puis les articles</a:t>
            </a:r>
            <a:endParaRPr lang="en-US" sz="1350" dirty="0"/>
          </a:p>
        </p:txBody>
      </p:sp>
      <p:sp>
        <p:nvSpPr>
          <p:cNvPr id="12" name="Text 8"/>
          <p:cNvSpPr/>
          <p:nvPr/>
        </p:nvSpPr>
        <p:spPr>
          <a:xfrm>
            <a:off x="4398264" y="225856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Public Sans" pitchFamily="34" charset="0"/>
                <a:ea typeface="Public Sans" pitchFamily="34" charset="-122"/>
                <a:cs typeface="Public Sans" pitchFamily="34" charset="-120"/>
              </a:rPr>
              <a:t>La caméra du téléphone lit les codes-barres. Une douchette Bluetooth s'y branche pour les gros volumes.</a:t>
            </a:r>
            <a:endParaRPr lang="en-US" sz="1100" dirty="0"/>
          </a:p>
        </p:txBody>
      </p:sp>
      <p:sp>
        <p:nvSpPr>
          <p:cNvPr id="13" name="Shape 9"/>
          <p:cNvSpPr/>
          <p:nvPr/>
        </p:nvSpPr>
        <p:spPr>
          <a:xfrm>
            <a:off x="4398264" y="2880360"/>
            <a:ext cx="3392424" cy="3319272"/>
          </a:xfrm>
          <a:prstGeom prst="roundRect">
            <a:avLst>
              <a:gd name="adj" fmla="val 1102"/>
            </a:avLst>
          </a:prstGeom>
          <a:solidFill>
            <a:srgbClr val="E7EDE9"/>
          </a:solidFill>
          <a:ln w="12700">
            <a:solidFill>
              <a:srgbClr val="E7EDE9"/>
            </a:solidFill>
            <a:prstDash val="solid"/>
          </a:ln>
        </p:spPr>
      </p:sp>
      <p:pic>
        <p:nvPicPr>
          <p:cNvPr id="14" name="Image 2" descr="preencoded.png">    </p:cNvPr>
          <p:cNvPicPr>
            <a:picLocks noChangeAspect="1"/>
          </p:cNvPicPr>
          <p:nvPr/>
        </p:nvPicPr>
        <p:blipFill>
          <a:blip r:embed="rId3"/>
          <a:stretch>
            <a:fillRect/>
          </a:stretch>
        </p:blipFill>
        <p:spPr>
          <a:xfrm>
            <a:off x="4709160" y="2880963"/>
            <a:ext cx="2770632" cy="3318669"/>
          </a:xfrm>
          <a:prstGeom prst="rect">
            <a:avLst/>
          </a:prstGeom>
        </p:spPr>
      </p:pic>
      <p:sp>
        <p:nvSpPr>
          <p:cNvPr id="15" name="Text 10"/>
          <p:cNvSpPr/>
          <p:nvPr/>
        </p:nvSpPr>
        <p:spPr>
          <a:xfrm>
            <a:off x="8065008" y="187452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chivo" pitchFamily="34" charset="0"/>
                <a:ea typeface="Archivo" pitchFamily="34" charset="-122"/>
                <a:cs typeface="Archivo" pitchFamily="34" charset="-120"/>
              </a:rPr>
              <a:t>On audite et on tranche</a:t>
            </a:r>
            <a:endParaRPr lang="en-US" sz="1350" dirty="0"/>
          </a:p>
        </p:txBody>
      </p:sp>
      <p:sp>
        <p:nvSpPr>
          <p:cNvPr id="16" name="Text 11"/>
          <p:cNvSpPr/>
          <p:nvPr/>
        </p:nvSpPr>
        <p:spPr>
          <a:xfrm>
            <a:off x="8065008" y="225856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Public Sans" pitchFamily="34" charset="0"/>
                <a:ea typeface="Public Sans" pitchFamily="34" charset="-122"/>
                <a:cs typeface="Public Sans" pitchFamily="34" charset="-120"/>
              </a:rPr>
              <a:t>Un second passage sur les zones qui le méritent. L'écart s'affiche, le superviseur décide au rayon.</a:t>
            </a:r>
            <a:endParaRPr lang="en-US" sz="1100" dirty="0"/>
          </a:p>
        </p:txBody>
      </p:sp>
      <p:sp>
        <p:nvSpPr>
          <p:cNvPr id="17" name="Shape 12"/>
          <p:cNvSpPr/>
          <p:nvPr/>
        </p:nvSpPr>
        <p:spPr>
          <a:xfrm>
            <a:off x="8065008" y="2880360"/>
            <a:ext cx="3392424" cy="3319272"/>
          </a:xfrm>
          <a:prstGeom prst="roundRect">
            <a:avLst>
              <a:gd name="adj" fmla="val 1102"/>
            </a:avLst>
          </a:prstGeom>
          <a:solidFill>
            <a:srgbClr val="F2F3F1"/>
          </a:solidFill>
          <a:ln w="12700">
            <a:solidFill>
              <a:srgbClr val="F2F3F1"/>
            </a:solidFill>
            <a:prstDash val="solid"/>
          </a:ln>
        </p:spPr>
      </p:sp>
      <p:pic>
        <p:nvPicPr>
          <p:cNvPr id="18" name="Image 3" descr="preencoded.png">    </p:cNvPr>
          <p:cNvPicPr>
            <a:picLocks noChangeAspect="1"/>
          </p:cNvPicPr>
          <p:nvPr/>
        </p:nvPicPr>
        <p:blipFill>
          <a:blip r:embed="rId4"/>
          <a:stretch>
            <a:fillRect/>
          </a:stretch>
        </p:blipFill>
        <p:spPr>
          <a:xfrm>
            <a:off x="8375904" y="2880963"/>
            <a:ext cx="2770632" cy="3318669"/>
          </a:xfrm>
          <a:prstGeom prst="rect">
            <a:avLst/>
          </a:prstGeom>
        </p:spPr>
      </p:pic>
      <p:sp>
        <p:nvSpPr>
          <p:cNvPr id="19" name="Text 13"/>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l’essentiel</a:t>
            </a:r>
            <a:endParaRPr lang="en-US" sz="900" dirty="0"/>
          </a:p>
        </p:txBody>
      </p:sp>
      <p:sp>
        <p:nvSpPr>
          <p:cNvPr id="20" name="Text 14"/>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Face à face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8016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Ce qui change, poste par poste</a:t>
            </a:r>
            <a:endParaRPr lang="en-US" sz="2600" dirty="0"/>
          </a:p>
        </p:txBody>
      </p:sp>
      <p:sp>
        <p:nvSpPr>
          <p:cNvPr id="7" name="Text 4"/>
          <p:cNvSpPr/>
          <p:nvPr/>
        </p:nvSpPr>
        <p:spPr>
          <a:xfrm>
            <a:off x="731520" y="2084832"/>
            <a:ext cx="4846320" cy="274320"/>
          </a:xfrm>
          <a:prstGeom prst="rect">
            <a:avLst/>
          </a:prstGeom>
          <a:noFill/>
          <a:ln/>
        </p:spPr>
        <p:txBody>
          <a:bodyPr wrap="square" lIns="0" tIns="0" rIns="0" bIns="0" rtlCol="0" anchor="t"/>
          <a:lstStyle/>
          <a:p>
            <a:pPr indent="0" marL="0">
              <a:buNone/>
            </a:pPr>
            <a:r>
              <a:rPr lang="en-US" sz="1050" b="1" dirty="0">
                <a:solidFill>
                  <a:srgbClr val="575F5C"/>
                </a:solidFill>
                <a:latin typeface="Public Sans" pitchFamily="34" charset="0"/>
                <a:ea typeface="Public Sans" pitchFamily="34" charset="-122"/>
                <a:cs typeface="Public Sans" pitchFamily="34" charset="-120"/>
              </a:rPr>
              <a:t>Une solution à terminaux dédiés</a:t>
            </a:r>
            <a:endParaRPr lang="en-US" sz="1050" dirty="0"/>
          </a:p>
        </p:txBody>
      </p:sp>
      <p:sp>
        <p:nvSpPr>
          <p:cNvPr id="8" name="Text 5"/>
          <p:cNvSpPr/>
          <p:nvPr/>
        </p:nvSpPr>
        <p:spPr>
          <a:xfrm>
            <a:off x="5852160" y="2084832"/>
            <a:ext cx="4846320" cy="274320"/>
          </a:xfrm>
          <a:prstGeom prst="rect">
            <a:avLst/>
          </a:prstGeom>
          <a:noFill/>
          <a:ln/>
        </p:spPr>
        <p:txBody>
          <a:bodyPr wrap="square" lIns="0" tIns="0" rIns="0" bIns="0" rtlCol="0" anchor="t"/>
          <a:lstStyle/>
          <a:p>
            <a:pPr indent="0" marL="0">
              <a:buNone/>
            </a:pPr>
            <a:r>
              <a:rPr lang="en-US" sz="1050" b="1" dirty="0">
                <a:solidFill>
                  <a:srgbClr val="14181A"/>
                </a:solidFill>
                <a:latin typeface="Public Sans" pitchFamily="34" charset="0"/>
                <a:ea typeface="Public Sans" pitchFamily="34" charset="-122"/>
                <a:cs typeface="Public Sans" pitchFamily="34" charset="-120"/>
              </a:rPr>
              <a:t>Quantinvo</a:t>
            </a:r>
            <a:endParaRPr lang="en-US" sz="1050" dirty="0"/>
          </a:p>
        </p:txBody>
      </p:sp>
      <p:sp>
        <p:nvSpPr>
          <p:cNvPr id="9" name="Shape 6"/>
          <p:cNvSpPr/>
          <p:nvPr/>
        </p:nvSpPr>
        <p:spPr>
          <a:xfrm>
            <a:off x="731520" y="2432304"/>
            <a:ext cx="10725912" cy="0"/>
          </a:xfrm>
          <a:prstGeom prst="line">
            <a:avLst/>
          </a:prstGeom>
          <a:noFill/>
          <a:ln w="9525">
            <a:solidFill>
              <a:srgbClr val="E2E5E1"/>
            </a:solidFill>
            <a:prstDash val="solid"/>
          </a:ln>
        </p:spPr>
      </p:sp>
      <p:sp>
        <p:nvSpPr>
          <p:cNvPr id="10" name="Text 7"/>
          <p:cNvSpPr/>
          <p:nvPr/>
        </p:nvSpPr>
        <p:spPr>
          <a:xfrm>
            <a:off x="731520" y="2523744"/>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Public Sans" pitchFamily="34" charset="0"/>
                <a:ea typeface="Public Sans" pitchFamily="34" charset="-122"/>
                <a:cs typeface="Public Sans" pitchFamily="34" charset="-120"/>
              </a:rPr>
              <a:t>Une flotte à acheter ou louer, charger, configurer, réparer.</a:t>
            </a:r>
            <a:endParaRPr lang="en-US" sz="1150" dirty="0"/>
          </a:p>
        </p:txBody>
      </p:sp>
      <p:sp>
        <p:nvSpPr>
          <p:cNvPr id="11" name="Text 8"/>
          <p:cNvSpPr/>
          <p:nvPr/>
        </p:nvSpPr>
        <p:spPr>
          <a:xfrm>
            <a:off x="5852160" y="2523744"/>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Public Sans" pitchFamily="34" charset="0"/>
                <a:ea typeface="Public Sans" pitchFamily="34" charset="-122"/>
                <a:cs typeface="Public Sans" pitchFamily="34" charset="-120"/>
              </a:rPr>
              <a:t>Les téléphones de vos équipes. Déjà là, déjà payés.</a:t>
            </a:r>
            <a:endParaRPr lang="en-US" sz="1150" dirty="0"/>
          </a:p>
        </p:txBody>
      </p:sp>
      <p:sp>
        <p:nvSpPr>
          <p:cNvPr id="12" name="Shape 9"/>
          <p:cNvSpPr/>
          <p:nvPr/>
        </p:nvSpPr>
        <p:spPr>
          <a:xfrm>
            <a:off x="731520" y="3054096"/>
            <a:ext cx="10725912" cy="0"/>
          </a:xfrm>
          <a:prstGeom prst="line">
            <a:avLst/>
          </a:prstGeom>
          <a:noFill/>
          <a:ln w="9525">
            <a:solidFill>
              <a:srgbClr val="E2E5E1"/>
            </a:solidFill>
            <a:prstDash val="solid"/>
          </a:ln>
        </p:spPr>
      </p:sp>
      <p:sp>
        <p:nvSpPr>
          <p:cNvPr id="13" name="Text 10"/>
          <p:cNvSpPr/>
          <p:nvPr/>
        </p:nvSpPr>
        <p:spPr>
          <a:xfrm>
            <a:off x="731520" y="3145536"/>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Public Sans" pitchFamily="34" charset="0"/>
                <a:ea typeface="Public Sans" pitchFamily="34" charset="-122"/>
                <a:cs typeface="Public Sans" pitchFamily="34" charset="-120"/>
              </a:rPr>
              <a:t>Des terminaux à connecter et vérifier un par un avant chaque session.</a:t>
            </a:r>
            <a:endParaRPr lang="en-US" sz="1150" dirty="0"/>
          </a:p>
        </p:txBody>
      </p:sp>
      <p:sp>
        <p:nvSpPr>
          <p:cNvPr id="14" name="Text 11"/>
          <p:cNvSpPr/>
          <p:nvPr/>
        </p:nvSpPr>
        <p:spPr>
          <a:xfrm>
            <a:off x="5852160" y="3145536"/>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Public Sans" pitchFamily="34" charset="0"/>
                <a:ea typeface="Public Sans" pitchFamily="34" charset="-122"/>
                <a:cs typeface="Public Sans" pitchFamily="34" charset="-120"/>
              </a:rPr>
              <a:t>Chacun rejoint l’inventaire depuis son téléphone, en quelques secondes.</a:t>
            </a:r>
            <a:endParaRPr lang="en-US" sz="1150" dirty="0"/>
          </a:p>
        </p:txBody>
      </p:sp>
      <p:sp>
        <p:nvSpPr>
          <p:cNvPr id="15" name="Shape 12"/>
          <p:cNvSpPr/>
          <p:nvPr/>
        </p:nvSpPr>
        <p:spPr>
          <a:xfrm>
            <a:off x="731520" y="3675888"/>
            <a:ext cx="10725912" cy="0"/>
          </a:xfrm>
          <a:prstGeom prst="line">
            <a:avLst/>
          </a:prstGeom>
          <a:noFill/>
          <a:ln w="9525">
            <a:solidFill>
              <a:srgbClr val="E2E5E1"/>
            </a:solidFill>
            <a:prstDash val="solid"/>
          </a:ln>
        </p:spPr>
      </p:sp>
      <p:sp>
        <p:nvSpPr>
          <p:cNvPr id="16" name="Text 13"/>
          <p:cNvSpPr/>
          <p:nvPr/>
        </p:nvSpPr>
        <p:spPr>
          <a:xfrm>
            <a:off x="731520" y="3767328"/>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Public Sans" pitchFamily="34" charset="0"/>
                <a:ea typeface="Public Sans" pitchFamily="34" charset="-122"/>
                <a:cs typeface="Public Sans" pitchFamily="34" charset="-120"/>
              </a:rPr>
              <a:t>Un briefing sur le maniement du matériel à chaque inventaire.</a:t>
            </a:r>
            <a:endParaRPr lang="en-US" sz="1150" dirty="0"/>
          </a:p>
        </p:txBody>
      </p:sp>
      <p:sp>
        <p:nvSpPr>
          <p:cNvPr id="17" name="Text 14"/>
          <p:cNvSpPr/>
          <p:nvPr/>
        </p:nvSpPr>
        <p:spPr>
          <a:xfrm>
            <a:off x="5852160" y="3767328"/>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Public Sans" pitchFamily="34" charset="0"/>
                <a:ea typeface="Public Sans" pitchFamily="34" charset="-122"/>
                <a:cs typeface="Public Sans" pitchFamily="34" charset="-120"/>
              </a:rPr>
              <a:t>Le geste qu’ils connaissent déjà : ouvrir, scanner, scanner.</a:t>
            </a:r>
            <a:endParaRPr lang="en-US" sz="1150" dirty="0"/>
          </a:p>
        </p:txBody>
      </p:sp>
      <p:sp>
        <p:nvSpPr>
          <p:cNvPr id="18" name="Shape 15"/>
          <p:cNvSpPr/>
          <p:nvPr/>
        </p:nvSpPr>
        <p:spPr>
          <a:xfrm>
            <a:off x="731520" y="4297680"/>
            <a:ext cx="10725912" cy="0"/>
          </a:xfrm>
          <a:prstGeom prst="line">
            <a:avLst/>
          </a:prstGeom>
          <a:noFill/>
          <a:ln w="9525">
            <a:solidFill>
              <a:srgbClr val="E2E5E1"/>
            </a:solidFill>
            <a:prstDash val="solid"/>
          </a:ln>
        </p:spPr>
      </p:sp>
      <p:sp>
        <p:nvSpPr>
          <p:cNvPr id="19" name="Text 16"/>
          <p:cNvSpPr/>
          <p:nvPr/>
        </p:nvSpPr>
        <p:spPr>
          <a:xfrm>
            <a:off x="731520" y="4389120"/>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Public Sans" pitchFamily="34" charset="0"/>
                <a:ea typeface="Public Sans" pitchFamily="34" charset="-122"/>
                <a:cs typeface="Public Sans" pitchFamily="34" charset="-120"/>
              </a:rPr>
              <a:t>Un rapport de variance, à consolider ensuite avec le stock théorique.</a:t>
            </a:r>
            <a:endParaRPr lang="en-US" sz="1150" dirty="0"/>
          </a:p>
        </p:txBody>
      </p:sp>
      <p:sp>
        <p:nvSpPr>
          <p:cNvPr id="20" name="Text 17"/>
          <p:cNvSpPr/>
          <p:nvPr/>
        </p:nvSpPr>
        <p:spPr>
          <a:xfrm>
            <a:off x="5852160" y="4389120"/>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Public Sans" pitchFamily="34" charset="0"/>
                <a:ea typeface="Public Sans" pitchFamily="34" charset="-122"/>
                <a:cs typeface="Public Sans" pitchFamily="34" charset="-120"/>
              </a:rPr>
              <a:t>Le croisement est déjà fait : l’attendu, le compté, le non-compté, l’écart en valeur.</a:t>
            </a:r>
            <a:endParaRPr lang="en-US" sz="1150" dirty="0"/>
          </a:p>
        </p:txBody>
      </p:sp>
      <p:sp>
        <p:nvSpPr>
          <p:cNvPr id="21" name="Shape 18"/>
          <p:cNvSpPr/>
          <p:nvPr/>
        </p:nvSpPr>
        <p:spPr>
          <a:xfrm>
            <a:off x="731520" y="4919472"/>
            <a:ext cx="10725912" cy="0"/>
          </a:xfrm>
          <a:prstGeom prst="line">
            <a:avLst/>
          </a:prstGeom>
          <a:noFill/>
          <a:ln w="9525">
            <a:solidFill>
              <a:srgbClr val="E2E5E1"/>
            </a:solidFill>
            <a:prstDash val="solid"/>
          </a:ln>
        </p:spPr>
      </p:sp>
      <p:sp>
        <p:nvSpPr>
          <p:cNvPr id="22" name="Text 19"/>
          <p:cNvSpPr/>
          <p:nvPr/>
        </p:nvSpPr>
        <p:spPr>
          <a:xfrm>
            <a:off x="731520" y="5010912"/>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Public Sans" pitchFamily="34" charset="0"/>
                <a:ea typeface="Public Sans" pitchFamily="34" charset="-122"/>
                <a:cs typeface="Public Sans" pitchFamily="34" charset="-120"/>
              </a:rPr>
              <a:t>Un prix sur devis, renégocié chaque année.</a:t>
            </a:r>
            <a:endParaRPr lang="en-US" sz="1150" dirty="0"/>
          </a:p>
        </p:txBody>
      </p:sp>
      <p:sp>
        <p:nvSpPr>
          <p:cNvPr id="23" name="Text 20"/>
          <p:cNvSpPr/>
          <p:nvPr/>
        </p:nvSpPr>
        <p:spPr>
          <a:xfrm>
            <a:off x="5852160" y="5010912"/>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Public Sans" pitchFamily="34" charset="0"/>
                <a:ea typeface="Public Sans" pitchFamily="34" charset="-122"/>
                <a:cs typeface="Public Sans" pitchFamily="34" charset="-120"/>
              </a:rPr>
              <a:t>Un prix affiché, le même pour tout le monde, souscrit en ligne.</a:t>
            </a:r>
            <a:endParaRPr lang="en-US" sz="1150" dirty="0"/>
          </a:p>
        </p:txBody>
      </p:sp>
      <p:sp>
        <p:nvSpPr>
          <p:cNvPr id="24" name="Shape 21"/>
          <p:cNvSpPr/>
          <p:nvPr/>
        </p:nvSpPr>
        <p:spPr>
          <a:xfrm>
            <a:off x="731520" y="5541264"/>
            <a:ext cx="10725912" cy="0"/>
          </a:xfrm>
          <a:prstGeom prst="line">
            <a:avLst/>
          </a:prstGeom>
          <a:noFill/>
          <a:ln w="9525">
            <a:solidFill>
              <a:srgbClr val="E2E5E1"/>
            </a:solidFill>
            <a:prstDash val="solid"/>
          </a:ln>
        </p:spPr>
      </p:sp>
      <p:sp>
        <p:nvSpPr>
          <p:cNvPr id="25" name="Text 22"/>
          <p:cNvSpPr/>
          <p:nvPr/>
        </p:nvSpPr>
        <p:spPr>
          <a:xfrm>
            <a:off x="731520" y="5632704"/>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Public Sans" pitchFamily="34" charset="0"/>
                <a:ea typeface="Public Sans" pitchFamily="34" charset="-122"/>
                <a:cs typeface="Public Sans" pitchFamily="34" charset="-120"/>
              </a:rPr>
              <a:t>Un module au catalogue d’un géant du matériel.</a:t>
            </a:r>
            <a:endParaRPr lang="en-US" sz="1150" dirty="0"/>
          </a:p>
        </p:txBody>
      </p:sp>
      <p:sp>
        <p:nvSpPr>
          <p:cNvPr id="26" name="Text 23"/>
          <p:cNvSpPr/>
          <p:nvPr/>
        </p:nvSpPr>
        <p:spPr>
          <a:xfrm>
            <a:off x="5852160" y="5632704"/>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Public Sans" pitchFamily="34" charset="0"/>
                <a:ea typeface="Public Sans" pitchFamily="34" charset="-122"/>
                <a:cs typeface="Public Sans" pitchFamily="34" charset="-120"/>
              </a:rPr>
              <a:t>Un outil qui ne fait qu’une chose, et son auteur répond lui-même.</a:t>
            </a:r>
            <a:endParaRPr lang="en-US" sz="1150" dirty="0"/>
          </a:p>
        </p:txBody>
      </p:sp>
      <p:sp>
        <p:nvSpPr>
          <p:cNvPr id="27" name="Shape 24"/>
          <p:cNvSpPr/>
          <p:nvPr/>
        </p:nvSpPr>
        <p:spPr>
          <a:xfrm>
            <a:off x="731520" y="6163056"/>
            <a:ext cx="10725912" cy="0"/>
          </a:xfrm>
          <a:prstGeom prst="line">
            <a:avLst/>
          </a:prstGeom>
          <a:noFill/>
          <a:ln w="9525">
            <a:solidFill>
              <a:srgbClr val="E2E5E1"/>
            </a:solidFill>
            <a:prstDash val="solid"/>
          </a:ln>
        </p:spPr>
      </p:sp>
      <p:sp>
        <p:nvSpPr>
          <p:cNvPr id="28" name="Text 2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l’essentiel</a:t>
            </a:r>
            <a:endParaRPr lang="en-US" sz="900" dirty="0"/>
          </a:p>
        </p:txBody>
      </p:sp>
      <p:sp>
        <p:nvSpPr>
          <p:cNvPr id="29" name="Text 2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Pendant le comptage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8016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Personne n’est posté devant un écran pour surveiller.</a:t>
            </a:r>
            <a:endParaRPr lang="en-US" sz="2600" dirty="0"/>
          </a:p>
        </p:txBody>
      </p:sp>
      <p:sp>
        <p:nvSpPr>
          <p:cNvPr id="7" name="Text 4"/>
          <p:cNvSpPr/>
          <p:nvPr/>
        </p:nvSpPr>
        <p:spPr>
          <a:xfrm>
            <a:off x="731520" y="2057400"/>
            <a:ext cx="10725912" cy="73152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L'avancement zone par zone, les appareils en comptage et en audit, les derniers scans : le superviseur ouvre la page quand il veut, depuis le bureau ou depuis le rayon. Ce qu'on ne voit pas, et c'est voulu : qui fait quoi. Le suivi est agrégé — on pilote le travail, pas les personnes.</a:t>
            </a:r>
            <a:endParaRPr lang="en-US" sz="1250" dirty="0"/>
          </a:p>
        </p:txBody>
      </p:sp>
      <p:sp>
        <p:nvSpPr>
          <p:cNvPr id="8" name="Shape 5"/>
          <p:cNvSpPr/>
          <p:nvPr/>
        </p:nvSpPr>
        <p:spPr>
          <a:xfrm>
            <a:off x="2066046" y="2779776"/>
            <a:ext cx="8056860" cy="3127248"/>
          </a:xfrm>
          <a:prstGeom prst="roundRect">
            <a:avLst>
              <a:gd name="adj" fmla="val 1170"/>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2120910" y="2834640"/>
            <a:ext cx="7947132" cy="3017520"/>
          </a:xfrm>
          <a:prstGeom prst="rect">
            <a:avLst/>
          </a:prstGeom>
        </p:spPr>
      </p:pic>
      <p:sp>
        <p:nvSpPr>
          <p:cNvPr id="10" name="Text 6"/>
          <p:cNvSpPr/>
          <p:nvPr/>
        </p:nvSpPr>
        <p:spPr>
          <a:xfrm>
            <a:off x="2120910" y="5980176"/>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Suivi, données d’essai.</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l’essentiel</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Après le comptage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8288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chivo" pitchFamily="34" charset="0"/>
                <a:ea typeface="Archivo" pitchFamily="34" charset="-122"/>
                <a:cs typeface="Archivo" pitchFamily="34" charset="-120"/>
              </a:rPr>
              <a:t>Le rapport arrive déjà croisé avec votre stock théorique.</a:t>
            </a:r>
            <a:endParaRPr lang="en-US" sz="2300" dirty="0"/>
          </a:p>
        </p:txBody>
      </p:sp>
      <p:sp>
        <p:nvSpPr>
          <p:cNvPr id="7" name="Text 4"/>
          <p:cNvSpPr/>
          <p:nvPr/>
        </p:nvSpPr>
        <p:spPr>
          <a:xfrm>
            <a:off x="731520" y="3291840"/>
            <a:ext cx="4206240" cy="2377440"/>
          </a:xfrm>
          <a:prstGeom prst="rect">
            <a:avLst/>
          </a:prstGeom>
          <a:noFill/>
          <a:ln/>
        </p:spPr>
        <p:txBody>
          <a:bodyPr wrap="square" lIns="0" tIns="0" rIns="0" bIns="0" rtlCol="0" anchor="t"/>
          <a:lstStyle/>
          <a:p>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Il part de l'attendu, pas seulement de ce qui a été scanné : un article attendu et jamais trouvé y figure, avec son manque. C'est la démarque que l'inventaire est censé révéler.</a:t>
            </a:r>
            <a:endParaRPr lang="en-US" sz="1250" dirty="0"/>
          </a:p>
          <a:p>
            <a:pPr indent="0" marL="0">
              <a:lnSpc>
                <a:spcPct val="118000"/>
              </a:lnSpc>
              <a:spcAft>
                <a:spcPts val="1200"/>
              </a:spcAft>
              <a:buNone/>
            </a:pPr>
            <a:r>
              <a:rPr lang="en-US" sz="1250" dirty="0">
                <a:solidFill>
                  <a:srgbClr val="3A423F"/>
                </a:solidFill>
                <a:latin typeface="Public Sans" pitchFamily="34" charset="0"/>
                <a:ea typeface="Public Sans" pitchFamily="34" charset="-122"/>
                <a:cs typeface="Public Sans" pitchFamily="34" charset="-120"/>
              </a:rPr>
              <a:t>Export Excel en un clic, prêt pour la correction du stock. Il ne reste que la validation et l'ajustement.</a:t>
            </a:r>
            <a:endParaRPr lang="en-US" sz="1250" dirty="0"/>
          </a:p>
        </p:txBody>
      </p:sp>
      <p:sp>
        <p:nvSpPr>
          <p:cNvPr id="8" name="Shape 5"/>
          <p:cNvSpPr/>
          <p:nvPr/>
        </p:nvSpPr>
        <p:spPr>
          <a:xfrm>
            <a:off x="5340096" y="1316736"/>
            <a:ext cx="6172200" cy="4260383"/>
          </a:xfrm>
          <a:prstGeom prst="roundRect">
            <a:avLst>
              <a:gd name="adj" fmla="val 859"/>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5394960" y="1371600"/>
            <a:ext cx="6062472" cy="4150655"/>
          </a:xfrm>
          <a:prstGeom prst="rect">
            <a:avLst/>
          </a:prstGeom>
        </p:spPr>
      </p:pic>
      <p:sp>
        <p:nvSpPr>
          <p:cNvPr id="10" name="Text 6"/>
          <p:cNvSpPr/>
          <p:nvPr/>
        </p:nvSpPr>
        <p:spPr>
          <a:xfrm>
            <a:off x="5394960" y="5650271"/>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Rapport, données d’essai.</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l’essentiel</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Le prix</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chivo" pitchFamily="34" charset="0"/>
                <a:ea typeface="Archivo" pitchFamily="34" charset="-122"/>
                <a:cs typeface="Archivo" pitchFamily="34" charset="-120"/>
              </a:rPr>
              <a:t>Affiché, par magasin, sans déclaration de stock</a:t>
            </a:r>
            <a:endParaRPr lang="en-US" sz="2500" dirty="0"/>
          </a:p>
        </p:txBody>
      </p:sp>
      <p:sp>
        <p:nvSpPr>
          <p:cNvPr id="7" name="Text 4"/>
          <p:cNvSpPr/>
          <p:nvPr/>
        </p:nvSpPr>
        <p:spPr>
          <a:xfrm>
            <a:off x="731520" y="1783080"/>
            <a:ext cx="10725912" cy="457200"/>
          </a:xfrm>
          <a:prstGeom prst="rect">
            <a:avLst/>
          </a:prstGeom>
          <a:noFill/>
          <a:ln/>
        </p:spPr>
        <p:txBody>
          <a:bodyPr wrap="square" lIns="0" tIns="0" rIns="0" bIns="0" rtlCol="0" anchor="t"/>
          <a:lstStyle/>
          <a:p>
            <a:pPr algn="l" indent="0" marL="0">
              <a:lnSpc>
                <a:spcPct val="118000"/>
              </a:lnSpc>
              <a:buNone/>
            </a:pPr>
            <a:r>
              <a:rPr lang="en-US" sz="1150" dirty="0">
                <a:solidFill>
                  <a:srgbClr val="575F5C"/>
                </a:solidFill>
                <a:latin typeface="Public Sans" pitchFamily="34" charset="0"/>
                <a:ea typeface="Public Sans" pitchFamily="34" charset="-122"/>
                <a:cs typeface="Public Sans" pitchFamily="34" charset="-120"/>
              </a:rPr>
              <a:t>Le prix suit le nombre d'appareils qui comptent en même temps — la seule chose que vous puissiez vérifier vous-même. Ni le volume de votre stock, ni le nombre de comptes, ni le nombre d'inventaires dans l'année.</a:t>
            </a:r>
            <a:endParaRPr lang="en-US" sz="1150" dirty="0"/>
          </a:p>
        </p:txBody>
      </p:sp>
      <p:sp>
        <p:nvSpPr>
          <p:cNvPr id="8" name="Shape 5"/>
          <p:cNvSpPr/>
          <p:nvPr/>
        </p:nvSpPr>
        <p:spPr>
          <a:xfrm>
            <a:off x="731520" y="2331720"/>
            <a:ext cx="3404616" cy="2743200"/>
          </a:xfrm>
          <a:prstGeom prst="roundRect">
            <a:avLst>
              <a:gd name="adj" fmla="val 1333"/>
            </a:avLst>
          </a:prstGeom>
          <a:solidFill>
            <a:srgbClr val="F2F3F1"/>
          </a:solidFill>
          <a:ln w="12700">
            <a:solidFill>
              <a:srgbClr val="F2F3F1"/>
            </a:solidFill>
            <a:prstDash val="solid"/>
          </a:ln>
        </p:spPr>
      </p:sp>
      <p:sp>
        <p:nvSpPr>
          <p:cNvPr id="9" name="Text 6"/>
          <p:cNvSpPr/>
          <p:nvPr/>
        </p:nvSpPr>
        <p:spPr>
          <a:xfrm>
            <a:off x="987552"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chivo" pitchFamily="34" charset="0"/>
                <a:ea typeface="Archivo" pitchFamily="34" charset="-122"/>
                <a:cs typeface="Archivo" pitchFamily="34" charset="-120"/>
              </a:rPr>
              <a:t>Essential</a:t>
            </a:r>
            <a:endParaRPr lang="en-US" sz="1800" dirty="0"/>
          </a:p>
        </p:txBody>
      </p:sp>
      <p:sp>
        <p:nvSpPr>
          <p:cNvPr id="10" name="Text 7"/>
          <p:cNvSpPr/>
          <p:nvPr/>
        </p:nvSpPr>
        <p:spPr>
          <a:xfrm>
            <a:off x="987552"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Public Sans" pitchFamily="34" charset="0"/>
                <a:ea typeface="Public Sans" pitchFamily="34" charset="-122"/>
                <a:cs typeface="Public Sans" pitchFamily="34" charset="-120"/>
              </a:rPr>
              <a:t>Jusqu’à 2 appareils</a:t>
            </a:r>
            <a:endParaRPr lang="en-US" sz="1100" dirty="0"/>
          </a:p>
        </p:txBody>
      </p:sp>
      <p:sp>
        <p:nvSpPr>
          <p:cNvPr id="11" name="Text 8"/>
          <p:cNvSpPr/>
          <p:nvPr/>
        </p:nvSpPr>
        <p:spPr>
          <a:xfrm>
            <a:off x="987552"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Public Sans" pitchFamily="34" charset="0"/>
                <a:ea typeface="Public Sans" pitchFamily="34" charset="-122"/>
                <a:cs typeface="Public Sans" pitchFamily="34" charset="-120"/>
              </a:rPr>
              <a:t>Vous comptez seul ou à deux, dans un magasin.</a:t>
            </a:r>
            <a:endParaRPr lang="en-US" sz="1000" dirty="0"/>
          </a:p>
        </p:txBody>
      </p:sp>
      <p:sp>
        <p:nvSpPr>
          <p:cNvPr id="12" name="Text 9"/>
          <p:cNvSpPr/>
          <p:nvPr/>
        </p:nvSpPr>
        <p:spPr>
          <a:xfrm>
            <a:off x="987552"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chivo" pitchFamily="34" charset="0"/>
                <a:ea typeface="Archivo" pitchFamily="34" charset="-122"/>
                <a:cs typeface="Archivo" pitchFamily="34" charset="-120"/>
              </a:rPr>
              <a:t>89 €</a:t>
            </a:r>
            <a:pPr indent="0" marL="0">
              <a:buNone/>
            </a:pPr>
            <a:r>
              <a:rPr lang="en-US" sz="1050" dirty="0">
                <a:solidFill>
                  <a:srgbClr val="575F5C"/>
                </a:solidFill>
                <a:latin typeface="Public Sans" pitchFamily="34" charset="0"/>
                <a:ea typeface="Public Sans" pitchFamily="34" charset="-122"/>
                <a:cs typeface="Public Sans" pitchFamily="34" charset="-120"/>
              </a:rPr>
              <a:t>  HT / mois</a:t>
            </a:r>
            <a:endParaRPr lang="en-US" sz="2600" dirty="0"/>
          </a:p>
        </p:txBody>
      </p:sp>
      <p:sp>
        <p:nvSpPr>
          <p:cNvPr id="13" name="Text 10"/>
          <p:cNvSpPr/>
          <p:nvPr/>
        </p:nvSpPr>
        <p:spPr>
          <a:xfrm>
            <a:off x="987552"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Public Sans" pitchFamily="34" charset="0"/>
                <a:ea typeface="Public Sans" pitchFamily="34" charset="-122"/>
                <a:cs typeface="Public Sans" pitchFamily="34" charset="-120"/>
              </a:rPr>
              <a:t>ou 950 € à l’année — 118 € de moins</a:t>
            </a:r>
            <a:endParaRPr lang="en-US" sz="950" dirty="0"/>
          </a:p>
        </p:txBody>
      </p:sp>
      <p:sp>
        <p:nvSpPr>
          <p:cNvPr id="14" name="Shape 11"/>
          <p:cNvSpPr/>
          <p:nvPr/>
        </p:nvSpPr>
        <p:spPr>
          <a:xfrm>
            <a:off x="4392168" y="2331720"/>
            <a:ext cx="3404616" cy="2743200"/>
          </a:xfrm>
          <a:prstGeom prst="roundRect">
            <a:avLst>
              <a:gd name="adj" fmla="val 1333"/>
            </a:avLst>
          </a:prstGeom>
          <a:solidFill>
            <a:srgbClr val="E7EDE9"/>
          </a:solidFill>
          <a:ln w="15875">
            <a:solidFill>
              <a:srgbClr val="1E4D3B"/>
            </a:solidFill>
            <a:prstDash val="solid"/>
          </a:ln>
        </p:spPr>
      </p:sp>
      <p:sp>
        <p:nvSpPr>
          <p:cNvPr id="15" name="Text 12"/>
          <p:cNvSpPr/>
          <p:nvPr/>
        </p:nvSpPr>
        <p:spPr>
          <a:xfrm>
            <a:off x="4648200" y="2532888"/>
            <a:ext cx="2892552" cy="219456"/>
          </a:xfrm>
          <a:prstGeom prst="rect">
            <a:avLst/>
          </a:prstGeom>
          <a:noFill/>
          <a:ln/>
        </p:spPr>
        <p:txBody>
          <a:bodyPr wrap="square" lIns="0" tIns="0" rIns="0" bIns="0" rtlCol="0" anchor="t"/>
          <a:lstStyle/>
          <a:p>
            <a:pPr indent="0" marL="0">
              <a:buNone/>
            </a:pPr>
            <a:r>
              <a:rPr lang="en-US" sz="800" b="1" spc="60" kern="0" dirty="0">
                <a:solidFill>
                  <a:srgbClr val="1E4D3B"/>
                </a:solidFill>
                <a:latin typeface="Public Sans" pitchFamily="34" charset="0"/>
                <a:ea typeface="Public Sans" pitchFamily="34" charset="-122"/>
                <a:cs typeface="Public Sans" pitchFamily="34" charset="-120"/>
              </a:rPr>
              <a:t>LE PLUS COURANT</a:t>
            </a:r>
            <a:endParaRPr lang="en-US" sz="800" dirty="0"/>
          </a:p>
        </p:txBody>
      </p:sp>
      <p:sp>
        <p:nvSpPr>
          <p:cNvPr id="16" name="Text 13"/>
          <p:cNvSpPr/>
          <p:nvPr/>
        </p:nvSpPr>
        <p:spPr>
          <a:xfrm>
            <a:off x="4648200"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chivo" pitchFamily="34" charset="0"/>
                <a:ea typeface="Archivo" pitchFamily="34" charset="-122"/>
                <a:cs typeface="Archivo" pitchFamily="34" charset="-120"/>
              </a:rPr>
              <a:t>Advanced</a:t>
            </a:r>
            <a:endParaRPr lang="en-US" sz="1800" dirty="0"/>
          </a:p>
        </p:txBody>
      </p:sp>
      <p:sp>
        <p:nvSpPr>
          <p:cNvPr id="17" name="Text 14"/>
          <p:cNvSpPr/>
          <p:nvPr/>
        </p:nvSpPr>
        <p:spPr>
          <a:xfrm>
            <a:off x="4648200"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Public Sans" pitchFamily="34" charset="0"/>
                <a:ea typeface="Public Sans" pitchFamily="34" charset="-122"/>
                <a:cs typeface="Public Sans" pitchFamily="34" charset="-120"/>
              </a:rPr>
              <a:t>Jusqu’à 20 appareils</a:t>
            </a:r>
            <a:endParaRPr lang="en-US" sz="1100" dirty="0"/>
          </a:p>
        </p:txBody>
      </p:sp>
      <p:sp>
        <p:nvSpPr>
          <p:cNvPr id="18" name="Text 15"/>
          <p:cNvSpPr/>
          <p:nvPr/>
        </p:nvSpPr>
        <p:spPr>
          <a:xfrm>
            <a:off x="4648200"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Public Sans" pitchFamily="34" charset="0"/>
                <a:ea typeface="Public Sans" pitchFamily="34" charset="-122"/>
                <a:cs typeface="Public Sans" pitchFamily="34" charset="-120"/>
              </a:rPr>
              <a:t>Vous montez une équipe le jour de l’inventaire.</a:t>
            </a:r>
            <a:endParaRPr lang="en-US" sz="1000" dirty="0"/>
          </a:p>
        </p:txBody>
      </p:sp>
      <p:sp>
        <p:nvSpPr>
          <p:cNvPr id="19" name="Text 16"/>
          <p:cNvSpPr/>
          <p:nvPr/>
        </p:nvSpPr>
        <p:spPr>
          <a:xfrm>
            <a:off x="4648200"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chivo" pitchFamily="34" charset="0"/>
                <a:ea typeface="Archivo" pitchFamily="34" charset="-122"/>
                <a:cs typeface="Archivo" pitchFamily="34" charset="-120"/>
              </a:rPr>
              <a:t>310 €</a:t>
            </a:r>
            <a:pPr indent="0" marL="0">
              <a:buNone/>
            </a:pPr>
            <a:r>
              <a:rPr lang="en-US" sz="1050" dirty="0">
                <a:solidFill>
                  <a:srgbClr val="575F5C"/>
                </a:solidFill>
                <a:latin typeface="Public Sans" pitchFamily="34" charset="0"/>
                <a:ea typeface="Public Sans" pitchFamily="34" charset="-122"/>
                <a:cs typeface="Public Sans" pitchFamily="34" charset="-120"/>
              </a:rPr>
              <a:t>  HT / mois</a:t>
            </a:r>
            <a:endParaRPr lang="en-US" sz="2600" dirty="0"/>
          </a:p>
        </p:txBody>
      </p:sp>
      <p:sp>
        <p:nvSpPr>
          <p:cNvPr id="20" name="Text 17"/>
          <p:cNvSpPr/>
          <p:nvPr/>
        </p:nvSpPr>
        <p:spPr>
          <a:xfrm>
            <a:off x="4648200"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Public Sans" pitchFamily="34" charset="0"/>
                <a:ea typeface="Public Sans" pitchFamily="34" charset="-122"/>
                <a:cs typeface="Public Sans" pitchFamily="34" charset="-120"/>
              </a:rPr>
              <a:t>ou 3 300 € à l’année — 420 € de moins</a:t>
            </a:r>
            <a:endParaRPr lang="en-US" sz="950" dirty="0"/>
          </a:p>
        </p:txBody>
      </p:sp>
      <p:sp>
        <p:nvSpPr>
          <p:cNvPr id="21" name="Shape 18"/>
          <p:cNvSpPr/>
          <p:nvPr/>
        </p:nvSpPr>
        <p:spPr>
          <a:xfrm>
            <a:off x="8052816" y="2331720"/>
            <a:ext cx="3404616" cy="2743200"/>
          </a:xfrm>
          <a:prstGeom prst="roundRect">
            <a:avLst>
              <a:gd name="adj" fmla="val 1333"/>
            </a:avLst>
          </a:prstGeom>
          <a:solidFill>
            <a:srgbClr val="F2F3F1"/>
          </a:solidFill>
          <a:ln w="12700">
            <a:solidFill>
              <a:srgbClr val="F2F3F1"/>
            </a:solidFill>
            <a:prstDash val="solid"/>
          </a:ln>
        </p:spPr>
      </p:sp>
      <p:sp>
        <p:nvSpPr>
          <p:cNvPr id="22" name="Text 19"/>
          <p:cNvSpPr/>
          <p:nvPr/>
        </p:nvSpPr>
        <p:spPr>
          <a:xfrm>
            <a:off x="8308848"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chivo" pitchFamily="34" charset="0"/>
                <a:ea typeface="Archivo" pitchFamily="34" charset="-122"/>
                <a:cs typeface="Archivo" pitchFamily="34" charset="-120"/>
              </a:rPr>
              <a:t>Enterprise</a:t>
            </a:r>
            <a:endParaRPr lang="en-US" sz="1800" dirty="0"/>
          </a:p>
        </p:txBody>
      </p:sp>
      <p:sp>
        <p:nvSpPr>
          <p:cNvPr id="23" name="Text 20"/>
          <p:cNvSpPr/>
          <p:nvPr/>
        </p:nvSpPr>
        <p:spPr>
          <a:xfrm>
            <a:off x="8308848"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Public Sans" pitchFamily="34" charset="0"/>
                <a:ea typeface="Public Sans" pitchFamily="34" charset="-122"/>
                <a:cs typeface="Public Sans" pitchFamily="34" charset="-120"/>
              </a:rPr>
              <a:t>Jusqu’à 100 appareils</a:t>
            </a:r>
            <a:endParaRPr lang="en-US" sz="1100" dirty="0"/>
          </a:p>
        </p:txBody>
      </p:sp>
      <p:sp>
        <p:nvSpPr>
          <p:cNvPr id="24" name="Text 21"/>
          <p:cNvSpPr/>
          <p:nvPr/>
        </p:nvSpPr>
        <p:spPr>
          <a:xfrm>
            <a:off x="8308848"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Public Sans" pitchFamily="34" charset="0"/>
                <a:ea typeface="Public Sans" pitchFamily="34" charset="-122"/>
                <a:cs typeface="Public Sans" pitchFamily="34" charset="-120"/>
              </a:rPr>
              <a:t>La grande surface, qui mobilise une équipe entière.</a:t>
            </a:r>
            <a:endParaRPr lang="en-US" sz="1000" dirty="0"/>
          </a:p>
        </p:txBody>
      </p:sp>
      <p:sp>
        <p:nvSpPr>
          <p:cNvPr id="25" name="Text 22"/>
          <p:cNvSpPr/>
          <p:nvPr/>
        </p:nvSpPr>
        <p:spPr>
          <a:xfrm>
            <a:off x="8308848"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chivo" pitchFamily="34" charset="0"/>
                <a:ea typeface="Archivo" pitchFamily="34" charset="-122"/>
                <a:cs typeface="Archivo" pitchFamily="34" charset="-120"/>
              </a:rPr>
              <a:t>890 €</a:t>
            </a:r>
            <a:pPr indent="0" marL="0">
              <a:buNone/>
            </a:pPr>
            <a:r>
              <a:rPr lang="en-US" sz="1050" dirty="0">
                <a:solidFill>
                  <a:srgbClr val="575F5C"/>
                </a:solidFill>
                <a:latin typeface="Public Sans" pitchFamily="34" charset="0"/>
                <a:ea typeface="Public Sans" pitchFamily="34" charset="-122"/>
                <a:cs typeface="Public Sans" pitchFamily="34" charset="-120"/>
              </a:rPr>
              <a:t>  HT / mois</a:t>
            </a:r>
            <a:endParaRPr lang="en-US" sz="2600" dirty="0"/>
          </a:p>
        </p:txBody>
      </p:sp>
      <p:sp>
        <p:nvSpPr>
          <p:cNvPr id="26" name="Text 23"/>
          <p:cNvSpPr/>
          <p:nvPr/>
        </p:nvSpPr>
        <p:spPr>
          <a:xfrm>
            <a:off x="8308848"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Public Sans" pitchFamily="34" charset="0"/>
                <a:ea typeface="Public Sans" pitchFamily="34" charset="-122"/>
                <a:cs typeface="Public Sans" pitchFamily="34" charset="-120"/>
              </a:rPr>
              <a:t>ou 9 450 € à l’année — 1 230 € de moins</a:t>
            </a:r>
            <a:endParaRPr lang="en-US" sz="950" dirty="0"/>
          </a:p>
        </p:txBody>
      </p:sp>
      <p:sp>
        <p:nvSpPr>
          <p:cNvPr id="27" name="Shape 24"/>
          <p:cNvSpPr/>
          <p:nvPr/>
        </p:nvSpPr>
        <p:spPr>
          <a:xfrm>
            <a:off x="731520" y="5257800"/>
            <a:ext cx="10725912" cy="868680"/>
          </a:xfrm>
          <a:prstGeom prst="roundRect">
            <a:avLst>
              <a:gd name="adj" fmla="val 4211"/>
            </a:avLst>
          </a:prstGeom>
          <a:solidFill>
            <a:srgbClr val="F2F3F1"/>
          </a:solidFill>
          <a:ln w="12700">
            <a:solidFill>
              <a:srgbClr val="F2F3F1"/>
            </a:solidFill>
            <a:prstDash val="solid"/>
          </a:ln>
        </p:spPr>
      </p:sp>
      <p:sp>
        <p:nvSpPr>
          <p:cNvPr id="28" name="Text 25"/>
          <p:cNvSpPr/>
          <p:nvPr/>
        </p:nvSpPr>
        <p:spPr>
          <a:xfrm>
            <a:off x="1005840" y="5422392"/>
            <a:ext cx="10177272" cy="228600"/>
          </a:xfrm>
          <a:prstGeom prst="rect">
            <a:avLst/>
          </a:prstGeom>
          <a:noFill/>
          <a:ln/>
        </p:spPr>
        <p:txBody>
          <a:bodyPr wrap="square" lIns="0" tIns="0" rIns="0" bIns="0" rtlCol="0" anchor="t"/>
          <a:lstStyle/>
          <a:p>
            <a:pPr indent="0" marL="0">
              <a:buNone/>
            </a:pPr>
            <a:r>
              <a:rPr lang="en-US" sz="950" b="1" dirty="0">
                <a:solidFill>
                  <a:srgbClr val="575F5C"/>
                </a:solidFill>
                <a:latin typeface="Public Sans" pitchFamily="34" charset="0"/>
                <a:ea typeface="Public Sans" pitchFamily="34" charset="-122"/>
                <a:cs typeface="Public Sans" pitchFamily="34" charset="-120"/>
              </a:rPr>
              <a:t>Ce qui n’est pas dans ce prix, parce que ça n’existe pas</a:t>
            </a:r>
            <a:endParaRPr lang="en-US" sz="950" dirty="0"/>
          </a:p>
        </p:txBody>
      </p:sp>
      <p:sp>
        <p:nvSpPr>
          <p:cNvPr id="29" name="Text 26"/>
          <p:cNvSpPr/>
          <p:nvPr/>
        </p:nvSpPr>
        <p:spPr>
          <a:xfrm>
            <a:off x="1005840" y="5678424"/>
            <a:ext cx="10177272" cy="32004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Public Sans" pitchFamily="34" charset="0"/>
                <a:ea typeface="Public Sans" pitchFamily="34" charset="-122"/>
                <a:cs typeface="Public Sans" pitchFamily="34" charset="-120"/>
              </a:rPr>
              <a:t>Aucun terminal, aucune installation, aucun serveur, aucun coût de mise en service. Vous souscrivez en ligne et vous comptez le jour même.</a:t>
            </a:r>
            <a:endParaRPr lang="en-US" sz="1150" dirty="0"/>
          </a:p>
        </p:txBody>
      </p:sp>
      <p:sp>
        <p:nvSpPr>
          <p:cNvPr id="30" name="Text 2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l’essentiel</a:t>
            </a:r>
            <a:endParaRPr lang="en-US" sz="900" dirty="0"/>
          </a:p>
        </p:txBody>
      </p:sp>
      <p:sp>
        <p:nvSpPr>
          <p:cNvPr id="31" name="Text 2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Pour être honnête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Ce qu’un terminal durci fait mieux qu’un téléphone.</a:t>
            </a:r>
            <a:endParaRPr lang="en-US" sz="2600" dirty="0"/>
          </a:p>
        </p:txBody>
      </p:sp>
      <p:sp>
        <p:nvSpPr>
          <p:cNvPr id="7" name="Text 4"/>
          <p:cNvSpPr/>
          <p:nvPr/>
        </p:nvSpPr>
        <p:spPr>
          <a:xfrm>
            <a:off x="731520" y="3566160"/>
            <a:ext cx="4206240" cy="822960"/>
          </a:xfrm>
          <a:prstGeom prst="rect">
            <a:avLst/>
          </a:prstGeom>
          <a:noFill/>
          <a:ln/>
        </p:spPr>
        <p:txBody>
          <a:bodyPr wrap="square" lIns="0" tIns="0" rIns="0" bIns="0" rtlCol="0" anchor="t"/>
          <a:lstStyle/>
          <a:p>
            <a:pPr algn="l" indent="0" marL="0">
              <a:lnSpc>
                <a:spcPct val="118000"/>
              </a:lnSpc>
              <a:buNone/>
            </a:pPr>
            <a:r>
              <a:rPr lang="en-US" sz="1250" i="1" dirty="0">
                <a:solidFill>
                  <a:srgbClr val="575F5C"/>
                </a:solidFill>
                <a:latin typeface="Public Sans" pitchFamily="34" charset="0"/>
                <a:ea typeface="Public Sans" pitchFamily="34" charset="-122"/>
                <a:cs typeface="Public Sans" pitchFamily="34" charset="-120"/>
              </a:rPr>
              <a:t>Si on ne le dit pas nous-mêmes, quelqu'un le dira à notre place — et moins bien.</a:t>
            </a:r>
            <a:endParaRPr lang="en-US" sz="1250" dirty="0"/>
          </a:p>
        </p:txBody>
      </p:sp>
      <p:sp>
        <p:nvSpPr>
          <p:cNvPr id="8" name="Text 5"/>
          <p:cNvSpPr/>
          <p:nvPr/>
        </p:nvSpPr>
        <p:spPr>
          <a:xfrm>
            <a:off x="5394960" y="1371600"/>
            <a:ext cx="6062472" cy="4023360"/>
          </a:xfrm>
          <a:prstGeom prst="rect">
            <a:avLst/>
          </a:prstGeom>
          <a:noFill/>
          <a:ln/>
        </p:spPr>
        <p:txBody>
          <a:bodyPr wrap="square" lIns="0" tIns="0" rIns="0" bIns="0" rtlCol="0" anchor="t"/>
          <a:lstStyle/>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Il encaisse les chocs.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Une chute de deux mètres sur un sol de réserve, un écran gelé à −20 °C : un terminal durci est fait pour ça, un téléphone non. Dans une chambre froide ou sur un quai, l'argument est réel.</a:t>
            </a:r>
            <a:endParaRPr lang="en-US" sz="1300" dirty="0"/>
          </a:p>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La batterie tient la journée entière.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Un comptage de huit heures caméra allumée vide un téléphone. On compte par sessions, ou on prévoit des batteries externes — ce n'est pas gratuit, c'est juste beaucoup moins cher qu'une flotte.</a:t>
            </a:r>
            <a:endParaRPr lang="en-US" sz="1300" dirty="0"/>
          </a:p>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Une flotte déjà amortie ne coûte plus rien.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Si vos terminaux sont payés et fonctionnent, l'économie de matériel ne joue pas. Les autres arguments restent : la prise en main sans briefing, les comptages illimités, la réconciliation qui disparaît.</a:t>
            </a:r>
            <a:endParaRPr lang="en-US" sz="1300" dirty="0"/>
          </a:p>
        </p:txBody>
      </p:sp>
      <p:sp>
        <p:nvSpPr>
          <p:cNvPr id="9" name="Shape 6"/>
          <p:cNvSpPr/>
          <p:nvPr/>
        </p:nvSpPr>
        <p:spPr>
          <a:xfrm>
            <a:off x="5394960" y="5120640"/>
            <a:ext cx="6062472" cy="1005840"/>
          </a:xfrm>
          <a:prstGeom prst="roundRect">
            <a:avLst>
              <a:gd name="adj" fmla="val 3636"/>
            </a:avLst>
          </a:prstGeom>
          <a:solidFill>
            <a:srgbClr val="E7EDE9"/>
          </a:solidFill>
          <a:ln w="12700">
            <a:solidFill>
              <a:srgbClr val="E7EDE9"/>
            </a:solidFill>
            <a:prstDash val="solid"/>
          </a:ln>
        </p:spPr>
      </p:sp>
      <p:sp>
        <p:nvSpPr>
          <p:cNvPr id="10" name="Text 7"/>
          <p:cNvSpPr/>
          <p:nvPr/>
        </p:nvSpPr>
        <p:spPr>
          <a:xfrm>
            <a:off x="5669280" y="5285232"/>
            <a:ext cx="5513832" cy="228600"/>
          </a:xfrm>
          <a:prstGeom prst="rect">
            <a:avLst/>
          </a:prstGeom>
          <a:noFill/>
          <a:ln/>
        </p:spPr>
        <p:txBody>
          <a:bodyPr wrap="square" lIns="0" tIns="0" rIns="0" bIns="0" rtlCol="0" anchor="t"/>
          <a:lstStyle/>
          <a:p>
            <a:pPr indent="0" marL="0">
              <a:buNone/>
            </a:pPr>
            <a:r>
              <a:rPr lang="en-US" sz="950" b="1" dirty="0">
                <a:solidFill>
                  <a:srgbClr val="575F5C"/>
                </a:solidFill>
                <a:latin typeface="Public Sans" pitchFamily="34" charset="0"/>
                <a:ea typeface="Public Sans" pitchFamily="34" charset="-122"/>
                <a:cs typeface="Public Sans" pitchFamily="34" charset="-120"/>
              </a:rPr>
              <a:t>Ce qui ne bouge pas</a:t>
            </a:r>
            <a:endParaRPr lang="en-US" sz="950" dirty="0"/>
          </a:p>
        </p:txBody>
      </p:sp>
      <p:sp>
        <p:nvSpPr>
          <p:cNvPr id="11" name="Text 8"/>
          <p:cNvSpPr/>
          <p:nvPr/>
        </p:nvSpPr>
        <p:spPr>
          <a:xfrm>
            <a:off x="5669280" y="5541264"/>
            <a:ext cx="5513832" cy="45720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Public Sans" pitchFamily="34" charset="0"/>
                <a:ea typeface="Public Sans" pitchFamily="34" charset="-122"/>
                <a:cs typeface="Public Sans" pitchFamily="34" charset="-120"/>
              </a:rPr>
              <a:t>Un outil expert suppose un service expert pour le servir. C'est ce qui empêche de confier l'inventaire aux équipes de vente — et c'est précisément ce que nous rendons possible.</a:t>
            </a:r>
            <a:endParaRPr lang="en-US" sz="1150" dirty="0"/>
          </a:p>
        </p:txBody>
      </p:sp>
      <p:sp>
        <p:nvSpPr>
          <p:cNvPr id="12" name="Text 9"/>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l’essentiel</a:t>
            </a:r>
            <a:endParaRPr lang="en-US" sz="900" dirty="0"/>
          </a:p>
        </p:txBody>
      </p:sp>
      <p:sp>
        <p:nvSpPr>
          <p:cNvPr id="13" name="Text 10"/>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Pour être clair</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Ce qu’on ne vous promet pas.</a:t>
            </a:r>
            <a:endParaRPr lang="en-US" sz="2600" dirty="0"/>
          </a:p>
        </p:txBody>
      </p:sp>
      <p:sp>
        <p:nvSpPr>
          <p:cNvPr id="7" name="Text 4"/>
          <p:cNvSpPr/>
          <p:nvPr/>
        </p:nvSpPr>
        <p:spPr>
          <a:xfrm>
            <a:off x="731520" y="3291840"/>
            <a:ext cx="4206240" cy="548640"/>
          </a:xfrm>
          <a:prstGeom prst="rect">
            <a:avLst/>
          </a:prstGeom>
          <a:noFill/>
          <a:ln/>
        </p:spPr>
        <p:txBody>
          <a:bodyPr wrap="square" lIns="0" tIns="0" rIns="0" bIns="0" rtlCol="0" anchor="t"/>
          <a:lstStyle/>
          <a:p>
            <a:pPr algn="l" indent="0" marL="0">
              <a:lnSpc>
                <a:spcPct val="118000"/>
              </a:lnSpc>
              <a:buNone/>
            </a:pPr>
            <a:r>
              <a:rPr lang="en-US" sz="1250" i="1" dirty="0">
                <a:solidFill>
                  <a:srgbClr val="575F5C"/>
                </a:solidFill>
                <a:latin typeface="Public Sans" pitchFamily="34" charset="0"/>
                <a:ea typeface="Public Sans" pitchFamily="34" charset="-122"/>
                <a:cs typeface="Public Sans" pitchFamily="34" charset="-120"/>
              </a:rPr>
              <a:t>Autant le dire avant la démonstration qu’après.</a:t>
            </a:r>
            <a:endParaRPr lang="en-US" sz="1250" dirty="0"/>
          </a:p>
        </p:txBody>
      </p:sp>
      <p:sp>
        <p:nvSpPr>
          <p:cNvPr id="8" name="Text 5"/>
          <p:cNvSpPr/>
          <p:nvPr/>
        </p:nvSpPr>
        <p:spPr>
          <a:xfrm>
            <a:off x="5394960" y="1371600"/>
            <a:ext cx="6062472" cy="4389120"/>
          </a:xfrm>
          <a:prstGeom prst="rect">
            <a:avLst/>
          </a:prstGeom>
          <a:noFill/>
          <a:ln/>
        </p:spPr>
        <p:txBody>
          <a:bodyPr wrap="square" lIns="0" tIns="0" rIns="0" bIns="0" rtlCol="0" anchor="t"/>
          <a:lstStyle/>
          <a:p>
            <a:pPr indent="0" marL="0">
              <a:lnSpc>
                <a:spcPct val="118000"/>
              </a:lnSpc>
              <a:spcAft>
                <a:spcPts val="1300"/>
              </a:spcAft>
              <a:buNone/>
            </a:pPr>
            <a:r>
              <a:rPr lang="en-US" sz="1300" b="1" dirty="0">
                <a:solidFill>
                  <a:srgbClr val="14181A"/>
                </a:solidFill>
                <a:latin typeface="Public Sans" pitchFamily="34" charset="0"/>
                <a:ea typeface="Public Sans" pitchFamily="34" charset="-122"/>
                <a:cs typeface="Public Sans" pitchFamily="34" charset="-120"/>
              </a:rPr>
              <a:t>L'inventaire fiscal certifié. </a:t>
            </a:r>
            <a:pPr indent="0" marL="0">
              <a:lnSpc>
                <a:spcPct val="118000"/>
              </a:lnSpc>
              <a:spcAft>
                <a:spcPts val="1300"/>
              </a:spcAft>
              <a:buNone/>
            </a:pPr>
            <a:r>
              <a:rPr lang="en-US" sz="1300" dirty="0">
                <a:solidFill>
                  <a:srgbClr val="3A423F"/>
                </a:solidFill>
                <a:latin typeface="Public Sans" pitchFamily="34" charset="0"/>
                <a:ea typeface="Public Sans" pitchFamily="34" charset="-122"/>
                <a:cs typeface="Public Sans" pitchFamily="34" charset="-120"/>
              </a:rPr>
              <a:t>Si votre commissaire aux comptes exige un comptage par un tiers, ce comptage reste. Quantinvo fait tout le reste de l'année, et il le prépare.</a:t>
            </a:r>
            <a:endParaRPr lang="en-US" sz="1300" dirty="0"/>
          </a:p>
          <a:p>
            <a:pPr indent="0" marL="0">
              <a:lnSpc>
                <a:spcPct val="118000"/>
              </a:lnSpc>
              <a:spcAft>
                <a:spcPts val="1300"/>
              </a:spcAft>
              <a:buNone/>
            </a:pPr>
            <a:r>
              <a:rPr lang="en-US" sz="1300" b="1" dirty="0">
                <a:solidFill>
                  <a:srgbClr val="14181A"/>
                </a:solidFill>
                <a:latin typeface="Public Sans" pitchFamily="34" charset="0"/>
                <a:ea typeface="Public Sans" pitchFamily="34" charset="-122"/>
                <a:cs typeface="Public Sans" pitchFamily="34" charset="-120"/>
              </a:rPr>
              <a:t>Une connexion à votre ERP. </a:t>
            </a:r>
            <a:pPr indent="0" marL="0">
              <a:lnSpc>
                <a:spcPct val="118000"/>
              </a:lnSpc>
              <a:spcAft>
                <a:spcPts val="1300"/>
              </a:spcAft>
              <a:buNone/>
            </a:pPr>
            <a:r>
              <a:rPr lang="en-US" sz="1300" dirty="0">
                <a:solidFill>
                  <a:srgbClr val="3A423F"/>
                </a:solidFill>
                <a:latin typeface="Public Sans" pitchFamily="34" charset="0"/>
                <a:ea typeface="Public Sans" pitchFamily="34" charset="-122"/>
                <a:cs typeface="Public Sans" pitchFamily="34" charset="-120"/>
              </a:rPr>
              <a:t>Pas encore. Quantinvo importe vos fichiers et rend un Excel. C'est ce qui permet de démarrer en une journée, sans projet informatique.</a:t>
            </a:r>
            <a:endParaRPr lang="en-US" sz="1300" dirty="0"/>
          </a:p>
          <a:p>
            <a:pPr indent="0" marL="0">
              <a:lnSpc>
                <a:spcPct val="118000"/>
              </a:lnSpc>
              <a:spcAft>
                <a:spcPts val="1300"/>
              </a:spcAft>
              <a:buNone/>
            </a:pPr>
            <a:r>
              <a:rPr lang="en-US" sz="1300" b="1" dirty="0">
                <a:solidFill>
                  <a:srgbClr val="14181A"/>
                </a:solidFill>
                <a:latin typeface="Public Sans" pitchFamily="34" charset="0"/>
                <a:ea typeface="Public Sans" pitchFamily="34" charset="-122"/>
                <a:cs typeface="Public Sans" pitchFamily="34" charset="-120"/>
              </a:rPr>
              <a:t>Android sur les boutiques. </a:t>
            </a:r>
            <a:pPr indent="0" marL="0">
              <a:lnSpc>
                <a:spcPct val="118000"/>
              </a:lnSpc>
              <a:spcAft>
                <a:spcPts val="1300"/>
              </a:spcAft>
              <a:buNone/>
            </a:pPr>
            <a:r>
              <a:rPr lang="en-US" sz="1300" dirty="0">
                <a:solidFill>
                  <a:srgbClr val="3A423F"/>
                </a:solidFill>
                <a:latin typeface="Public Sans" pitchFamily="34" charset="0"/>
                <a:ea typeface="Public Sans" pitchFamily="34" charset="-122"/>
                <a:cs typeface="Public Sans" pitchFamily="34" charset="-120"/>
              </a:rPr>
              <a:t>L'application tourne sur Android, et elle est disponible sur iPhone. La mise en ligne sur Google Play est en cours ; d'ici là, l'installation passe par votre catalogue d'entreprise.</a:t>
            </a:r>
            <a:endParaRPr lang="en-US" sz="1300" dirty="0"/>
          </a:p>
          <a:p>
            <a:pPr indent="0" marL="0">
              <a:lnSpc>
                <a:spcPct val="118000"/>
              </a:lnSpc>
              <a:spcAft>
                <a:spcPts val="1300"/>
              </a:spcAft>
              <a:buNone/>
            </a:pPr>
            <a:r>
              <a:rPr lang="en-US" sz="1300" b="1" dirty="0">
                <a:solidFill>
                  <a:srgbClr val="14181A"/>
                </a:solidFill>
                <a:latin typeface="Public Sans" pitchFamily="34" charset="0"/>
                <a:ea typeface="Public Sans" pitchFamily="34" charset="-122"/>
                <a:cs typeface="Public Sans" pitchFamily="34" charset="-120"/>
              </a:rPr>
              <a:t>La connexion par votre annuaire. </a:t>
            </a:r>
            <a:pPr indent="0" marL="0">
              <a:lnSpc>
                <a:spcPct val="118000"/>
              </a:lnSpc>
              <a:spcAft>
                <a:spcPts val="1300"/>
              </a:spcAft>
              <a:buNone/>
            </a:pPr>
            <a:r>
              <a:rPr lang="en-US" sz="1300" dirty="0">
                <a:solidFill>
                  <a:srgbClr val="3A423F"/>
                </a:solidFill>
                <a:latin typeface="Public Sans" pitchFamily="34" charset="0"/>
                <a:ea typeface="Public Sans" pitchFamily="34" charset="-122"/>
                <a:cs typeface="Public Sans" pitchFamily="34" charset="-120"/>
              </a:rPr>
              <a:t>Les comptes sont nominatifs, créés par invitation. Pas de SAML ni d'Entra ID pour l'instant ; dites-nous si c'est une exigence.</a:t>
            </a:r>
            <a:endParaRPr lang="en-US" sz="130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l’essentiel</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chivo" pitchFamily="34" charset="0"/>
                <a:ea typeface="Archivo" pitchFamily="34" charset="-122"/>
                <a:cs typeface="Archivo" pitchFamily="34" charset="-120"/>
              </a:rPr>
              <a:t>Un rayon, un mardi matin.</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Public Sans" pitchFamily="34" charset="0"/>
                <a:ea typeface="Public Sans" pitchFamily="34" charset="-122"/>
                <a:cs typeface="Public Sans" pitchFamily="34" charset="-120"/>
              </a:rPr>
              <a:t>Venez avec votre stock théorique : vous l'importez, deux personnes de votre équipe balisent un rayon et le comptent, et vous repartez avec le rapport. Trente minutes, sur vos données, sans rien installer.</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contact@quantinvo.com   ·   www.quantinvo.com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Quantinvo, par Devkaylab. L’outil d’inventaire pour le commerce.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l’essentiel</dc:title>
  <dc:subject>PptxGenJS Presentation</dc:subject>
  <dc:creator>Devkaylab</dc:creator>
  <cp:lastModifiedBy>Devkaylab</cp:lastModifiedBy>
  <cp:revision>1</cp:revision>
  <dcterms:created xsi:type="dcterms:W3CDTF">2026-09-11T14:01:55Z</dcterms:created>
  <dcterms:modified xsi:type="dcterms:W3CDTF">2026-09-11T14:01:55Z</dcterms:modified>
</cp:coreProperties>
</file>