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le cadre en une phrase : ce document part du terrain, pas d'une idée de produit. Le reste se lit dans l'ordre.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qui parle avant de dire ce qui ne va pas. Le chiffre « 2 » est celui de mon magasin, pas une moyenne du secteur.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la carte avant le détail. Les cinq pages qui suivent reprennent ces titres dans cet 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le plus important des cinq : tous les autres en découlent. Insister sur « rien à demander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ici que se joue l’inventaire tournant : compter souvent et peu, plutôt que tout, une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matériel est l’argument le plus facile à vérifier : montrer la planche de balises et laisser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promettre de connecteur ERP : Quantinvo lit un fichier, et c’est ce qui le rend indépendant de l’informatique.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Détail en apparence, mais c’est celui qui produit le plus d’erreurs de saisie sur le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centrale de la démonstration. L’écart se tranche sur place, pendant que quelqu’un peut encore retourner au rayon.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 par inventaire » : c’est la réponse au rapport unique de la plateforme actuelle.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Fermer la boucle : compter souvent n’a d’intérêt que si l’on compare. C’est la promesse de l’inventaire tournant.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limites avant qu’on nous les oppose. C’est la page qui fait passer le reste pour vrai, parce qu’il l’est.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Arial" pitchFamily="34" charset="0"/>
                <a:ea typeface="Arial" pitchFamily="34" charset="-122"/>
                <a:cs typeface="Arial" pitchFamily="34" charset="-120"/>
              </a:rPr>
              <a:t>Note d’intention</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ial" pitchFamily="34" charset="0"/>
                <a:ea typeface="Arial" pitchFamily="34" charset="-122"/>
                <a:cs typeface="Arial" pitchFamily="34" charset="-120"/>
              </a:rPr>
              <a:t>Pourquoi j’ai créé Quantinvo</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Arial" pitchFamily="34" charset="0"/>
                <a:ea typeface="Arial" pitchFamily="34" charset="-122"/>
                <a:cs typeface="Arial" pitchFamily="34" charset="-120"/>
              </a:rPr>
              <a:t>Je suis contrôleur des stocks. Ce qui suit ne vient pas d’une étude de marché mais de ce que je constate en magasin, inventaire après inventaire — et de ce que Quantinvo en fait, point par point.</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Julien Thiong-Kay  ·  Devkaylab  ·  septembre 2026  ·  www.quantinvo.com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Je fais des inventaires.</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Je n’en vendais pas.</a:t>
            </a:r>
            <a:endParaRPr lang="en-US" sz="2600" dirty="0"/>
          </a:p>
        </p:txBody>
      </p:sp>
      <p:sp>
        <p:nvSpPr>
          <p:cNvPr id="7" name="Text 4"/>
          <p:cNvSpPr/>
          <p:nvPr/>
        </p:nvSpPr>
        <p:spPr>
          <a:xfrm>
            <a:off x="731520" y="3886200"/>
            <a:ext cx="4206240" cy="868680"/>
          </a:xfrm>
          <a:prstGeom prst="rect">
            <a:avLst/>
          </a:prstGeom>
          <a:noFill/>
          <a:ln/>
        </p:spPr>
        <p:txBody>
          <a:bodyPr wrap="square" lIns="0" tIns="0" rIns="0" bIns="0" rtlCol="0" anchor="t"/>
          <a:lstStyle/>
          <a:p>
            <a:pPr indent="0" marL="0">
              <a:buNone/>
            </a:pPr>
            <a:r>
              <a:rPr lang="en-US" sz="5400" b="1" dirty="0">
                <a:solidFill>
                  <a:srgbClr val="1E4D3B"/>
                </a:solidFill>
                <a:latin typeface="Arial" pitchFamily="34" charset="0"/>
                <a:ea typeface="Arial" pitchFamily="34" charset="-122"/>
                <a:cs typeface="Arial" pitchFamily="34" charset="-120"/>
              </a:rPr>
              <a:t>2</a:t>
            </a:r>
            <a:endParaRPr lang="en-US" sz="5400" dirty="0"/>
          </a:p>
        </p:txBody>
      </p:sp>
      <p:sp>
        <p:nvSpPr>
          <p:cNvPr id="8" name="Text 5"/>
          <p:cNvSpPr/>
          <p:nvPr/>
        </p:nvSpPr>
        <p:spPr>
          <a:xfrm>
            <a:off x="731520" y="4800600"/>
            <a:ext cx="4206240" cy="731520"/>
          </a:xfrm>
          <a:prstGeom prst="rect">
            <a:avLst/>
          </a:prstGeom>
          <a:noFill/>
          <a:ln/>
        </p:spPr>
        <p:txBody>
          <a:bodyPr wrap="square" lIns="0" tIns="0" rIns="0" bIns="0" rtlCol="0" anchor="t"/>
          <a:lstStyle/>
          <a:p>
            <a:pPr indent="0" marL="0">
              <a:lnSpc>
                <a:spcPct val="115000"/>
              </a:lnSpc>
              <a:buNone/>
            </a:pPr>
            <a:r>
              <a:rPr lang="en-US" sz="1200" dirty="0">
                <a:solidFill>
                  <a:srgbClr val="575F5C"/>
                </a:solidFill>
                <a:latin typeface="Arial" pitchFamily="34" charset="0"/>
                <a:ea typeface="Arial" pitchFamily="34" charset="-122"/>
                <a:cs typeface="Arial" pitchFamily="34" charset="-120"/>
              </a:rPr>
              <a:t>personnes à l’inventaire, pour l’ensemble du magasin</a:t>
            </a:r>
            <a:endParaRPr lang="en-US" sz="1200" dirty="0"/>
          </a:p>
        </p:txBody>
      </p:sp>
      <p:sp>
        <p:nvSpPr>
          <p:cNvPr id="9" name="Text 6"/>
          <p:cNvSpPr/>
          <p:nvPr/>
        </p:nvSpPr>
        <p:spPr>
          <a:xfrm>
            <a:off x="5394960" y="1371600"/>
            <a:ext cx="6062472" cy="128016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Arial" pitchFamily="34" charset="0"/>
                <a:ea typeface="Arial" pitchFamily="34" charset="-122"/>
                <a:cs typeface="Arial" pitchFamily="34" charset="-120"/>
              </a:rPr>
              <a:t>Mon métier est le contrôle des stocks en grand magasin. Je prépare les inventaires, je les conduis, je relève les écarts et je les explique. C’est de cette place que j’ai vu les mêmes obstacles revenir — et qu’aucun d’eux ne tenait aux équipes.</a:t>
            </a:r>
            <a:endParaRPr lang="en-US" sz="1300" dirty="0"/>
          </a:p>
        </p:txBody>
      </p:sp>
      <p:sp>
        <p:nvSpPr>
          <p:cNvPr id="10" name="Text 7"/>
          <p:cNvSpPr/>
          <p:nvPr/>
        </p:nvSpPr>
        <p:spPr>
          <a:xfrm>
            <a:off x="5394960" y="2788920"/>
            <a:ext cx="6062472" cy="146304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Arial" pitchFamily="34" charset="0"/>
                <a:ea typeface="Arial" pitchFamily="34" charset="-122"/>
                <a:cs typeface="Arial" pitchFamily="34" charset="-120"/>
              </a:rPr>
              <a:t>Ils tenaient à l’organisation et aux outils : un service d’inventaire minuscule dont tout le magasin dépend, une plateforme qui décide de ce qu’on peut faire, du matériel qu’il faut commander. Quantinvo n’est pas né d’une idée de produit. Il est né de cette liste, que j’ai fini par écrire.</a:t>
            </a:r>
            <a:endParaRPr lang="en-US" sz="1300" dirty="0"/>
          </a:p>
        </p:txBody>
      </p:sp>
      <p:sp>
        <p:nvSpPr>
          <p:cNvPr id="11" name="Shape 8"/>
          <p:cNvSpPr/>
          <p:nvPr/>
        </p:nvSpPr>
        <p:spPr>
          <a:xfrm>
            <a:off x="5394960" y="4617720"/>
            <a:ext cx="6062472" cy="1097280"/>
          </a:xfrm>
          <a:prstGeom prst="roundRect">
            <a:avLst>
              <a:gd name="adj" fmla="val 3333"/>
            </a:avLst>
          </a:prstGeom>
          <a:solidFill>
            <a:srgbClr val="F2F3F1"/>
          </a:solidFill>
          <a:ln w="12700">
            <a:solidFill>
              <a:srgbClr val="F2F3F1"/>
            </a:solidFill>
            <a:prstDash val="solid"/>
          </a:ln>
        </p:spPr>
      </p:sp>
      <p:sp>
        <p:nvSpPr>
          <p:cNvPr id="12" name="Text 9"/>
          <p:cNvSpPr/>
          <p:nvPr/>
        </p:nvSpPr>
        <p:spPr>
          <a:xfrm>
            <a:off x="5669280" y="4782312"/>
            <a:ext cx="5513832" cy="228600"/>
          </a:xfrm>
          <a:prstGeom prst="rect">
            <a:avLst/>
          </a:prstGeom>
          <a:noFill/>
          <a:ln/>
        </p:spPr>
        <p:txBody>
          <a:bodyPr wrap="square" lIns="0" tIns="0" rIns="0" bIns="0" rtlCol="0" anchor="t"/>
          <a:lstStyle/>
          <a:p>
            <a:pPr indent="0" marL="0">
              <a:buNone/>
            </a:pPr>
            <a:r>
              <a:rPr lang="en-US" sz="950" b="1" dirty="0">
                <a:solidFill>
                  <a:srgbClr val="575F5C"/>
                </a:solidFill>
                <a:latin typeface="Arial" pitchFamily="34" charset="0"/>
                <a:ea typeface="Arial" pitchFamily="34" charset="-122"/>
                <a:cs typeface="Arial" pitchFamily="34" charset="-120"/>
              </a:rPr>
              <a:t>Le point de départ</a:t>
            </a:r>
            <a:endParaRPr lang="en-US" sz="950" dirty="0"/>
          </a:p>
        </p:txBody>
      </p:sp>
      <p:sp>
        <p:nvSpPr>
          <p:cNvPr id="13" name="Text 10"/>
          <p:cNvSpPr/>
          <p:nvPr/>
        </p:nvSpPr>
        <p:spPr>
          <a:xfrm>
            <a:off x="5669280" y="5038344"/>
            <a:ext cx="5513832" cy="54864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Arial" pitchFamily="34" charset="0"/>
                <a:ea typeface="Arial" pitchFamily="34" charset="-122"/>
                <a:cs typeface="Arial" pitchFamily="34" charset="-120"/>
              </a:rPr>
              <a:t>Le magasin ne lance pas un inventaire : il le demande. Ce qui sera compté, et quand, dépend de la disponibilité de deux personnes.</a:t>
            </a:r>
            <a:endParaRPr lang="en-US" sz="1150" dirty="0"/>
          </a:p>
        </p:txBody>
      </p:sp>
      <p:sp>
        <p:nvSpPr>
          <p:cNvPr id="14"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5"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34440"/>
            <a:ext cx="10725912" cy="822960"/>
          </a:xfrm>
          <a:prstGeom prst="rect">
            <a:avLst/>
          </a:prstGeom>
          <a:noFill/>
          <a:ln/>
        </p:spPr>
        <p:txBody>
          <a:bodyPr wrap="square" lIns="0" tIns="0" rIns="0" bIns="0" rtlCol="0" anchor="t"/>
          <a:lstStyle/>
          <a:p>
            <a:pPr indent="0" marL="0">
              <a:lnSpc>
                <a:spcPct val="105000"/>
              </a:lnSpc>
              <a:buNone/>
            </a:pPr>
            <a:r>
              <a:rPr lang="en-US" sz="2700" b="1" dirty="0">
                <a:solidFill>
                  <a:srgbClr val="14181A"/>
                </a:solidFill>
                <a:latin typeface="Arial" pitchFamily="34" charset="0"/>
                <a:ea typeface="Arial" pitchFamily="34" charset="-122"/>
                <a:cs typeface="Arial" pitchFamily="34" charset="-120"/>
              </a:rPr>
              <a:t>Cinq obstacles, toujours les mêmes</a:t>
            </a:r>
            <a:endParaRPr lang="en-US" sz="2700" dirty="0"/>
          </a:p>
        </p:txBody>
      </p:sp>
      <p:sp>
        <p:nvSpPr>
          <p:cNvPr id="7" name="Text 4"/>
          <p:cNvSpPr/>
          <p:nvPr/>
        </p:nvSpPr>
        <p:spPr>
          <a:xfrm>
            <a:off x="731520" y="1938528"/>
            <a:ext cx="8595360" cy="457200"/>
          </a:xfrm>
          <a:prstGeom prst="rect">
            <a:avLst/>
          </a:prstGeom>
          <a:noFill/>
          <a:ln/>
        </p:spPr>
        <p:txBody>
          <a:bodyPr wrap="square" lIns="0" tIns="0" rIns="0" bIns="0" rtlCol="0" anchor="t"/>
          <a:lstStyle/>
          <a:p>
            <a:pPr algn="l" indent="0" marL="0">
              <a:lnSpc>
                <a:spcPct val="118000"/>
              </a:lnSpc>
              <a:buNone/>
            </a:pPr>
            <a:r>
              <a:rPr lang="en-US" sz="1250" dirty="0">
                <a:solidFill>
                  <a:srgbClr val="575F5C"/>
                </a:solidFill>
                <a:latin typeface="Arial" pitchFamily="34" charset="0"/>
                <a:ea typeface="Arial" pitchFamily="34" charset="-122"/>
                <a:cs typeface="Arial" pitchFamily="34" charset="-120"/>
              </a:rPr>
              <a:t>Ils ne sont ni exotiques ni propres à une enseigne. Je les retrouve partout où l’inventaire se fait avec un prestataire et sa plateforme.</a:t>
            </a:r>
            <a:endParaRPr lang="en-US" sz="1250" dirty="0"/>
          </a:p>
        </p:txBody>
      </p:sp>
      <p:sp>
        <p:nvSpPr>
          <p:cNvPr id="8" name="Text 5"/>
          <p:cNvSpPr/>
          <p:nvPr/>
        </p:nvSpPr>
        <p:spPr>
          <a:xfrm>
            <a:off x="731520" y="2697480"/>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6"/>
          <p:cNvSpPr/>
          <p:nvPr/>
        </p:nvSpPr>
        <p:spPr>
          <a:xfrm>
            <a:off x="1243584" y="2660904"/>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L’autonomie</a:t>
            </a:r>
            <a:endParaRPr lang="en-US" sz="1500" dirty="0"/>
          </a:p>
        </p:txBody>
      </p:sp>
      <p:sp>
        <p:nvSpPr>
          <p:cNvPr id="10" name="Text 7"/>
          <p:cNvSpPr/>
          <p:nvPr/>
        </p:nvSpPr>
        <p:spPr>
          <a:xfrm>
            <a:off x="3611880" y="2679192"/>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Le magasin ne peut rien lancer, ni ajouter personne, sans passer par un tiers.</a:t>
            </a:r>
            <a:endParaRPr lang="en-US" sz="1250" dirty="0"/>
          </a:p>
        </p:txBody>
      </p:sp>
      <p:sp>
        <p:nvSpPr>
          <p:cNvPr id="11" name="Shape 8"/>
          <p:cNvSpPr/>
          <p:nvPr/>
        </p:nvSpPr>
        <p:spPr>
          <a:xfrm>
            <a:off x="731520" y="3209544"/>
            <a:ext cx="10725912" cy="0"/>
          </a:xfrm>
          <a:prstGeom prst="line">
            <a:avLst/>
          </a:prstGeom>
          <a:noFill/>
          <a:ln w="9525">
            <a:solidFill>
              <a:srgbClr val="E2E5E1"/>
            </a:solidFill>
            <a:prstDash val="solid"/>
          </a:ln>
        </p:spPr>
      </p:sp>
      <p:sp>
        <p:nvSpPr>
          <p:cNvPr id="12" name="Text 9"/>
          <p:cNvSpPr/>
          <p:nvPr/>
        </p:nvSpPr>
        <p:spPr>
          <a:xfrm>
            <a:off x="731520" y="3392424"/>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Text 10"/>
          <p:cNvSpPr/>
          <p:nvPr/>
        </p:nvSpPr>
        <p:spPr>
          <a:xfrm>
            <a:off x="1243584" y="3355848"/>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La cadence</a:t>
            </a:r>
            <a:endParaRPr lang="en-US" sz="1500" dirty="0"/>
          </a:p>
        </p:txBody>
      </p:sp>
      <p:sp>
        <p:nvSpPr>
          <p:cNvPr id="14" name="Text 11"/>
          <p:cNvSpPr/>
          <p:nvPr/>
        </p:nvSpPr>
        <p:spPr>
          <a:xfrm>
            <a:off x="3611880" y="3374136"/>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Une marque comptée une fois par an, et aucune seconde chance quand l’écart est gros.</a:t>
            </a:r>
            <a:endParaRPr lang="en-US" sz="1250" dirty="0"/>
          </a:p>
        </p:txBody>
      </p:sp>
      <p:sp>
        <p:nvSpPr>
          <p:cNvPr id="15" name="Shape 12"/>
          <p:cNvSpPr/>
          <p:nvPr/>
        </p:nvSpPr>
        <p:spPr>
          <a:xfrm>
            <a:off x="731520" y="3904488"/>
            <a:ext cx="10725912" cy="0"/>
          </a:xfrm>
          <a:prstGeom prst="line">
            <a:avLst/>
          </a:prstGeom>
          <a:noFill/>
          <a:ln w="9525">
            <a:solidFill>
              <a:srgbClr val="E2E5E1"/>
            </a:solidFill>
            <a:prstDash val="solid"/>
          </a:ln>
        </p:spPr>
      </p:sp>
      <p:sp>
        <p:nvSpPr>
          <p:cNvPr id="16" name="Text 13"/>
          <p:cNvSpPr/>
          <p:nvPr/>
        </p:nvSpPr>
        <p:spPr>
          <a:xfrm>
            <a:off x="731520" y="4087368"/>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7" name="Text 14"/>
          <p:cNvSpPr/>
          <p:nvPr/>
        </p:nvSpPr>
        <p:spPr>
          <a:xfrm>
            <a:off x="1243584" y="4050792"/>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Le matériel</a:t>
            </a:r>
            <a:endParaRPr lang="en-US" sz="1500" dirty="0"/>
          </a:p>
        </p:txBody>
      </p:sp>
      <p:sp>
        <p:nvSpPr>
          <p:cNvPr id="18" name="Text 15"/>
          <p:cNvSpPr/>
          <p:nvPr/>
        </p:nvSpPr>
        <p:spPr>
          <a:xfrm>
            <a:off x="3611880" y="4069080"/>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Des terminaux en fin de vie, des balises commandées à l’étranger — quand chacun a déjà un téléphone.</a:t>
            </a:r>
            <a:endParaRPr lang="en-US" sz="1250" dirty="0"/>
          </a:p>
        </p:txBody>
      </p:sp>
      <p:sp>
        <p:nvSpPr>
          <p:cNvPr id="19" name="Shape 16"/>
          <p:cNvSpPr/>
          <p:nvPr/>
        </p:nvSpPr>
        <p:spPr>
          <a:xfrm>
            <a:off x="731520" y="4599432"/>
            <a:ext cx="10725912" cy="0"/>
          </a:xfrm>
          <a:prstGeom prst="line">
            <a:avLst/>
          </a:prstGeom>
          <a:noFill/>
          <a:ln w="9525">
            <a:solidFill>
              <a:srgbClr val="E2E5E1"/>
            </a:solidFill>
            <a:prstDash val="solid"/>
          </a:ln>
        </p:spPr>
      </p:sp>
      <p:sp>
        <p:nvSpPr>
          <p:cNvPr id="20" name="Text 17"/>
          <p:cNvSpPr/>
          <p:nvPr/>
        </p:nvSpPr>
        <p:spPr>
          <a:xfrm>
            <a:off x="731520" y="4782312"/>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1" name="Text 18"/>
          <p:cNvSpPr/>
          <p:nvPr/>
        </p:nvSpPr>
        <p:spPr>
          <a:xfrm>
            <a:off x="1243584" y="4745736"/>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La donnée</a:t>
            </a:r>
            <a:endParaRPr lang="en-US" sz="1500" dirty="0"/>
          </a:p>
        </p:txBody>
      </p:sp>
      <p:sp>
        <p:nvSpPr>
          <p:cNvPr id="22" name="Text 19"/>
          <p:cNvSpPr/>
          <p:nvPr/>
        </p:nvSpPr>
        <p:spPr>
          <a:xfrm>
            <a:off x="3611880" y="4764024"/>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Un référentiel arrêté au mois de mars, qu’on ne peut pas rafraîchir soi-même.</a:t>
            </a:r>
            <a:endParaRPr lang="en-US" sz="1250" dirty="0"/>
          </a:p>
        </p:txBody>
      </p:sp>
      <p:sp>
        <p:nvSpPr>
          <p:cNvPr id="23" name="Shape 20"/>
          <p:cNvSpPr/>
          <p:nvPr/>
        </p:nvSpPr>
        <p:spPr>
          <a:xfrm>
            <a:off x="731520" y="5294376"/>
            <a:ext cx="10725912" cy="0"/>
          </a:xfrm>
          <a:prstGeom prst="line">
            <a:avLst/>
          </a:prstGeom>
          <a:noFill/>
          <a:ln w="9525">
            <a:solidFill>
              <a:srgbClr val="E2E5E1"/>
            </a:solidFill>
            <a:prstDash val="solid"/>
          </a:ln>
        </p:spPr>
      </p:sp>
      <p:sp>
        <p:nvSpPr>
          <p:cNvPr id="24" name="Text 21"/>
          <p:cNvSpPr/>
          <p:nvPr/>
        </p:nvSpPr>
        <p:spPr>
          <a:xfrm>
            <a:off x="731520" y="5477256"/>
            <a:ext cx="329184" cy="329184"/>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5" name="Text 22"/>
          <p:cNvSpPr/>
          <p:nvPr/>
        </p:nvSpPr>
        <p:spPr>
          <a:xfrm>
            <a:off x="1243584" y="5440680"/>
            <a:ext cx="2286000" cy="36576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La zone</a:t>
            </a:r>
            <a:endParaRPr lang="en-US" sz="1500" dirty="0"/>
          </a:p>
        </p:txBody>
      </p:sp>
      <p:sp>
        <p:nvSpPr>
          <p:cNvPr id="26" name="Text 23"/>
          <p:cNvSpPr/>
          <p:nvPr/>
        </p:nvSpPr>
        <p:spPr>
          <a:xfrm>
            <a:off x="3611880" y="5458968"/>
            <a:ext cx="7845552"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Des zones de comptage imposées, et un écart qu’on ne découvre qu’à la fin.</a:t>
            </a:r>
            <a:endParaRPr lang="en-US" sz="1250" dirty="0"/>
          </a:p>
        </p:txBody>
      </p:sp>
      <p:sp>
        <p:nvSpPr>
          <p:cNvPr id="27" name="Text 2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28" name="Text 2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Le magasin ne décide de rien</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Tout passe par une équipe de deux.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Le magasin ne lance pas un inventaire, il le demande. Notre disponibilité décide de ce qui sera compté, et quand.</a:t>
            </a:r>
            <a:endParaRPr lang="en-US" sz="1150" dirty="0"/>
          </a:p>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Ajouter quelqu’un demande un e-mail.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Créer un profil ou ajouter un membre se demande au fournisseur, et on attend sa réponse — pour un geste d’une minute.</a:t>
            </a:r>
            <a:endParaRPr lang="en-US" sz="1150" dirty="0"/>
          </a:p>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Et la plupart des magasins n’ont rien.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Une grande majorité n’a aucun outil d’inventaire et l’externalise. Un comptage décidé le matin même n’existe pas.</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Arial" pitchFamily="34" charset="0"/>
                <a:ea typeface="Arial" pitchFamily="34" charset="-122"/>
                <a:cs typeface="Arial" pitchFamily="34" charset="-120"/>
              </a:rPr>
              <a:t>Ajouter un compteur, depuis le magasin</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Arial" pitchFamily="34" charset="0"/>
                <a:ea typeface="Arial" pitchFamily="34" charset="-122"/>
                <a:cs typeface="Arial"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Le superviseur du magasin crée ses inventaires, invite ses compteurs et retire leurs accès lui-même. Rien à demander, personne à attendre : une invitation part par e-mail, la personne choisit son mot de passe, elle compte.</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L’administrateur de l’entreprise garde la vue d’ensemble — les magasins, les équipes, les inventaires de chacun — sans être sur le chemin de ceux qui comptent.</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Une marque par an,</a:t>
            </a:r>
            <a:endParaRPr lang="en-US" sz="2300" dirty="0"/>
          </a:p>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et pas de seconde chance</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Une marque par an, au mieux.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Le magasin ne peut pas compter chaque marque dans l’année : il n’y a ni le matériel ni les bras.</a:t>
            </a:r>
            <a:endParaRPr lang="en-US" sz="1150" dirty="0"/>
          </a:p>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Un gros écart n’est pas recompté.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Une marque qui sort un écart important n’est revue qu’à l’inventaire global du département. C’est-à-dire trop tard.</a:t>
            </a:r>
            <a:endParaRPr lang="en-US" sz="1150" dirty="0"/>
          </a:p>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Un seul inventaire à la fois.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La plateforme n’en accepte qu’un : plusieurs marques comptées ensemble donnent un rapport unique, où plus rien ne se distingue.</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Arial" pitchFamily="34" charset="0"/>
                <a:ea typeface="Arial" pitchFamily="34" charset="-122"/>
                <a:cs typeface="Arial" pitchFamily="34" charset="-120"/>
              </a:rPr>
              <a:t>Un inventaire se crée en trois champs</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Arial" pitchFamily="34" charset="0"/>
                <a:ea typeface="Arial" pitchFamily="34" charset="-122"/>
                <a:cs typeface="Arial"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Quantinvo n’a pas de limite d’inventaires simultanés. Chaque marque, chaque rayon, chaque réserve peut avoir le sien, mené en même temps que les autres, avec son périmètre et son rapport.</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Recompter une marque la semaine suivante ne demande donc qu’un inventaire de plus — et c’est ce qui rend le suivi de variance possible : deux mesures, deux rapports, l’écart de l’un à l’autre.</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Du matériel à commander,</a:t>
            </a:r>
            <a:endParaRPr lang="en-US" sz="2300" dirty="0"/>
          </a:p>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quand il est en poche</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Des terminaux en fin de vie.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Les scanners vieillissent et ne seront vraisemblablement plus renouvelés. Les remplacer, c’est acheter ou louer du matériel qui ne sert qu’à l’inventaire.</a:t>
            </a:r>
            <a:endParaRPr lang="en-US" sz="1150" dirty="0"/>
          </a:p>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Des balises qui viennent de loin.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Les étiquettes de zone se commandent au fournisseur quand le stock baisse et arrivent de l’étranger. Le bilan carbone n’est pas neutre.</a:t>
            </a:r>
            <a:endParaRPr lang="en-US" sz="1150" dirty="0"/>
          </a:p>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Et lisibles d’un seul appareil.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Leur encodage est propriétaire : seuls ses scanners les lisent. Une étiquette ne se remplace donc pas.</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Arial" pitchFamily="34" charset="0"/>
                <a:ea typeface="Arial" pitchFamily="34" charset="-122"/>
                <a:cs typeface="Arial" pitchFamily="34" charset="-120"/>
              </a:rPr>
              <a:t>La planche de balises s’imprime sur place</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Arial" pitchFamily="34" charset="0"/>
                <a:ea typeface="Arial" pitchFamily="34" charset="-122"/>
                <a:cs typeface="Arial"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Quantinvo compte avec le téléphone que chacun a déjà — un iPhone récent, suivi par Apple pour plusieurs années encore. Zéro matériel à acheter, à louer ou à charger la veille. Une douchette Bluetooth se branche pour qui préfère.</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Les balises s’impriment dans le magasin, sur du papier ordinaire, en choisissant la numérotation. Ce sont des QR standards : n’importe quel appareil photo les lit.</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Un référentiel</a:t>
            </a:r>
            <a:endParaRPr lang="en-US" sz="2300" dirty="0"/>
          </a:p>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qui date du mois de mars</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La base n’est plus mise à jour.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Les inventaires d’aujourd’hui se font sur des données arrêtées il y a des mois. Tout ce qui est entré depuis est inconnu.</a:t>
            </a:r>
            <a:endParaRPr lang="en-US" sz="1150" dirty="0"/>
          </a:p>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La rafraîchir mobilise l’informatique.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L’envoi des données au fournisseur n’est pas automatisé : il faut une équipe IT pour chaque mise à jour.</a:t>
            </a:r>
            <a:endParaRPr lang="en-US" sz="1150" dirty="0"/>
          </a:p>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Ce qui manque ne se scanne pas.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Seuls les articles connus de la base sont reconnus par le scanner. Le reste se traite à la main, après coup.</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Arial" pitchFamily="34" charset="0"/>
                <a:ea typeface="Arial" pitchFamily="34" charset="-122"/>
                <a:cs typeface="Arial" pitchFamily="34" charset="-120"/>
              </a:rPr>
              <a:t>Le référentiel se charge depuis un tableur</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Arial" pitchFamily="34" charset="0"/>
                <a:ea typeface="Arial" pitchFamily="34" charset="-122"/>
                <a:cs typeface="Arial"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Le superviseur charge ses fichiers lui-même, au début de chaque inventaire : le référentiel articles, et le stock théorique si le magasin en a un. Un tableur, deux minutes, aucun intermédiaire — donc une base à jour à chaque comptage.</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Un article absent se crée sur place, au moment du scan : on ne s’arrête pas, et il figure au rapport.</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43584"/>
            <a:ext cx="384048" cy="384048"/>
          </a:xfrm>
          <a:prstGeom prst="ellipse">
            <a:avLst/>
          </a:prstGeom>
          <a:solidFill>
            <a:srgbClr val="14181A"/>
          </a:solidFill>
          <a:ln>
            <a:solidFill>
              <a:srgbClr val="14181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7" name="Text 4"/>
          <p:cNvSpPr/>
          <p:nvPr/>
        </p:nvSpPr>
        <p:spPr>
          <a:xfrm>
            <a:off x="1298448" y="1207008"/>
            <a:ext cx="3639312" cy="1371600"/>
          </a:xfrm>
          <a:prstGeom prst="rect">
            <a:avLst/>
          </a:prstGeom>
          <a:noFill/>
          <a:ln/>
        </p:spPr>
        <p:txBody>
          <a:bodyPr wrap="square" lIns="0" tIns="0" rIns="0" bIns="0" rtlCol="0" anchor="t"/>
          <a:lstStyle/>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Des zones imposées,</a:t>
            </a:r>
            <a:endParaRPr lang="en-US" sz="2300" dirty="0"/>
          </a:p>
          <a:p>
            <a:pPr indent="0" marL="0">
              <a:lnSpc>
                <a:spcPct val="105000"/>
              </a:lnSpc>
              <a:buNone/>
            </a:pPr>
            <a:r>
              <a:rPr lang="en-US" sz="2300" b="1" dirty="0">
                <a:solidFill>
                  <a:srgbClr val="14181A"/>
                </a:solidFill>
                <a:latin typeface="Arial" pitchFamily="34" charset="0"/>
                <a:ea typeface="Arial" pitchFamily="34" charset="-122"/>
                <a:cs typeface="Arial" pitchFamily="34" charset="-120"/>
              </a:rPr>
              <a:t>qu’il faut traduire</a:t>
            </a:r>
            <a:endParaRPr lang="en-US" sz="2300" dirty="0"/>
          </a:p>
        </p:txBody>
      </p:sp>
      <p:sp>
        <p:nvSpPr>
          <p:cNvPr id="8" name="Shape 5"/>
          <p:cNvSpPr/>
          <p:nvPr/>
        </p:nvSpPr>
        <p:spPr>
          <a:xfrm>
            <a:off x="731520" y="2542032"/>
            <a:ext cx="4206240" cy="0"/>
          </a:xfrm>
          <a:prstGeom prst="line">
            <a:avLst/>
          </a:prstGeom>
          <a:noFill/>
          <a:ln w="9525">
            <a:solidFill>
              <a:srgbClr val="E2E5E1"/>
            </a:solidFill>
            <a:prstDash val="solid"/>
          </a:ln>
        </p:spPr>
      </p:sp>
      <p:sp>
        <p:nvSpPr>
          <p:cNvPr id="9" name="Text 6"/>
          <p:cNvSpPr/>
          <p:nvPr/>
        </p:nvSpPr>
        <p:spPr>
          <a:xfrm>
            <a:off x="731520" y="2743200"/>
            <a:ext cx="4206240" cy="3383280"/>
          </a:xfrm>
          <a:prstGeom prst="rect">
            <a:avLst/>
          </a:prstGeom>
          <a:noFill/>
          <a:ln/>
        </p:spPr>
        <p:txBody>
          <a:bodyPr wrap="square" lIns="0" tIns="0" rIns="0" bIns="0" rtlCol="0" anchor="t"/>
          <a:lstStyle/>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La liste est figée.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Salesfloor, stock room, Luxury, sportswear : on choisit dans une liste, et on ne peut pas nommer la zone comme le magasin la nomme.</a:t>
            </a:r>
            <a:endParaRPr lang="en-US" sz="1150" dirty="0"/>
          </a:p>
          <a:p>
            <a:pPr indent="0" marL="0">
              <a:lnSpc>
                <a:spcPct val="118000"/>
              </a:lnSpc>
              <a:spcAft>
                <a:spcPts val="900"/>
              </a:spcAft>
              <a:buNone/>
            </a:pPr>
            <a:r>
              <a:rPr lang="en-US" sz="1150" b="1" dirty="0">
                <a:solidFill>
                  <a:srgbClr val="14181A"/>
                </a:solidFill>
                <a:latin typeface="Arial" pitchFamily="34" charset="0"/>
                <a:ea typeface="Arial" pitchFamily="34" charset="-122"/>
                <a:cs typeface="Arial" pitchFamily="34" charset="-120"/>
              </a:rPr>
              <a:t>Donc une traduction tenue à côté. </a:t>
            </a:r>
            <a:pPr indent="0" marL="0">
              <a:lnSpc>
                <a:spcPct val="118000"/>
              </a:lnSpc>
              <a:spcAft>
                <a:spcPts val="900"/>
              </a:spcAft>
              <a:buNone/>
            </a:pPr>
            <a:r>
              <a:rPr lang="en-US" sz="1150" dirty="0">
                <a:solidFill>
                  <a:srgbClr val="3A423F"/>
                </a:solidFill>
                <a:latin typeface="Arial" pitchFamily="34" charset="0"/>
                <a:ea typeface="Arial" pitchFamily="34" charset="-122"/>
                <a:cs typeface="Arial" pitchFamily="34" charset="-120"/>
              </a:rPr>
              <a:t>Il faut noter quelque part quelle zone de la plateforme correspond à quel endroit réel. C’est une source d’erreur qui n’a aucune raison d’exister.</a:t>
            </a:r>
            <a:endParaRPr lang="en-US" sz="1150" dirty="0"/>
          </a:p>
        </p:txBody>
      </p:sp>
      <p:pic>
        <p:nvPicPr>
          <p:cNvPr id="10" name="Image 1" descr="preencoded.png">    </p:cNvPr>
          <p:cNvPicPr>
            <a:picLocks noChangeAspect="1"/>
          </p:cNvPicPr>
          <p:nvPr/>
        </p:nvPicPr>
        <p:blipFill>
          <a:blip r:embed="rId2"/>
          <a:stretch>
            <a:fillRect/>
          </a:stretch>
        </p:blipFill>
        <p:spPr>
          <a:xfrm>
            <a:off x="9486985" y="1783080"/>
            <a:ext cx="1970447" cy="4160520"/>
          </a:xfrm>
          <a:prstGeom prst="rect">
            <a:avLst/>
          </a:prstGeom>
        </p:spPr>
      </p:pic>
      <p:sp>
        <p:nvSpPr>
          <p:cNvPr id="11" name="Text 7"/>
          <p:cNvSpPr/>
          <p:nvPr/>
        </p:nvSpPr>
        <p:spPr>
          <a:xfrm>
            <a:off x="9029785" y="6071616"/>
            <a:ext cx="2884847"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Arial" pitchFamily="34" charset="0"/>
                <a:ea typeface="Arial" pitchFamily="34" charset="-122"/>
                <a:cs typeface="Arial" pitchFamily="34" charset="-120"/>
              </a:rPr>
              <a:t>L’emplacement porte le nom du magasin</a:t>
            </a:r>
            <a:endParaRPr lang="en-US" sz="1000" dirty="0"/>
          </a:p>
        </p:txBody>
      </p:sp>
      <p:sp>
        <p:nvSpPr>
          <p:cNvPr id="12" name="Text 8"/>
          <p:cNvSpPr/>
          <p:nvPr/>
        </p:nvSpPr>
        <p:spPr>
          <a:xfrm>
            <a:off x="5394960" y="1225296"/>
            <a:ext cx="3634825" cy="274320"/>
          </a:xfrm>
          <a:prstGeom prst="rect">
            <a:avLst/>
          </a:prstGeom>
          <a:noFill/>
          <a:ln/>
        </p:spPr>
        <p:txBody>
          <a:bodyPr wrap="square" lIns="0" tIns="0" rIns="0" bIns="0" rtlCol="0" anchor="t"/>
          <a:lstStyle/>
          <a:p>
            <a:pPr indent="0" marL="0">
              <a:buNone/>
            </a:pPr>
            <a:r>
              <a:rPr lang="en-US" sz="950" b="1" spc="60" kern="0" dirty="0">
                <a:solidFill>
                  <a:srgbClr val="575F5C"/>
                </a:solidFill>
                <a:latin typeface="Arial" pitchFamily="34" charset="0"/>
                <a:ea typeface="Arial" pitchFamily="34" charset="-122"/>
                <a:cs typeface="Arial" pitchFamily="34" charset="-120"/>
              </a:rPr>
              <a:t>CE QUE QUANTINVO FAIT</a:t>
            </a:r>
            <a:endParaRPr lang="en-US" sz="950" dirty="0"/>
          </a:p>
        </p:txBody>
      </p:sp>
      <p:sp>
        <p:nvSpPr>
          <p:cNvPr id="13" name="Shape 9"/>
          <p:cNvSpPr/>
          <p:nvPr/>
        </p:nvSpPr>
        <p:spPr>
          <a:xfrm>
            <a:off x="5394960" y="1572768"/>
            <a:ext cx="3634825" cy="0"/>
          </a:xfrm>
          <a:prstGeom prst="line">
            <a:avLst/>
          </a:prstGeom>
          <a:noFill/>
          <a:ln w="9525">
            <a:solidFill>
              <a:srgbClr val="E2E5E1"/>
            </a:solidFill>
            <a:prstDash val="solid"/>
          </a:ln>
        </p:spPr>
      </p:sp>
      <p:sp>
        <p:nvSpPr>
          <p:cNvPr id="14" name="Text 10"/>
          <p:cNvSpPr/>
          <p:nvPr/>
        </p:nvSpPr>
        <p:spPr>
          <a:xfrm>
            <a:off x="5394960" y="1755648"/>
            <a:ext cx="3634825" cy="402336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Le magasin nomme ses emplacements : Réserve, Surface de vente, Corner, le nom qu’il emploie déjà. Il leur affecte des plages de balises — les balises 1000 à 1049 sont la surface de vente — et l’avancement se lit emplacement par emplacement.</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Rien à traduire, rien à noter à côté : ce que le compteur scanne porte le nom que le magasin lui donne.</a:t>
            </a:r>
            <a:endParaRPr lang="en-US" sz="1200" dirty="0"/>
          </a:p>
        </p:txBody>
      </p:sp>
      <p:sp>
        <p:nvSpPr>
          <p:cNvPr id="15"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6"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07008"/>
            <a:ext cx="10725912" cy="822960"/>
          </a:xfrm>
          <a:prstGeom prst="rect">
            <a:avLst/>
          </a:prstGeom>
          <a:noFill/>
          <a:ln/>
        </p:spPr>
        <p:txBody>
          <a:bodyPr wrap="square" lIns="0" tIns="0" rIns="0" bIns="0" rtlCol="0" anchor="t"/>
          <a:lstStyle/>
          <a:p>
            <a:pPr indent="0" marL="0">
              <a:lnSpc>
                <a:spcPct val="105000"/>
              </a:lnSpc>
              <a:buNone/>
            </a:pPr>
            <a:r>
              <a:rPr lang="en-US" sz="2700" b="1" dirty="0">
                <a:solidFill>
                  <a:srgbClr val="14181A"/>
                </a:solidFill>
                <a:latin typeface="Arial" pitchFamily="34" charset="0"/>
                <a:ea typeface="Arial" pitchFamily="34" charset="-122"/>
                <a:cs typeface="Arial" pitchFamily="34" charset="-120"/>
              </a:rPr>
              <a:t>L’écart pendant l’inventaire, pas après</a:t>
            </a:r>
            <a:endParaRPr lang="en-US" sz="2700" dirty="0"/>
          </a:p>
        </p:txBody>
      </p:sp>
      <p:sp>
        <p:nvSpPr>
          <p:cNvPr id="7" name="Text 4"/>
          <p:cNvSpPr/>
          <p:nvPr/>
        </p:nvSpPr>
        <p:spPr>
          <a:xfrm>
            <a:off x="731520" y="1874520"/>
            <a:ext cx="10058400" cy="86868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C’est le manque que je reproche le plus à la plateforme actuelle : </a:t>
            </a:r>
            <a:pPr algn="l" indent="0" marL="0">
              <a:lnSpc>
                <a:spcPct val="118000"/>
              </a:lnSpc>
              <a:buNone/>
            </a:pPr>
            <a:r>
              <a:rPr lang="en-US" sz="1250" b="1" dirty="0">
                <a:solidFill>
                  <a:srgbClr val="14181A"/>
                </a:solidFill>
                <a:latin typeface="Arial" pitchFamily="34" charset="0"/>
                <a:ea typeface="Arial" pitchFamily="34" charset="-122"/>
                <a:cs typeface="Arial" pitchFamily="34" charset="-120"/>
              </a:rPr>
              <a:t>elle ne donne pas l’écart en direct</a:t>
            </a:r>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 On compte, on clôture, on découvre. Quand l’écart tombe, l’équipe est partie et le rayon a déjà bougé. Quantinvo compare le comptage et l’audit au fil de l’inventaire : chaque écart s’affiche dès que la balise est auditée, avec les deux quantités et sa valeur — et il se tranche d’un bouton.</a:t>
            </a:r>
            <a:endParaRPr lang="en-US" sz="1250" dirty="0"/>
          </a:p>
        </p:txBody>
      </p:sp>
      <p:sp>
        <p:nvSpPr>
          <p:cNvPr id="8" name="Shape 5"/>
          <p:cNvSpPr/>
          <p:nvPr/>
        </p:nvSpPr>
        <p:spPr>
          <a:xfrm>
            <a:off x="1650492" y="2825496"/>
            <a:ext cx="7850673" cy="3127248"/>
          </a:xfrm>
          <a:prstGeom prst="roundRect">
            <a:avLst>
              <a:gd name="adj" fmla="val 1170"/>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1705356" y="2880360"/>
            <a:ext cx="7740945" cy="3017520"/>
          </a:xfrm>
          <a:prstGeom prst="rect">
            <a:avLst/>
          </a:prstGeom>
        </p:spPr>
      </p:pic>
      <p:sp>
        <p:nvSpPr>
          <p:cNvPr id="10" name="Text 6"/>
          <p:cNvSpPr/>
          <p:nvPr/>
        </p:nvSpPr>
        <p:spPr>
          <a:xfrm>
            <a:off x="2224004" y="6044184"/>
            <a:ext cx="7740945"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 Écarts d’audit » — données d’essai. « Compteur » et « Auditeur » retiennent l’une des deux quantités en un clic.</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207008"/>
            <a:ext cx="10725912" cy="822960"/>
          </a:xfrm>
          <a:prstGeom prst="rect">
            <a:avLst/>
          </a:prstGeom>
          <a:noFill/>
          <a:ln/>
        </p:spPr>
        <p:txBody>
          <a:bodyPr wrap="square" lIns="0" tIns="0" rIns="0" bIns="0" rtlCol="0" anchor="t"/>
          <a:lstStyle/>
          <a:p>
            <a:pPr indent="0" marL="0">
              <a:lnSpc>
                <a:spcPct val="105000"/>
              </a:lnSpc>
              <a:buNone/>
            </a:pPr>
            <a:r>
              <a:rPr lang="en-US" sz="2700" b="1" dirty="0">
                <a:solidFill>
                  <a:srgbClr val="14181A"/>
                </a:solidFill>
                <a:latin typeface="Arial" pitchFamily="34" charset="0"/>
                <a:ea typeface="Arial" pitchFamily="34" charset="-122"/>
                <a:cs typeface="Arial" pitchFamily="34" charset="-120"/>
              </a:rPr>
              <a:t>Un rapport par inventaire</a:t>
            </a:r>
            <a:endParaRPr lang="en-US" sz="2700" dirty="0"/>
          </a:p>
        </p:txBody>
      </p:sp>
      <p:sp>
        <p:nvSpPr>
          <p:cNvPr id="7" name="Text 4"/>
          <p:cNvSpPr/>
          <p:nvPr/>
        </p:nvSpPr>
        <p:spPr>
          <a:xfrm>
            <a:off x="731520" y="1874520"/>
            <a:ext cx="10058400" cy="82296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Chaque inventaire produit le sien : stock théorique, stock compté, écart en unités et en valeur, ligne par ligne, et le statut de chaque référence. Il se télécharge en Excel ou en CSV. Quand un magasin mène plusieurs inventaires, un rapport consolidé les additionne et signale les références vues deux fois.</a:t>
            </a:r>
            <a:endParaRPr lang="en-US" sz="1250" dirty="0"/>
          </a:p>
        </p:txBody>
      </p:sp>
      <p:sp>
        <p:nvSpPr>
          <p:cNvPr id="8" name="Shape 5"/>
          <p:cNvSpPr/>
          <p:nvPr/>
        </p:nvSpPr>
        <p:spPr>
          <a:xfrm>
            <a:off x="1924812" y="2779776"/>
            <a:ext cx="6899675" cy="3172968"/>
          </a:xfrm>
          <a:prstGeom prst="roundRect">
            <a:avLst>
              <a:gd name="adj" fmla="val 1153"/>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1979676" y="2834640"/>
            <a:ext cx="6789947" cy="3063240"/>
          </a:xfrm>
          <a:prstGeom prst="rect">
            <a:avLst/>
          </a:prstGeom>
        </p:spPr>
      </p:pic>
      <p:sp>
        <p:nvSpPr>
          <p:cNvPr id="10" name="Text 6"/>
          <p:cNvSpPr/>
          <p:nvPr/>
        </p:nvSpPr>
        <p:spPr>
          <a:xfrm>
            <a:off x="2699503" y="6044184"/>
            <a:ext cx="6789947"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 Rapport » — données d’essai. Le bandeau prévient quand un écart n’a pas encore été arbitré.</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Et l’écart</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devient une courbe</a:t>
            </a:r>
            <a:endParaRPr lang="en-US" sz="2600" dirty="0"/>
          </a:p>
        </p:txBody>
      </p:sp>
      <p:sp>
        <p:nvSpPr>
          <p:cNvPr id="7" name="Text 4"/>
          <p:cNvSpPr/>
          <p:nvPr/>
        </p:nvSpPr>
        <p:spPr>
          <a:xfrm>
            <a:off x="731520" y="3017520"/>
            <a:ext cx="4206240" cy="13716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Ce qui manquait le plus : savoir si l’écart d’une marque se réduit d’un inventaire au suivant. Il faut pour cela pouvoir recompter — donc lever les quatre obstacles précédents — et garder la trace des deux mesures.</a:t>
            </a:r>
            <a:endParaRPr lang="en-US" sz="1250" dirty="0"/>
          </a:p>
        </p:txBody>
      </p:sp>
      <p:sp>
        <p:nvSpPr>
          <p:cNvPr id="8" name="Text 5"/>
          <p:cNvSpPr/>
          <p:nvPr/>
        </p:nvSpPr>
        <p:spPr>
          <a:xfrm>
            <a:off x="731520" y="4434840"/>
            <a:ext cx="4206240" cy="118872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Le tableau de bord du magasin porte les pièces comptées, la valeur comptée et l’écart des trente derniers jours. Le suivi de variance cesse d’être un tableur tenu à la main.</a:t>
            </a:r>
            <a:endParaRPr lang="en-US" sz="1250" dirty="0"/>
          </a:p>
        </p:txBody>
      </p:sp>
      <p:sp>
        <p:nvSpPr>
          <p:cNvPr id="9" name="Shape 6"/>
          <p:cNvSpPr/>
          <p:nvPr/>
        </p:nvSpPr>
        <p:spPr>
          <a:xfrm>
            <a:off x="6281928" y="1316736"/>
            <a:ext cx="5230368" cy="3983033"/>
          </a:xfrm>
          <a:prstGeom prst="roundRect">
            <a:avLst>
              <a:gd name="adj" fmla="val 918"/>
            </a:avLst>
          </a:prstGeom>
          <a:solidFill>
            <a:srgbClr val="FFFFFF"/>
          </a:solidFill>
          <a:ln w="12700">
            <a:solidFill>
              <a:srgbClr val="E2E5E1"/>
            </a:solidFill>
            <a:prstDash val="solid"/>
          </a:ln>
        </p:spPr>
      </p:sp>
      <p:pic>
        <p:nvPicPr>
          <p:cNvPr id="10" name="Image 1" descr="preencoded.png">    </p:cNvPr>
          <p:cNvPicPr>
            <a:picLocks noChangeAspect="1"/>
          </p:cNvPicPr>
          <p:nvPr/>
        </p:nvPicPr>
        <p:blipFill>
          <a:blip r:embed="rId2"/>
          <a:stretch>
            <a:fillRect/>
          </a:stretch>
        </p:blipFill>
        <p:spPr>
          <a:xfrm>
            <a:off x="6336792" y="1371600"/>
            <a:ext cx="5120640" cy="3873305"/>
          </a:xfrm>
          <a:prstGeom prst="rect">
            <a:avLst/>
          </a:prstGeom>
        </p:spPr>
      </p:pic>
      <p:sp>
        <p:nvSpPr>
          <p:cNvPr id="11" name="Text 7"/>
          <p:cNvSpPr/>
          <p:nvPr/>
        </p:nvSpPr>
        <p:spPr>
          <a:xfrm>
            <a:off x="6336792" y="5391209"/>
            <a:ext cx="5120640"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Tableau de bord du superviseur — données d’essai.</a:t>
            </a:r>
            <a:endParaRPr lang="en-US" sz="1000" dirty="0"/>
          </a:p>
        </p:txBody>
      </p:sp>
      <p:sp>
        <p:nvSpPr>
          <p:cNvPr id="12"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3"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 · note d’intention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Ce que je ne</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promets pas</a:t>
            </a:r>
            <a:endParaRPr lang="en-US" sz="2600" dirty="0"/>
          </a:p>
        </p:txBody>
      </p:sp>
      <p:sp>
        <p:nvSpPr>
          <p:cNvPr id="7" name="Text 4"/>
          <p:cNvSpPr/>
          <p:nvPr/>
        </p:nvSpPr>
        <p:spPr>
          <a:xfrm>
            <a:off x="731520" y="2880360"/>
            <a:ext cx="4206240" cy="822960"/>
          </a:xfrm>
          <a:prstGeom prst="rect">
            <a:avLst/>
          </a:prstGeom>
          <a:noFill/>
          <a:ln/>
        </p:spPr>
        <p:txBody>
          <a:bodyPr wrap="square" lIns="0" tIns="0" rIns="0" bIns="0" rtlCol="0" anchor="t"/>
          <a:lstStyle/>
          <a:p>
            <a:pPr algn="l" indent="0" marL="0">
              <a:lnSpc>
                <a:spcPct val="118000"/>
              </a:lnSpc>
              <a:buNone/>
            </a:pPr>
            <a:r>
              <a:rPr lang="en-US" sz="1250" dirty="0">
                <a:solidFill>
                  <a:srgbClr val="575F5C"/>
                </a:solidFill>
                <a:latin typeface="Arial" pitchFamily="34" charset="0"/>
                <a:ea typeface="Arial" pitchFamily="34" charset="-122"/>
                <a:cs typeface="Arial" pitchFamily="34" charset="-120"/>
              </a:rPr>
              <a:t>Un outil d’inventaire qui prétend tout faire ment sur au moins un point.</a:t>
            </a:r>
            <a:endParaRPr lang="en-US" sz="1250" dirty="0"/>
          </a:p>
        </p:txBody>
      </p:sp>
      <p:sp>
        <p:nvSpPr>
          <p:cNvPr id="8" name="Text 5"/>
          <p:cNvSpPr/>
          <p:nvPr/>
        </p:nvSpPr>
        <p:spPr>
          <a:xfrm>
            <a:off x="5394960" y="1371600"/>
            <a:ext cx="6062472" cy="3291840"/>
          </a:xfrm>
          <a:prstGeom prst="rect">
            <a:avLst/>
          </a:prstGeom>
          <a:noFill/>
          <a:ln/>
        </p:spPr>
        <p:txBody>
          <a:bodyPr wrap="square" lIns="0" tIns="0" rIns="0" bIns="0" rtlCol="0" anchor="t"/>
          <a:lstStyle/>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Quantinvo ne remplace ni l’ERP ni la caisse.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Il compte, il compare, il rend un rapport. L’ajustement du stock reste dans vos systèmes, et c’est vous qui le décidez.</a:t>
            </a:r>
            <a:endParaRPr lang="en-US" sz="1250" dirty="0"/>
          </a:p>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Il ne compte pas à votre place.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Un rayon se parcourt à la main, article par article, et cela prend le temps que cela prend. Ce qui change, c’est tout ce qu’il y avait autour.</a:t>
            </a:r>
            <a:endParaRPr lang="en-US" sz="1250" dirty="0"/>
          </a:p>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Il ne lit pas la RFID.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Codes-barres et QR, oui, à la caméra ou à la douchette. La RFID, non.</a:t>
            </a:r>
            <a:endParaRPr lang="en-US" sz="1250" dirty="0"/>
          </a:p>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Et il ne fait pas disparaître la démarque.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Il la montre plus tôt, plus souvent, et au bon endroit. C’est déjà beaucoup — ce n’est pas la même chose.</a:t>
            </a:r>
            <a:endParaRPr lang="en-US" sz="1250" dirty="0"/>
          </a:p>
        </p:txBody>
      </p:sp>
      <p:sp>
        <p:nvSpPr>
          <p:cNvPr id="9" name="Shape 6"/>
          <p:cNvSpPr/>
          <p:nvPr/>
        </p:nvSpPr>
        <p:spPr>
          <a:xfrm>
            <a:off x="5394960" y="4617720"/>
            <a:ext cx="6062472" cy="1143000"/>
          </a:xfrm>
          <a:prstGeom prst="roundRect">
            <a:avLst>
              <a:gd name="adj" fmla="val 3200"/>
            </a:avLst>
          </a:prstGeom>
          <a:solidFill>
            <a:srgbClr val="F2F3F1"/>
          </a:solidFill>
          <a:ln w="12700">
            <a:solidFill>
              <a:srgbClr val="F2F3F1"/>
            </a:solidFill>
            <a:prstDash val="solid"/>
          </a:ln>
        </p:spPr>
      </p:sp>
      <p:sp>
        <p:nvSpPr>
          <p:cNvPr id="10" name="Text 7"/>
          <p:cNvSpPr/>
          <p:nvPr/>
        </p:nvSpPr>
        <p:spPr>
          <a:xfrm>
            <a:off x="5669280" y="4782312"/>
            <a:ext cx="5513832" cy="228600"/>
          </a:xfrm>
          <a:prstGeom prst="rect">
            <a:avLst/>
          </a:prstGeom>
          <a:noFill/>
          <a:ln/>
        </p:spPr>
        <p:txBody>
          <a:bodyPr wrap="square" lIns="0" tIns="0" rIns="0" bIns="0" rtlCol="0" anchor="t"/>
          <a:lstStyle/>
          <a:p>
            <a:pPr indent="0" marL="0">
              <a:buNone/>
            </a:pPr>
            <a:r>
              <a:rPr lang="en-US" sz="950" b="1" dirty="0">
                <a:solidFill>
                  <a:srgbClr val="575F5C"/>
                </a:solidFill>
                <a:latin typeface="Arial" pitchFamily="34" charset="0"/>
                <a:ea typeface="Arial" pitchFamily="34" charset="-122"/>
                <a:cs typeface="Arial" pitchFamily="34" charset="-120"/>
              </a:rPr>
              <a:t>Et ce qu’il fait, lui</a:t>
            </a:r>
            <a:endParaRPr lang="en-US" sz="950" dirty="0"/>
          </a:p>
        </p:txBody>
      </p:sp>
      <p:sp>
        <p:nvSpPr>
          <p:cNvPr id="11" name="Text 8"/>
          <p:cNvSpPr/>
          <p:nvPr/>
        </p:nvSpPr>
        <p:spPr>
          <a:xfrm>
            <a:off x="5669280" y="5038344"/>
            <a:ext cx="5513832" cy="59436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Arial" pitchFamily="34" charset="0"/>
                <a:ea typeface="Arial" pitchFamily="34" charset="-122"/>
                <a:cs typeface="Arial" pitchFamily="34" charset="-120"/>
              </a:rPr>
              <a:t>Il retire tout ce qui empêchait de compter souvent : la demande à envoyer, le matériel à commander, la base à rafraîchir, la zone à traduire. Ce qui reste est le comptage — et il est à vous.</a:t>
            </a:r>
            <a:endParaRPr lang="en-US" sz="1150" dirty="0"/>
          </a:p>
        </p:txBody>
      </p:sp>
      <p:sp>
        <p:nvSpPr>
          <p:cNvPr id="12" name="Text 9"/>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note d’intention</a:t>
            </a:r>
            <a:endParaRPr lang="en-US" sz="900" dirty="0"/>
          </a:p>
        </p:txBody>
      </p:sp>
      <p:sp>
        <p:nvSpPr>
          <p:cNvPr id="13" name="Text 10"/>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ial" pitchFamily="34" charset="0"/>
                <a:ea typeface="Arial" pitchFamily="34" charset="-122"/>
                <a:cs typeface="Arial" pitchFamily="34" charset="-120"/>
              </a:rPr>
              <a:t>Ce que je voulais,</a:t>
            </a:r>
            <a:endParaRPr lang="en-US" sz="3600" dirty="0"/>
          </a:p>
          <a:p>
            <a:pPr indent="0" marL="0">
              <a:lnSpc>
                <a:spcPct val="105000"/>
              </a:lnSpc>
              <a:buNone/>
            </a:pPr>
            <a:r>
              <a:rPr lang="en-US" sz="3600" b="1" dirty="0">
                <a:solidFill>
                  <a:srgbClr val="14181A"/>
                </a:solidFill>
                <a:latin typeface="Arial" pitchFamily="34" charset="0"/>
                <a:ea typeface="Arial" pitchFamily="34" charset="-122"/>
                <a:cs typeface="Arial" pitchFamily="34" charset="-120"/>
              </a:rPr>
              <a:t>au fond</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Arial" pitchFamily="34" charset="0"/>
                <a:ea typeface="Arial" pitchFamily="34" charset="-122"/>
                <a:cs typeface="Arial" pitchFamily="34" charset="-120"/>
              </a:rPr>
              <a:t>Que chacun soit autonome : que le magasin ne dépende plus d’un service, d’un fournisseur ou d’une commande de matériel pour compter ce qu’il a. Et que là où un service d’inventaire existe, il travaille avec les équipes au lieu de travailler à leur place.</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contact@quantinvo.com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Julien Thiong-Kay  ·  Devkaylab  ·  www.quantinvo.com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pourquoi je l'ai créé</dc:title>
  <dc:subject>PptxGenJS Presentation</dc:subject>
  <dc:creator>Devkaylab</dc:creator>
  <cp:lastModifiedBy>Devkaylab</cp:lastModifiedBy>
  <cp:revision>1</cp:revision>
  <dcterms:created xsi:type="dcterms:W3CDTF">2026-09-14T17:29:39Z</dcterms:created>
  <dcterms:modified xsi:type="dcterms:W3CDTF">2026-09-14T17:29:39Z</dcterms:modified>
</cp:coreProperties>
</file>