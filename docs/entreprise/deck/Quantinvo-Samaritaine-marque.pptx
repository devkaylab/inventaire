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téléphone sur la table en même temps que la page s'affiche. Ne rien vendre encore : on montre l'objet, on dit d'où il vient, et on enchaîne.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décor, sans commenter : c'est leur journée, ils s'y reconnaissent. Ne pas s'attarder — cette page n'est pas le sujet, elle prépare la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du problème. Lire l'encadré à voix haute : c'est lui qui articule tout le deck — un inventaire tournant suppose de compter souvent, et ce qu'on vient d'énumérer est précisément ce qui l'en empêche. Ne pas en rajouter : ces quatre points suffisent, et ils sont vrais.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cartes répondent aux irritants dans leur ordre d'apparition : le balisage, le briefing, puis la conduite. La flotte est réglée par la phrase du haut. Les écrans sont de vraies captures. Et l'Inventory Control ? Il n'a pas d'écran sur cette page — c'est le message ; le sien arrive deux pages plus loin.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réponse au premier irritant : le poste de surveillance n'est pas supprimé, il est distribué. Chaque chef d'équipe voit son rayon ; vous voyez tout sans avoir à rester dessus. Le recomptage ne disparaît pas — il se décide à chaud. Le suivi est agrégé, personne n'est suivi nominativement en direct : cela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de l'Inventory Control : son travail commence ici. Ne pas survendre — le recoupement n'était pas le plus dur de la journée, c'est simplement une chose de moins à faire, et le circuit de validation ne change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pages en une : la comparaison et les limites. Ne pas la sauter — un prospect qui découvre une limite après coup perd confiance, un prospect averti la comprend. L'argument décisif de la colonne de gauche : un outil expert suppose un service expert pour le servir, ce qui est incompatible avec le transfert au floor. Un dossier technique séparé existe pour la DSI : le proposer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palier se choisit sur le nombre de personnes qui comptent EN MÊME TEMPS, pas sur l'effectif : un floor de cent vendeurs dont vingt comptent le mardi matin relève d'Advanced. Le dépassement ne bloque jamais un comptage, il se règle au renouvellement. Au-delà de cent appareils sur un même magasin, ou pour plusieurs magasins, on établit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48799" y="1097280"/>
            <a:ext cx="2208633" cy="4663440"/>
          </a:xfrm>
          <a:prstGeom prst="roundRect">
            <a:avLst>
              <a:gd name="adj" fmla="val 12420"/>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3" name="Image 0" descr="preencoded.png">    </p:cNvPr>
          <p:cNvPicPr>
            <a:picLocks noChangeAspect="1"/>
          </p:cNvPicPr>
          <p:nvPr/>
        </p:nvPicPr>
        <p:blipFill>
          <a:blip r:embed="rId1"/>
          <a:stretch>
            <a:fillRect/>
          </a:stretch>
        </p:blipFill>
        <p:spPr>
          <a:xfrm>
            <a:off x="9248799" y="1097280"/>
            <a:ext cx="2208633" cy="4663440"/>
          </a:xfrm>
          <a:prstGeom prst="rect">
            <a:avLst/>
          </a:prstGeom>
        </p:spPr>
      </p:pic>
      <p:pic>
        <p:nvPicPr>
          <p:cNvPr id="4" name="Image 1" descr="preencoded.png">    </p:cNvPr>
          <p:cNvPicPr>
            <a:picLocks noChangeAspect="1"/>
          </p:cNvPicPr>
          <p:nvPr/>
        </p:nvPicPr>
        <p:blipFill>
          <a:blip r:embed="rId2"/>
          <a:stretch>
            <a:fillRect/>
          </a:stretch>
        </p:blipFill>
        <p:spPr>
          <a:xfrm>
            <a:off x="731520" y="1417320"/>
            <a:ext cx="566928" cy="566928"/>
          </a:xfrm>
          <a:prstGeom prst="rect">
            <a:avLst/>
          </a:prstGeom>
        </p:spPr>
      </p:pic>
      <p:sp>
        <p:nvSpPr>
          <p:cNvPr id="5" name="Text 1"/>
          <p:cNvSpPr/>
          <p:nvPr/>
        </p:nvSpPr>
        <p:spPr>
          <a:xfrm>
            <a:off x="1444752" y="138988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6" name="Shape 2"/>
          <p:cNvSpPr/>
          <p:nvPr/>
        </p:nvSpPr>
        <p:spPr>
          <a:xfrm>
            <a:off x="731520" y="2212848"/>
            <a:ext cx="2377440" cy="25603"/>
          </a:xfrm>
          <a:prstGeom prst="rect">
            <a:avLst/>
          </a:prstGeom>
          <a:solidFill>
            <a:srgbClr val="38C9FF"/>
          </a:solidFill>
          <a:ln w="12700">
            <a:solidFill>
              <a:srgbClr val="38C9FF"/>
            </a:solidFill>
            <a:prstDash val="solid"/>
          </a:ln>
        </p:spPr>
      </p:sp>
      <p:sp>
        <p:nvSpPr>
          <p:cNvPr id="7" name="Text 3"/>
          <p:cNvSpPr/>
          <p:nvPr/>
        </p:nvSpPr>
        <p:spPr>
          <a:xfrm>
            <a:off x="731520" y="2788920"/>
            <a:ext cx="6400800" cy="1828800"/>
          </a:xfrm>
          <a:prstGeom prst="rect">
            <a:avLst/>
          </a:prstGeom>
          <a:noFill/>
          <a:ln/>
        </p:spPr>
        <p:txBody>
          <a:bodyPr wrap="square" lIns="0" tIns="0" rIns="0" bIns="0" rtlCol="0" anchor="t"/>
          <a:lstStyle/>
          <a:p>
            <a:pPr indent="0" marL="0">
              <a:lnSpc>
                <a:spcPct val="115000"/>
              </a:lnSpc>
              <a:buNone/>
            </a:pPr>
            <a:r>
              <a:rPr lang="en-US" sz="2500" i="1" dirty="0">
                <a:solidFill>
                  <a:srgbClr val="4636B0"/>
                </a:solidFill>
                <a:latin typeface="Sora" pitchFamily="34" charset="0"/>
                <a:ea typeface="Sora" pitchFamily="34" charset="-122"/>
                <a:cs typeface="Sora" pitchFamily="34" charset="-120"/>
              </a:rPr>
              <a:t>« J'ai dessiné Quantinvo pendant des inventaires, pas dans une salle de réunion. »</a:t>
            </a:r>
            <a:endParaRPr lang="en-US" sz="2500" dirty="0"/>
          </a:p>
        </p:txBody>
      </p:sp>
      <p:sp>
        <p:nvSpPr>
          <p:cNvPr id="8" name="Text 4"/>
          <p:cNvSpPr/>
          <p:nvPr/>
        </p:nvSpPr>
        <p:spPr>
          <a:xfrm>
            <a:off x="731520" y="4206240"/>
            <a:ext cx="6400800" cy="365760"/>
          </a:xfrm>
          <a:prstGeom prst="rect">
            <a:avLst/>
          </a:prstGeom>
          <a:noFill/>
          <a:ln/>
        </p:spPr>
        <p:txBody>
          <a:bodyPr wrap="square" lIns="0" tIns="0" rIns="0" bIns="0" rtlCol="0" anchor="t"/>
          <a:lstStyle/>
          <a:p>
            <a:pPr algn="l" indent="0" marL="0">
              <a:lnSpc>
                <a:spcPct val="118000"/>
              </a:lnSpc>
              <a:buNone/>
            </a:pPr>
            <a:r>
              <a:rPr lang="en-US" sz="1250" dirty="0">
                <a:solidFill>
                  <a:srgbClr val="5B6475"/>
                </a:solidFill>
                <a:latin typeface="Inter" pitchFamily="34" charset="0"/>
                <a:ea typeface="Inter" pitchFamily="34" charset="-122"/>
                <a:cs typeface="Inter" pitchFamily="34" charset="-120"/>
              </a:rPr>
              <a:t>Julien Thiong-kay, Devkaylab</a:t>
            </a:r>
            <a:endParaRPr lang="en-US" sz="1250" dirty="0"/>
          </a:p>
        </p:txBody>
      </p:sp>
      <p:sp>
        <p:nvSpPr>
          <p:cNvPr id="9" name="Text 5"/>
          <p:cNvSpPr/>
          <p:nvPr/>
        </p:nvSpPr>
        <p:spPr>
          <a:xfrm>
            <a:off x="731520" y="5532120"/>
            <a:ext cx="6400800" cy="320040"/>
          </a:xfrm>
          <a:prstGeom prst="rect">
            <a:avLst/>
          </a:prstGeom>
          <a:noFill/>
          <a:ln/>
        </p:spPr>
        <p:txBody>
          <a:bodyPr wrap="square" lIns="0" tIns="0" rIns="0" bIns="0" rtlCol="0" anchor="t"/>
          <a:lstStyle/>
          <a:p>
            <a:pPr algn="l" indent="0" marL="0">
              <a:lnSpc>
                <a:spcPct val="118000"/>
              </a:lnSpc>
              <a:buNone/>
            </a:pPr>
            <a:r>
              <a:rPr lang="en-US" sz="1050" dirty="0">
                <a:solidFill>
                  <a:srgbClr val="5B6475"/>
                </a:solidFill>
                <a:latin typeface="Inter" pitchFamily="34" charset="0"/>
                <a:ea typeface="Inter" pitchFamily="34" charset="-122"/>
                <a:cs typeface="Inter" pitchFamily="34" charset="-120"/>
              </a:rPr>
              <a:t>L'outil d'inventaire pour le commerce.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septembre 2026  ·  www.quantinvo.com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Aujourd'hui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 inventaire tournant, aujourd’hui.</a:t>
            </a:r>
            <a:endParaRPr lang="en-US" sz="2600" dirty="0"/>
          </a:p>
        </p:txBody>
      </p:sp>
      <p:sp>
        <p:nvSpPr>
          <p:cNvPr id="7" name="Text 4"/>
          <p:cNvSpPr/>
          <p:nvPr/>
        </p:nvSpPr>
        <p:spPr>
          <a:xfrm>
            <a:off x="731520" y="283464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Le déroulement est le même partout, quel que soit l'outil de comptage.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La veille.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On balise les zones à inventorier : quelqu'un passe dans le magasin poser les étiquettes, rayon par rayon.</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Le matin.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On télécharge le stock théorique du jour, on ouvre la session, on prépare les terminaux un par un — charge, date, localisation — puis on briefe les compteurs sur le maniement du matériel et sur la procédure.</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Pendant.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Les équipes comptent. On déclenche l'audit selon la règle du magasin — 100 % sur l'horlogerie et la joaillerie, 30 % au moins ailleurs — et on fait recompter les zones en désaccord.</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Après.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On sort le rapport d'inventaire, on le recoupe avec le stock théorique, on fait valider selon la valeur de l'écart, puis on ajuste le stock.</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Ce que ça demande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Le comptage est fait par les équipes. Tout ce qui l’entoure est fait par vous.</a:t>
            </a:r>
            <a:endParaRPr lang="en-US" sz="2400" dirty="0"/>
          </a:p>
        </p:txBody>
      </p:sp>
      <p:sp>
        <p:nvSpPr>
          <p:cNvPr id="7" name="Text 4"/>
          <p:cNvSpPr/>
          <p:nvPr/>
        </p:nvSpPr>
        <p:spPr>
          <a:xfrm>
            <a:off x="731520" y="2286000"/>
            <a:ext cx="10725912" cy="274320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Un service mobilisé du début à la fin.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Quelqu'un de l'Inventory Control prépare l'inventaire, reste disponible pendant le comptage, puis reprend le fichier pour le recouper avec le théorique.</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Une flotte à préparer.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Les terminaux se chargent, se connectent et se vérifient un par un avant chaque session — date, localisation. C'est un travail en soi, et il ne compte aucun article.</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Un briefing à chaque fois.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Le maniement du matériel s'explique à chaque équipe et à chaque inventaire. Les compteurs changent, la procédure se réapprend.</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Un balisage la veille.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Il faut mobiliser quelqu'un du magasin pour poser les étiquettes, avant même que le comptage ait commencé.</a:t>
            </a:r>
            <a:endParaRPr lang="en-US" sz="1300" dirty="0"/>
          </a:p>
        </p:txBody>
      </p:sp>
      <p:sp>
        <p:nvSpPr>
          <p:cNvPr id="8" name="Shape 5"/>
          <p:cNvSpPr/>
          <p:nvPr/>
        </p:nvSpPr>
        <p:spPr>
          <a:xfrm>
            <a:off x="731520" y="5120640"/>
            <a:ext cx="10725912" cy="1051560"/>
          </a:xfrm>
          <a:prstGeom prst="roundRect">
            <a:avLst>
              <a:gd name="adj" fmla="val 6957"/>
            </a:avLst>
          </a:prstGeom>
          <a:solidFill>
            <a:srgbClr val="F4F5F9"/>
          </a:solidFill>
          <a:ln w="12700">
            <a:solidFill>
              <a:srgbClr val="F4F5F9"/>
            </a:solidFill>
            <a:prstDash val="solid"/>
          </a:ln>
        </p:spPr>
      </p:sp>
      <p:sp>
        <p:nvSpPr>
          <p:cNvPr id="9" name="Text 6"/>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Ce que ça coûte vraiment</a:t>
            </a:r>
            <a:endParaRPr lang="en-US" sz="950" dirty="0"/>
          </a:p>
        </p:txBody>
      </p:sp>
      <p:sp>
        <p:nvSpPr>
          <p:cNvPr id="10" name="Text 7"/>
          <p:cNvSpPr/>
          <p:nvPr/>
        </p:nvSpPr>
        <p:spPr>
          <a:xfrm>
            <a:off x="1005840" y="554126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Ce n'est pas le comptage qui pèse — il est fait par les équipes de vente, et il se fait bien. C'est tout ce qu'il faut monter autour, à chaque fois, et qui interdit de compter souvent.</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Avec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Le chef d’équipe conduit. Ses vendeurs comptent.</a:t>
            </a:r>
            <a:endParaRPr lang="en-US" sz="2500" dirty="0"/>
          </a:p>
        </p:txBody>
      </p:sp>
      <p:sp>
        <p:nvSpPr>
          <p:cNvPr id="7" name="Text 4"/>
          <p:cNvSpPr/>
          <p:nvPr/>
        </p:nvSpPr>
        <p:spPr>
          <a:xfrm>
            <a:off x="731520" y="1783080"/>
            <a:ext cx="10725912"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Inter" pitchFamily="34" charset="0"/>
                <a:ea typeface="Inter" pitchFamily="34" charset="-122"/>
                <a:cs typeface="Inter" pitchFamily="34" charset="-120"/>
              </a:rPr>
              <a:t>Une application sur les iPhone que vos équipes ont déjà, un tableau de bord pour celui qui pilote, un rapport à la fin. Rien à charger la veille, rien à briefer, aucune flotte à préparer.</a:t>
            </a:r>
            <a:endParaRPr lang="en-US" sz="1200" dirty="0"/>
          </a:p>
        </p:txBody>
      </p:sp>
      <p:sp>
        <p:nvSpPr>
          <p:cNvPr id="8" name="Text 5"/>
          <p:cNvSpPr/>
          <p:nvPr/>
        </p:nvSpPr>
        <p:spPr>
          <a:xfrm>
            <a:off x="731520"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Il imprime ses balises</a:t>
            </a:r>
            <a:endParaRPr lang="en-US" sz="1350" dirty="0"/>
          </a:p>
        </p:txBody>
      </p:sp>
      <p:sp>
        <p:nvSpPr>
          <p:cNvPr id="9" name="Text 6"/>
          <p:cNvSpPr/>
          <p:nvPr/>
        </p:nvSpPr>
        <p:spPr>
          <a:xfrm>
            <a:off x="731520"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Une planche d'étiquettes numérotées, en PDF. Personne d'autre à mobiliser la veille.</a:t>
            </a:r>
            <a:endParaRPr lang="en-US" sz="1100" dirty="0"/>
          </a:p>
        </p:txBody>
      </p:sp>
      <p:sp>
        <p:nvSpPr>
          <p:cNvPr id="10" name="Shape 7"/>
          <p:cNvSpPr/>
          <p:nvPr/>
        </p:nvSpPr>
        <p:spPr>
          <a:xfrm>
            <a:off x="731520" y="3291840"/>
            <a:ext cx="3392424" cy="2907792"/>
          </a:xfrm>
          <a:prstGeom prst="roundRect">
            <a:avLst>
              <a:gd name="adj" fmla="val 4403"/>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1042416" y="3289816"/>
            <a:ext cx="2770632" cy="2909816"/>
          </a:xfrm>
          <a:prstGeom prst="rect">
            <a:avLst/>
          </a:prstGeom>
        </p:spPr>
      </p:pic>
      <p:sp>
        <p:nvSpPr>
          <p:cNvPr id="12" name="Text 8"/>
          <p:cNvSpPr/>
          <p:nvPr/>
        </p:nvSpPr>
        <p:spPr>
          <a:xfrm>
            <a:off x="4398264"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Ils comptent au rayon</a:t>
            </a:r>
            <a:endParaRPr lang="en-US" sz="1350" dirty="0"/>
          </a:p>
        </p:txBody>
      </p:sp>
      <p:sp>
        <p:nvSpPr>
          <p:cNvPr id="13" name="Text 9"/>
          <p:cNvSpPr/>
          <p:nvPr/>
        </p:nvSpPr>
        <p:spPr>
          <a:xfrm>
            <a:off x="4398264"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Scanner l'étiquette, puis les articles. Le geste ne demande pas de briefing.</a:t>
            </a:r>
            <a:endParaRPr lang="en-US" sz="1100" dirty="0"/>
          </a:p>
        </p:txBody>
      </p:sp>
      <p:sp>
        <p:nvSpPr>
          <p:cNvPr id="14" name="Shape 10"/>
          <p:cNvSpPr/>
          <p:nvPr/>
        </p:nvSpPr>
        <p:spPr>
          <a:xfrm>
            <a:off x="4398264" y="3291840"/>
            <a:ext cx="3392424" cy="2907792"/>
          </a:xfrm>
          <a:prstGeom prst="roundRect">
            <a:avLst>
              <a:gd name="adj" fmla="val 4403"/>
            </a:avLst>
          </a:prstGeom>
          <a:solidFill>
            <a:srgbClr val="EEEEFC"/>
          </a:solidFill>
          <a:ln w="12700">
            <a:solidFill>
              <a:srgbClr val="EEEEFC"/>
            </a:solidFill>
            <a:prstDash val="solid"/>
          </a:ln>
        </p:spPr>
      </p:sp>
      <p:pic>
        <p:nvPicPr>
          <p:cNvPr id="15" name="Image 2" descr="preencoded.png">    </p:cNvPr>
          <p:cNvPicPr>
            <a:picLocks noChangeAspect="1"/>
          </p:cNvPicPr>
          <p:nvPr/>
        </p:nvPicPr>
        <p:blipFill>
          <a:blip r:embed="rId3"/>
          <a:stretch>
            <a:fillRect/>
          </a:stretch>
        </p:blipFill>
        <p:spPr>
          <a:xfrm>
            <a:off x="4709160" y="3289816"/>
            <a:ext cx="2770632" cy="2909816"/>
          </a:xfrm>
          <a:prstGeom prst="rect">
            <a:avLst/>
          </a:prstGeom>
        </p:spPr>
      </p:pic>
      <p:sp>
        <p:nvSpPr>
          <p:cNvPr id="16" name="Text 11"/>
          <p:cNvSpPr/>
          <p:nvPr/>
        </p:nvSpPr>
        <p:spPr>
          <a:xfrm>
            <a:off x="8065008"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Il audite selon votre règle</a:t>
            </a:r>
            <a:endParaRPr lang="en-US" sz="1350" dirty="0"/>
          </a:p>
        </p:txBody>
      </p:sp>
      <p:sp>
        <p:nvSpPr>
          <p:cNvPr id="17" name="Text 12"/>
          <p:cNvSpPr/>
          <p:nvPr/>
        </p:nvSpPr>
        <p:spPr>
          <a:xfrm>
            <a:off x="8065008"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La deuxième passe se lance du même téléphone, pendant que le comptage continue.</a:t>
            </a:r>
            <a:endParaRPr lang="en-US" sz="1100" dirty="0"/>
          </a:p>
        </p:txBody>
      </p:sp>
      <p:sp>
        <p:nvSpPr>
          <p:cNvPr id="18" name="Shape 13"/>
          <p:cNvSpPr/>
          <p:nvPr/>
        </p:nvSpPr>
        <p:spPr>
          <a:xfrm>
            <a:off x="8065008" y="3291840"/>
            <a:ext cx="3392424" cy="2907792"/>
          </a:xfrm>
          <a:prstGeom prst="roundRect">
            <a:avLst>
              <a:gd name="adj" fmla="val 4403"/>
            </a:avLst>
          </a:prstGeom>
          <a:solidFill>
            <a:srgbClr val="F4F5F9"/>
          </a:solidFill>
          <a:ln w="12700">
            <a:solidFill>
              <a:srgbClr val="F4F5F9"/>
            </a:solidFill>
            <a:prstDash val="solid"/>
          </a:ln>
        </p:spPr>
      </p:sp>
      <p:pic>
        <p:nvPicPr>
          <p:cNvPr id="19" name="Image 3" descr="preencoded.png">    </p:cNvPr>
          <p:cNvPicPr>
            <a:picLocks noChangeAspect="1"/>
          </p:cNvPicPr>
          <p:nvPr/>
        </p:nvPicPr>
        <p:blipFill>
          <a:blip r:embed="rId4"/>
          <a:stretch>
            <a:fillRect/>
          </a:stretch>
        </p:blipFill>
        <p:spPr>
          <a:xfrm>
            <a:off x="8375904" y="3289816"/>
            <a:ext cx="2770632" cy="2909816"/>
          </a:xfrm>
          <a:prstGeom prst="rect">
            <a:avLst/>
          </a:prstGeom>
        </p:spPr>
      </p:pic>
      <p:sp>
        <p:nvSpPr>
          <p:cNvPr id="20"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21"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Vous fixez la règle d'audit. Le floor l'applique.</a:t>
            </a:r>
            <a:endParaRPr lang="en-US" sz="2500" dirty="0"/>
          </a:p>
        </p:txBody>
      </p:sp>
      <p:sp>
        <p:nvSpPr>
          <p:cNvPr id="7" name="Text 4"/>
          <p:cNvSpPr/>
          <p:nvPr/>
        </p:nvSpPr>
        <p:spPr>
          <a:xfrm>
            <a:off x="731520" y="178308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La règle d'audit reste la vôtre — 100 % sur l'horlogerie et la joaillerie, 30 % au moins ailleurs. Le désaccord entre les deux comptages ne s'attend plus dans un fichier : ils s'affichent côte à côte, l'écart en pièces et en valeur d'achat, et il se tranche pendant que le compteur est encore devant l'article. L'Inventory Control ouvre la même vue sur n'importe quel inventaire en cours, sans avoir à s'y tenir.</a:t>
            </a:r>
            <a:endParaRPr lang="en-US" sz="1250" dirty="0"/>
          </a:p>
        </p:txBody>
      </p:sp>
      <p:sp>
        <p:nvSpPr>
          <p:cNvPr id="8" name="Text 5"/>
          <p:cNvSpPr/>
          <p:nvPr/>
        </p:nvSpPr>
        <p:spPr>
          <a:xfrm>
            <a:off x="731520"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L'avancement, zone par zone</a:t>
            </a:r>
            <a:endParaRPr lang="en-US" sz="1250" dirty="0"/>
          </a:p>
        </p:txBody>
      </p:sp>
      <p:sp>
        <p:nvSpPr>
          <p:cNvPr id="9" name="Text 6"/>
          <p:cNvSpPr/>
          <p:nvPr/>
        </p:nvSpPr>
        <p:spPr>
          <a:xfrm>
            <a:off x="6323076"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L'écart, tranché au rayon</a:t>
            </a:r>
            <a:endParaRPr lang="en-US" sz="1250" dirty="0"/>
          </a:p>
        </p:txBody>
      </p:sp>
      <p:sp>
        <p:nvSpPr>
          <p:cNvPr id="10" name="Shape 7"/>
          <p:cNvSpPr/>
          <p:nvPr/>
        </p:nvSpPr>
        <p:spPr>
          <a:xfrm>
            <a:off x="676656" y="3191256"/>
            <a:ext cx="5244084" cy="2059239"/>
          </a:xfrm>
          <a:prstGeom prst="roundRect">
            <a:avLst>
              <a:gd name="adj" fmla="val 3552"/>
            </a:avLst>
          </a:prstGeom>
          <a:solidFill>
            <a:srgbClr val="FFFFFF"/>
          </a:solidFill>
          <a:ln w="12700">
            <a:solidFill>
              <a:srgbClr val="E3E6EE"/>
            </a:solidFill>
            <a:prstDash val="solid"/>
          </a:ln>
        </p:spPr>
      </p:sp>
      <p:pic>
        <p:nvPicPr>
          <p:cNvPr id="11" name="Image 1" descr="preencoded.png">    </p:cNvPr>
          <p:cNvPicPr>
            <a:picLocks noChangeAspect="1"/>
          </p:cNvPicPr>
          <p:nvPr/>
        </p:nvPicPr>
        <p:blipFill>
          <a:blip r:embed="rId2"/>
          <a:stretch>
            <a:fillRect/>
          </a:stretch>
        </p:blipFill>
        <p:spPr>
          <a:xfrm>
            <a:off x="731520" y="3246120"/>
            <a:ext cx="5134356" cy="1949511"/>
          </a:xfrm>
          <a:prstGeom prst="rect">
            <a:avLst/>
          </a:prstGeom>
        </p:spPr>
      </p:pic>
      <p:sp>
        <p:nvSpPr>
          <p:cNvPr id="12" name="Shape 8"/>
          <p:cNvSpPr/>
          <p:nvPr/>
        </p:nvSpPr>
        <p:spPr>
          <a:xfrm>
            <a:off x="6268212" y="3191256"/>
            <a:ext cx="5244084" cy="2080383"/>
          </a:xfrm>
          <a:prstGeom prst="roundRect">
            <a:avLst>
              <a:gd name="adj" fmla="val 3516"/>
            </a:avLst>
          </a:prstGeom>
          <a:solidFill>
            <a:srgbClr val="FFFFFF"/>
          </a:solidFill>
          <a:ln w="12700">
            <a:solidFill>
              <a:srgbClr val="E3E6EE"/>
            </a:solidFill>
            <a:prstDash val="solid"/>
          </a:ln>
        </p:spPr>
      </p:sp>
      <p:pic>
        <p:nvPicPr>
          <p:cNvPr id="13" name="Image 2" descr="preencoded.png">    </p:cNvPr>
          <p:cNvPicPr>
            <a:picLocks noChangeAspect="1"/>
          </p:cNvPicPr>
          <p:nvPr/>
        </p:nvPicPr>
        <p:blipFill>
          <a:blip r:embed="rId3"/>
          <a:stretch>
            <a:fillRect/>
          </a:stretch>
        </p:blipFill>
        <p:spPr>
          <a:xfrm>
            <a:off x="6323076" y="3246120"/>
            <a:ext cx="5134356" cy="1970655"/>
          </a:xfrm>
          <a:prstGeom prst="rect">
            <a:avLst/>
          </a:prstGeom>
        </p:spPr>
      </p:pic>
      <p:sp>
        <p:nvSpPr>
          <p:cNvPr id="14" name="Text 9"/>
          <p:cNvSpPr/>
          <p:nvPr/>
        </p:nvSpPr>
        <p:spPr>
          <a:xfrm>
            <a:off x="731520"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Suivi, données d'essai.</a:t>
            </a:r>
            <a:endParaRPr lang="en-US" sz="1000" dirty="0"/>
          </a:p>
        </p:txBody>
      </p:sp>
      <p:sp>
        <p:nvSpPr>
          <p:cNvPr id="15" name="Text 10"/>
          <p:cNvSpPr/>
          <p:nvPr/>
        </p:nvSpPr>
        <p:spPr>
          <a:xfrm>
            <a:off x="6323076"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Écarts d'audit, données d'essai.</a:t>
            </a:r>
            <a:endParaRPr lang="en-US" sz="1000" dirty="0"/>
          </a:p>
        </p:txBody>
      </p:sp>
      <p:sp>
        <p:nvSpPr>
          <p:cNvPr id="16" name="Text 11"/>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7" name="Text 12"/>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0972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Le rapport arrive déjà croisé.</a:t>
            </a:r>
            <a:endParaRPr lang="en-US" sz="2600" dirty="0"/>
          </a:p>
        </p:txBody>
      </p:sp>
      <p:sp>
        <p:nvSpPr>
          <p:cNvPr id="7" name="Text 4"/>
          <p:cNvSpPr/>
          <p:nvPr/>
        </p:nvSpPr>
        <p:spPr>
          <a:xfrm>
            <a:off x="731520" y="260604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Il part du stock théorique, pas seulement de ce qui a été scanné : un article attendu et jamais trouvé y figure, avec son manque. Le recoupement n'est plus à faire.</a:t>
            </a:r>
            <a:endParaRPr lang="en-US" sz="1250" dirty="0"/>
          </a:p>
        </p:txBody>
      </p:sp>
      <p:sp>
        <p:nvSpPr>
          <p:cNvPr id="8" name="Text 5"/>
          <p:cNvSpPr/>
          <p:nvPr/>
        </p:nvSpPr>
        <p:spPr>
          <a:xfrm>
            <a:off x="731520" y="397764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Export Excel en un clic. Restent la validation, selon la valeur de l'écart, et l'ajustement du stock.</a:t>
            </a:r>
            <a:endParaRPr lang="en-US" sz="1250" dirty="0"/>
          </a:p>
        </p:txBody>
      </p:sp>
      <p:sp>
        <p:nvSpPr>
          <p:cNvPr id="9" name="Shape 6"/>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L'inventaire aléatoire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Votre projet d'inventaire aléatoire, prêt à fonctionner.</a:t>
            </a:r>
            <a:endParaRPr lang="en-US" sz="2500" dirty="0"/>
          </a:p>
        </p:txBody>
      </p:sp>
      <p:sp>
        <p:nvSpPr>
          <p:cNvPr id="7" name="Text 4"/>
          <p:cNvSpPr/>
          <p:nvPr/>
        </p:nvSpPr>
        <p:spPr>
          <a:xfrm>
            <a:off x="731520" y="1783080"/>
            <a:ext cx="8348472" cy="54864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Vous en avez posé les objectifs : identifier les vols, tester la rigueur des procédures, garantir que chaque responsable maîtrise son stock. Confier le comptage au floor, c'est exactement cela.</a:t>
            </a:r>
            <a:endParaRPr lang="en-US" sz="1200" dirty="0"/>
          </a:p>
        </p:txBody>
      </p:sp>
      <p:sp>
        <p:nvSpPr>
          <p:cNvPr id="8" name="Shape 5"/>
          <p:cNvSpPr/>
          <p:nvPr/>
        </p:nvSpPr>
        <p:spPr>
          <a:xfrm>
            <a:off x="9725171" y="2377440"/>
            <a:ext cx="1732261" cy="3657600"/>
          </a:xfrm>
          <a:prstGeom prst="roundRect">
            <a:avLst>
              <a:gd name="adj" fmla="val 15836"/>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9725171" y="2377440"/>
            <a:ext cx="1732261" cy="3657600"/>
          </a:xfrm>
          <a:prstGeom prst="rect">
            <a:avLst/>
          </a:prstGeom>
        </p:spPr>
      </p:pic>
      <p:sp>
        <p:nvSpPr>
          <p:cNvPr id="10" name="Text 6"/>
          <p:cNvSpPr/>
          <p:nvPr/>
        </p:nvSpPr>
        <p:spPr>
          <a:xfrm>
            <a:off x="9267971" y="6163056"/>
            <a:ext cx="2646661"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Inter" pitchFamily="34" charset="0"/>
                <a:ea typeface="Inter" pitchFamily="34" charset="-122"/>
                <a:cs typeface="Inter" pitchFamily="34" charset="-120"/>
              </a:rPr>
              <a:t>Créer un inventaire ciblé, dans l'application.</a:t>
            </a:r>
            <a:endParaRPr lang="en-US" sz="1000" dirty="0"/>
          </a:p>
        </p:txBody>
      </p:sp>
      <p:sp>
        <p:nvSpPr>
          <p:cNvPr id="11" name="Text 7"/>
          <p:cNvSpPr/>
          <p:nvPr/>
        </p:nvSpPr>
        <p:spPr>
          <a:xfrm>
            <a:off x="731520" y="2514600"/>
            <a:ext cx="8445011" cy="35661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La sélection.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Elle reste chez vous : variances négatives répétées, articles sensibles, slow movers. Les rapports des inventaires précédents donnent les chiffres d'où cette sélection se tire.</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Le déclenchement.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Un inventaire ciblé se crée en quelques minutes — une marque, un rayon, une liste d'articles — le jour même s'il le faut. Les équipes concernées sont invitées depuis l'outil.</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Le comptage.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Rien à sortir, rien à monter la veille : c'est ce qui permet à un inventaire ciblé de rester discret, au lieu d'être annoncé par sa préparation.</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Le contrôle.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L'écart se lit en direct. S'il dépasse votre seuil, l'Inventory Control reprend la main, et le rapport nourrit l'enquête.</a:t>
            </a:r>
            <a:endParaRPr lang="en-US" sz="13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Pourquoi nous — et ce que nous ne promettons pas.</a:t>
            </a:r>
            <a:endParaRPr lang="en-US" sz="2500" dirty="0"/>
          </a:p>
        </p:txBody>
      </p:sp>
      <p:sp>
        <p:nvSpPr>
          <p:cNvPr id="7" name="Text 4"/>
          <p:cNvSpPr/>
          <p:nvPr/>
        </p:nvSpPr>
        <p:spPr>
          <a:xfrm>
            <a:off x="731520" y="1783080"/>
            <a:ext cx="5042916" cy="274320"/>
          </a:xfrm>
          <a:prstGeom prst="rect">
            <a:avLst/>
          </a:prstGeom>
          <a:noFill/>
          <a:ln/>
        </p:spPr>
        <p:txBody>
          <a:bodyPr wrap="square" lIns="0" tIns="0" rIns="0" bIns="0" rtlCol="0" anchor="t"/>
          <a:lstStyle/>
          <a:p>
            <a:pPr indent="0" marL="0">
              <a:buNone/>
            </a:pPr>
            <a:r>
              <a:rPr lang="en-US" sz="1050" b="1" dirty="0">
                <a:solidFill>
                  <a:srgbClr val="4636B0"/>
                </a:solidFill>
                <a:latin typeface="Inter" pitchFamily="34" charset="0"/>
                <a:ea typeface="Inter" pitchFamily="34" charset="-122"/>
                <a:cs typeface="Inter" pitchFamily="34" charset="-120"/>
              </a:rPr>
              <a:t>Plutôt que SmartCount</a:t>
            </a:r>
            <a:endParaRPr lang="en-US" sz="1050" dirty="0"/>
          </a:p>
        </p:txBody>
      </p:sp>
      <p:sp>
        <p:nvSpPr>
          <p:cNvPr id="8" name="Text 5"/>
          <p:cNvSpPr/>
          <p:nvPr/>
        </p:nvSpPr>
        <p:spPr>
          <a:xfrm>
            <a:off x="6414516" y="1783080"/>
            <a:ext cx="5042916" cy="274320"/>
          </a:xfrm>
          <a:prstGeom prst="rect">
            <a:avLst/>
          </a:prstGeom>
          <a:noFill/>
          <a:ln/>
        </p:spPr>
        <p:txBody>
          <a:bodyPr wrap="square" lIns="0" tIns="0" rIns="0" bIns="0" rtlCol="0" anchor="t"/>
          <a:lstStyle/>
          <a:p>
            <a:pPr indent="0" marL="0">
              <a:buNone/>
            </a:pPr>
            <a:r>
              <a:rPr lang="en-US" sz="1050" b="1" dirty="0">
                <a:solidFill>
                  <a:srgbClr val="5B6475"/>
                </a:solidFill>
                <a:latin typeface="Inter" pitchFamily="34" charset="0"/>
                <a:ea typeface="Inter" pitchFamily="34" charset="-122"/>
                <a:cs typeface="Inter" pitchFamily="34" charset="-120"/>
              </a:rPr>
              <a:t>Ce qu'on ne vous promet pas</a:t>
            </a:r>
            <a:endParaRPr lang="en-US" sz="1050" dirty="0"/>
          </a:p>
        </p:txBody>
      </p:sp>
      <p:sp>
        <p:nvSpPr>
          <p:cNvPr id="9" name="Shape 6"/>
          <p:cNvSpPr/>
          <p:nvPr/>
        </p:nvSpPr>
        <p:spPr>
          <a:xfrm>
            <a:off x="731520" y="2103120"/>
            <a:ext cx="10725912" cy="0"/>
          </a:xfrm>
          <a:prstGeom prst="line">
            <a:avLst/>
          </a:prstGeom>
          <a:noFill/>
          <a:ln w="9525">
            <a:solidFill>
              <a:srgbClr val="E3E6EE"/>
            </a:solidFill>
            <a:prstDash val="solid"/>
          </a:ln>
        </p:spPr>
      </p:sp>
      <p:sp>
        <p:nvSpPr>
          <p:cNvPr id="10" name="Text 7"/>
          <p:cNvSpPr/>
          <p:nvPr/>
        </p:nvSpPr>
        <p:spPr>
          <a:xfrm>
            <a:off x="731520" y="2286000"/>
            <a:ext cx="5042916" cy="2651760"/>
          </a:xfrm>
          <a:prstGeom prst="rect">
            <a:avLst/>
          </a:prstGeom>
          <a:noFill/>
          <a:ln/>
        </p:spPr>
        <p:txBody>
          <a:bodyPr wrap="square" lIns="0" tIns="0" rIns="0" bIns="0" rtlCol="0" anchor="t"/>
          <a:lstStyle/>
          <a:p>
            <a:pPr indent="0" marL="0">
              <a:lnSpc>
                <a:spcPct val="118000"/>
              </a:lnSpc>
              <a:spcAft>
                <a:spcPts val="1000"/>
              </a:spcAft>
              <a:buNone/>
            </a:pPr>
            <a:r>
              <a:rPr lang="en-US" sz="1150" b="1" dirty="0">
                <a:solidFill>
                  <a:srgbClr val="0B0F19"/>
                </a:solidFill>
                <a:latin typeface="Inter" pitchFamily="34" charset="0"/>
                <a:ea typeface="Inter" pitchFamily="34" charset="-122"/>
                <a:cs typeface="Inter" pitchFamily="34" charset="-120"/>
              </a:rPr>
              <a:t>Le matériel. </a:t>
            </a:r>
            <a:pPr indent="0" marL="0">
              <a:lnSpc>
                <a:spcPct val="118000"/>
              </a:lnSpc>
              <a:spcAft>
                <a:spcPts val="1000"/>
              </a:spcAft>
              <a:buNone/>
            </a:pPr>
            <a:r>
              <a:rPr lang="en-US" sz="1150" dirty="0">
                <a:solidFill>
                  <a:srgbClr val="3D4556"/>
                </a:solidFill>
                <a:latin typeface="Inter" pitchFamily="34" charset="0"/>
                <a:ea typeface="Inter" pitchFamily="34" charset="-122"/>
                <a:cs typeface="Inter" pitchFamily="34" charset="-120"/>
              </a:rPr>
              <a:t>SmartCount repose sur une flotte de terminaux dédiés : à charger, configurer, vérifier avant chaque session — le métier qu'on cherche justement à ne plus faire. Quantinvo tourne sur les iPhone que vos équipes ont déjà, et une douchette Bluetooth s'y branche pour les gros volumes.</a:t>
            </a:r>
            <a:endParaRPr lang="en-US" sz="1150" dirty="0"/>
          </a:p>
          <a:p>
            <a:pPr indent="0" marL="0">
              <a:lnSpc>
                <a:spcPct val="118000"/>
              </a:lnSpc>
              <a:spcAft>
                <a:spcPts val="1000"/>
              </a:spcAft>
              <a:buNone/>
            </a:pPr>
            <a:r>
              <a:rPr lang="en-US" sz="1150" b="1" dirty="0">
                <a:solidFill>
                  <a:srgbClr val="0B0F19"/>
                </a:solidFill>
                <a:latin typeface="Inter" pitchFamily="34" charset="0"/>
                <a:ea typeface="Inter" pitchFamily="34" charset="-122"/>
                <a:cs typeface="Inter" pitchFamily="34" charset="-120"/>
              </a:rPr>
              <a:t>La réconciliation. </a:t>
            </a:r>
            <a:pPr indent="0" marL="0">
              <a:lnSpc>
                <a:spcPct val="118000"/>
              </a:lnSpc>
              <a:spcAft>
                <a:spcPts val="1000"/>
              </a:spcAft>
              <a:buNone/>
            </a:pPr>
            <a:r>
              <a:rPr lang="en-US" sz="1150" dirty="0">
                <a:solidFill>
                  <a:srgbClr val="3D4556"/>
                </a:solidFill>
                <a:latin typeface="Inter" pitchFamily="34" charset="0"/>
                <a:ea typeface="Inter" pitchFamily="34" charset="-122"/>
                <a:cs typeface="Inter" pitchFamily="34" charset="-120"/>
              </a:rPr>
              <a:t>SmartCount rend un rapport de variance, à consolider ensuite avec le stock théorique. Quantinvo rend ce croisement déjà fait : l'attendu, le compté, le non-compté, l'écart en valeur.</a:t>
            </a:r>
            <a:endParaRPr lang="en-US" sz="1150" dirty="0"/>
          </a:p>
          <a:p>
            <a:pPr indent="0" marL="0">
              <a:lnSpc>
                <a:spcPct val="118000"/>
              </a:lnSpc>
              <a:spcAft>
                <a:spcPts val="1000"/>
              </a:spcAft>
              <a:buNone/>
            </a:pPr>
            <a:r>
              <a:rPr lang="en-US" sz="1150" b="1" dirty="0">
                <a:solidFill>
                  <a:srgbClr val="0B0F19"/>
                </a:solidFill>
                <a:latin typeface="Inter" pitchFamily="34" charset="0"/>
                <a:ea typeface="Inter" pitchFamily="34" charset="-122"/>
                <a:cs typeface="Inter" pitchFamily="34" charset="-120"/>
              </a:rPr>
              <a:t>L'éditeur. </a:t>
            </a:r>
            <a:pPr indent="0" marL="0">
              <a:lnSpc>
                <a:spcPct val="118000"/>
              </a:lnSpc>
              <a:spcAft>
                <a:spcPts val="1000"/>
              </a:spcAft>
              <a:buNone/>
            </a:pPr>
            <a:r>
              <a:rPr lang="en-US" sz="1150" dirty="0">
                <a:solidFill>
                  <a:srgbClr val="3D4556"/>
                </a:solidFill>
                <a:latin typeface="Inter" pitchFamily="34" charset="0"/>
                <a:ea typeface="Inter" pitchFamily="34" charset="-122"/>
                <a:cs typeface="Inter" pitchFamily="34" charset="-120"/>
              </a:rPr>
              <a:t>SmartCount est un module au catalogue d'un géant du matériel. Quantinvo ne fait qu'une chose — l'inventaire — et la personne qui l'a dessiné répond elle-même à vos questions.</a:t>
            </a:r>
            <a:endParaRPr lang="en-US" sz="1150" dirty="0"/>
          </a:p>
        </p:txBody>
      </p:sp>
      <p:sp>
        <p:nvSpPr>
          <p:cNvPr id="11" name="Text 8"/>
          <p:cNvSpPr/>
          <p:nvPr/>
        </p:nvSpPr>
        <p:spPr>
          <a:xfrm>
            <a:off x="6414516" y="2286000"/>
            <a:ext cx="5042916" cy="2651760"/>
          </a:xfrm>
          <a:prstGeom prst="rect">
            <a:avLst/>
          </a:prstGeom>
          <a:noFill/>
          <a:ln/>
        </p:spPr>
        <p:txBody>
          <a:bodyPr wrap="square" lIns="0" tIns="0" rIns="0" bIns="0" rtlCol="0" anchor="t"/>
          <a:lstStyle/>
          <a:p>
            <a:pPr indent="0" marL="0">
              <a:lnSpc>
                <a:spcPct val="118000"/>
              </a:lnSpc>
              <a:spcAft>
                <a:spcPts val="1000"/>
              </a:spcAft>
              <a:buNone/>
            </a:pPr>
            <a:r>
              <a:rPr lang="en-US" sz="1150" b="1" dirty="0">
                <a:solidFill>
                  <a:srgbClr val="0B0F19"/>
                </a:solidFill>
                <a:latin typeface="Inter" pitchFamily="34" charset="0"/>
                <a:ea typeface="Inter" pitchFamily="34" charset="-122"/>
                <a:cs typeface="Inter" pitchFamily="34" charset="-120"/>
              </a:rPr>
              <a:t>L'inventaire fiscal certifié. </a:t>
            </a:r>
            <a:pPr indent="0" marL="0">
              <a:lnSpc>
                <a:spcPct val="118000"/>
              </a:lnSpc>
              <a:spcAft>
                <a:spcPts val="1000"/>
              </a:spcAft>
              <a:buNone/>
            </a:pPr>
            <a:r>
              <a:rPr lang="en-US" sz="1150" dirty="0">
                <a:solidFill>
                  <a:srgbClr val="3D4556"/>
                </a:solidFill>
                <a:latin typeface="Inter" pitchFamily="34" charset="0"/>
                <a:ea typeface="Inter" pitchFamily="34" charset="-122"/>
                <a:cs typeface="Inter" pitchFamily="34" charset="-120"/>
              </a:rPr>
              <a:t>Si votre commissaire aux comptes exige un comptage par un tiers, ce comptage reste. Quantinvo fait tout le reste de l'année, et il le prépare.</a:t>
            </a:r>
            <a:endParaRPr lang="en-US" sz="1150" dirty="0"/>
          </a:p>
          <a:p>
            <a:pPr indent="0" marL="0">
              <a:lnSpc>
                <a:spcPct val="118000"/>
              </a:lnSpc>
              <a:spcAft>
                <a:spcPts val="1000"/>
              </a:spcAft>
              <a:buNone/>
            </a:pPr>
            <a:r>
              <a:rPr lang="en-US" sz="1150" b="1" dirty="0">
                <a:solidFill>
                  <a:srgbClr val="0B0F19"/>
                </a:solidFill>
                <a:latin typeface="Inter" pitchFamily="34" charset="0"/>
                <a:ea typeface="Inter" pitchFamily="34" charset="-122"/>
                <a:cs typeface="Inter" pitchFamily="34" charset="-120"/>
              </a:rPr>
              <a:t>Une connexion à votre ERP. </a:t>
            </a:r>
            <a:pPr indent="0" marL="0">
              <a:lnSpc>
                <a:spcPct val="118000"/>
              </a:lnSpc>
              <a:spcAft>
                <a:spcPts val="1000"/>
              </a:spcAft>
              <a:buNone/>
            </a:pPr>
            <a:r>
              <a:rPr lang="en-US" sz="1150" dirty="0">
                <a:solidFill>
                  <a:srgbClr val="3D4556"/>
                </a:solidFill>
                <a:latin typeface="Inter" pitchFamily="34" charset="0"/>
                <a:ea typeface="Inter" pitchFamily="34" charset="-122"/>
                <a:cs typeface="Inter" pitchFamily="34" charset="-120"/>
              </a:rPr>
              <a:t>Quantinvo importe vos fichiers et rend un Excel. L'ajustement du stock reste un geste dans votre système — le seul qui doive le rester.</a:t>
            </a:r>
            <a:endParaRPr lang="en-US" sz="1150" dirty="0"/>
          </a:p>
          <a:p>
            <a:pPr indent="0" marL="0">
              <a:lnSpc>
                <a:spcPct val="118000"/>
              </a:lnSpc>
              <a:spcAft>
                <a:spcPts val="1000"/>
              </a:spcAft>
              <a:buNone/>
            </a:pPr>
            <a:r>
              <a:rPr lang="en-US" sz="1150" b="1" dirty="0">
                <a:solidFill>
                  <a:srgbClr val="0B0F19"/>
                </a:solidFill>
                <a:latin typeface="Inter" pitchFamily="34" charset="0"/>
                <a:ea typeface="Inter" pitchFamily="34" charset="-122"/>
                <a:cs typeface="Inter" pitchFamily="34" charset="-120"/>
              </a:rPr>
              <a:t>La connexion par votre annuaire. </a:t>
            </a:r>
            <a:pPr indent="0" marL="0">
              <a:lnSpc>
                <a:spcPct val="118000"/>
              </a:lnSpc>
              <a:spcAft>
                <a:spcPts val="1000"/>
              </a:spcAft>
              <a:buNone/>
            </a:pPr>
            <a:r>
              <a:rPr lang="en-US" sz="1150" dirty="0">
                <a:solidFill>
                  <a:srgbClr val="3D4556"/>
                </a:solidFill>
                <a:latin typeface="Inter" pitchFamily="34" charset="0"/>
                <a:ea typeface="Inter" pitchFamily="34" charset="-122"/>
                <a:cs typeface="Inter" pitchFamily="34" charset="-120"/>
              </a:rPr>
              <a:t>Les comptes sont nominatifs, créés par invitation. Pas de SAML ni d'Entra ID ; dites-nous si c'est une exigence.</a:t>
            </a:r>
            <a:endParaRPr lang="en-US" sz="1150" dirty="0"/>
          </a:p>
          <a:p>
            <a:pPr indent="0" marL="0">
              <a:lnSpc>
                <a:spcPct val="118000"/>
              </a:lnSpc>
              <a:spcAft>
                <a:spcPts val="1000"/>
              </a:spcAft>
              <a:buNone/>
            </a:pPr>
            <a:r>
              <a:rPr lang="en-US" sz="1150" b="1" dirty="0">
                <a:solidFill>
                  <a:srgbClr val="0B0F19"/>
                </a:solidFill>
                <a:latin typeface="Inter" pitchFamily="34" charset="0"/>
                <a:ea typeface="Inter" pitchFamily="34" charset="-122"/>
                <a:cs typeface="Inter" pitchFamily="34" charset="-120"/>
              </a:rPr>
              <a:t>Android sur les boutiques. </a:t>
            </a:r>
            <a:pPr indent="0" marL="0">
              <a:lnSpc>
                <a:spcPct val="118000"/>
              </a:lnSpc>
              <a:spcAft>
                <a:spcPts val="1000"/>
              </a:spcAft>
              <a:buNone/>
            </a:pPr>
            <a:r>
              <a:rPr lang="en-US" sz="1150" dirty="0">
                <a:solidFill>
                  <a:srgbClr val="3D4556"/>
                </a:solidFill>
                <a:latin typeface="Inter" pitchFamily="34" charset="0"/>
                <a:ea typeface="Inter" pitchFamily="34" charset="-122"/>
                <a:cs typeface="Inter" pitchFamily="34" charset="-120"/>
              </a:rPr>
              <a:t>L'application tourne sur Android et sur iPhone. Sa mise en ligne sur Google Play est en cours ; d'ici là, elle passe par votre catalogue d'entreprise.</a:t>
            </a:r>
            <a:endParaRPr lang="en-US" sz="1150" dirty="0"/>
          </a:p>
        </p:txBody>
      </p:sp>
      <p:sp>
        <p:nvSpPr>
          <p:cNvPr id="12" name="Shape 9"/>
          <p:cNvSpPr/>
          <p:nvPr/>
        </p:nvSpPr>
        <p:spPr>
          <a:xfrm>
            <a:off x="731520" y="5166360"/>
            <a:ext cx="10725912" cy="1051560"/>
          </a:xfrm>
          <a:prstGeom prst="roundRect">
            <a:avLst>
              <a:gd name="adj" fmla="val 6957"/>
            </a:avLst>
          </a:prstGeom>
          <a:solidFill>
            <a:srgbClr val="F4F5F9"/>
          </a:solidFill>
          <a:ln w="12700">
            <a:solidFill>
              <a:srgbClr val="F4F5F9"/>
            </a:solidFill>
            <a:prstDash val="solid"/>
          </a:ln>
        </p:spPr>
      </p:sp>
      <p:sp>
        <p:nvSpPr>
          <p:cNvPr id="13" name="Text 10"/>
          <p:cNvSpPr/>
          <p:nvPr/>
        </p:nvSpPr>
        <p:spPr>
          <a:xfrm>
            <a:off x="1005840" y="533095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Pour être honnête</a:t>
            </a:r>
            <a:endParaRPr lang="en-US" sz="950" dirty="0"/>
          </a:p>
        </p:txBody>
      </p:sp>
      <p:sp>
        <p:nvSpPr>
          <p:cNvPr id="14" name="Text 11"/>
          <p:cNvSpPr/>
          <p:nvPr/>
        </p:nvSpPr>
        <p:spPr>
          <a:xfrm>
            <a:off x="1005840" y="558698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 terminal durci encaisse mieux les chocs qu'un téléphone, et si votre flotte est déjà amortie, l'argument du matériel pèse moins. Ce qui ne bouge pas : un outil que le floor prend en main sans briefing, et une réconciliation qui n'existe plus.</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Une licence par magasin, inventaires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Inter" pitchFamily="34" charset="0"/>
                <a:ea typeface="Inter" pitchFamily="34" charset="-122"/>
                <a:cs typeface="Inter" pitchFamily="34" charset="-120"/>
              </a:rPr>
              <a:t>Le prix suit le nombre d'appareils qui comptent en même temps dans le magasin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89 €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Inter" pitchFamily="34" charset="0"/>
                <a:ea typeface="Inter" pitchFamily="34" charset="-122"/>
                <a:cs typeface="Inter"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310 €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890 €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9 450 € à l’année — 1 230 € de moins</a:t>
            </a:r>
            <a:endParaRPr lang="en-US" sz="950" dirty="0"/>
          </a:p>
        </p:txBody>
      </p:sp>
      <p:sp>
        <p:nvSpPr>
          <p:cNvPr id="27" name="Text 24"/>
          <p:cNvSpPr/>
          <p:nvPr/>
        </p:nvSpPr>
        <p:spPr>
          <a:xfrm>
            <a:off x="731520" y="5257800"/>
            <a:ext cx="10725912" cy="91440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Ce que ça change pour l'inventaire tournant.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À l'intérieur d'un palier, compter davantage ne coûte rien : un chef d'équipe qui décide de compter son rayon un mardi matin n'a aucun budget à demander. C'est ce qui rend le transfert au floor tenable dans la durée. L'application, le tableau de bord, les rapports et les mises à jour sont compris.</a:t>
            </a:r>
            <a:endParaRPr lang="en-US" sz="1200" dirty="0"/>
          </a:p>
        </p:txBody>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Essayons sur un rayon.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Une démonstration avec un chef d'équipe et deux vendeurs, sur votre propre stock théorique : il l'importe, ils balisent leur rayon,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2026-09-01T17:22:09Z</dcterms:created>
  <dcterms:modified xsi:type="dcterms:W3CDTF">2026-09-01T17:22:09Z</dcterms:modified>
</cp:coreProperties>
</file>