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Ouvrir sur l'idée, pas sur le produit : l'inventaire cesse d'être une opération de l'Inventory Control pour devenir un geste des équipes de vente. Le deck suit leur propre document de déroulement.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 rien commenter : lire, et laisser la page faire son effet. C'est leur document, ils s'y reconnaissent. La question qui vient toute seule : pourquoi tout cela passe-t-il par l'Inventory Control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pivot du deck est dans l'encadré : on ne propose pas d'alléger la charge de l'Inventory Control, on propose de la transférer au floor. Chaque responsable maîtrise son stock — c'est l'objectif écrit dans leur propre projet d'inventaire aléatoire.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 d'où on parle : le rayon, la réserve, la nuit d'inventaire. La simplicité n'est pas un confort, c'est la condition du transfert au floor — un outil qui demande un expert recrée l'Inventory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écrans sont de vraies captures de l'application, celles du guide de prise en main. Et l'Inventory Control ? Il n'a pas d'écran sur cette page — c'est le message. Le sien arrive plus loin : le rapport.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miroir de la page 2, même structure veille / matin / pendant / après — mais le sujet des phrases a changé : c'est le chef d'équipe qui agit. Insister sur la dernière ligne.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Lire deux ou trois lignes, pas les cinq. Chaque ligne de gauche est portée par l'Inventory Control ; chaque ligne de droite par le floor — sauf la dernière, la seule qui vous reste.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poste de surveillance n'est pas supprimé, il est distribué : chaque chef d'équipe voit son inventaire, et vous voyez tout sans rien opérer. Le suivi agrégé (personne n'est suivi nominativement en direct) parle aux RH et au CSE d'une maison de cette taille.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recomptage ne disparaît pas : il se décide à chaud, par le chef d'équipe, au lieu d'être découvert par l'Inventory Control en surveillant la plateforme.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C'est la page de l'Inventory Control : son travail commence ici, sur un fichier déjà croisé avec le théorique. La validation PSM / AGM garde le même circuit qu'aujourd'hui, sur un fichier mieux rangé.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Leur document dit « en cours d'élaboration » : la page montre que l'outil le rend possible sans rien construire. La répartition est la même que pour le tournant : vous choisissez quoi et quand, le floor compte, vous contrôlez l'écart.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 jamais citer de prix Zebra — on n'en parle pas, même en réponse à une question. L'argument décisif ici : un outil expert suppose un service expert pour le servir ; c'est incompatible avec le transfert au floor.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Cette page désarme les objections. Ne pas la sauter : un prospect qui découvre une limite après coup perd confiance, un prospect averti la comprend. Un dossier technique séparé existe pour la DSI — le proposer ici.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palier se choisit sur le nombre de personnes qui comptent EN MÊME TEMPS, pas sur l'effectif : un floor de cent vendeurs dont vingt comptent le mardi matin relève d'Advanced. Le dépassement ne bloque jamais un comptage, il se règle au renouvellement. Au-delà de cent appareils sur un même magasin, ou pour plusieurs magasins, on établit un devis.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Clore sur l'essai qui prouve l'idée : ce n'est pas nous qui faisons la démonstration, c'est un chef d'équipe et ses vendeurs. Si eux y arrivent un mardi matin, le transfert est démontré.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66928" cy="566928"/>
          </a:xfrm>
          <a:prstGeom prst="rect">
            <a:avLst/>
          </a:prstGeom>
        </p:spPr>
      </p:pic>
      <p:sp>
        <p:nvSpPr>
          <p:cNvPr id="3" name="Text 0"/>
          <p:cNvSpPr/>
          <p:nvPr/>
        </p:nvSpPr>
        <p:spPr>
          <a:xfrm>
            <a:off x="1444752" y="658368"/>
            <a:ext cx="4572000" cy="621792"/>
          </a:xfrm>
          <a:prstGeom prst="rect">
            <a:avLst/>
          </a:prstGeom>
          <a:noFill/>
          <a:ln/>
        </p:spPr>
        <p:txBody>
          <a:bodyPr wrap="square" lIns="0" tIns="0" rIns="0" bIns="0" rtlCol="0" anchor="ctr"/>
          <a:lstStyle/>
          <a:p>
            <a:pPr indent="0" marL="0">
              <a:buNone/>
            </a:pPr>
            <a:r>
              <a:rPr lang="en-US" sz="2400" b="1" dirty="0">
                <a:solidFill>
                  <a:srgbClr val="0B0F19"/>
                </a:solidFill>
                <a:latin typeface="Sora" pitchFamily="34" charset="0"/>
                <a:ea typeface="Sora" pitchFamily="34" charset="-122"/>
                <a:cs typeface="Sora" pitchFamily="34" charset="-120"/>
              </a:rPr>
              <a:t>Quantinvo</a:t>
            </a:r>
            <a:endParaRPr lang="en-US" sz="2400" dirty="0"/>
          </a:p>
        </p:txBody>
      </p:sp>
      <p:sp>
        <p:nvSpPr>
          <p:cNvPr id="4" name="Shape 1"/>
          <p:cNvSpPr/>
          <p:nvPr/>
        </p:nvSpPr>
        <p:spPr>
          <a:xfrm>
            <a:off x="731520" y="1481328"/>
            <a:ext cx="2377440" cy="25603"/>
          </a:xfrm>
          <a:prstGeom prst="rect">
            <a:avLst/>
          </a:prstGeom>
          <a:solidFill>
            <a:srgbClr val="38C9FF"/>
          </a:solidFill>
          <a:ln w="12700">
            <a:solidFill>
              <a:srgbClr val="38C9FF"/>
            </a:solidFill>
            <a:prstDash val="solid"/>
          </a:ln>
        </p:spPr>
      </p:sp>
      <p:sp>
        <p:nvSpPr>
          <p:cNvPr id="5" name="Text 2"/>
          <p:cNvSpPr/>
          <p:nvPr/>
        </p:nvSpPr>
        <p:spPr>
          <a:xfrm>
            <a:off x="731520" y="2331720"/>
            <a:ext cx="8229600" cy="365760"/>
          </a:xfrm>
          <a:prstGeom prst="rect">
            <a:avLst/>
          </a:prstGeom>
          <a:noFill/>
          <a:ln/>
        </p:spPr>
        <p:txBody>
          <a:bodyPr wrap="square" lIns="0" tIns="0" rIns="0" bIns="0" rtlCol="0" anchor="t"/>
          <a:lstStyle/>
          <a:p>
            <a:pPr indent="0" marL="0">
              <a:buNone/>
            </a:pPr>
            <a:r>
              <a:rPr lang="en-US" sz="1300" dirty="0">
                <a:solidFill>
                  <a:srgbClr val="5B6475"/>
                </a:solidFill>
                <a:latin typeface="Inter" pitchFamily="34" charset="0"/>
                <a:ea typeface="Inter" pitchFamily="34" charset="-122"/>
                <a:cs typeface="Inter" pitchFamily="34" charset="-120"/>
              </a:rPr>
              <a:t>Proposition pour La Samaritaine</a:t>
            </a:r>
            <a:endParaRPr lang="en-US" sz="1300" dirty="0"/>
          </a:p>
        </p:txBody>
      </p:sp>
      <p:sp>
        <p:nvSpPr>
          <p:cNvPr id="6" name="Text 3"/>
          <p:cNvSpPr/>
          <p:nvPr/>
        </p:nvSpPr>
        <p:spPr>
          <a:xfrm>
            <a:off x="731520" y="2743200"/>
            <a:ext cx="8686800" cy="1737360"/>
          </a:xfrm>
          <a:prstGeom prst="rect">
            <a:avLst/>
          </a:prstGeom>
          <a:noFill/>
          <a:ln/>
        </p:spPr>
        <p:txBody>
          <a:bodyPr wrap="square" lIns="0" tIns="0" rIns="0" bIns="0" rtlCol="0" anchor="t"/>
          <a:lstStyle/>
          <a:p>
            <a:pPr indent="0" marL="0">
              <a:lnSpc>
                <a:spcPct val="105000"/>
              </a:lnSpc>
              <a:buNone/>
            </a:pPr>
            <a:r>
              <a:rPr lang="en-US" sz="4000" b="1" dirty="0">
                <a:solidFill>
                  <a:srgbClr val="4636B0"/>
                </a:solidFill>
                <a:latin typeface="Sora" pitchFamily="34" charset="0"/>
                <a:ea typeface="Sora" pitchFamily="34" charset="-122"/>
                <a:cs typeface="Sora" pitchFamily="34" charset="-120"/>
              </a:rPr>
              <a:t>L'inventaire tournant, rendu aux équipes de vente.</a:t>
            </a:r>
            <a:endParaRPr lang="en-US" sz="4000" dirty="0"/>
          </a:p>
        </p:txBody>
      </p:sp>
      <p:sp>
        <p:nvSpPr>
          <p:cNvPr id="7" name="Text 4"/>
          <p:cNvSpPr/>
          <p:nvPr/>
        </p:nvSpPr>
        <p:spPr>
          <a:xfrm>
            <a:off x="731520" y="4572000"/>
            <a:ext cx="7498080" cy="822960"/>
          </a:xfrm>
          <a:prstGeom prst="rect">
            <a:avLst/>
          </a:prstGeom>
          <a:noFill/>
          <a:ln/>
        </p:spPr>
        <p:txBody>
          <a:bodyPr wrap="square" lIns="0" tIns="0" rIns="0" bIns="0" rtlCol="0" anchor="t"/>
          <a:lstStyle/>
          <a:p>
            <a:pPr indent="0" marL="0">
              <a:lnSpc>
                <a:spcPct val="120000"/>
              </a:lnSpc>
              <a:buNone/>
            </a:pPr>
            <a:r>
              <a:rPr lang="en-US" sz="1500" dirty="0">
                <a:solidFill>
                  <a:srgbClr val="3D4556"/>
                </a:solidFill>
                <a:latin typeface="Inter" pitchFamily="34" charset="0"/>
                <a:ea typeface="Inter" pitchFamily="34" charset="-122"/>
                <a:cs typeface="Inter" pitchFamily="34" charset="-120"/>
              </a:rPr>
              <a:t>Le balisage, le comptage et la conduite de chaque inventaire passent au floor : les chefs d'équipe supervisent, les vendeurs comptent. L'Inventory Control reçoit le rapport, valide et ajuste.</a:t>
            </a:r>
            <a:endParaRPr lang="en-US" sz="1500" dirty="0"/>
          </a:p>
        </p:txBody>
      </p:sp>
      <p:sp>
        <p:nvSpPr>
          <p:cNvPr id="8" name="Text 5"/>
          <p:cNvSpPr/>
          <p:nvPr/>
        </p:nvSpPr>
        <p:spPr>
          <a:xfrm>
            <a:off x="731520" y="6080760"/>
            <a:ext cx="9144000" cy="320040"/>
          </a:xfrm>
          <a:prstGeom prst="rect">
            <a:avLst/>
          </a:prstGeom>
          <a:noFill/>
          <a:ln/>
        </p:spPr>
        <p:txBody>
          <a:bodyPr wrap="square" lIns="0" tIns="0" rIns="0" bIns="0" rtlCol="0" anchor="t"/>
          <a:lstStyle/>
          <a:p>
            <a:pPr indent="0" marL="0">
              <a:buNone/>
            </a:pPr>
            <a:r>
              <a:rPr lang="en-US" sz="1050" dirty="0">
                <a:solidFill>
                  <a:srgbClr val="5B6475"/>
                </a:solidFill>
                <a:latin typeface="Inter" pitchFamily="34" charset="0"/>
                <a:ea typeface="Inter" pitchFamily="34" charset="-122"/>
                <a:cs typeface="Inter" pitchFamily="34" charset="-120"/>
              </a:rPr>
              <a:t>Devkaylab  ·  août 2026  ·  www.quantinvo.com</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Aujourd'hui</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15544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Votre journée d'inventaire, telle qu'elle se déroule.</a:t>
            </a:r>
            <a:endParaRPr lang="en-US" sz="2600" dirty="0"/>
          </a:p>
        </p:txBody>
      </p:sp>
      <p:sp>
        <p:nvSpPr>
          <p:cNvPr id="7" name="Text 4"/>
          <p:cNvSpPr/>
          <p:nvPr/>
        </p:nvSpPr>
        <p:spPr>
          <a:xfrm>
            <a:off x="731520" y="2926080"/>
            <a:ext cx="4206240" cy="1097280"/>
          </a:xfrm>
          <a:prstGeom prst="rect">
            <a:avLst/>
          </a:prstGeom>
          <a:noFill/>
          <a:ln/>
        </p:spPr>
        <p:txBody>
          <a:bodyPr wrap="square" lIns="0" tIns="0" rIns="0" bIns="0" rtlCol="0" anchor="t"/>
          <a:lstStyle/>
          <a:p>
            <a:pPr algn="l" indent="0" marL="0">
              <a:lnSpc>
                <a:spcPct val="118000"/>
              </a:lnSpc>
              <a:buNone/>
            </a:pPr>
            <a:r>
              <a:rPr lang="en-US" sz="1200" i="1" dirty="0">
                <a:solidFill>
                  <a:srgbClr val="5B6475"/>
                </a:solidFill>
                <a:latin typeface="Inter" pitchFamily="34" charset="0"/>
                <a:ea typeface="Inter" pitchFamily="34" charset="-122"/>
                <a:cs typeface="Inter" pitchFamily="34" charset="-120"/>
              </a:rPr>
              <a:t>Reprise de votre déroulement d'inventaire tournant, étape par étape. Chaque ligne est tirée de votre document — et chaque ligne est portée par l'Inventory Control.</a:t>
            </a:r>
            <a:endParaRPr lang="en-US" sz="1200" dirty="0"/>
          </a:p>
        </p:txBody>
      </p:sp>
      <p:sp>
        <p:nvSpPr>
          <p:cNvPr id="8" name="Text 5"/>
          <p:cNvSpPr/>
          <p:nvPr/>
        </p:nvSpPr>
        <p:spPr>
          <a:xfrm>
            <a:off x="5394960" y="1371600"/>
            <a:ext cx="6062472" cy="4754880"/>
          </a:xfrm>
          <a:prstGeom prst="rect">
            <a:avLst/>
          </a:prstGeom>
          <a:noFill/>
          <a:ln/>
        </p:spPr>
        <p:txBody>
          <a:bodyPr wrap="square" lIns="0" tIns="0" rIns="0" bIns="0" rtlCol="0" anchor="t"/>
          <a:lstStyle/>
          <a:p>
            <a:pPr indent="0" marL="0">
              <a:lnSpc>
                <a:spcPct val="118000"/>
              </a:lnSpc>
              <a:spcAft>
                <a:spcPts val="1300"/>
              </a:spcAft>
              <a:buNone/>
            </a:pPr>
            <a:r>
              <a:rPr lang="en-US" sz="1250" b="1" dirty="0">
                <a:solidFill>
                  <a:srgbClr val="0B0F19"/>
                </a:solidFill>
                <a:latin typeface="Inter" pitchFamily="34" charset="0"/>
                <a:ea typeface="Inter" pitchFamily="34" charset="-122"/>
                <a:cs typeface="Inter" pitchFamily="34" charset="-120"/>
              </a:rPr>
              <a:t>La veille. </a:t>
            </a:r>
            <a:pPr indent="0" marL="0">
              <a:lnSpc>
                <a:spcPct val="118000"/>
              </a:lnSpc>
              <a:spcAft>
                <a:spcPts val="1300"/>
              </a:spcAft>
              <a:buNone/>
            </a:pPr>
            <a:r>
              <a:rPr lang="en-US" sz="1250" dirty="0">
                <a:solidFill>
                  <a:srgbClr val="3D4556"/>
                </a:solidFill>
                <a:latin typeface="Inter" pitchFamily="34" charset="0"/>
                <a:ea typeface="Inter" pitchFamily="34" charset="-122"/>
                <a:cs typeface="Inter" pitchFamily="34" charset="-120"/>
              </a:rPr>
              <a:t>Balisage des zones à inventorier, stickers posés avec une personne du floor ou du relay.</a:t>
            </a:r>
            <a:endParaRPr lang="en-US" sz="1250" dirty="0"/>
          </a:p>
          <a:p>
            <a:pPr indent="0" marL="0">
              <a:lnSpc>
                <a:spcPct val="118000"/>
              </a:lnSpc>
              <a:spcAft>
                <a:spcPts val="1300"/>
              </a:spcAft>
              <a:buNone/>
            </a:pPr>
            <a:r>
              <a:rPr lang="en-US" sz="1250" b="1" dirty="0">
                <a:solidFill>
                  <a:srgbClr val="0B0F19"/>
                </a:solidFill>
                <a:latin typeface="Inter" pitchFamily="34" charset="0"/>
                <a:ea typeface="Inter" pitchFamily="34" charset="-122"/>
                <a:cs typeface="Inter" pitchFamily="34" charset="-120"/>
              </a:rPr>
              <a:t>Le matin. </a:t>
            </a:r>
            <a:pPr indent="0" marL="0">
              <a:lnSpc>
                <a:spcPct val="118000"/>
              </a:lnSpc>
              <a:spcAft>
                <a:spcPts val="1300"/>
              </a:spcAft>
              <a:buNone/>
            </a:pPr>
            <a:r>
              <a:rPr lang="en-US" sz="1250" dirty="0">
                <a:solidFill>
                  <a:srgbClr val="3D4556"/>
                </a:solidFill>
                <a:latin typeface="Inter" pitchFamily="34" charset="0"/>
                <a:ea typeface="Inter" pitchFamily="34" charset="-122"/>
                <a:cs typeface="Inter" pitchFamily="34" charset="-120"/>
              </a:rPr>
              <a:t>Télécharger le stock théorique du jour, ouvrir la session SmartCount, connecter les terminaux Zebra un par un — en vérifiant la date et la localisation de chacun (101 floor / BOH, 902 relay). Puis briefer les compteurs sur le maniement des terminaux et la procédure.</a:t>
            </a:r>
            <a:endParaRPr lang="en-US" sz="1250" dirty="0"/>
          </a:p>
          <a:p>
            <a:pPr indent="0" marL="0">
              <a:lnSpc>
                <a:spcPct val="118000"/>
              </a:lnSpc>
              <a:spcAft>
                <a:spcPts val="1300"/>
              </a:spcAft>
              <a:buNone/>
            </a:pPr>
            <a:r>
              <a:rPr lang="en-US" sz="1250" b="1" dirty="0">
                <a:solidFill>
                  <a:srgbClr val="0B0F19"/>
                </a:solidFill>
                <a:latin typeface="Inter" pitchFamily="34" charset="0"/>
                <a:ea typeface="Inter" pitchFamily="34" charset="-122"/>
                <a:cs typeface="Inter" pitchFamily="34" charset="-120"/>
              </a:rPr>
              <a:t>Pendant. </a:t>
            </a:r>
            <a:pPr indent="0" marL="0">
              <a:lnSpc>
                <a:spcPct val="118000"/>
              </a:lnSpc>
              <a:spcAft>
                <a:spcPts val="1300"/>
              </a:spcAft>
              <a:buNone/>
            </a:pPr>
            <a:r>
              <a:rPr lang="en-US" sz="1250" dirty="0">
                <a:solidFill>
                  <a:srgbClr val="3D4556"/>
                </a:solidFill>
                <a:latin typeface="Inter" pitchFamily="34" charset="0"/>
                <a:ea typeface="Inter" pitchFamily="34" charset="-122"/>
                <a:cs typeface="Inter" pitchFamily="34" charset="-120"/>
              </a:rPr>
              <a:t>Déclencher l'audit des zones comptées — 100 % pour la W&amp;J, 30 % au moins ailleurs —, guetter les failed audits sur SmartCount, faire recompter les zones en désaccord.</a:t>
            </a:r>
            <a:endParaRPr lang="en-US" sz="1250" dirty="0"/>
          </a:p>
          <a:p>
            <a:pPr indent="0" marL="0">
              <a:lnSpc>
                <a:spcPct val="118000"/>
              </a:lnSpc>
              <a:spcAft>
                <a:spcPts val="1300"/>
              </a:spcAft>
              <a:buNone/>
            </a:pPr>
            <a:r>
              <a:rPr lang="en-US" sz="1250" b="1" dirty="0">
                <a:solidFill>
                  <a:srgbClr val="0B0F19"/>
                </a:solidFill>
                <a:latin typeface="Inter" pitchFamily="34" charset="0"/>
                <a:ea typeface="Inter" pitchFamily="34" charset="-122"/>
                <a:cs typeface="Inter" pitchFamily="34" charset="-120"/>
              </a:rPr>
              <a:t>Après. </a:t>
            </a:r>
            <a:pPr indent="0" marL="0">
              <a:lnSpc>
                <a:spcPct val="118000"/>
              </a:lnSpc>
              <a:spcAft>
                <a:spcPts val="1300"/>
              </a:spcAft>
              <a:buNone/>
            </a:pPr>
            <a:r>
              <a:rPr lang="en-US" sz="1250" dirty="0">
                <a:solidFill>
                  <a:srgbClr val="3D4556"/>
                </a:solidFill>
                <a:latin typeface="Inter" pitchFamily="34" charset="0"/>
                <a:ea typeface="Inter" pitchFamily="34" charset="-122"/>
                <a:cs typeface="Inter" pitchFamily="34" charset="-120"/>
              </a:rPr>
              <a:t>Extraire le rapport SKU Variance, le consolider à la main avec le stock théorique, faire valider les résultats selon la valeur de l'écart (Inventory Control, PSM ou AGM), puis ajuster le stock.</a:t>
            </a:r>
            <a:endParaRPr lang="en-US" sz="1250" dirty="0"/>
          </a:p>
        </p:txBody>
      </p:sp>
      <p:sp>
        <p:nvSpPr>
          <p:cNvPr id="9" name="Text 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proposition pour La Samaritaine</a:t>
            </a:r>
            <a:endParaRPr lang="en-US" sz="900" dirty="0"/>
          </a:p>
        </p:txBody>
      </p:sp>
      <p:sp>
        <p:nvSpPr>
          <p:cNvPr id="10" name="Text 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Le constat</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182880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Le comptage est fait par les équipes. Tout le reste est fait par vous.</a:t>
            </a:r>
            <a:endParaRPr lang="en-US" sz="2600" dirty="0"/>
          </a:p>
        </p:txBody>
      </p:sp>
      <p:sp>
        <p:nvSpPr>
          <p:cNvPr id="7" name="Text 4"/>
          <p:cNvSpPr/>
          <p:nvPr/>
        </p:nvSpPr>
        <p:spPr>
          <a:xfrm>
            <a:off x="731520" y="3383280"/>
            <a:ext cx="4206240" cy="868680"/>
          </a:xfrm>
          <a:prstGeom prst="rect">
            <a:avLst/>
          </a:prstGeom>
          <a:noFill/>
          <a:ln/>
        </p:spPr>
        <p:txBody>
          <a:bodyPr wrap="square" lIns="0" tIns="0" rIns="0" bIns="0" rtlCol="0" anchor="t"/>
          <a:lstStyle/>
          <a:p>
            <a:pPr indent="0" marL="0">
              <a:buNone/>
            </a:pPr>
            <a:r>
              <a:rPr lang="en-US" sz="5400" b="1" dirty="0">
                <a:solidFill>
                  <a:srgbClr val="4636B0"/>
                </a:solidFill>
                <a:latin typeface="Sora" pitchFamily="34" charset="0"/>
                <a:ea typeface="Sora" pitchFamily="34" charset="-122"/>
                <a:cs typeface="Sora" pitchFamily="34" charset="-120"/>
              </a:rPr>
              <a:t>4</a:t>
            </a:r>
            <a:endParaRPr lang="en-US" sz="5400" dirty="0"/>
          </a:p>
        </p:txBody>
      </p:sp>
      <p:sp>
        <p:nvSpPr>
          <p:cNvPr id="8" name="Text 5"/>
          <p:cNvSpPr/>
          <p:nvPr/>
        </p:nvSpPr>
        <p:spPr>
          <a:xfrm>
            <a:off x="731520" y="4297680"/>
            <a:ext cx="4206240" cy="731520"/>
          </a:xfrm>
          <a:prstGeom prst="rect">
            <a:avLst/>
          </a:prstGeom>
          <a:noFill/>
          <a:ln/>
        </p:spPr>
        <p:txBody>
          <a:bodyPr wrap="square" lIns="0" tIns="0" rIns="0" bIns="0" rtlCol="0" anchor="t"/>
          <a:lstStyle/>
          <a:p>
            <a:pPr indent="0" marL="0">
              <a:lnSpc>
                <a:spcPct val="115000"/>
              </a:lnSpc>
              <a:buNone/>
            </a:pPr>
            <a:r>
              <a:rPr lang="en-US" sz="1200" dirty="0">
                <a:solidFill>
                  <a:srgbClr val="5B6475"/>
                </a:solidFill>
                <a:latin typeface="Inter" pitchFamily="34" charset="0"/>
                <a:ea typeface="Inter" pitchFamily="34" charset="-122"/>
                <a:cs typeface="Inter" pitchFamily="34" charset="-120"/>
              </a:rPr>
              <a:t>casquettes portées par l'Inventory Control à chaque inventaire : préparer, surveiller, réconcilier, corriger.</a:t>
            </a:r>
            <a:endParaRPr lang="en-US" sz="1200" dirty="0"/>
          </a:p>
        </p:txBody>
      </p:sp>
      <p:sp>
        <p:nvSpPr>
          <p:cNvPr id="9" name="Text 6"/>
          <p:cNvSpPr/>
          <p:nvPr/>
        </p:nvSpPr>
        <p:spPr>
          <a:xfrm>
            <a:off x="5394960" y="1371600"/>
            <a:ext cx="6062472" cy="4206240"/>
          </a:xfrm>
          <a:prstGeom prst="rect">
            <a:avLst/>
          </a:prstGeom>
          <a:noFill/>
          <a:ln/>
        </p:spPr>
        <p:txBody>
          <a:bodyPr wrap="square" lIns="0" tIns="0" rIns="0" bIns="0" rtlCol="0" anchor="t"/>
          <a:lstStyle/>
          <a:p>
            <a:pPr indent="0" marL="0">
              <a:lnSpc>
                <a:spcPct val="118000"/>
              </a:lnSpc>
              <a:spcAft>
                <a:spcPts val="1300"/>
              </a:spcAft>
              <a:buNone/>
            </a:pPr>
            <a:r>
              <a:rPr lang="en-US" sz="1300" b="1" dirty="0">
                <a:solidFill>
                  <a:srgbClr val="0B0F19"/>
                </a:solidFill>
                <a:latin typeface="Inter" pitchFamily="34" charset="0"/>
                <a:ea typeface="Inter" pitchFamily="34" charset="-122"/>
                <a:cs typeface="Inter" pitchFamily="34" charset="-120"/>
              </a:rPr>
              <a:t>La préparation. </a:t>
            </a:r>
            <a:pPr indent="0" marL="0">
              <a:lnSpc>
                <a:spcPct val="118000"/>
              </a:lnSpc>
              <a:spcAft>
                <a:spcPts val="1300"/>
              </a:spcAft>
              <a:buNone/>
            </a:pPr>
            <a:r>
              <a:rPr lang="en-US" sz="1300" dirty="0">
                <a:solidFill>
                  <a:srgbClr val="3D4556"/>
                </a:solidFill>
                <a:latin typeface="Inter" pitchFamily="34" charset="0"/>
                <a:ea typeface="Inter" pitchFamily="34" charset="-122"/>
                <a:cs typeface="Inter" pitchFamily="34" charset="-120"/>
              </a:rPr>
              <a:t>Le balisage, le stock du jour, la session, les terminaux, le briefing : la moitié de chaque inventaire ne compte aucun article.</a:t>
            </a:r>
            <a:endParaRPr lang="en-US" sz="1300" dirty="0"/>
          </a:p>
          <a:p>
            <a:pPr indent="0" marL="0">
              <a:lnSpc>
                <a:spcPct val="118000"/>
              </a:lnSpc>
              <a:spcAft>
                <a:spcPts val="1300"/>
              </a:spcAft>
              <a:buNone/>
            </a:pPr>
            <a:r>
              <a:rPr lang="en-US" sz="1300" b="1" dirty="0">
                <a:solidFill>
                  <a:srgbClr val="0B0F19"/>
                </a:solidFill>
                <a:latin typeface="Inter" pitchFamily="34" charset="0"/>
                <a:ea typeface="Inter" pitchFamily="34" charset="-122"/>
                <a:cs typeface="Inter" pitchFamily="34" charset="-120"/>
              </a:rPr>
              <a:t>La surveillance. </a:t>
            </a:r>
            <a:pPr indent="0" marL="0">
              <a:lnSpc>
                <a:spcPct val="118000"/>
              </a:lnSpc>
              <a:spcAft>
                <a:spcPts val="1300"/>
              </a:spcAft>
              <a:buNone/>
            </a:pPr>
            <a:r>
              <a:rPr lang="en-US" sz="1300" dirty="0">
                <a:solidFill>
                  <a:srgbClr val="3D4556"/>
                </a:solidFill>
                <a:latin typeface="Inter" pitchFamily="34" charset="0"/>
                <a:ea typeface="Inter" pitchFamily="34" charset="-122"/>
                <a:cs typeface="Inter" pitchFamily="34" charset="-120"/>
              </a:rPr>
              <a:t>Pendant tout le comptage, quelqu'un reste posté sur la plateforme pour suivre les audits et guetter les failed audits. Ce quelqu'un, c'est vous.</a:t>
            </a:r>
            <a:endParaRPr lang="en-US" sz="1300" dirty="0"/>
          </a:p>
          <a:p>
            <a:pPr indent="0" marL="0">
              <a:lnSpc>
                <a:spcPct val="118000"/>
              </a:lnSpc>
              <a:spcAft>
                <a:spcPts val="1300"/>
              </a:spcAft>
              <a:buNone/>
            </a:pPr>
            <a:r>
              <a:rPr lang="en-US" sz="1300" b="1" dirty="0">
                <a:solidFill>
                  <a:srgbClr val="0B0F19"/>
                </a:solidFill>
                <a:latin typeface="Inter" pitchFamily="34" charset="0"/>
                <a:ea typeface="Inter" pitchFamily="34" charset="-122"/>
                <a:cs typeface="Inter" pitchFamily="34" charset="-120"/>
              </a:rPr>
              <a:t>La réconciliation. </a:t>
            </a:r>
            <a:pPr indent="0" marL="0">
              <a:lnSpc>
                <a:spcPct val="118000"/>
              </a:lnSpc>
              <a:spcAft>
                <a:spcPts val="1300"/>
              </a:spcAft>
              <a:buNone/>
            </a:pPr>
            <a:r>
              <a:rPr lang="en-US" sz="1300" dirty="0">
                <a:solidFill>
                  <a:srgbClr val="3D4556"/>
                </a:solidFill>
                <a:latin typeface="Inter" pitchFamily="34" charset="0"/>
                <a:ea typeface="Inter" pitchFamily="34" charset="-122"/>
                <a:cs typeface="Inter" pitchFamily="34" charset="-120"/>
              </a:rPr>
              <a:t>Deux fichiers à rapprocher à la main après chaque inventaire — le stock théorique et le SKU Variance. C'est long, et c'est là que les erreurs se glissent.</a:t>
            </a:r>
            <a:endParaRPr lang="en-US" sz="1300" dirty="0"/>
          </a:p>
          <a:p>
            <a:pPr indent="0" marL="0">
              <a:lnSpc>
                <a:spcPct val="118000"/>
              </a:lnSpc>
              <a:spcAft>
                <a:spcPts val="1300"/>
              </a:spcAft>
              <a:buNone/>
            </a:pPr>
            <a:r>
              <a:rPr lang="en-US" sz="1300" b="1" dirty="0">
                <a:solidFill>
                  <a:srgbClr val="0B0F19"/>
                </a:solidFill>
                <a:latin typeface="Inter" pitchFamily="34" charset="0"/>
                <a:ea typeface="Inter" pitchFamily="34" charset="-122"/>
                <a:cs typeface="Inter" pitchFamily="34" charset="-120"/>
              </a:rPr>
              <a:t>La correction. </a:t>
            </a:r>
            <a:pPr indent="0" marL="0">
              <a:lnSpc>
                <a:spcPct val="118000"/>
              </a:lnSpc>
              <a:spcAft>
                <a:spcPts val="1300"/>
              </a:spcAft>
              <a:buNone/>
            </a:pPr>
            <a:r>
              <a:rPr lang="en-US" sz="1300" dirty="0">
                <a:solidFill>
                  <a:srgbClr val="3D4556"/>
                </a:solidFill>
                <a:latin typeface="Inter" pitchFamily="34" charset="0"/>
                <a:ea typeface="Inter" pitchFamily="34" charset="-122"/>
                <a:cs typeface="Inter" pitchFamily="34" charset="-120"/>
              </a:rPr>
              <a:t>L'ajustement du stock, après validation. Avec le programme des inventaires, la seule chose qui doive vraiment rester entre vos mains.</a:t>
            </a:r>
            <a:endParaRPr lang="en-US" sz="1300" dirty="0"/>
          </a:p>
        </p:txBody>
      </p:sp>
      <p:sp>
        <p:nvSpPr>
          <p:cNvPr id="10" name="Shape 7"/>
          <p:cNvSpPr/>
          <p:nvPr/>
        </p:nvSpPr>
        <p:spPr>
          <a:xfrm>
            <a:off x="5394960" y="5212080"/>
            <a:ext cx="6062472" cy="1097280"/>
          </a:xfrm>
          <a:prstGeom prst="roundRect">
            <a:avLst>
              <a:gd name="adj" fmla="val 6667"/>
            </a:avLst>
          </a:prstGeom>
          <a:solidFill>
            <a:srgbClr val="F4F5F9"/>
          </a:solidFill>
          <a:ln w="12700">
            <a:solidFill>
              <a:srgbClr val="F4F5F9"/>
            </a:solidFill>
            <a:prstDash val="solid"/>
          </a:ln>
        </p:spPr>
      </p:sp>
      <p:sp>
        <p:nvSpPr>
          <p:cNvPr id="11" name="Text 8"/>
          <p:cNvSpPr/>
          <p:nvPr/>
        </p:nvSpPr>
        <p:spPr>
          <a:xfrm>
            <a:off x="5669280" y="5376672"/>
            <a:ext cx="5513832" cy="228600"/>
          </a:xfrm>
          <a:prstGeom prst="rect">
            <a:avLst/>
          </a:prstGeom>
          <a:noFill/>
          <a:ln/>
        </p:spPr>
        <p:txBody>
          <a:bodyPr wrap="square" lIns="0" tIns="0" rIns="0" bIns="0" rtlCol="0" anchor="t"/>
          <a:lstStyle/>
          <a:p>
            <a:pPr indent="0" marL="0">
              <a:buNone/>
            </a:pPr>
            <a:r>
              <a:rPr lang="en-US" sz="950" b="1" dirty="0">
                <a:solidFill>
                  <a:srgbClr val="5B6475"/>
                </a:solidFill>
                <a:latin typeface="Inter" pitchFamily="34" charset="0"/>
                <a:ea typeface="Inter" pitchFamily="34" charset="-122"/>
                <a:cs typeface="Inter" pitchFamily="34" charset="-120"/>
              </a:rPr>
              <a:t>L'idée de cette proposition</a:t>
            </a:r>
            <a:endParaRPr lang="en-US" sz="950" dirty="0"/>
          </a:p>
        </p:txBody>
      </p:sp>
      <p:sp>
        <p:nvSpPr>
          <p:cNvPr id="12" name="Text 9"/>
          <p:cNvSpPr/>
          <p:nvPr/>
        </p:nvSpPr>
        <p:spPr>
          <a:xfrm>
            <a:off x="5669280" y="5632704"/>
            <a:ext cx="5513832" cy="548640"/>
          </a:xfrm>
          <a:prstGeom prst="rect">
            <a:avLst/>
          </a:prstGeom>
          <a:noFill/>
          <a:ln/>
        </p:spPr>
        <p:txBody>
          <a:bodyPr wrap="square" lIns="0" tIns="0" rIns="0" bIns="0" rtlCol="0" anchor="t"/>
          <a:lstStyle/>
          <a:p>
            <a:pPr indent="0" marL="0">
              <a:lnSpc>
                <a:spcPct val="115000"/>
              </a:lnSpc>
              <a:buNone/>
            </a:pPr>
            <a:r>
              <a:rPr lang="en-US" sz="1150" i="1" dirty="0">
                <a:solidFill>
                  <a:srgbClr val="3D4556"/>
                </a:solidFill>
                <a:latin typeface="Inter" pitchFamily="34" charset="0"/>
                <a:ea typeface="Inter" pitchFamily="34" charset="-122"/>
                <a:cs typeface="Inter" pitchFamily="34" charset="-120"/>
              </a:rPr>
              <a:t>Rendre l'inventaire aux équipes de vente, du balisage au dernier scan : le chef d'équipe supervise, ses vendeurs comptent. L'Inventory Control fixe les règles, reçoit le rapport, valide et ajuste — il ne conduit plus rien.</a:t>
            </a:r>
            <a:endParaRPr lang="en-US" sz="1150" dirty="0"/>
          </a:p>
        </p:txBody>
      </p:sp>
      <p:sp>
        <p:nvSpPr>
          <p:cNvPr id="13" name="Text 10"/>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proposition pour La Samaritaine</a:t>
            </a:r>
            <a:endParaRPr lang="en-US" sz="900" dirty="0"/>
          </a:p>
        </p:txBody>
      </p:sp>
      <p:sp>
        <p:nvSpPr>
          <p:cNvPr id="14" name="Text 11"/>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Qu'est-ce que Quantinvo</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71600"/>
            <a:ext cx="4206240" cy="2194560"/>
          </a:xfrm>
          <a:prstGeom prst="rect">
            <a:avLst/>
          </a:prstGeom>
          <a:noFill/>
          <a:ln/>
        </p:spPr>
        <p:txBody>
          <a:bodyPr wrap="square" lIns="0" tIns="0" rIns="0" bIns="0" rtlCol="0" anchor="t"/>
          <a:lstStyle/>
          <a:p>
            <a:pPr indent="0" marL="0">
              <a:lnSpc>
                <a:spcPct val="115000"/>
              </a:lnSpc>
              <a:buNone/>
            </a:pPr>
            <a:r>
              <a:rPr lang="en-US" sz="2200" i="1" dirty="0">
                <a:solidFill>
                  <a:srgbClr val="4636B0"/>
                </a:solidFill>
                <a:latin typeface="Sora" pitchFamily="34" charset="0"/>
                <a:ea typeface="Sora" pitchFamily="34" charset="-122"/>
                <a:cs typeface="Sora" pitchFamily="34" charset="-120"/>
              </a:rPr>
              <a:t>« J'ai dessiné Quantinvo pendant des inventaires, pas dans une salle de réunion. »</a:t>
            </a:r>
            <a:endParaRPr lang="en-US" sz="2200" dirty="0"/>
          </a:p>
        </p:txBody>
      </p:sp>
      <p:sp>
        <p:nvSpPr>
          <p:cNvPr id="7" name="Text 4"/>
          <p:cNvSpPr/>
          <p:nvPr/>
        </p:nvSpPr>
        <p:spPr>
          <a:xfrm>
            <a:off x="731520" y="3154680"/>
            <a:ext cx="4206240" cy="365760"/>
          </a:xfrm>
          <a:prstGeom prst="rect">
            <a:avLst/>
          </a:prstGeom>
          <a:noFill/>
          <a:ln/>
        </p:spPr>
        <p:txBody>
          <a:bodyPr wrap="square" lIns="0" tIns="0" rIns="0" bIns="0" rtlCol="0" anchor="t"/>
          <a:lstStyle/>
          <a:p>
            <a:pPr algn="l" indent="0" marL="0">
              <a:lnSpc>
                <a:spcPct val="118000"/>
              </a:lnSpc>
              <a:buNone/>
            </a:pPr>
            <a:r>
              <a:rPr lang="en-US" sz="1200" dirty="0">
                <a:solidFill>
                  <a:srgbClr val="5B6475"/>
                </a:solidFill>
                <a:latin typeface="Inter" pitchFamily="34" charset="0"/>
                <a:ea typeface="Inter" pitchFamily="34" charset="-122"/>
                <a:cs typeface="Inter" pitchFamily="34" charset="-120"/>
              </a:rPr>
              <a:t>Julien Thiong-kay, Devkaylab</a:t>
            </a:r>
            <a:endParaRPr lang="en-US" sz="1200" dirty="0"/>
          </a:p>
        </p:txBody>
      </p:sp>
      <p:sp>
        <p:nvSpPr>
          <p:cNvPr id="8" name="Text 5"/>
          <p:cNvSpPr/>
          <p:nvPr/>
        </p:nvSpPr>
        <p:spPr>
          <a:xfrm>
            <a:off x="5394960" y="1371600"/>
            <a:ext cx="6062472" cy="4572000"/>
          </a:xfrm>
          <a:prstGeom prst="rect">
            <a:avLst/>
          </a:prstGeom>
          <a:noFill/>
          <a:ln/>
        </p:spPr>
        <p:txBody>
          <a:bodyPr wrap="square" lIns="0" tIns="0" rIns="0" bIns="0" rtlCol="0" anchor="t"/>
          <a:lstStyle/>
          <a:p>
            <a:pPr indent="0" marL="0">
              <a:lnSpc>
                <a:spcPct val="118000"/>
              </a:lnSpc>
              <a:spcAft>
                <a:spcPts val="1300"/>
              </a:spcAft>
              <a:buNone/>
            </a:pPr>
            <a:r>
              <a:rPr lang="en-US" sz="1300" dirty="0">
                <a:solidFill>
                  <a:srgbClr val="3D4556"/>
                </a:solidFill>
                <a:latin typeface="Inter" pitchFamily="34" charset="0"/>
                <a:ea typeface="Inter" pitchFamily="34" charset="-122"/>
                <a:cs typeface="Inter" pitchFamily="34" charset="-120"/>
              </a:rPr>
              <a:t>Quantinvo est un outil d'inventaire complet : une application sur l'iPhone des compteurs, un tableau de bord web pour celui qui pilote, un rapport à la fin. Rien d'autre à installer, rien à acheter.</a:t>
            </a:r>
            <a:endParaRPr lang="en-US" sz="1300" dirty="0"/>
          </a:p>
          <a:p>
            <a:pPr indent="0" marL="0">
              <a:lnSpc>
                <a:spcPct val="118000"/>
              </a:lnSpc>
              <a:spcAft>
                <a:spcPts val="1300"/>
              </a:spcAft>
              <a:buNone/>
            </a:pPr>
            <a:r>
              <a:rPr lang="en-US" sz="1300" b="1" dirty="0">
                <a:solidFill>
                  <a:srgbClr val="0B0F19"/>
                </a:solidFill>
                <a:latin typeface="Inter" pitchFamily="34" charset="0"/>
                <a:ea typeface="Inter" pitchFamily="34" charset="-122"/>
                <a:cs typeface="Inter" pitchFamily="34" charset="-120"/>
              </a:rPr>
              <a:t>Né du terrain. </a:t>
            </a:r>
            <a:pPr indent="0" marL="0">
              <a:lnSpc>
                <a:spcPct val="118000"/>
              </a:lnSpc>
              <a:spcAft>
                <a:spcPts val="1300"/>
              </a:spcAft>
              <a:buNone/>
            </a:pPr>
            <a:r>
              <a:rPr lang="en-US" sz="1300" dirty="0">
                <a:solidFill>
                  <a:srgbClr val="3D4556"/>
                </a:solidFill>
                <a:latin typeface="Inter" pitchFamily="34" charset="0"/>
                <a:ea typeface="Inter" pitchFamily="34" charset="-122"/>
                <a:cs typeface="Inter" pitchFamily="34" charset="-120"/>
              </a:rPr>
              <a:t>Je fais du contrôle des stocks en magasin. La balise qu'on ne retrouve pas, la réserve sans réseau, la consolidation qui prend l'après-midi : Quantinvo est la réponse à ces irritants, et rien de plus.</a:t>
            </a:r>
            <a:endParaRPr lang="en-US" sz="1300" dirty="0"/>
          </a:p>
          <a:p>
            <a:pPr indent="0" marL="0">
              <a:lnSpc>
                <a:spcPct val="118000"/>
              </a:lnSpc>
              <a:spcAft>
                <a:spcPts val="1300"/>
              </a:spcAft>
              <a:buNone/>
            </a:pPr>
            <a:r>
              <a:rPr lang="en-US" sz="1300" b="1" dirty="0">
                <a:solidFill>
                  <a:srgbClr val="0B0F19"/>
                </a:solidFill>
                <a:latin typeface="Inter" pitchFamily="34" charset="0"/>
                <a:ea typeface="Inter" pitchFamily="34" charset="-122"/>
                <a:cs typeface="Inter" pitchFamily="34" charset="-120"/>
              </a:rPr>
              <a:t>Assez simple pour le floor. </a:t>
            </a:r>
            <a:pPr indent="0" marL="0">
              <a:lnSpc>
                <a:spcPct val="118000"/>
              </a:lnSpc>
              <a:spcAft>
                <a:spcPts val="1300"/>
              </a:spcAft>
              <a:buNone/>
            </a:pPr>
            <a:r>
              <a:rPr lang="en-US" sz="1300" dirty="0">
                <a:solidFill>
                  <a:srgbClr val="3D4556"/>
                </a:solidFill>
                <a:latin typeface="Inter" pitchFamily="34" charset="0"/>
                <a:ea typeface="Inter" pitchFamily="34" charset="-122"/>
                <a:cs typeface="Inter" pitchFamily="34" charset="-120"/>
              </a:rPr>
              <a:t>Prise en main en dix minutes, sans briefing matériel : c'est ce qui permet de confier l'inventaire aux équipes de vente plutôt qu'à un service spécialisé.</a:t>
            </a:r>
            <a:endParaRPr lang="en-US" sz="1300" dirty="0"/>
          </a:p>
          <a:p>
            <a:pPr indent="0" marL="0">
              <a:lnSpc>
                <a:spcPct val="118000"/>
              </a:lnSpc>
              <a:spcAft>
                <a:spcPts val="1300"/>
              </a:spcAft>
              <a:buNone/>
            </a:pPr>
            <a:r>
              <a:rPr lang="en-US" sz="1300" b="1" dirty="0">
                <a:solidFill>
                  <a:srgbClr val="0B0F19"/>
                </a:solidFill>
                <a:latin typeface="Inter" pitchFamily="34" charset="0"/>
                <a:ea typeface="Inter" pitchFamily="34" charset="-122"/>
                <a:cs typeface="Inter" pitchFamily="34" charset="-120"/>
              </a:rPr>
              <a:t>Pensé pour l'inventaire tournant. </a:t>
            </a:r>
            <a:pPr indent="0" marL="0">
              <a:lnSpc>
                <a:spcPct val="118000"/>
              </a:lnSpc>
              <a:spcAft>
                <a:spcPts val="1300"/>
              </a:spcAft>
              <a:buNone/>
            </a:pPr>
            <a:r>
              <a:rPr lang="en-US" sz="1300" dirty="0">
                <a:solidFill>
                  <a:srgbClr val="3D4556"/>
                </a:solidFill>
                <a:latin typeface="Inter" pitchFamily="34" charset="0"/>
                <a:ea typeface="Inter" pitchFamily="34" charset="-122"/>
                <a:cs typeface="Inter" pitchFamily="34" charset="-120"/>
              </a:rPr>
              <a:t>Des comptages toute l'année — un rayon, une marque, une liste d'articles — plutôt qu'une nuit par an. C'est le cœur de l'outil, pas une option.</a:t>
            </a:r>
            <a:endParaRPr lang="en-US" sz="1300" dirty="0"/>
          </a:p>
        </p:txBody>
      </p:sp>
      <p:sp>
        <p:nvSpPr>
          <p:cNvPr id="9" name="Text 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proposition pour La Samaritaine</a:t>
            </a:r>
            <a:endParaRPr lang="en-US" sz="900" dirty="0"/>
          </a:p>
        </p:txBody>
      </p:sp>
      <p:sp>
        <p:nvSpPr>
          <p:cNvPr id="10" name="Text 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Qui fait quoi</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234440"/>
            <a:ext cx="10725912" cy="822960"/>
          </a:xfrm>
          <a:prstGeom prst="rect">
            <a:avLst/>
          </a:prstGeom>
          <a:noFill/>
          <a:ln/>
        </p:spPr>
        <p:txBody>
          <a:bodyPr wrap="square" lIns="0" tIns="0" rIns="0" bIns="0" rtlCol="0" anchor="t"/>
          <a:lstStyle/>
          <a:p>
            <a:pPr indent="0" marL="0">
              <a:lnSpc>
                <a:spcPct val="105000"/>
              </a:lnSpc>
              <a:buNone/>
            </a:pPr>
            <a:r>
              <a:rPr lang="en-US" sz="2400" b="1" dirty="0">
                <a:solidFill>
                  <a:srgbClr val="4636B0"/>
                </a:solidFill>
                <a:latin typeface="Sora" pitchFamily="34" charset="0"/>
                <a:ea typeface="Sora" pitchFamily="34" charset="-122"/>
                <a:cs typeface="Sora" pitchFamily="34" charset="-120"/>
              </a:rPr>
              <a:t>L'inventaire appartient au floor. Voici leurs écrans.</a:t>
            </a:r>
            <a:endParaRPr lang="en-US" sz="2400" dirty="0"/>
          </a:p>
        </p:txBody>
      </p:sp>
      <p:sp>
        <p:nvSpPr>
          <p:cNvPr id="7" name="Text 4"/>
          <p:cNvSpPr/>
          <p:nvPr/>
        </p:nvSpPr>
        <p:spPr>
          <a:xfrm>
            <a:off x="731520" y="196596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Sora" pitchFamily="34" charset="0"/>
                <a:ea typeface="Sora" pitchFamily="34" charset="-122"/>
                <a:cs typeface="Sora" pitchFamily="34" charset="-120"/>
              </a:rPr>
              <a:t>Le chef d'équipe prépare</a:t>
            </a:r>
            <a:endParaRPr lang="en-US" sz="1350" dirty="0"/>
          </a:p>
        </p:txBody>
      </p:sp>
      <p:sp>
        <p:nvSpPr>
          <p:cNvPr id="8" name="Text 5"/>
          <p:cNvSpPr/>
          <p:nvPr/>
        </p:nvSpPr>
        <p:spPr>
          <a:xfrm>
            <a:off x="731520" y="235000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Inter" pitchFamily="34" charset="0"/>
                <a:ea typeface="Inter" pitchFamily="34" charset="-122"/>
                <a:cs typeface="Inter" pitchFamily="34" charset="-120"/>
              </a:rPr>
              <a:t>Il imprime ses balises depuis l'outil et les pose avec son équipe. Aucun matériel à réserver.</a:t>
            </a:r>
            <a:endParaRPr lang="en-US" sz="1100" dirty="0"/>
          </a:p>
        </p:txBody>
      </p:sp>
      <p:sp>
        <p:nvSpPr>
          <p:cNvPr id="9" name="Shape 6"/>
          <p:cNvSpPr/>
          <p:nvPr/>
        </p:nvSpPr>
        <p:spPr>
          <a:xfrm>
            <a:off x="731520" y="2971800"/>
            <a:ext cx="3392424" cy="3227832"/>
          </a:xfrm>
          <a:prstGeom prst="roundRect">
            <a:avLst>
              <a:gd name="adj" fmla="val 3966"/>
            </a:avLst>
          </a:prstGeom>
          <a:solidFill>
            <a:srgbClr val="F4F5F9"/>
          </a:solidFill>
          <a:ln w="12700">
            <a:solidFill>
              <a:srgbClr val="F4F5F9"/>
            </a:solidFill>
            <a:prstDash val="solid"/>
          </a:ln>
        </p:spPr>
      </p:sp>
      <p:pic>
        <p:nvPicPr>
          <p:cNvPr id="10" name="Image 1" descr="preencoded.png">    </p:cNvPr>
          <p:cNvPicPr>
            <a:picLocks noChangeAspect="1"/>
          </p:cNvPicPr>
          <p:nvPr/>
        </p:nvPicPr>
        <p:blipFill>
          <a:blip r:embed="rId2"/>
          <a:stretch>
            <a:fillRect/>
          </a:stretch>
        </p:blipFill>
        <p:spPr>
          <a:xfrm>
            <a:off x="1042416" y="2972302"/>
            <a:ext cx="2770632" cy="3227330"/>
          </a:xfrm>
          <a:prstGeom prst="rect">
            <a:avLst/>
          </a:prstGeom>
        </p:spPr>
      </p:pic>
      <p:sp>
        <p:nvSpPr>
          <p:cNvPr id="11" name="Text 7"/>
          <p:cNvSpPr/>
          <p:nvPr/>
        </p:nvSpPr>
        <p:spPr>
          <a:xfrm>
            <a:off x="4398264" y="196596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Sora" pitchFamily="34" charset="0"/>
                <a:ea typeface="Sora" pitchFamily="34" charset="-122"/>
                <a:cs typeface="Sora" pitchFamily="34" charset="-120"/>
              </a:rPr>
              <a:t>Les vendeurs comptent</a:t>
            </a:r>
            <a:endParaRPr lang="en-US" sz="1350" dirty="0"/>
          </a:p>
        </p:txBody>
      </p:sp>
      <p:sp>
        <p:nvSpPr>
          <p:cNvPr id="12" name="Text 8"/>
          <p:cNvSpPr/>
          <p:nvPr/>
        </p:nvSpPr>
        <p:spPr>
          <a:xfrm>
            <a:off x="4398264" y="235000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Inter" pitchFamily="34" charset="0"/>
                <a:ea typeface="Inter" pitchFamily="34" charset="-122"/>
                <a:cs typeface="Inter" pitchFamily="34" charset="-120"/>
              </a:rPr>
              <a:t>Scanner la balise du rayon, puis les articles, avec le téléphone qu'ils ont en poche.</a:t>
            </a:r>
            <a:endParaRPr lang="en-US" sz="1100" dirty="0"/>
          </a:p>
        </p:txBody>
      </p:sp>
      <p:sp>
        <p:nvSpPr>
          <p:cNvPr id="13" name="Shape 9"/>
          <p:cNvSpPr/>
          <p:nvPr/>
        </p:nvSpPr>
        <p:spPr>
          <a:xfrm>
            <a:off x="4398264" y="2971800"/>
            <a:ext cx="3392424" cy="3227832"/>
          </a:xfrm>
          <a:prstGeom prst="roundRect">
            <a:avLst>
              <a:gd name="adj" fmla="val 3966"/>
            </a:avLst>
          </a:prstGeom>
          <a:solidFill>
            <a:srgbClr val="EEEEFC"/>
          </a:solidFill>
          <a:ln w="12700">
            <a:solidFill>
              <a:srgbClr val="EEEEFC"/>
            </a:solidFill>
            <a:prstDash val="solid"/>
          </a:ln>
        </p:spPr>
      </p:sp>
      <p:pic>
        <p:nvPicPr>
          <p:cNvPr id="14" name="Image 2" descr="preencoded.png">    </p:cNvPr>
          <p:cNvPicPr>
            <a:picLocks noChangeAspect="1"/>
          </p:cNvPicPr>
          <p:nvPr/>
        </p:nvPicPr>
        <p:blipFill>
          <a:blip r:embed="rId3"/>
          <a:stretch>
            <a:fillRect/>
          </a:stretch>
        </p:blipFill>
        <p:spPr>
          <a:xfrm>
            <a:off x="4709160" y="2972302"/>
            <a:ext cx="2770632" cy="3227330"/>
          </a:xfrm>
          <a:prstGeom prst="rect">
            <a:avLst/>
          </a:prstGeom>
        </p:spPr>
      </p:pic>
      <p:sp>
        <p:nvSpPr>
          <p:cNvPr id="15" name="Text 10"/>
          <p:cNvSpPr/>
          <p:nvPr/>
        </p:nvSpPr>
        <p:spPr>
          <a:xfrm>
            <a:off x="8065008" y="196596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Sora" pitchFamily="34" charset="0"/>
                <a:ea typeface="Sora" pitchFamily="34" charset="-122"/>
                <a:cs typeface="Sora" pitchFamily="34" charset="-120"/>
              </a:rPr>
              <a:t>Le chef d'équipe tranche</a:t>
            </a:r>
            <a:endParaRPr lang="en-US" sz="1350" dirty="0"/>
          </a:p>
        </p:txBody>
      </p:sp>
      <p:sp>
        <p:nvSpPr>
          <p:cNvPr id="16" name="Text 11"/>
          <p:cNvSpPr/>
          <p:nvPr/>
        </p:nvSpPr>
        <p:spPr>
          <a:xfrm>
            <a:off x="8065008" y="235000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Inter" pitchFamily="34" charset="0"/>
                <a:ea typeface="Inter" pitchFamily="34" charset="-122"/>
                <a:cs typeface="Inter" pitchFamily="34" charset="-120"/>
              </a:rPr>
              <a:t>Il audite selon votre règle et règle les désaccords au rayon, pendant que ça compte.</a:t>
            </a:r>
            <a:endParaRPr lang="en-US" sz="1100" dirty="0"/>
          </a:p>
        </p:txBody>
      </p:sp>
      <p:sp>
        <p:nvSpPr>
          <p:cNvPr id="17" name="Shape 12"/>
          <p:cNvSpPr/>
          <p:nvPr/>
        </p:nvSpPr>
        <p:spPr>
          <a:xfrm>
            <a:off x="8065008" y="2971800"/>
            <a:ext cx="3392424" cy="3227832"/>
          </a:xfrm>
          <a:prstGeom prst="roundRect">
            <a:avLst>
              <a:gd name="adj" fmla="val 3966"/>
            </a:avLst>
          </a:prstGeom>
          <a:solidFill>
            <a:srgbClr val="F4F5F9"/>
          </a:solidFill>
          <a:ln w="12700">
            <a:solidFill>
              <a:srgbClr val="F4F5F9"/>
            </a:solidFill>
            <a:prstDash val="solid"/>
          </a:ln>
        </p:spPr>
      </p:sp>
      <p:pic>
        <p:nvPicPr>
          <p:cNvPr id="18" name="Image 3" descr="preencoded.png">    </p:cNvPr>
          <p:cNvPicPr>
            <a:picLocks noChangeAspect="1"/>
          </p:cNvPicPr>
          <p:nvPr/>
        </p:nvPicPr>
        <p:blipFill>
          <a:blip r:embed="rId4"/>
          <a:stretch>
            <a:fillRect/>
          </a:stretch>
        </p:blipFill>
        <p:spPr>
          <a:xfrm>
            <a:off x="8375904" y="2972302"/>
            <a:ext cx="2770632" cy="3227330"/>
          </a:xfrm>
          <a:prstGeom prst="rect">
            <a:avLst/>
          </a:prstGeom>
        </p:spPr>
      </p:pic>
      <p:sp>
        <p:nvSpPr>
          <p:cNvPr id="19" name="Text 13"/>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proposition pour La Samaritaine</a:t>
            </a:r>
            <a:endParaRPr lang="en-US" sz="900" dirty="0"/>
          </a:p>
        </p:txBody>
      </p:sp>
      <p:sp>
        <p:nvSpPr>
          <p:cNvPr id="20" name="Text 14"/>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Avec Quantinvo</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12801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La même journée, conduite par le floor.</a:t>
            </a:r>
            <a:endParaRPr lang="en-US" sz="2600" dirty="0"/>
          </a:p>
        </p:txBody>
      </p:sp>
      <p:sp>
        <p:nvSpPr>
          <p:cNvPr id="7" name="Text 4"/>
          <p:cNvSpPr/>
          <p:nvPr/>
        </p:nvSpPr>
        <p:spPr>
          <a:xfrm>
            <a:off x="731520" y="2651760"/>
            <a:ext cx="4206240" cy="914400"/>
          </a:xfrm>
          <a:prstGeom prst="rect">
            <a:avLst/>
          </a:prstGeom>
          <a:noFill/>
          <a:ln/>
        </p:spPr>
        <p:txBody>
          <a:bodyPr wrap="square" lIns="0" tIns="0" rIns="0" bIns="0" rtlCol="0" anchor="t"/>
          <a:lstStyle/>
          <a:p>
            <a:pPr algn="l" indent="0" marL="0">
              <a:lnSpc>
                <a:spcPct val="118000"/>
              </a:lnSpc>
              <a:buNone/>
            </a:pPr>
            <a:r>
              <a:rPr lang="en-US" sz="1200" i="1" dirty="0">
                <a:solidFill>
                  <a:srgbClr val="5B6475"/>
                </a:solidFill>
                <a:latin typeface="Inter" pitchFamily="34" charset="0"/>
                <a:ea typeface="Inter" pitchFamily="34" charset="-122"/>
                <a:cs typeface="Inter" pitchFamily="34" charset="-120"/>
              </a:rPr>
              <a:t>Le déroulement ne change pas. Ce qui change, c'est qui le porte : vous n'apparaissez qu'à la dernière ligne.</a:t>
            </a:r>
            <a:endParaRPr lang="en-US" sz="1200" dirty="0"/>
          </a:p>
        </p:txBody>
      </p:sp>
      <p:sp>
        <p:nvSpPr>
          <p:cNvPr id="8" name="Text 5"/>
          <p:cNvSpPr/>
          <p:nvPr/>
        </p:nvSpPr>
        <p:spPr>
          <a:xfrm>
            <a:off x="5394960" y="1371600"/>
            <a:ext cx="6062472" cy="4754880"/>
          </a:xfrm>
          <a:prstGeom prst="rect">
            <a:avLst/>
          </a:prstGeom>
          <a:noFill/>
          <a:ln/>
        </p:spPr>
        <p:txBody>
          <a:bodyPr wrap="square" lIns="0" tIns="0" rIns="0" bIns="0" rtlCol="0" anchor="t"/>
          <a:lstStyle/>
          <a:p>
            <a:pPr indent="0" marL="0">
              <a:lnSpc>
                <a:spcPct val="118000"/>
              </a:lnSpc>
              <a:spcAft>
                <a:spcPts val="1300"/>
              </a:spcAft>
              <a:buNone/>
            </a:pPr>
            <a:r>
              <a:rPr lang="en-US" sz="1250" b="1" dirty="0">
                <a:solidFill>
                  <a:srgbClr val="0B0F19"/>
                </a:solidFill>
                <a:latin typeface="Inter" pitchFamily="34" charset="0"/>
                <a:ea typeface="Inter" pitchFamily="34" charset="-122"/>
                <a:cs typeface="Inter" pitchFamily="34" charset="-120"/>
              </a:rPr>
              <a:t>La veille. </a:t>
            </a:r>
            <a:pPr indent="0" marL="0">
              <a:lnSpc>
                <a:spcPct val="118000"/>
              </a:lnSpc>
              <a:spcAft>
                <a:spcPts val="1300"/>
              </a:spcAft>
              <a:buNone/>
            </a:pPr>
            <a:r>
              <a:rPr lang="en-US" sz="1250" dirty="0">
                <a:solidFill>
                  <a:srgbClr val="3D4556"/>
                </a:solidFill>
                <a:latin typeface="Inter" pitchFamily="34" charset="0"/>
                <a:ea typeface="Inter" pitchFamily="34" charset="-122"/>
                <a:cs typeface="Inter" pitchFamily="34" charset="-120"/>
              </a:rPr>
              <a:t>Le chef d'équipe imprime ses balises — une planche d'étiquettes numérotées, en PDF — et les pose avec son équipe. Personne d'autre à mobiliser.</a:t>
            </a:r>
            <a:endParaRPr lang="en-US" sz="1250" dirty="0"/>
          </a:p>
          <a:p>
            <a:pPr indent="0" marL="0">
              <a:lnSpc>
                <a:spcPct val="118000"/>
              </a:lnSpc>
              <a:spcAft>
                <a:spcPts val="1300"/>
              </a:spcAft>
              <a:buNone/>
            </a:pPr>
            <a:r>
              <a:rPr lang="en-US" sz="1250" b="1" dirty="0">
                <a:solidFill>
                  <a:srgbClr val="0B0F19"/>
                </a:solidFill>
                <a:latin typeface="Inter" pitchFamily="34" charset="0"/>
                <a:ea typeface="Inter" pitchFamily="34" charset="-122"/>
                <a:cs typeface="Inter" pitchFamily="34" charset="-120"/>
              </a:rPr>
              <a:t>Le matin. </a:t>
            </a:r>
            <a:pPr indent="0" marL="0">
              <a:lnSpc>
                <a:spcPct val="118000"/>
              </a:lnSpc>
              <a:spcAft>
                <a:spcPts val="1300"/>
              </a:spcAft>
              <a:buNone/>
            </a:pPr>
            <a:r>
              <a:rPr lang="en-US" sz="1250" dirty="0">
                <a:solidFill>
                  <a:srgbClr val="3D4556"/>
                </a:solidFill>
                <a:latin typeface="Inter" pitchFamily="34" charset="0"/>
                <a:ea typeface="Inter" pitchFamily="34" charset="-122"/>
                <a:cs typeface="Inter" pitchFamily="34" charset="-120"/>
              </a:rPr>
              <a:t>Il importe le stock théorique tel quel, colonnes reconnues, et ouvre l'inventaire. Pas de flotte à préparer : chaque vendeur le rejoint depuis son téléphone.</a:t>
            </a:r>
            <a:endParaRPr lang="en-US" sz="1250" dirty="0"/>
          </a:p>
          <a:p>
            <a:pPr indent="0" marL="0">
              <a:lnSpc>
                <a:spcPct val="118000"/>
              </a:lnSpc>
              <a:spcAft>
                <a:spcPts val="1300"/>
              </a:spcAft>
              <a:buNone/>
            </a:pPr>
            <a:r>
              <a:rPr lang="en-US" sz="1250" b="1" dirty="0">
                <a:solidFill>
                  <a:srgbClr val="0B0F19"/>
                </a:solidFill>
                <a:latin typeface="Inter" pitchFamily="34" charset="0"/>
                <a:ea typeface="Inter" pitchFamily="34" charset="-122"/>
                <a:cs typeface="Inter" pitchFamily="34" charset="-120"/>
              </a:rPr>
              <a:t>Pendant. </a:t>
            </a:r>
            <a:pPr indent="0" marL="0">
              <a:lnSpc>
                <a:spcPct val="118000"/>
              </a:lnSpc>
              <a:spcAft>
                <a:spcPts val="1300"/>
              </a:spcAft>
              <a:buNone/>
            </a:pPr>
            <a:r>
              <a:rPr lang="en-US" sz="1250" dirty="0">
                <a:solidFill>
                  <a:srgbClr val="3D4556"/>
                </a:solidFill>
                <a:latin typeface="Inter" pitchFamily="34" charset="0"/>
                <a:ea typeface="Inter" pitchFamily="34" charset="-122"/>
                <a:cs typeface="Inter" pitchFamily="34" charset="-120"/>
              </a:rPr>
              <a:t>Les vendeurs comptent, zone par zone. Le chef d'équipe suit l'avancement, audite selon votre règle — 100 % W&amp;J, 30 % au moins ailleurs — et tranche les désaccords au rayon, en direct.</a:t>
            </a:r>
            <a:endParaRPr lang="en-US" sz="1250" dirty="0"/>
          </a:p>
          <a:p>
            <a:pPr indent="0" marL="0">
              <a:lnSpc>
                <a:spcPct val="118000"/>
              </a:lnSpc>
              <a:spcAft>
                <a:spcPts val="1300"/>
              </a:spcAft>
              <a:buNone/>
            </a:pPr>
            <a:r>
              <a:rPr lang="en-US" sz="1250" b="1" dirty="0">
                <a:solidFill>
                  <a:srgbClr val="0B0F19"/>
                </a:solidFill>
                <a:latin typeface="Inter" pitchFamily="34" charset="0"/>
                <a:ea typeface="Inter" pitchFamily="34" charset="-122"/>
                <a:cs typeface="Inter" pitchFamily="34" charset="-120"/>
              </a:rPr>
              <a:t>Après. </a:t>
            </a:r>
            <a:pPr indent="0" marL="0">
              <a:lnSpc>
                <a:spcPct val="118000"/>
              </a:lnSpc>
              <a:spcAft>
                <a:spcPts val="1300"/>
              </a:spcAft>
              <a:buNone/>
            </a:pPr>
            <a:r>
              <a:rPr lang="en-US" sz="1250" dirty="0">
                <a:solidFill>
                  <a:srgbClr val="3D4556"/>
                </a:solidFill>
                <a:latin typeface="Inter" pitchFamily="34" charset="0"/>
                <a:ea typeface="Inter" pitchFamily="34" charset="-122"/>
                <a:cs typeface="Inter" pitchFamily="34" charset="-120"/>
              </a:rPr>
              <a:t>Le rapport croise déjà l'attendu et le compté. L'Inventory Control le reçoit, le fait valider selon la valeur de l'écart, et ajuste le stock. C'est sa première apparition de la journée.</a:t>
            </a:r>
            <a:endParaRPr lang="en-US" sz="1250" dirty="0"/>
          </a:p>
        </p:txBody>
      </p:sp>
      <p:sp>
        <p:nvSpPr>
          <p:cNvPr id="9" name="Text 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proposition pour La Samaritaine</a:t>
            </a:r>
            <a:endParaRPr lang="en-US" sz="900" dirty="0"/>
          </a:p>
        </p:txBody>
      </p:sp>
      <p:sp>
        <p:nvSpPr>
          <p:cNvPr id="10" name="Text 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Sans, avec</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Ce qui change de mains</a:t>
            </a:r>
            <a:endParaRPr lang="en-US" sz="2600" dirty="0"/>
          </a:p>
        </p:txBody>
      </p:sp>
      <p:sp>
        <p:nvSpPr>
          <p:cNvPr id="7" name="Text 4"/>
          <p:cNvSpPr/>
          <p:nvPr/>
        </p:nvSpPr>
        <p:spPr>
          <a:xfrm>
            <a:off x="731520" y="2240280"/>
            <a:ext cx="4846320" cy="274320"/>
          </a:xfrm>
          <a:prstGeom prst="rect">
            <a:avLst/>
          </a:prstGeom>
          <a:noFill/>
          <a:ln/>
        </p:spPr>
        <p:txBody>
          <a:bodyPr wrap="square" lIns="0" tIns="0" rIns="0" bIns="0" rtlCol="0" anchor="t"/>
          <a:lstStyle/>
          <a:p>
            <a:pPr indent="0" marL="0">
              <a:buNone/>
            </a:pPr>
            <a:r>
              <a:rPr lang="en-US" sz="1050" b="1" dirty="0">
                <a:solidFill>
                  <a:srgbClr val="5B6475"/>
                </a:solidFill>
                <a:latin typeface="Inter" pitchFamily="34" charset="0"/>
                <a:ea typeface="Inter" pitchFamily="34" charset="-122"/>
                <a:cs typeface="Inter" pitchFamily="34" charset="-120"/>
              </a:rPr>
              <a:t>Sans Quantinvo</a:t>
            </a:r>
            <a:endParaRPr lang="en-US" sz="1050" dirty="0"/>
          </a:p>
        </p:txBody>
      </p:sp>
      <p:sp>
        <p:nvSpPr>
          <p:cNvPr id="8" name="Text 5"/>
          <p:cNvSpPr/>
          <p:nvPr/>
        </p:nvSpPr>
        <p:spPr>
          <a:xfrm>
            <a:off x="5852160" y="2240280"/>
            <a:ext cx="4846320" cy="274320"/>
          </a:xfrm>
          <a:prstGeom prst="rect">
            <a:avLst/>
          </a:prstGeom>
          <a:noFill/>
          <a:ln/>
        </p:spPr>
        <p:txBody>
          <a:bodyPr wrap="square" lIns="0" tIns="0" rIns="0" bIns="0" rtlCol="0" anchor="t"/>
          <a:lstStyle/>
          <a:p>
            <a:pPr indent="0" marL="0">
              <a:buNone/>
            </a:pPr>
            <a:r>
              <a:rPr lang="en-US" sz="1050" b="1" dirty="0">
                <a:solidFill>
                  <a:srgbClr val="4636B0"/>
                </a:solidFill>
                <a:latin typeface="Inter" pitchFamily="34" charset="0"/>
                <a:ea typeface="Inter" pitchFamily="34" charset="-122"/>
                <a:cs typeface="Inter" pitchFamily="34" charset="-120"/>
              </a:rPr>
              <a:t>Avec Quantinvo</a:t>
            </a:r>
            <a:endParaRPr lang="en-US" sz="1050" dirty="0"/>
          </a:p>
        </p:txBody>
      </p:sp>
      <p:sp>
        <p:nvSpPr>
          <p:cNvPr id="9" name="Shape 6"/>
          <p:cNvSpPr/>
          <p:nvPr/>
        </p:nvSpPr>
        <p:spPr>
          <a:xfrm>
            <a:off x="731520" y="2606040"/>
            <a:ext cx="10725912" cy="0"/>
          </a:xfrm>
          <a:prstGeom prst="line">
            <a:avLst/>
          </a:prstGeom>
          <a:noFill/>
          <a:ln w="9525">
            <a:solidFill>
              <a:srgbClr val="E3E6EE"/>
            </a:solidFill>
            <a:prstDash val="solid"/>
          </a:ln>
        </p:spPr>
      </p:sp>
      <p:sp>
        <p:nvSpPr>
          <p:cNvPr id="10" name="Text 7"/>
          <p:cNvSpPr/>
          <p:nvPr/>
        </p:nvSpPr>
        <p:spPr>
          <a:xfrm>
            <a:off x="731520" y="2752344"/>
            <a:ext cx="4846320" cy="548640"/>
          </a:xfrm>
          <a:prstGeom prst="rect">
            <a:avLst/>
          </a:prstGeom>
          <a:noFill/>
          <a:ln/>
        </p:spPr>
        <p:txBody>
          <a:bodyPr wrap="square" lIns="0" tIns="0" rIns="0" bIns="0" rtlCol="0" anchor="t"/>
          <a:lstStyle/>
          <a:p>
            <a:pPr indent="0" marL="0">
              <a:lnSpc>
                <a:spcPct val="115000"/>
              </a:lnSpc>
              <a:buNone/>
            </a:pPr>
            <a:r>
              <a:rPr lang="en-US" sz="1250" dirty="0">
                <a:solidFill>
                  <a:srgbClr val="3D4556"/>
                </a:solidFill>
                <a:latin typeface="Inter" pitchFamily="34" charset="0"/>
                <a:ea typeface="Inter" pitchFamily="34" charset="-122"/>
                <a:cs typeface="Inter" pitchFamily="34" charset="-120"/>
              </a:rPr>
              <a:t>Le balisage la veille, par l’Inventory Control avec une personne du floor.</a:t>
            </a:r>
            <a:endParaRPr lang="en-US" sz="1250" dirty="0"/>
          </a:p>
        </p:txBody>
      </p:sp>
      <p:sp>
        <p:nvSpPr>
          <p:cNvPr id="11" name="Text 8"/>
          <p:cNvSpPr/>
          <p:nvPr/>
        </p:nvSpPr>
        <p:spPr>
          <a:xfrm>
            <a:off x="5852160" y="2752344"/>
            <a:ext cx="4846320" cy="548640"/>
          </a:xfrm>
          <a:prstGeom prst="rect">
            <a:avLst/>
          </a:prstGeom>
          <a:noFill/>
          <a:ln/>
        </p:spPr>
        <p:txBody>
          <a:bodyPr wrap="square" lIns="0" tIns="0" rIns="0" bIns="0" rtlCol="0" anchor="t"/>
          <a:lstStyle/>
          <a:p>
            <a:pPr indent="0" marL="0">
              <a:lnSpc>
                <a:spcPct val="115000"/>
              </a:lnSpc>
              <a:buNone/>
            </a:pPr>
            <a:r>
              <a:rPr lang="en-US" sz="1250" dirty="0">
                <a:solidFill>
                  <a:srgbClr val="0B0F19"/>
                </a:solidFill>
                <a:latin typeface="Inter" pitchFamily="34" charset="0"/>
                <a:ea typeface="Inter" pitchFamily="34" charset="-122"/>
                <a:cs typeface="Inter" pitchFamily="34" charset="-120"/>
              </a:rPr>
              <a:t>Le chef d’équipe imprime ses balises et les pose avec son équipe.</a:t>
            </a:r>
            <a:endParaRPr lang="en-US" sz="1250" dirty="0"/>
          </a:p>
        </p:txBody>
      </p:sp>
      <p:sp>
        <p:nvSpPr>
          <p:cNvPr id="12" name="Shape 9"/>
          <p:cNvSpPr/>
          <p:nvPr/>
        </p:nvSpPr>
        <p:spPr>
          <a:xfrm>
            <a:off x="731520" y="3355848"/>
            <a:ext cx="10725912" cy="0"/>
          </a:xfrm>
          <a:prstGeom prst="line">
            <a:avLst/>
          </a:prstGeom>
          <a:noFill/>
          <a:ln w="9525">
            <a:solidFill>
              <a:srgbClr val="E3E6EE"/>
            </a:solidFill>
            <a:prstDash val="solid"/>
          </a:ln>
        </p:spPr>
      </p:sp>
      <p:sp>
        <p:nvSpPr>
          <p:cNvPr id="13" name="Text 10"/>
          <p:cNvSpPr/>
          <p:nvPr/>
        </p:nvSpPr>
        <p:spPr>
          <a:xfrm>
            <a:off x="731520" y="3502152"/>
            <a:ext cx="4846320" cy="548640"/>
          </a:xfrm>
          <a:prstGeom prst="rect">
            <a:avLst/>
          </a:prstGeom>
          <a:noFill/>
          <a:ln/>
        </p:spPr>
        <p:txBody>
          <a:bodyPr wrap="square" lIns="0" tIns="0" rIns="0" bIns="0" rtlCol="0" anchor="t"/>
          <a:lstStyle/>
          <a:p>
            <a:pPr indent="0" marL="0">
              <a:lnSpc>
                <a:spcPct val="115000"/>
              </a:lnSpc>
              <a:buNone/>
            </a:pPr>
            <a:r>
              <a:rPr lang="en-US" sz="1250" dirty="0">
                <a:solidFill>
                  <a:srgbClr val="3D4556"/>
                </a:solidFill>
                <a:latin typeface="Inter" pitchFamily="34" charset="0"/>
                <a:ea typeface="Inter" pitchFamily="34" charset="-122"/>
                <a:cs typeface="Inter" pitchFamily="34" charset="-120"/>
              </a:rPr>
              <a:t>Des terminaux à connecter et vérifier un par un avant chaque session.</a:t>
            </a:r>
            <a:endParaRPr lang="en-US" sz="1250" dirty="0"/>
          </a:p>
        </p:txBody>
      </p:sp>
      <p:sp>
        <p:nvSpPr>
          <p:cNvPr id="14" name="Text 11"/>
          <p:cNvSpPr/>
          <p:nvPr/>
        </p:nvSpPr>
        <p:spPr>
          <a:xfrm>
            <a:off x="5852160" y="3502152"/>
            <a:ext cx="4846320" cy="548640"/>
          </a:xfrm>
          <a:prstGeom prst="rect">
            <a:avLst/>
          </a:prstGeom>
          <a:noFill/>
          <a:ln/>
        </p:spPr>
        <p:txBody>
          <a:bodyPr wrap="square" lIns="0" tIns="0" rIns="0" bIns="0" rtlCol="0" anchor="t"/>
          <a:lstStyle/>
          <a:p>
            <a:pPr indent="0" marL="0">
              <a:lnSpc>
                <a:spcPct val="115000"/>
              </a:lnSpc>
              <a:buNone/>
            </a:pPr>
            <a:r>
              <a:rPr lang="en-US" sz="1250" dirty="0">
                <a:solidFill>
                  <a:srgbClr val="0B0F19"/>
                </a:solidFill>
                <a:latin typeface="Inter" pitchFamily="34" charset="0"/>
                <a:ea typeface="Inter" pitchFamily="34" charset="-122"/>
                <a:cs typeface="Inter" pitchFamily="34" charset="-120"/>
              </a:rPr>
              <a:t>Aucune flotte : chaque vendeur rejoint l’inventaire depuis son téléphone.</a:t>
            </a:r>
            <a:endParaRPr lang="en-US" sz="1250" dirty="0"/>
          </a:p>
        </p:txBody>
      </p:sp>
      <p:sp>
        <p:nvSpPr>
          <p:cNvPr id="15" name="Shape 12"/>
          <p:cNvSpPr/>
          <p:nvPr/>
        </p:nvSpPr>
        <p:spPr>
          <a:xfrm>
            <a:off x="731520" y="4105656"/>
            <a:ext cx="10725912" cy="0"/>
          </a:xfrm>
          <a:prstGeom prst="line">
            <a:avLst/>
          </a:prstGeom>
          <a:noFill/>
          <a:ln w="9525">
            <a:solidFill>
              <a:srgbClr val="E3E6EE"/>
            </a:solidFill>
            <a:prstDash val="solid"/>
          </a:ln>
        </p:spPr>
      </p:sp>
      <p:sp>
        <p:nvSpPr>
          <p:cNvPr id="16" name="Text 13"/>
          <p:cNvSpPr/>
          <p:nvPr/>
        </p:nvSpPr>
        <p:spPr>
          <a:xfrm>
            <a:off x="731520" y="4251960"/>
            <a:ext cx="4846320" cy="548640"/>
          </a:xfrm>
          <a:prstGeom prst="rect">
            <a:avLst/>
          </a:prstGeom>
          <a:noFill/>
          <a:ln/>
        </p:spPr>
        <p:txBody>
          <a:bodyPr wrap="square" lIns="0" tIns="0" rIns="0" bIns="0" rtlCol="0" anchor="t"/>
          <a:lstStyle/>
          <a:p>
            <a:pPr indent="0" marL="0">
              <a:lnSpc>
                <a:spcPct val="115000"/>
              </a:lnSpc>
              <a:buNone/>
            </a:pPr>
            <a:r>
              <a:rPr lang="en-US" sz="1250" dirty="0">
                <a:solidFill>
                  <a:srgbClr val="3D4556"/>
                </a:solidFill>
                <a:latin typeface="Inter" pitchFamily="34" charset="0"/>
                <a:ea typeface="Inter" pitchFamily="34" charset="-122"/>
                <a:cs typeface="Inter" pitchFamily="34" charset="-120"/>
              </a:rPr>
              <a:t>Un briefing sur le maniement des terminaux à chaque inventaire.</a:t>
            </a:r>
            <a:endParaRPr lang="en-US" sz="1250" dirty="0"/>
          </a:p>
        </p:txBody>
      </p:sp>
      <p:sp>
        <p:nvSpPr>
          <p:cNvPr id="17" name="Text 14"/>
          <p:cNvSpPr/>
          <p:nvPr/>
        </p:nvSpPr>
        <p:spPr>
          <a:xfrm>
            <a:off x="5852160" y="4251960"/>
            <a:ext cx="4846320" cy="548640"/>
          </a:xfrm>
          <a:prstGeom prst="rect">
            <a:avLst/>
          </a:prstGeom>
          <a:noFill/>
          <a:ln/>
        </p:spPr>
        <p:txBody>
          <a:bodyPr wrap="square" lIns="0" tIns="0" rIns="0" bIns="0" rtlCol="0" anchor="t"/>
          <a:lstStyle/>
          <a:p>
            <a:pPr indent="0" marL="0">
              <a:lnSpc>
                <a:spcPct val="115000"/>
              </a:lnSpc>
              <a:buNone/>
            </a:pPr>
            <a:r>
              <a:rPr lang="en-US" sz="1250" dirty="0">
                <a:solidFill>
                  <a:srgbClr val="0B0F19"/>
                </a:solidFill>
                <a:latin typeface="Inter" pitchFamily="34" charset="0"/>
                <a:ea typeface="Inter" pitchFamily="34" charset="-122"/>
                <a:cs typeface="Inter" pitchFamily="34" charset="-120"/>
              </a:rPr>
              <a:t>Le geste qu’ils connaissent : scanner la balise, scanner les articles.</a:t>
            </a:r>
            <a:endParaRPr lang="en-US" sz="1250" dirty="0"/>
          </a:p>
        </p:txBody>
      </p:sp>
      <p:sp>
        <p:nvSpPr>
          <p:cNvPr id="18" name="Shape 15"/>
          <p:cNvSpPr/>
          <p:nvPr/>
        </p:nvSpPr>
        <p:spPr>
          <a:xfrm>
            <a:off x="731520" y="4855464"/>
            <a:ext cx="10725912" cy="0"/>
          </a:xfrm>
          <a:prstGeom prst="line">
            <a:avLst/>
          </a:prstGeom>
          <a:noFill/>
          <a:ln w="9525">
            <a:solidFill>
              <a:srgbClr val="E3E6EE"/>
            </a:solidFill>
            <a:prstDash val="solid"/>
          </a:ln>
        </p:spPr>
      </p:sp>
      <p:sp>
        <p:nvSpPr>
          <p:cNvPr id="19" name="Text 16"/>
          <p:cNvSpPr/>
          <p:nvPr/>
        </p:nvSpPr>
        <p:spPr>
          <a:xfrm>
            <a:off x="731520" y="5001768"/>
            <a:ext cx="4846320" cy="548640"/>
          </a:xfrm>
          <a:prstGeom prst="rect">
            <a:avLst/>
          </a:prstGeom>
          <a:noFill/>
          <a:ln/>
        </p:spPr>
        <p:txBody>
          <a:bodyPr wrap="square" lIns="0" tIns="0" rIns="0" bIns="0" rtlCol="0" anchor="t"/>
          <a:lstStyle/>
          <a:p>
            <a:pPr indent="0" marL="0">
              <a:lnSpc>
                <a:spcPct val="115000"/>
              </a:lnSpc>
              <a:buNone/>
            </a:pPr>
            <a:r>
              <a:rPr lang="en-US" sz="1250" dirty="0">
                <a:solidFill>
                  <a:srgbClr val="3D4556"/>
                </a:solidFill>
                <a:latin typeface="Inter" pitchFamily="34" charset="0"/>
                <a:ea typeface="Inter" pitchFamily="34" charset="-122"/>
                <a:cs typeface="Inter" pitchFamily="34" charset="-120"/>
              </a:rPr>
              <a:t>Quelqu’un posté sur la plateforme pour guetter les failed audits.</a:t>
            </a:r>
            <a:endParaRPr lang="en-US" sz="1250" dirty="0"/>
          </a:p>
        </p:txBody>
      </p:sp>
      <p:sp>
        <p:nvSpPr>
          <p:cNvPr id="20" name="Text 17"/>
          <p:cNvSpPr/>
          <p:nvPr/>
        </p:nvSpPr>
        <p:spPr>
          <a:xfrm>
            <a:off x="5852160" y="5001768"/>
            <a:ext cx="4846320" cy="548640"/>
          </a:xfrm>
          <a:prstGeom prst="rect">
            <a:avLst/>
          </a:prstGeom>
          <a:noFill/>
          <a:ln/>
        </p:spPr>
        <p:txBody>
          <a:bodyPr wrap="square" lIns="0" tIns="0" rIns="0" bIns="0" rtlCol="0" anchor="t"/>
          <a:lstStyle/>
          <a:p>
            <a:pPr indent="0" marL="0">
              <a:lnSpc>
                <a:spcPct val="115000"/>
              </a:lnSpc>
              <a:buNone/>
            </a:pPr>
            <a:r>
              <a:rPr lang="en-US" sz="1250" dirty="0">
                <a:solidFill>
                  <a:srgbClr val="0B0F19"/>
                </a:solidFill>
                <a:latin typeface="Inter" pitchFamily="34" charset="0"/>
                <a:ea typeface="Inter" pitchFamily="34" charset="-122"/>
                <a:cs typeface="Inter" pitchFamily="34" charset="-120"/>
              </a:rPr>
              <a:t>Le chef d’équipe voit tout et tranche les écarts au rayon.</a:t>
            </a:r>
            <a:endParaRPr lang="en-US" sz="1250" dirty="0"/>
          </a:p>
        </p:txBody>
      </p:sp>
      <p:sp>
        <p:nvSpPr>
          <p:cNvPr id="21" name="Shape 18"/>
          <p:cNvSpPr/>
          <p:nvPr/>
        </p:nvSpPr>
        <p:spPr>
          <a:xfrm>
            <a:off x="731520" y="5605272"/>
            <a:ext cx="10725912" cy="0"/>
          </a:xfrm>
          <a:prstGeom prst="line">
            <a:avLst/>
          </a:prstGeom>
          <a:noFill/>
          <a:ln w="9525">
            <a:solidFill>
              <a:srgbClr val="E3E6EE"/>
            </a:solidFill>
            <a:prstDash val="solid"/>
          </a:ln>
        </p:spPr>
      </p:sp>
      <p:sp>
        <p:nvSpPr>
          <p:cNvPr id="22" name="Text 19"/>
          <p:cNvSpPr/>
          <p:nvPr/>
        </p:nvSpPr>
        <p:spPr>
          <a:xfrm>
            <a:off x="731520" y="5751576"/>
            <a:ext cx="4846320" cy="548640"/>
          </a:xfrm>
          <a:prstGeom prst="rect">
            <a:avLst/>
          </a:prstGeom>
          <a:noFill/>
          <a:ln/>
        </p:spPr>
        <p:txBody>
          <a:bodyPr wrap="square" lIns="0" tIns="0" rIns="0" bIns="0" rtlCol="0" anchor="t"/>
          <a:lstStyle/>
          <a:p>
            <a:pPr indent="0" marL="0">
              <a:lnSpc>
                <a:spcPct val="115000"/>
              </a:lnSpc>
              <a:buNone/>
            </a:pPr>
            <a:r>
              <a:rPr lang="en-US" sz="1250" dirty="0">
                <a:solidFill>
                  <a:srgbClr val="3D4556"/>
                </a:solidFill>
                <a:latin typeface="Inter" pitchFamily="34" charset="0"/>
                <a:ea typeface="Inter" pitchFamily="34" charset="-122"/>
                <a:cs typeface="Inter" pitchFamily="34" charset="-120"/>
              </a:rPr>
              <a:t>Le SKU Variance à consolider, l’Inventory Control présent du début à la fin.</a:t>
            </a:r>
            <a:endParaRPr lang="en-US" sz="1250" dirty="0"/>
          </a:p>
        </p:txBody>
      </p:sp>
      <p:sp>
        <p:nvSpPr>
          <p:cNvPr id="23" name="Text 20"/>
          <p:cNvSpPr/>
          <p:nvPr/>
        </p:nvSpPr>
        <p:spPr>
          <a:xfrm>
            <a:off x="5852160" y="5751576"/>
            <a:ext cx="4846320" cy="548640"/>
          </a:xfrm>
          <a:prstGeom prst="rect">
            <a:avLst/>
          </a:prstGeom>
          <a:noFill/>
          <a:ln/>
        </p:spPr>
        <p:txBody>
          <a:bodyPr wrap="square" lIns="0" tIns="0" rIns="0" bIns="0" rtlCol="0" anchor="t"/>
          <a:lstStyle/>
          <a:p>
            <a:pPr indent="0" marL="0">
              <a:lnSpc>
                <a:spcPct val="115000"/>
              </a:lnSpc>
              <a:buNone/>
            </a:pPr>
            <a:r>
              <a:rPr lang="en-US" sz="1250" dirty="0">
                <a:solidFill>
                  <a:srgbClr val="0B0F19"/>
                </a:solidFill>
                <a:latin typeface="Inter" pitchFamily="34" charset="0"/>
                <a:ea typeface="Inter" pitchFamily="34" charset="-122"/>
                <a:cs typeface="Inter" pitchFamily="34" charset="-120"/>
              </a:rPr>
              <a:t>Un rapport déjà croisé avec le théorique. Vous validez, vous ajustez.</a:t>
            </a:r>
            <a:endParaRPr lang="en-US" sz="1250" dirty="0"/>
          </a:p>
        </p:txBody>
      </p:sp>
      <p:sp>
        <p:nvSpPr>
          <p:cNvPr id="24" name="Shape 21"/>
          <p:cNvSpPr/>
          <p:nvPr/>
        </p:nvSpPr>
        <p:spPr>
          <a:xfrm>
            <a:off x="731520" y="6355080"/>
            <a:ext cx="10725912" cy="0"/>
          </a:xfrm>
          <a:prstGeom prst="line">
            <a:avLst/>
          </a:prstGeom>
          <a:noFill/>
          <a:ln w="9525">
            <a:solidFill>
              <a:srgbClr val="E3E6EE"/>
            </a:solidFill>
            <a:prstDash val="solid"/>
          </a:ln>
        </p:spPr>
      </p:sp>
      <p:sp>
        <p:nvSpPr>
          <p:cNvPr id="25" name="Text 22"/>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proposition pour La Samaritaine</a:t>
            </a:r>
            <a:endParaRPr lang="en-US" sz="900" dirty="0"/>
          </a:p>
        </p:txBody>
      </p:sp>
      <p:sp>
        <p:nvSpPr>
          <p:cNvPr id="26" name="Text 23"/>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Pendant le comptage</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Chacun suit son inventaire. Vous gardez la vue d’ensemble.</a:t>
            </a:r>
            <a:endParaRPr lang="en-US" sz="2600" dirty="0"/>
          </a:p>
        </p:txBody>
      </p:sp>
      <p:sp>
        <p:nvSpPr>
          <p:cNvPr id="7" name="Text 4"/>
          <p:cNvSpPr/>
          <p:nvPr/>
        </p:nvSpPr>
        <p:spPr>
          <a:xfrm>
            <a:off x="731520" y="2103120"/>
            <a:ext cx="10725912" cy="731520"/>
          </a:xfrm>
          <a:prstGeom prst="rect">
            <a:avLst/>
          </a:prstGeom>
          <a:noFill/>
          <a:ln/>
        </p:spPr>
        <p:txBody>
          <a:bodyPr wrap="square" lIns="0" tIns="0" rIns="0" bIns="0" rtlCol="0" anchor="t"/>
          <a:lstStyle/>
          <a:p>
            <a:pPr algn="l" indent="0" marL="0">
              <a:lnSpc>
                <a:spcPct val="118000"/>
              </a:lnSpc>
              <a:buNone/>
            </a:pPr>
            <a:r>
              <a:rPr lang="en-US" sz="1250" dirty="0">
                <a:solidFill>
                  <a:srgbClr val="3D4556"/>
                </a:solidFill>
                <a:latin typeface="Inter" pitchFamily="34" charset="0"/>
                <a:ea typeface="Inter" pitchFamily="34" charset="-122"/>
                <a:cs typeface="Inter" pitchFamily="34" charset="-120"/>
              </a:rPr>
              <a:t>Le chef d'équipe suit son rayon en direct : l'avancement zone par zone, les appareils en comptage et en audit, les derniers scans. L'Inventory Control, s'il le souhaite, ouvre la même vue sur n'importe quel inventaire en cours — sans en conduire aucun. Le suivi est agrégé : on pilote le travail, pas les personnes.</a:t>
            </a:r>
            <a:endParaRPr lang="en-US" sz="1250" dirty="0"/>
          </a:p>
        </p:txBody>
      </p:sp>
      <p:sp>
        <p:nvSpPr>
          <p:cNvPr id="8" name="Shape 5"/>
          <p:cNvSpPr/>
          <p:nvPr/>
        </p:nvSpPr>
        <p:spPr>
          <a:xfrm>
            <a:off x="2005841" y="2825496"/>
            <a:ext cx="8177271" cy="3172968"/>
          </a:xfrm>
          <a:prstGeom prst="roundRect">
            <a:avLst>
              <a:gd name="adj" fmla="val 2305"/>
            </a:avLst>
          </a:prstGeom>
          <a:solidFill>
            <a:srgbClr val="FFFFFF"/>
          </a:solidFill>
          <a:ln w="12700">
            <a:solidFill>
              <a:srgbClr val="E3E6EE"/>
            </a:solidFill>
            <a:prstDash val="solid"/>
          </a:ln>
        </p:spPr>
      </p:sp>
      <p:pic>
        <p:nvPicPr>
          <p:cNvPr id="9" name="Image 1" descr="preencoded.png">    </p:cNvPr>
          <p:cNvPicPr>
            <a:picLocks noChangeAspect="1"/>
          </p:cNvPicPr>
          <p:nvPr/>
        </p:nvPicPr>
        <p:blipFill>
          <a:blip r:embed="rId2"/>
          <a:stretch>
            <a:fillRect/>
          </a:stretch>
        </p:blipFill>
        <p:spPr>
          <a:xfrm>
            <a:off x="2060705" y="2880360"/>
            <a:ext cx="8067543" cy="3063240"/>
          </a:xfrm>
          <a:prstGeom prst="rect">
            <a:avLst/>
          </a:prstGeom>
        </p:spPr>
      </p:pic>
      <p:sp>
        <p:nvSpPr>
          <p:cNvPr id="10" name="Text 6"/>
          <p:cNvSpPr/>
          <p:nvPr/>
        </p:nvSpPr>
        <p:spPr>
          <a:xfrm>
            <a:off x="2060705" y="6080760"/>
            <a:ext cx="6062472" cy="365760"/>
          </a:xfrm>
          <a:prstGeom prst="rect">
            <a:avLst/>
          </a:prstGeom>
          <a:noFill/>
          <a:ln/>
        </p:spPr>
        <p:txBody>
          <a:bodyPr wrap="square" lIns="0" tIns="0" rIns="0" bIns="0" rtlCol="0" anchor="t"/>
          <a:lstStyle/>
          <a:p>
            <a:pPr indent="0" marL="0">
              <a:buNone/>
            </a:pPr>
            <a:r>
              <a:rPr lang="en-US" sz="1000" i="1" dirty="0">
                <a:solidFill>
                  <a:srgbClr val="5B6475"/>
                </a:solidFill>
                <a:latin typeface="Inter" pitchFamily="34" charset="0"/>
                <a:ea typeface="Inter" pitchFamily="34" charset="-122"/>
                <a:cs typeface="Inter" pitchFamily="34" charset="-120"/>
              </a:rPr>
              <a:t>Onglet Suivi, données d'essai.</a:t>
            </a:r>
            <a:endParaRPr lang="en-US" sz="1000" dirty="0"/>
          </a:p>
        </p:txBody>
      </p:sp>
      <p:sp>
        <p:nvSpPr>
          <p:cNvPr id="11" name="Text 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proposition pour La Samaritaine</a:t>
            </a:r>
            <a:endParaRPr lang="en-US" sz="900" dirty="0"/>
          </a:p>
        </p:txBody>
      </p:sp>
      <p:sp>
        <p:nvSpPr>
          <p:cNvPr id="12" name="Text 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L'audit</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Vous fixez la règle d’audit. Le floor l’applique.</a:t>
            </a:r>
            <a:endParaRPr lang="en-US" sz="2600" dirty="0"/>
          </a:p>
        </p:txBody>
      </p:sp>
      <p:sp>
        <p:nvSpPr>
          <p:cNvPr id="7" name="Text 4"/>
          <p:cNvSpPr/>
          <p:nvPr/>
        </p:nvSpPr>
        <p:spPr>
          <a:xfrm>
            <a:off x="731520" y="2103120"/>
            <a:ext cx="10725912" cy="731520"/>
          </a:xfrm>
          <a:prstGeom prst="rect">
            <a:avLst/>
          </a:prstGeom>
          <a:noFill/>
          <a:ln/>
        </p:spPr>
        <p:txBody>
          <a:bodyPr wrap="square" lIns="0" tIns="0" rIns="0" bIns="0" rtlCol="0" anchor="t"/>
          <a:lstStyle/>
          <a:p>
            <a:pPr algn="l" indent="0" marL="0">
              <a:lnSpc>
                <a:spcPct val="118000"/>
              </a:lnSpc>
              <a:buNone/>
            </a:pPr>
            <a:r>
              <a:rPr lang="en-US" sz="1250" dirty="0">
                <a:solidFill>
                  <a:srgbClr val="3D4556"/>
                </a:solidFill>
                <a:latin typeface="Inter" pitchFamily="34" charset="0"/>
                <a:ea typeface="Inter" pitchFamily="34" charset="-122"/>
                <a:cs typeface="Inter" pitchFamily="34" charset="-120"/>
              </a:rPr>
              <a:t>100 % de la W&amp;J, 30 % au moins ailleurs : la règle reste la vôtre — le chef d'équipe l'exécute. Un failed audit ne s'attend plus dans un rapport : les deux comptages s'affichent côte à côte, l'écart en pièces et en valeur d'achat, et il se tranche pendant que le compteur est encore au rayon.</a:t>
            </a:r>
            <a:endParaRPr lang="en-US" sz="1250" dirty="0"/>
          </a:p>
        </p:txBody>
      </p:sp>
      <p:sp>
        <p:nvSpPr>
          <p:cNvPr id="8" name="Shape 5"/>
          <p:cNvSpPr/>
          <p:nvPr/>
        </p:nvSpPr>
        <p:spPr>
          <a:xfrm>
            <a:off x="2139696" y="2871216"/>
            <a:ext cx="7909560" cy="3103439"/>
          </a:xfrm>
          <a:prstGeom prst="roundRect">
            <a:avLst>
              <a:gd name="adj" fmla="val 2357"/>
            </a:avLst>
          </a:prstGeom>
          <a:solidFill>
            <a:srgbClr val="FFFFFF"/>
          </a:solidFill>
          <a:ln w="12700">
            <a:solidFill>
              <a:srgbClr val="E3E6EE"/>
            </a:solidFill>
            <a:prstDash val="solid"/>
          </a:ln>
        </p:spPr>
      </p:sp>
      <p:pic>
        <p:nvPicPr>
          <p:cNvPr id="9" name="Image 1" descr="preencoded.png">    </p:cNvPr>
          <p:cNvPicPr>
            <a:picLocks noChangeAspect="1"/>
          </p:cNvPicPr>
          <p:nvPr/>
        </p:nvPicPr>
        <p:blipFill>
          <a:blip r:embed="rId2"/>
          <a:stretch>
            <a:fillRect/>
          </a:stretch>
        </p:blipFill>
        <p:spPr>
          <a:xfrm>
            <a:off x="2194560" y="2926080"/>
            <a:ext cx="7799832" cy="2993711"/>
          </a:xfrm>
          <a:prstGeom prst="rect">
            <a:avLst/>
          </a:prstGeom>
        </p:spPr>
      </p:pic>
      <p:sp>
        <p:nvSpPr>
          <p:cNvPr id="10" name="Text 6"/>
          <p:cNvSpPr/>
          <p:nvPr/>
        </p:nvSpPr>
        <p:spPr>
          <a:xfrm>
            <a:off x="2194560" y="6056951"/>
            <a:ext cx="6062472" cy="365760"/>
          </a:xfrm>
          <a:prstGeom prst="rect">
            <a:avLst/>
          </a:prstGeom>
          <a:noFill/>
          <a:ln/>
        </p:spPr>
        <p:txBody>
          <a:bodyPr wrap="square" lIns="0" tIns="0" rIns="0" bIns="0" rtlCol="0" anchor="t"/>
          <a:lstStyle/>
          <a:p>
            <a:pPr indent="0" marL="0">
              <a:buNone/>
            </a:pPr>
            <a:r>
              <a:rPr lang="en-US" sz="1000" i="1" dirty="0">
                <a:solidFill>
                  <a:srgbClr val="5B6475"/>
                </a:solidFill>
                <a:latin typeface="Inter" pitchFamily="34" charset="0"/>
                <a:ea typeface="Inter" pitchFamily="34" charset="-122"/>
                <a:cs typeface="Inter" pitchFamily="34" charset="-120"/>
              </a:rPr>
              <a:t>Onglet Écarts d'audit, données d'essai.</a:t>
            </a:r>
            <a:endParaRPr lang="en-US" sz="1000" dirty="0"/>
          </a:p>
        </p:txBody>
      </p:sp>
      <p:sp>
        <p:nvSpPr>
          <p:cNvPr id="11" name="Text 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proposition pour La Samaritaine</a:t>
            </a:r>
            <a:endParaRPr lang="en-US" sz="900" dirty="0"/>
          </a:p>
        </p:txBody>
      </p:sp>
      <p:sp>
        <p:nvSpPr>
          <p:cNvPr id="12" name="Text 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Après le comptage</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400" b="1" dirty="0">
                <a:solidFill>
                  <a:srgbClr val="4636B0"/>
                </a:solidFill>
                <a:latin typeface="Sora" pitchFamily="34" charset="0"/>
                <a:ea typeface="Sora" pitchFamily="34" charset="-122"/>
                <a:cs typeface="Sora" pitchFamily="34" charset="-120"/>
              </a:rPr>
              <a:t>Ce qui vous arrive : un rapport déjà consolidé.</a:t>
            </a:r>
            <a:endParaRPr lang="en-US" sz="2400" dirty="0"/>
          </a:p>
        </p:txBody>
      </p:sp>
      <p:sp>
        <p:nvSpPr>
          <p:cNvPr id="7" name="Text 4"/>
          <p:cNvSpPr/>
          <p:nvPr/>
        </p:nvSpPr>
        <p:spPr>
          <a:xfrm>
            <a:off x="731520" y="3017520"/>
            <a:ext cx="4206240" cy="1463040"/>
          </a:xfrm>
          <a:prstGeom prst="rect">
            <a:avLst/>
          </a:prstGeom>
          <a:noFill/>
          <a:ln/>
        </p:spPr>
        <p:txBody>
          <a:bodyPr wrap="square" lIns="0" tIns="0" rIns="0" bIns="0" rtlCol="0" anchor="t"/>
          <a:lstStyle/>
          <a:p>
            <a:pPr algn="l" indent="0" marL="0">
              <a:lnSpc>
                <a:spcPct val="118000"/>
              </a:lnSpc>
              <a:buNone/>
            </a:pPr>
            <a:r>
              <a:rPr lang="en-US" sz="1250" dirty="0">
                <a:solidFill>
                  <a:srgbClr val="3D4556"/>
                </a:solidFill>
                <a:latin typeface="Inter" pitchFamily="34" charset="0"/>
                <a:ea typeface="Inter" pitchFamily="34" charset="-122"/>
                <a:cs typeface="Inter" pitchFamily="34" charset="-120"/>
              </a:rPr>
              <a:t>Le rapport part du stock théorique, pas seulement de ce qui a été scanné. Un article attendu et jamais trouvé y figure, avec son manque : la démarque que l'inventaire est censé révéler est déjà dans le fichier.</a:t>
            </a:r>
            <a:endParaRPr lang="en-US" sz="1250" dirty="0"/>
          </a:p>
        </p:txBody>
      </p:sp>
      <p:sp>
        <p:nvSpPr>
          <p:cNvPr id="8" name="Text 5"/>
          <p:cNvSpPr/>
          <p:nvPr/>
        </p:nvSpPr>
        <p:spPr>
          <a:xfrm>
            <a:off x="731520" y="4480560"/>
            <a:ext cx="4206240" cy="914400"/>
          </a:xfrm>
          <a:prstGeom prst="rect">
            <a:avLst/>
          </a:prstGeom>
          <a:noFill/>
          <a:ln/>
        </p:spPr>
        <p:txBody>
          <a:bodyPr wrap="square" lIns="0" tIns="0" rIns="0" bIns="0" rtlCol="0" anchor="t"/>
          <a:lstStyle/>
          <a:p>
            <a:pPr algn="l" indent="0" marL="0">
              <a:lnSpc>
                <a:spcPct val="118000"/>
              </a:lnSpc>
              <a:buNone/>
            </a:pPr>
            <a:r>
              <a:rPr lang="en-US" sz="1250" dirty="0">
                <a:solidFill>
                  <a:srgbClr val="3D4556"/>
                </a:solidFill>
                <a:latin typeface="Inter" pitchFamily="34" charset="0"/>
                <a:ea typeface="Inter" pitchFamily="34" charset="-122"/>
                <a:cs typeface="Inter" pitchFamily="34" charset="-120"/>
              </a:rPr>
              <a:t>Export Excel en un clic. Il ne reste que la validation et l'ajustement — les deux gestes qui doivent rester chez vous.</a:t>
            </a:r>
            <a:endParaRPr lang="en-US" sz="1250" dirty="0"/>
          </a:p>
        </p:txBody>
      </p:sp>
      <p:sp>
        <p:nvSpPr>
          <p:cNvPr id="9" name="Shape 6"/>
          <p:cNvSpPr/>
          <p:nvPr/>
        </p:nvSpPr>
        <p:spPr>
          <a:xfrm>
            <a:off x="5340096" y="1316736"/>
            <a:ext cx="6172200" cy="4260383"/>
          </a:xfrm>
          <a:prstGeom prst="roundRect">
            <a:avLst>
              <a:gd name="adj" fmla="val 1717"/>
            </a:avLst>
          </a:prstGeom>
          <a:solidFill>
            <a:srgbClr val="FFFFFF"/>
          </a:solidFill>
          <a:ln w="12700">
            <a:solidFill>
              <a:srgbClr val="E3E6EE"/>
            </a:solidFill>
            <a:prstDash val="solid"/>
          </a:ln>
        </p:spPr>
      </p:sp>
      <p:pic>
        <p:nvPicPr>
          <p:cNvPr id="10" name="Image 1" descr="preencoded.png">    </p:cNvPr>
          <p:cNvPicPr>
            <a:picLocks noChangeAspect="1"/>
          </p:cNvPicPr>
          <p:nvPr/>
        </p:nvPicPr>
        <p:blipFill>
          <a:blip r:embed="rId2"/>
          <a:stretch>
            <a:fillRect/>
          </a:stretch>
        </p:blipFill>
        <p:spPr>
          <a:xfrm>
            <a:off x="5394960" y="1371600"/>
            <a:ext cx="6062472" cy="4150655"/>
          </a:xfrm>
          <a:prstGeom prst="rect">
            <a:avLst/>
          </a:prstGeom>
        </p:spPr>
      </p:pic>
      <p:sp>
        <p:nvSpPr>
          <p:cNvPr id="11" name="Text 7"/>
          <p:cNvSpPr/>
          <p:nvPr/>
        </p:nvSpPr>
        <p:spPr>
          <a:xfrm>
            <a:off x="5394960" y="5659415"/>
            <a:ext cx="6062472" cy="365760"/>
          </a:xfrm>
          <a:prstGeom prst="rect">
            <a:avLst/>
          </a:prstGeom>
          <a:noFill/>
          <a:ln/>
        </p:spPr>
        <p:txBody>
          <a:bodyPr wrap="square" lIns="0" tIns="0" rIns="0" bIns="0" rtlCol="0" anchor="t"/>
          <a:lstStyle/>
          <a:p>
            <a:pPr indent="0" marL="0">
              <a:buNone/>
            </a:pPr>
            <a:r>
              <a:rPr lang="en-US" sz="1000" i="1" dirty="0">
                <a:solidFill>
                  <a:srgbClr val="5B6475"/>
                </a:solidFill>
                <a:latin typeface="Inter" pitchFamily="34" charset="0"/>
                <a:ea typeface="Inter" pitchFamily="34" charset="-122"/>
                <a:cs typeface="Inter" pitchFamily="34" charset="-120"/>
              </a:rPr>
              <a:t>Onglet Rapport, données d'essai.</a:t>
            </a:r>
            <a:endParaRPr lang="en-US" sz="1000" dirty="0"/>
          </a:p>
        </p:txBody>
      </p:sp>
      <p:sp>
        <p:nvSpPr>
          <p:cNvPr id="12" name="Text 8"/>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proposition pour La Samaritaine</a:t>
            </a:r>
            <a:endParaRPr lang="en-US" sz="900" dirty="0"/>
          </a:p>
        </p:txBody>
      </p:sp>
      <p:sp>
        <p:nvSpPr>
          <p:cNvPr id="13" name="Text 9"/>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L'inventaire aléatoire</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17373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Votre projet d’inventaire aléatoire, prêt à fonctionner.</a:t>
            </a:r>
            <a:endParaRPr lang="en-US" sz="2600" dirty="0"/>
          </a:p>
        </p:txBody>
      </p:sp>
      <p:sp>
        <p:nvSpPr>
          <p:cNvPr id="7" name="Text 4"/>
          <p:cNvSpPr/>
          <p:nvPr/>
        </p:nvSpPr>
        <p:spPr>
          <a:xfrm>
            <a:off x="731520" y="3108960"/>
            <a:ext cx="4206240" cy="1554480"/>
          </a:xfrm>
          <a:prstGeom prst="rect">
            <a:avLst/>
          </a:prstGeom>
          <a:noFill/>
          <a:ln/>
        </p:spPr>
        <p:txBody>
          <a:bodyPr wrap="square" lIns="0" tIns="0" rIns="0" bIns="0" rtlCol="0" anchor="t"/>
          <a:lstStyle/>
          <a:p>
            <a:pPr algn="l" indent="0" marL="0">
              <a:lnSpc>
                <a:spcPct val="118000"/>
              </a:lnSpc>
              <a:buNone/>
            </a:pPr>
            <a:r>
              <a:rPr lang="en-US" sz="1200" i="1" dirty="0">
                <a:solidFill>
                  <a:srgbClr val="5B6475"/>
                </a:solidFill>
                <a:latin typeface="Inter" pitchFamily="34" charset="0"/>
                <a:ea typeface="Inter" pitchFamily="34" charset="-122"/>
                <a:cs typeface="Inter" pitchFamily="34" charset="-120"/>
              </a:rPr>
              <a:t>Vous en avez posé les objectifs : identifier les vols, tester la rigueur des procédures, garantir que chaque responsable maîtrise son stock. Confier le comptage au floor, c'est exactement cela.</a:t>
            </a:r>
            <a:endParaRPr lang="en-US" sz="1200" dirty="0"/>
          </a:p>
        </p:txBody>
      </p:sp>
      <p:sp>
        <p:nvSpPr>
          <p:cNvPr id="8" name="Text 5"/>
          <p:cNvSpPr/>
          <p:nvPr/>
        </p:nvSpPr>
        <p:spPr>
          <a:xfrm>
            <a:off x="5394960" y="1371600"/>
            <a:ext cx="6062472" cy="4754880"/>
          </a:xfrm>
          <a:prstGeom prst="rect">
            <a:avLst/>
          </a:prstGeom>
          <a:noFill/>
          <a:ln/>
        </p:spPr>
        <p:txBody>
          <a:bodyPr wrap="square" lIns="0" tIns="0" rIns="0" bIns="0" rtlCol="0" anchor="t"/>
          <a:lstStyle/>
          <a:p>
            <a:pPr indent="0" marL="0">
              <a:lnSpc>
                <a:spcPct val="118000"/>
              </a:lnSpc>
              <a:spcAft>
                <a:spcPts val="1300"/>
              </a:spcAft>
              <a:buNone/>
            </a:pPr>
            <a:r>
              <a:rPr lang="en-US" sz="1250" b="1" dirty="0">
                <a:solidFill>
                  <a:srgbClr val="0B0F19"/>
                </a:solidFill>
                <a:latin typeface="Inter" pitchFamily="34" charset="0"/>
                <a:ea typeface="Inter" pitchFamily="34" charset="-122"/>
                <a:cs typeface="Inter" pitchFamily="34" charset="-120"/>
              </a:rPr>
              <a:t>La sélection. </a:t>
            </a:r>
            <a:pPr indent="0" marL="0">
              <a:lnSpc>
                <a:spcPct val="118000"/>
              </a:lnSpc>
              <a:spcAft>
                <a:spcPts val="1300"/>
              </a:spcAft>
              <a:buNone/>
            </a:pPr>
            <a:r>
              <a:rPr lang="en-US" sz="1250" dirty="0">
                <a:solidFill>
                  <a:srgbClr val="3D4556"/>
                </a:solidFill>
                <a:latin typeface="Inter" pitchFamily="34" charset="0"/>
                <a:ea typeface="Inter" pitchFamily="34" charset="-122"/>
                <a:cs typeface="Inter" pitchFamily="34" charset="-120"/>
              </a:rPr>
              <a:t>Elle reste chez vous : variances négatives répétées, articles sensibles, slow movers. Les rapports des inventaires précédents donnent les chiffres d'où cette sélection se tire.</a:t>
            </a:r>
            <a:endParaRPr lang="en-US" sz="1250" dirty="0"/>
          </a:p>
          <a:p>
            <a:pPr indent="0" marL="0">
              <a:lnSpc>
                <a:spcPct val="118000"/>
              </a:lnSpc>
              <a:spcAft>
                <a:spcPts val="1300"/>
              </a:spcAft>
              <a:buNone/>
            </a:pPr>
            <a:r>
              <a:rPr lang="en-US" sz="1250" b="1" dirty="0">
                <a:solidFill>
                  <a:srgbClr val="0B0F19"/>
                </a:solidFill>
                <a:latin typeface="Inter" pitchFamily="34" charset="0"/>
                <a:ea typeface="Inter" pitchFamily="34" charset="-122"/>
                <a:cs typeface="Inter" pitchFamily="34" charset="-120"/>
              </a:rPr>
              <a:t>Le déclenchement. </a:t>
            </a:r>
            <a:pPr indent="0" marL="0">
              <a:lnSpc>
                <a:spcPct val="118000"/>
              </a:lnSpc>
              <a:spcAft>
                <a:spcPts val="1300"/>
              </a:spcAft>
              <a:buNone/>
            </a:pPr>
            <a:r>
              <a:rPr lang="en-US" sz="1250" dirty="0">
                <a:solidFill>
                  <a:srgbClr val="3D4556"/>
                </a:solidFill>
                <a:latin typeface="Inter" pitchFamily="34" charset="0"/>
                <a:ea typeface="Inter" pitchFamily="34" charset="-122"/>
                <a:cs typeface="Inter" pitchFamily="34" charset="-120"/>
              </a:rPr>
              <a:t>Un inventaire ciblé se crée en quelques minutes — une marque, un rayon, une liste d'articles — le jour même s'il le faut. Les équipes concernées sont invitées depuis l'outil.</a:t>
            </a:r>
            <a:endParaRPr lang="en-US" sz="1250" dirty="0"/>
          </a:p>
          <a:p>
            <a:pPr indent="0" marL="0">
              <a:lnSpc>
                <a:spcPct val="118000"/>
              </a:lnSpc>
              <a:spcAft>
                <a:spcPts val="1300"/>
              </a:spcAft>
              <a:buNone/>
            </a:pPr>
            <a:r>
              <a:rPr lang="en-US" sz="1250" b="1" dirty="0">
                <a:solidFill>
                  <a:srgbClr val="0B0F19"/>
                </a:solidFill>
                <a:latin typeface="Inter" pitchFamily="34" charset="0"/>
                <a:ea typeface="Inter" pitchFamily="34" charset="-122"/>
                <a:cs typeface="Inter" pitchFamily="34" charset="-120"/>
              </a:rPr>
              <a:t>Le comptage. </a:t>
            </a:r>
            <a:pPr indent="0" marL="0">
              <a:lnSpc>
                <a:spcPct val="118000"/>
              </a:lnSpc>
              <a:spcAft>
                <a:spcPts val="1300"/>
              </a:spcAft>
              <a:buNone/>
            </a:pPr>
            <a:r>
              <a:rPr lang="en-US" sz="1250" dirty="0">
                <a:solidFill>
                  <a:srgbClr val="3D4556"/>
                </a:solidFill>
                <a:latin typeface="Inter" pitchFamily="34" charset="0"/>
                <a:ea typeface="Inter" pitchFamily="34" charset="-122"/>
                <a:cs typeface="Inter" pitchFamily="34" charset="-120"/>
              </a:rPr>
              <a:t>Les équipes de vente comptent avec le téléphone qu'elles ont en poche. Pas de matériel à sortir, pas de session à monter : c'est ce qui rend l'aléatoire réellement aléatoire.</a:t>
            </a:r>
            <a:endParaRPr lang="en-US" sz="1250" dirty="0"/>
          </a:p>
          <a:p>
            <a:pPr indent="0" marL="0">
              <a:lnSpc>
                <a:spcPct val="118000"/>
              </a:lnSpc>
              <a:spcAft>
                <a:spcPts val="1300"/>
              </a:spcAft>
              <a:buNone/>
            </a:pPr>
            <a:r>
              <a:rPr lang="en-US" sz="1250" b="1" dirty="0">
                <a:solidFill>
                  <a:srgbClr val="0B0F19"/>
                </a:solidFill>
                <a:latin typeface="Inter" pitchFamily="34" charset="0"/>
                <a:ea typeface="Inter" pitchFamily="34" charset="-122"/>
                <a:cs typeface="Inter" pitchFamily="34" charset="-120"/>
              </a:rPr>
              <a:t>Le contrôle. </a:t>
            </a:r>
            <a:pPr indent="0" marL="0">
              <a:lnSpc>
                <a:spcPct val="118000"/>
              </a:lnSpc>
              <a:spcAft>
                <a:spcPts val="1300"/>
              </a:spcAft>
              <a:buNone/>
            </a:pPr>
            <a:r>
              <a:rPr lang="en-US" sz="1250" dirty="0">
                <a:solidFill>
                  <a:srgbClr val="3D4556"/>
                </a:solidFill>
                <a:latin typeface="Inter" pitchFamily="34" charset="0"/>
                <a:ea typeface="Inter" pitchFamily="34" charset="-122"/>
                <a:cs typeface="Inter" pitchFamily="34" charset="-120"/>
              </a:rPr>
              <a:t>L'écart se lit en direct. S'il dépasse votre seuil, l'Inventory Control reprend la main, et le rapport nourrit l'enquête.</a:t>
            </a:r>
            <a:endParaRPr lang="en-US" sz="1250" dirty="0"/>
          </a:p>
        </p:txBody>
      </p:sp>
      <p:sp>
        <p:nvSpPr>
          <p:cNvPr id="9" name="Text 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proposition pour La Samaritaine</a:t>
            </a:r>
            <a:endParaRPr lang="en-US" sz="900" dirty="0"/>
          </a:p>
        </p:txBody>
      </p:sp>
      <p:sp>
        <p:nvSpPr>
          <p:cNvPr id="10" name="Text 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Pourquoi pas Zebra</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Pourquoi Quantinvo, et pas Zebra ?</a:t>
            </a:r>
            <a:endParaRPr lang="en-US" sz="2600" dirty="0"/>
          </a:p>
        </p:txBody>
      </p:sp>
      <p:sp>
        <p:nvSpPr>
          <p:cNvPr id="7" name="Text 4"/>
          <p:cNvSpPr/>
          <p:nvPr/>
        </p:nvSpPr>
        <p:spPr>
          <a:xfrm>
            <a:off x="731520" y="2286000"/>
            <a:ext cx="5088636" cy="2926080"/>
          </a:xfrm>
          <a:prstGeom prst="rect">
            <a:avLst/>
          </a:prstGeom>
          <a:noFill/>
          <a:ln/>
        </p:spPr>
        <p:txBody>
          <a:bodyPr wrap="square" lIns="0" tIns="0" rIns="0" bIns="0" rtlCol="0" anchor="t"/>
          <a:lstStyle/>
          <a:p>
            <a:pPr indent="0" marL="0">
              <a:lnSpc>
                <a:spcPct val="118000"/>
              </a:lnSpc>
              <a:spcAft>
                <a:spcPts val="1200"/>
              </a:spcAft>
              <a:buNone/>
            </a:pPr>
            <a:r>
              <a:rPr lang="en-US" sz="1250" b="1" dirty="0">
                <a:solidFill>
                  <a:srgbClr val="0B0F19"/>
                </a:solidFill>
                <a:latin typeface="Inter" pitchFamily="34" charset="0"/>
                <a:ea typeface="Inter" pitchFamily="34" charset="-122"/>
                <a:cs typeface="Inter" pitchFamily="34" charset="-120"/>
              </a:rPr>
              <a:t>Le matériel. </a:t>
            </a:r>
            <a:pPr indent="0" marL="0">
              <a:lnSpc>
                <a:spcPct val="118000"/>
              </a:lnSpc>
              <a:spcAft>
                <a:spcPts val="1200"/>
              </a:spcAft>
              <a:buNone/>
            </a:pPr>
            <a:r>
              <a:rPr lang="en-US" sz="1250" dirty="0">
                <a:solidFill>
                  <a:srgbClr val="3D4556"/>
                </a:solidFill>
                <a:latin typeface="Inter" pitchFamily="34" charset="0"/>
                <a:ea typeface="Inter" pitchFamily="34" charset="-122"/>
                <a:cs typeface="Inter" pitchFamily="34" charset="-120"/>
              </a:rPr>
              <a:t>SmartCount repose sur une flotte de terminaux dédiés : à charger, configurer, vérifier avant chaque session — un métier en soi, celui qu'on cherche justement à ne plus faire. Quantinvo tourne sur les iPhone que vos équipes ont déjà, et une douchette Bluetooth s'y branche pour les gros volumes.</a:t>
            </a:r>
            <a:endParaRPr lang="en-US" sz="1250" dirty="0"/>
          </a:p>
          <a:p>
            <a:pPr indent="0" marL="0">
              <a:lnSpc>
                <a:spcPct val="118000"/>
              </a:lnSpc>
              <a:spcAft>
                <a:spcPts val="1200"/>
              </a:spcAft>
              <a:buNone/>
            </a:pPr>
            <a:r>
              <a:rPr lang="en-US" sz="1250" b="1" dirty="0">
                <a:solidFill>
                  <a:srgbClr val="0B0F19"/>
                </a:solidFill>
                <a:latin typeface="Inter" pitchFamily="34" charset="0"/>
                <a:ea typeface="Inter" pitchFamily="34" charset="-122"/>
                <a:cs typeface="Inter" pitchFamily="34" charset="-120"/>
              </a:rPr>
              <a:t>Le coût. </a:t>
            </a:r>
            <a:pPr indent="0" marL="0">
              <a:lnSpc>
                <a:spcPct val="118000"/>
              </a:lnSpc>
              <a:spcAft>
                <a:spcPts val="1200"/>
              </a:spcAft>
              <a:buNone/>
            </a:pPr>
            <a:r>
              <a:rPr lang="en-US" sz="1250" dirty="0">
                <a:solidFill>
                  <a:srgbClr val="3D4556"/>
                </a:solidFill>
                <a:latin typeface="Inter" pitchFamily="34" charset="0"/>
                <a:ea typeface="Inter" pitchFamily="34" charset="-122"/>
                <a:cs typeface="Inter" pitchFamily="34" charset="-120"/>
              </a:rPr>
              <a:t>Une licence par magasin, sans un euro de matériel : ni terminal à acheter, ni flotte à entretenir, ni remplacement à budgéter. Les inventaires sont illimités — compter chaque semaine coûte le même prix que compter une fois par an.</a:t>
            </a:r>
            <a:endParaRPr lang="en-US" sz="1250" dirty="0"/>
          </a:p>
        </p:txBody>
      </p:sp>
      <p:sp>
        <p:nvSpPr>
          <p:cNvPr id="8" name="Text 5"/>
          <p:cNvSpPr/>
          <p:nvPr/>
        </p:nvSpPr>
        <p:spPr>
          <a:xfrm>
            <a:off x="6368796" y="2286000"/>
            <a:ext cx="5088636" cy="2926080"/>
          </a:xfrm>
          <a:prstGeom prst="rect">
            <a:avLst/>
          </a:prstGeom>
          <a:noFill/>
          <a:ln/>
        </p:spPr>
        <p:txBody>
          <a:bodyPr wrap="square" lIns="0" tIns="0" rIns="0" bIns="0" rtlCol="0" anchor="t"/>
          <a:lstStyle/>
          <a:p>
            <a:pPr indent="0" marL="0">
              <a:lnSpc>
                <a:spcPct val="118000"/>
              </a:lnSpc>
              <a:spcAft>
                <a:spcPts val="1200"/>
              </a:spcAft>
              <a:buNone/>
            </a:pPr>
            <a:r>
              <a:rPr lang="en-US" sz="1250" b="1" dirty="0">
                <a:solidFill>
                  <a:srgbClr val="0B0F19"/>
                </a:solidFill>
                <a:latin typeface="Inter" pitchFamily="34" charset="0"/>
                <a:ea typeface="Inter" pitchFamily="34" charset="-122"/>
                <a:cs typeface="Inter" pitchFamily="34" charset="-120"/>
              </a:rPr>
              <a:t>La réconciliation. </a:t>
            </a:r>
            <a:pPr indent="0" marL="0">
              <a:lnSpc>
                <a:spcPct val="118000"/>
              </a:lnSpc>
              <a:spcAft>
                <a:spcPts val="1200"/>
              </a:spcAft>
              <a:buNone/>
            </a:pPr>
            <a:r>
              <a:rPr lang="en-US" sz="1250" dirty="0">
                <a:solidFill>
                  <a:srgbClr val="3D4556"/>
                </a:solidFill>
                <a:latin typeface="Inter" pitchFamily="34" charset="0"/>
                <a:ea typeface="Inter" pitchFamily="34" charset="-122"/>
                <a:cs typeface="Inter" pitchFamily="34" charset="-120"/>
              </a:rPr>
              <a:t>SmartCount rend un rapport de variance, à consolider ensuite avec le stock théorique. Quantinvo rend ce croisement déjà fait : l'attendu, le compté, le non-compté, l'écart en valeur.</a:t>
            </a:r>
            <a:endParaRPr lang="en-US" sz="1250" dirty="0"/>
          </a:p>
          <a:p>
            <a:pPr indent="0" marL="0">
              <a:lnSpc>
                <a:spcPct val="118000"/>
              </a:lnSpc>
              <a:spcAft>
                <a:spcPts val="1200"/>
              </a:spcAft>
              <a:buNone/>
            </a:pPr>
            <a:r>
              <a:rPr lang="en-US" sz="1250" b="1" dirty="0">
                <a:solidFill>
                  <a:srgbClr val="0B0F19"/>
                </a:solidFill>
                <a:latin typeface="Inter" pitchFamily="34" charset="0"/>
                <a:ea typeface="Inter" pitchFamily="34" charset="-122"/>
                <a:cs typeface="Inter" pitchFamily="34" charset="-120"/>
              </a:rPr>
              <a:t>La taille de l'éditeur. </a:t>
            </a:r>
            <a:pPr indent="0" marL="0">
              <a:lnSpc>
                <a:spcPct val="118000"/>
              </a:lnSpc>
              <a:spcAft>
                <a:spcPts val="1200"/>
              </a:spcAft>
              <a:buNone/>
            </a:pPr>
            <a:r>
              <a:rPr lang="en-US" sz="1250" dirty="0">
                <a:solidFill>
                  <a:srgbClr val="3D4556"/>
                </a:solidFill>
                <a:latin typeface="Inter" pitchFamily="34" charset="0"/>
                <a:ea typeface="Inter" pitchFamily="34" charset="-122"/>
                <a:cs typeface="Inter" pitchFamily="34" charset="-120"/>
              </a:rPr>
              <a:t>SmartCount est un module au catalogue d'un géant du matériel. Quantinvo ne fait qu'une chose — l'inventaire — et la personne qui l'a dessiné répond elle-même à vos questions.</a:t>
            </a:r>
            <a:endParaRPr lang="en-US" sz="1250" dirty="0"/>
          </a:p>
        </p:txBody>
      </p:sp>
      <p:sp>
        <p:nvSpPr>
          <p:cNvPr id="9" name="Shape 6"/>
          <p:cNvSpPr/>
          <p:nvPr/>
        </p:nvSpPr>
        <p:spPr>
          <a:xfrm>
            <a:off x="731520" y="5212080"/>
            <a:ext cx="10725912" cy="1097280"/>
          </a:xfrm>
          <a:prstGeom prst="roundRect">
            <a:avLst>
              <a:gd name="adj" fmla="val 6667"/>
            </a:avLst>
          </a:prstGeom>
          <a:solidFill>
            <a:srgbClr val="F4F5F9"/>
          </a:solidFill>
          <a:ln w="12700">
            <a:solidFill>
              <a:srgbClr val="F4F5F9"/>
            </a:solidFill>
            <a:prstDash val="solid"/>
          </a:ln>
        </p:spPr>
      </p:sp>
      <p:sp>
        <p:nvSpPr>
          <p:cNvPr id="10" name="Text 7"/>
          <p:cNvSpPr/>
          <p:nvPr/>
        </p:nvSpPr>
        <p:spPr>
          <a:xfrm>
            <a:off x="1005840" y="5376672"/>
            <a:ext cx="10177272" cy="228600"/>
          </a:xfrm>
          <a:prstGeom prst="rect">
            <a:avLst/>
          </a:prstGeom>
          <a:noFill/>
          <a:ln/>
        </p:spPr>
        <p:txBody>
          <a:bodyPr wrap="square" lIns="0" tIns="0" rIns="0" bIns="0" rtlCol="0" anchor="t"/>
          <a:lstStyle/>
          <a:p>
            <a:pPr indent="0" marL="0">
              <a:buNone/>
            </a:pPr>
            <a:r>
              <a:rPr lang="en-US" sz="950" b="1" dirty="0">
                <a:solidFill>
                  <a:srgbClr val="5B6475"/>
                </a:solidFill>
                <a:latin typeface="Inter" pitchFamily="34" charset="0"/>
                <a:ea typeface="Inter" pitchFamily="34" charset="-122"/>
                <a:cs typeface="Inter" pitchFamily="34" charset="-120"/>
              </a:rPr>
              <a:t>Pour être honnête</a:t>
            </a:r>
            <a:endParaRPr lang="en-US" sz="950" dirty="0"/>
          </a:p>
        </p:txBody>
      </p:sp>
      <p:sp>
        <p:nvSpPr>
          <p:cNvPr id="11" name="Text 8"/>
          <p:cNvSpPr/>
          <p:nvPr/>
        </p:nvSpPr>
        <p:spPr>
          <a:xfrm>
            <a:off x="1005840" y="5632704"/>
            <a:ext cx="10177272" cy="548640"/>
          </a:xfrm>
          <a:prstGeom prst="rect">
            <a:avLst/>
          </a:prstGeom>
          <a:noFill/>
          <a:ln/>
        </p:spPr>
        <p:txBody>
          <a:bodyPr wrap="square" lIns="0" tIns="0" rIns="0" bIns="0" rtlCol="0" anchor="t"/>
          <a:lstStyle/>
          <a:p>
            <a:pPr indent="0" marL="0">
              <a:lnSpc>
                <a:spcPct val="115000"/>
              </a:lnSpc>
              <a:buNone/>
            </a:pPr>
            <a:r>
              <a:rPr lang="en-US" sz="1150" i="1" dirty="0">
                <a:solidFill>
                  <a:srgbClr val="3D4556"/>
                </a:solidFill>
                <a:latin typeface="Inter" pitchFamily="34" charset="0"/>
                <a:ea typeface="Inter" pitchFamily="34" charset="-122"/>
                <a:cs typeface="Inter" pitchFamily="34" charset="-120"/>
              </a:rPr>
              <a:t>Un terminal durci encaisse mieux les chocs qu'un téléphone, et si votre flotte est déjà amortie, l'argument du matériel pèse moins. Les nôtres ne bougent pas : un outil que le floor prend en main sans briefing, des comptages illimités toute l'année, et une réconciliation qui n'existe plus.</a:t>
            </a:r>
            <a:endParaRPr lang="en-US" sz="1150" dirty="0"/>
          </a:p>
        </p:txBody>
      </p:sp>
      <p:sp>
        <p:nvSpPr>
          <p:cNvPr id="12" name="Text 9"/>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proposition pour La Samaritaine</a:t>
            </a:r>
            <a:endParaRPr lang="en-US" sz="900" dirty="0"/>
          </a:p>
        </p:txBody>
      </p:sp>
      <p:sp>
        <p:nvSpPr>
          <p:cNvPr id="13" name="Text 10"/>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Pour être clair</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Ce qu'on ne vous promet pas.</a:t>
            </a:r>
            <a:endParaRPr lang="en-US" sz="2600" dirty="0"/>
          </a:p>
        </p:txBody>
      </p:sp>
      <p:sp>
        <p:nvSpPr>
          <p:cNvPr id="7" name="Text 4"/>
          <p:cNvSpPr/>
          <p:nvPr/>
        </p:nvSpPr>
        <p:spPr>
          <a:xfrm>
            <a:off x="731520" y="3383280"/>
            <a:ext cx="4206240" cy="548640"/>
          </a:xfrm>
          <a:prstGeom prst="rect">
            <a:avLst/>
          </a:prstGeom>
          <a:noFill/>
          <a:ln/>
        </p:spPr>
        <p:txBody>
          <a:bodyPr wrap="square" lIns="0" tIns="0" rIns="0" bIns="0" rtlCol="0" anchor="t"/>
          <a:lstStyle/>
          <a:p>
            <a:pPr algn="l" indent="0" marL="0">
              <a:lnSpc>
                <a:spcPct val="118000"/>
              </a:lnSpc>
              <a:buNone/>
            </a:pPr>
            <a:r>
              <a:rPr lang="en-US" sz="1250" i="1" dirty="0">
                <a:solidFill>
                  <a:srgbClr val="5B6475"/>
                </a:solidFill>
                <a:latin typeface="Inter" pitchFamily="34" charset="0"/>
                <a:ea typeface="Inter" pitchFamily="34" charset="-122"/>
                <a:cs typeface="Inter" pitchFamily="34" charset="-120"/>
              </a:rPr>
              <a:t>Autant le dire avant la démonstration qu’après.</a:t>
            </a:r>
            <a:endParaRPr lang="en-US" sz="1250" dirty="0"/>
          </a:p>
        </p:txBody>
      </p:sp>
      <p:sp>
        <p:nvSpPr>
          <p:cNvPr id="8" name="Text 5"/>
          <p:cNvSpPr/>
          <p:nvPr/>
        </p:nvSpPr>
        <p:spPr>
          <a:xfrm>
            <a:off x="5394960" y="1371600"/>
            <a:ext cx="6062472" cy="4389120"/>
          </a:xfrm>
          <a:prstGeom prst="rect">
            <a:avLst/>
          </a:prstGeom>
          <a:noFill/>
          <a:ln/>
        </p:spPr>
        <p:txBody>
          <a:bodyPr wrap="square" lIns="0" tIns="0" rIns="0" bIns="0" rtlCol="0" anchor="t"/>
          <a:lstStyle/>
          <a:p>
            <a:pPr indent="0" marL="0">
              <a:lnSpc>
                <a:spcPct val="118000"/>
              </a:lnSpc>
              <a:spcAft>
                <a:spcPts val="1400"/>
              </a:spcAft>
              <a:buNone/>
            </a:pPr>
            <a:r>
              <a:rPr lang="en-US" sz="1400" b="1" dirty="0">
                <a:solidFill>
                  <a:srgbClr val="0B0F19"/>
                </a:solidFill>
                <a:latin typeface="Inter" pitchFamily="34" charset="0"/>
                <a:ea typeface="Inter" pitchFamily="34" charset="-122"/>
                <a:cs typeface="Inter" pitchFamily="34" charset="-120"/>
              </a:rPr>
              <a:t>L'inventaire fiscal certifié. </a:t>
            </a:r>
            <a:pPr indent="0" marL="0">
              <a:lnSpc>
                <a:spcPct val="118000"/>
              </a:lnSpc>
              <a:spcAft>
                <a:spcPts val="1400"/>
              </a:spcAft>
              <a:buNone/>
            </a:pPr>
            <a:r>
              <a:rPr lang="en-US" sz="1400" dirty="0">
                <a:solidFill>
                  <a:srgbClr val="3D4556"/>
                </a:solidFill>
                <a:latin typeface="Inter" pitchFamily="34" charset="0"/>
                <a:ea typeface="Inter" pitchFamily="34" charset="-122"/>
                <a:cs typeface="Inter" pitchFamily="34" charset="-120"/>
              </a:rPr>
              <a:t>Si votre commissaire aux comptes exige un comptage par un tiers, ce comptage reste. Quantinvo fait tout le reste de l'année, et il le prépare.</a:t>
            </a:r>
            <a:endParaRPr lang="en-US" sz="1400" dirty="0"/>
          </a:p>
          <a:p>
            <a:pPr indent="0" marL="0">
              <a:lnSpc>
                <a:spcPct val="118000"/>
              </a:lnSpc>
              <a:spcAft>
                <a:spcPts val="1400"/>
              </a:spcAft>
              <a:buNone/>
            </a:pPr>
            <a:r>
              <a:rPr lang="en-US" sz="1400" b="1" dirty="0">
                <a:solidFill>
                  <a:srgbClr val="0B0F19"/>
                </a:solidFill>
                <a:latin typeface="Inter" pitchFamily="34" charset="0"/>
                <a:ea typeface="Inter" pitchFamily="34" charset="-122"/>
                <a:cs typeface="Inter" pitchFamily="34" charset="-120"/>
              </a:rPr>
              <a:t>Une connexion à votre ERP. </a:t>
            </a:r>
            <a:pPr indent="0" marL="0">
              <a:lnSpc>
                <a:spcPct val="118000"/>
              </a:lnSpc>
              <a:spcAft>
                <a:spcPts val="1400"/>
              </a:spcAft>
              <a:buNone/>
            </a:pPr>
            <a:r>
              <a:rPr lang="en-US" sz="1400" dirty="0">
                <a:solidFill>
                  <a:srgbClr val="3D4556"/>
                </a:solidFill>
                <a:latin typeface="Inter" pitchFamily="34" charset="0"/>
                <a:ea typeface="Inter" pitchFamily="34" charset="-122"/>
                <a:cs typeface="Inter" pitchFamily="34" charset="-120"/>
              </a:rPr>
              <a:t>Quantinvo importe vos fichiers et rend un Excel. L'ajustement du stock reste un geste dans votre système — c'est d'ailleurs le seul qui doive le rester.</a:t>
            </a:r>
            <a:endParaRPr lang="en-US" sz="1400" dirty="0"/>
          </a:p>
          <a:p>
            <a:pPr indent="0" marL="0">
              <a:lnSpc>
                <a:spcPct val="118000"/>
              </a:lnSpc>
              <a:spcAft>
                <a:spcPts val="1400"/>
              </a:spcAft>
              <a:buNone/>
            </a:pPr>
            <a:r>
              <a:rPr lang="en-US" sz="1400" b="1" dirty="0">
                <a:solidFill>
                  <a:srgbClr val="0B0F19"/>
                </a:solidFill>
                <a:latin typeface="Inter" pitchFamily="34" charset="0"/>
                <a:ea typeface="Inter" pitchFamily="34" charset="-122"/>
                <a:cs typeface="Inter" pitchFamily="34" charset="-120"/>
              </a:rPr>
              <a:t>Android sur les boutiques. </a:t>
            </a:r>
            <a:pPr indent="0" marL="0">
              <a:lnSpc>
                <a:spcPct val="118000"/>
              </a:lnSpc>
              <a:spcAft>
                <a:spcPts val="1400"/>
              </a:spcAft>
              <a:buNone/>
            </a:pPr>
            <a:r>
              <a:rPr lang="en-US" sz="1400" dirty="0">
                <a:solidFill>
                  <a:srgbClr val="3D4556"/>
                </a:solidFill>
                <a:latin typeface="Inter" pitchFamily="34" charset="0"/>
                <a:ea typeface="Inter" pitchFamily="34" charset="-122"/>
                <a:cs typeface="Inter" pitchFamily="34" charset="-120"/>
              </a:rPr>
              <a:t>L'application tourne sur Android, et elle est disponible sur iPhone. La mise en ligne sur Google Play est en cours ; d'ici là, l'installation passe par votre catalogue d'entreprise.</a:t>
            </a:r>
            <a:endParaRPr lang="en-US" sz="1400" dirty="0"/>
          </a:p>
          <a:p>
            <a:pPr indent="0" marL="0">
              <a:lnSpc>
                <a:spcPct val="118000"/>
              </a:lnSpc>
              <a:spcAft>
                <a:spcPts val="1400"/>
              </a:spcAft>
              <a:buNone/>
            </a:pPr>
            <a:r>
              <a:rPr lang="en-US" sz="1400" b="1" dirty="0">
                <a:solidFill>
                  <a:srgbClr val="0B0F19"/>
                </a:solidFill>
                <a:latin typeface="Inter" pitchFamily="34" charset="0"/>
                <a:ea typeface="Inter" pitchFamily="34" charset="-122"/>
                <a:cs typeface="Inter" pitchFamily="34" charset="-120"/>
              </a:rPr>
              <a:t>La connexion par votre annuaire. </a:t>
            </a:r>
            <a:pPr indent="0" marL="0">
              <a:lnSpc>
                <a:spcPct val="118000"/>
              </a:lnSpc>
              <a:spcAft>
                <a:spcPts val="1400"/>
              </a:spcAft>
              <a:buNone/>
            </a:pPr>
            <a:r>
              <a:rPr lang="en-US" sz="1400" dirty="0">
                <a:solidFill>
                  <a:srgbClr val="3D4556"/>
                </a:solidFill>
                <a:latin typeface="Inter" pitchFamily="34" charset="0"/>
                <a:ea typeface="Inter" pitchFamily="34" charset="-122"/>
                <a:cs typeface="Inter" pitchFamily="34" charset="-120"/>
              </a:rPr>
              <a:t>Les comptes sont nominatifs, créés par invitation. Pas de SAML ni d'Entra ID pour l'instant ; dites-nous si c'est une exigence.</a:t>
            </a:r>
            <a:endParaRPr lang="en-US" sz="1400" dirty="0"/>
          </a:p>
        </p:txBody>
      </p:sp>
      <p:sp>
        <p:nvSpPr>
          <p:cNvPr id="9" name="Text 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proposition pour La Samaritaine</a:t>
            </a:r>
            <a:endParaRPr lang="en-US" sz="900" dirty="0"/>
          </a:p>
        </p:txBody>
      </p:sp>
      <p:sp>
        <p:nvSpPr>
          <p:cNvPr id="10" name="Text 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Sora" pitchFamily="34" charset="0"/>
                <a:ea typeface="Sora" pitchFamily="34" charset="-122"/>
                <a:cs typeface="Sora"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Inter" pitchFamily="34" charset="0"/>
                <a:ea typeface="Inter" pitchFamily="34" charset="-122"/>
                <a:cs typeface="Inter" pitchFamily="34" charset="-120"/>
              </a:rPr>
              <a:t>L'offre</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18872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Sora" pitchFamily="34" charset="0"/>
                <a:ea typeface="Sora" pitchFamily="34" charset="-122"/>
                <a:cs typeface="Sora" pitchFamily="34" charset="-120"/>
              </a:rPr>
              <a:t>Une licence par magasin, inventaires illimités</a:t>
            </a:r>
            <a:endParaRPr lang="en-US" sz="2600" dirty="0"/>
          </a:p>
        </p:txBody>
      </p:sp>
      <p:sp>
        <p:nvSpPr>
          <p:cNvPr id="7" name="Text 4"/>
          <p:cNvSpPr/>
          <p:nvPr/>
        </p:nvSpPr>
        <p:spPr>
          <a:xfrm>
            <a:off x="731520" y="1783080"/>
            <a:ext cx="10725912" cy="457200"/>
          </a:xfrm>
          <a:prstGeom prst="rect">
            <a:avLst/>
          </a:prstGeom>
          <a:noFill/>
          <a:ln/>
        </p:spPr>
        <p:txBody>
          <a:bodyPr wrap="square" lIns="0" tIns="0" rIns="0" bIns="0" rtlCol="0" anchor="t"/>
          <a:lstStyle/>
          <a:p>
            <a:pPr algn="l" indent="0" marL="0">
              <a:lnSpc>
                <a:spcPct val="118000"/>
              </a:lnSpc>
              <a:buNone/>
            </a:pPr>
            <a:r>
              <a:rPr lang="en-US" sz="1150" dirty="0">
                <a:solidFill>
                  <a:srgbClr val="5B6475"/>
                </a:solidFill>
                <a:latin typeface="Inter" pitchFamily="34" charset="0"/>
                <a:ea typeface="Inter" pitchFamily="34" charset="-122"/>
                <a:cs typeface="Inter" pitchFamily="34" charset="-120"/>
              </a:rPr>
              <a:t>Le prix suit le nombre d'appareils qui comptent en même temps dans le magasin — la seule chose que vous puissiez vérifier vous-même. Ni le volume de votre stock, ni le nombre de comptes, ni le nombre d'inventaires dans l'année.</a:t>
            </a:r>
            <a:endParaRPr lang="en-US" sz="1150" dirty="0"/>
          </a:p>
        </p:txBody>
      </p:sp>
      <p:sp>
        <p:nvSpPr>
          <p:cNvPr id="8" name="Shape 5"/>
          <p:cNvSpPr/>
          <p:nvPr/>
        </p:nvSpPr>
        <p:spPr>
          <a:xfrm>
            <a:off x="731520" y="2331720"/>
            <a:ext cx="3404616" cy="2743200"/>
          </a:xfrm>
          <a:prstGeom prst="roundRect">
            <a:avLst>
              <a:gd name="adj" fmla="val 4000"/>
            </a:avLst>
          </a:prstGeom>
          <a:solidFill>
            <a:srgbClr val="FFFFFF"/>
          </a:solidFill>
          <a:ln w="12700">
            <a:solidFill>
              <a:srgbClr val="E3E6EE"/>
            </a:solidFill>
            <a:prstDash val="solid"/>
          </a:ln>
        </p:spPr>
      </p:sp>
      <p:sp>
        <p:nvSpPr>
          <p:cNvPr id="9" name="Text 6"/>
          <p:cNvSpPr/>
          <p:nvPr/>
        </p:nvSpPr>
        <p:spPr>
          <a:xfrm>
            <a:off x="987552" y="2825496"/>
            <a:ext cx="2892552" cy="347472"/>
          </a:xfrm>
          <a:prstGeom prst="rect">
            <a:avLst/>
          </a:prstGeom>
          <a:noFill/>
          <a:ln/>
        </p:spPr>
        <p:txBody>
          <a:bodyPr wrap="square" lIns="0" tIns="0" rIns="0" bIns="0" rtlCol="0" anchor="t"/>
          <a:lstStyle/>
          <a:p>
            <a:pPr indent="0" marL="0">
              <a:buNone/>
            </a:pPr>
            <a:r>
              <a:rPr lang="en-US" sz="1800" b="1" dirty="0">
                <a:solidFill>
                  <a:srgbClr val="0B0F19"/>
                </a:solidFill>
                <a:latin typeface="Sora" pitchFamily="34" charset="0"/>
                <a:ea typeface="Sora" pitchFamily="34" charset="-122"/>
                <a:cs typeface="Sora" pitchFamily="34" charset="-120"/>
              </a:rPr>
              <a:t>Essential</a:t>
            </a:r>
            <a:endParaRPr lang="en-US" sz="1800" dirty="0"/>
          </a:p>
        </p:txBody>
      </p:sp>
      <p:sp>
        <p:nvSpPr>
          <p:cNvPr id="10" name="Text 7"/>
          <p:cNvSpPr/>
          <p:nvPr/>
        </p:nvSpPr>
        <p:spPr>
          <a:xfrm>
            <a:off x="987552" y="3227832"/>
            <a:ext cx="2892552" cy="256032"/>
          </a:xfrm>
          <a:prstGeom prst="rect">
            <a:avLst/>
          </a:prstGeom>
          <a:noFill/>
          <a:ln/>
        </p:spPr>
        <p:txBody>
          <a:bodyPr wrap="square" lIns="0" tIns="0" rIns="0" bIns="0" rtlCol="0" anchor="t"/>
          <a:lstStyle/>
          <a:p>
            <a:pPr indent="0" marL="0">
              <a:buNone/>
            </a:pPr>
            <a:r>
              <a:rPr lang="en-US" sz="1100" b="1" dirty="0">
                <a:solidFill>
                  <a:srgbClr val="6366F1"/>
                </a:solidFill>
                <a:latin typeface="Inter" pitchFamily="34" charset="0"/>
                <a:ea typeface="Inter" pitchFamily="34" charset="-122"/>
                <a:cs typeface="Inter" pitchFamily="34" charset="-120"/>
              </a:rPr>
              <a:t>2 appareils</a:t>
            </a:r>
            <a:endParaRPr lang="en-US" sz="1100" dirty="0"/>
          </a:p>
        </p:txBody>
      </p:sp>
      <p:sp>
        <p:nvSpPr>
          <p:cNvPr id="11" name="Text 8"/>
          <p:cNvSpPr/>
          <p:nvPr/>
        </p:nvSpPr>
        <p:spPr>
          <a:xfrm>
            <a:off x="987552" y="3538728"/>
            <a:ext cx="2892552" cy="457200"/>
          </a:xfrm>
          <a:prstGeom prst="rect">
            <a:avLst/>
          </a:prstGeom>
          <a:noFill/>
          <a:ln/>
        </p:spPr>
        <p:txBody>
          <a:bodyPr wrap="square" lIns="0" tIns="0" rIns="0" bIns="0" rtlCol="0" anchor="t"/>
          <a:lstStyle/>
          <a:p>
            <a:pPr indent="0" marL="0">
              <a:lnSpc>
                <a:spcPct val="112000"/>
              </a:lnSpc>
              <a:buNone/>
            </a:pPr>
            <a:r>
              <a:rPr lang="en-US" sz="1000" dirty="0">
                <a:solidFill>
                  <a:srgbClr val="5B6475"/>
                </a:solidFill>
                <a:latin typeface="Inter" pitchFamily="34" charset="0"/>
                <a:ea typeface="Inter" pitchFamily="34" charset="-122"/>
                <a:cs typeface="Inter" pitchFamily="34" charset="-120"/>
              </a:rPr>
              <a:t>Vous comptez seul ou à deux, dans un magasin.</a:t>
            </a:r>
            <a:endParaRPr lang="en-US" sz="1000" dirty="0"/>
          </a:p>
        </p:txBody>
      </p:sp>
      <p:sp>
        <p:nvSpPr>
          <p:cNvPr id="12" name="Text 9"/>
          <p:cNvSpPr/>
          <p:nvPr/>
        </p:nvSpPr>
        <p:spPr>
          <a:xfrm>
            <a:off x="987552" y="4050792"/>
            <a:ext cx="2892552" cy="457200"/>
          </a:xfrm>
          <a:prstGeom prst="rect">
            <a:avLst/>
          </a:prstGeom>
          <a:noFill/>
          <a:ln/>
        </p:spPr>
        <p:txBody>
          <a:bodyPr wrap="square" lIns="0" tIns="0" rIns="0" bIns="0" rtlCol="0" anchor="b"/>
          <a:lstStyle/>
          <a:p>
            <a:pPr indent="0" marL="0">
              <a:buNone/>
            </a:pPr>
            <a:r>
              <a:rPr lang="en-US" sz="2600" b="1" dirty="0">
                <a:solidFill>
                  <a:srgbClr val="4636B0"/>
                </a:solidFill>
                <a:latin typeface="Sora" pitchFamily="34" charset="0"/>
                <a:ea typeface="Sora" pitchFamily="34" charset="-122"/>
                <a:cs typeface="Sora" pitchFamily="34" charset="-120"/>
              </a:rPr>
              <a:t>65 €</a:t>
            </a:r>
            <a:pPr indent="0" marL="0">
              <a:buNone/>
            </a:pPr>
            <a:r>
              <a:rPr lang="en-US" sz="1050" dirty="0">
                <a:solidFill>
                  <a:srgbClr val="5B6475"/>
                </a:solidFill>
                <a:latin typeface="Inter" pitchFamily="34" charset="0"/>
                <a:ea typeface="Inter" pitchFamily="34" charset="-122"/>
                <a:cs typeface="Inter" pitchFamily="34" charset="-120"/>
              </a:rPr>
              <a:t>  HT / mois</a:t>
            </a:r>
            <a:endParaRPr lang="en-US" sz="2600" dirty="0"/>
          </a:p>
        </p:txBody>
      </p:sp>
      <p:sp>
        <p:nvSpPr>
          <p:cNvPr id="13" name="Text 10"/>
          <p:cNvSpPr/>
          <p:nvPr/>
        </p:nvSpPr>
        <p:spPr>
          <a:xfrm>
            <a:off x="987552" y="4507992"/>
            <a:ext cx="2892552" cy="274320"/>
          </a:xfrm>
          <a:prstGeom prst="rect">
            <a:avLst/>
          </a:prstGeom>
          <a:noFill/>
          <a:ln/>
        </p:spPr>
        <p:txBody>
          <a:bodyPr wrap="square" lIns="0" tIns="0" rIns="0" bIns="0" rtlCol="0" anchor="t"/>
          <a:lstStyle/>
          <a:p>
            <a:pPr indent="0" marL="0">
              <a:buNone/>
            </a:pPr>
            <a:r>
              <a:rPr lang="en-US" sz="950" dirty="0">
                <a:solidFill>
                  <a:srgbClr val="1F7A5C"/>
                </a:solidFill>
                <a:latin typeface="Inter" pitchFamily="34" charset="0"/>
                <a:ea typeface="Inter" pitchFamily="34" charset="-122"/>
                <a:cs typeface="Inter" pitchFamily="34" charset="-120"/>
              </a:rPr>
              <a:t>ou 690 € à l’année — 90 € de moins</a:t>
            </a:r>
            <a:endParaRPr lang="en-US" sz="950" dirty="0"/>
          </a:p>
        </p:txBody>
      </p:sp>
      <p:sp>
        <p:nvSpPr>
          <p:cNvPr id="14" name="Shape 11"/>
          <p:cNvSpPr/>
          <p:nvPr/>
        </p:nvSpPr>
        <p:spPr>
          <a:xfrm>
            <a:off x="4392168" y="2331720"/>
            <a:ext cx="3404616" cy="2743200"/>
          </a:xfrm>
          <a:prstGeom prst="roundRect">
            <a:avLst>
              <a:gd name="adj" fmla="val 4000"/>
            </a:avLst>
          </a:prstGeom>
          <a:solidFill>
            <a:srgbClr val="EEEEFC"/>
          </a:solidFill>
          <a:ln w="19050">
            <a:solidFill>
              <a:srgbClr val="6366F1"/>
            </a:solidFill>
            <a:prstDash val="solid"/>
          </a:ln>
        </p:spPr>
      </p:sp>
      <p:sp>
        <p:nvSpPr>
          <p:cNvPr id="15" name="Text 12"/>
          <p:cNvSpPr/>
          <p:nvPr/>
        </p:nvSpPr>
        <p:spPr>
          <a:xfrm>
            <a:off x="4648200" y="2532888"/>
            <a:ext cx="2892552" cy="219456"/>
          </a:xfrm>
          <a:prstGeom prst="rect">
            <a:avLst/>
          </a:prstGeom>
          <a:noFill/>
          <a:ln/>
        </p:spPr>
        <p:txBody>
          <a:bodyPr wrap="square" lIns="0" tIns="0" rIns="0" bIns="0" rtlCol="0" anchor="t"/>
          <a:lstStyle/>
          <a:p>
            <a:pPr indent="0" marL="0">
              <a:buNone/>
            </a:pPr>
            <a:r>
              <a:rPr lang="en-US" sz="800" b="1" spc="60" kern="0" dirty="0">
                <a:solidFill>
                  <a:srgbClr val="6366F1"/>
                </a:solidFill>
                <a:latin typeface="Inter" pitchFamily="34" charset="0"/>
                <a:ea typeface="Inter" pitchFamily="34" charset="-122"/>
                <a:cs typeface="Inter" pitchFamily="34" charset="-120"/>
              </a:rPr>
              <a:t>LE PLUS COURANT</a:t>
            </a:r>
            <a:endParaRPr lang="en-US" sz="800" dirty="0"/>
          </a:p>
        </p:txBody>
      </p:sp>
      <p:sp>
        <p:nvSpPr>
          <p:cNvPr id="16" name="Text 13"/>
          <p:cNvSpPr/>
          <p:nvPr/>
        </p:nvSpPr>
        <p:spPr>
          <a:xfrm>
            <a:off x="4648200" y="2825496"/>
            <a:ext cx="2892552" cy="347472"/>
          </a:xfrm>
          <a:prstGeom prst="rect">
            <a:avLst/>
          </a:prstGeom>
          <a:noFill/>
          <a:ln/>
        </p:spPr>
        <p:txBody>
          <a:bodyPr wrap="square" lIns="0" tIns="0" rIns="0" bIns="0" rtlCol="0" anchor="t"/>
          <a:lstStyle/>
          <a:p>
            <a:pPr indent="0" marL="0">
              <a:buNone/>
            </a:pPr>
            <a:r>
              <a:rPr lang="en-US" sz="1800" b="1" dirty="0">
                <a:solidFill>
                  <a:srgbClr val="0B0F19"/>
                </a:solidFill>
                <a:latin typeface="Sora" pitchFamily="34" charset="0"/>
                <a:ea typeface="Sora" pitchFamily="34" charset="-122"/>
                <a:cs typeface="Sora" pitchFamily="34" charset="-120"/>
              </a:rPr>
              <a:t>Advanced</a:t>
            </a:r>
            <a:endParaRPr lang="en-US" sz="1800" dirty="0"/>
          </a:p>
        </p:txBody>
      </p:sp>
      <p:sp>
        <p:nvSpPr>
          <p:cNvPr id="17" name="Text 14"/>
          <p:cNvSpPr/>
          <p:nvPr/>
        </p:nvSpPr>
        <p:spPr>
          <a:xfrm>
            <a:off x="4648200" y="3227832"/>
            <a:ext cx="2892552" cy="256032"/>
          </a:xfrm>
          <a:prstGeom prst="rect">
            <a:avLst/>
          </a:prstGeom>
          <a:noFill/>
          <a:ln/>
        </p:spPr>
        <p:txBody>
          <a:bodyPr wrap="square" lIns="0" tIns="0" rIns="0" bIns="0" rtlCol="0" anchor="t"/>
          <a:lstStyle/>
          <a:p>
            <a:pPr indent="0" marL="0">
              <a:buNone/>
            </a:pPr>
            <a:r>
              <a:rPr lang="en-US" sz="1100" b="1" dirty="0">
                <a:solidFill>
                  <a:srgbClr val="6366F1"/>
                </a:solidFill>
                <a:latin typeface="Inter" pitchFamily="34" charset="0"/>
                <a:ea typeface="Inter" pitchFamily="34" charset="-122"/>
                <a:cs typeface="Inter" pitchFamily="34" charset="-120"/>
              </a:rPr>
              <a:t>3 à 20 appareils</a:t>
            </a:r>
            <a:endParaRPr lang="en-US" sz="1100" dirty="0"/>
          </a:p>
        </p:txBody>
      </p:sp>
      <p:sp>
        <p:nvSpPr>
          <p:cNvPr id="18" name="Text 15"/>
          <p:cNvSpPr/>
          <p:nvPr/>
        </p:nvSpPr>
        <p:spPr>
          <a:xfrm>
            <a:off x="4648200" y="3538728"/>
            <a:ext cx="2892552" cy="457200"/>
          </a:xfrm>
          <a:prstGeom prst="rect">
            <a:avLst/>
          </a:prstGeom>
          <a:noFill/>
          <a:ln/>
        </p:spPr>
        <p:txBody>
          <a:bodyPr wrap="square" lIns="0" tIns="0" rIns="0" bIns="0" rtlCol="0" anchor="t"/>
          <a:lstStyle/>
          <a:p>
            <a:pPr indent="0" marL="0">
              <a:lnSpc>
                <a:spcPct val="112000"/>
              </a:lnSpc>
              <a:buNone/>
            </a:pPr>
            <a:r>
              <a:rPr lang="en-US" sz="1000" dirty="0">
                <a:solidFill>
                  <a:srgbClr val="5B6475"/>
                </a:solidFill>
                <a:latin typeface="Inter" pitchFamily="34" charset="0"/>
                <a:ea typeface="Inter" pitchFamily="34" charset="-122"/>
                <a:cs typeface="Inter" pitchFamily="34" charset="-120"/>
              </a:rPr>
              <a:t>Vous montez une équipe le jour de l’inventaire.</a:t>
            </a:r>
            <a:endParaRPr lang="en-US" sz="1000" dirty="0"/>
          </a:p>
        </p:txBody>
      </p:sp>
      <p:sp>
        <p:nvSpPr>
          <p:cNvPr id="19" name="Text 16"/>
          <p:cNvSpPr/>
          <p:nvPr/>
        </p:nvSpPr>
        <p:spPr>
          <a:xfrm>
            <a:off x="4648200" y="4050792"/>
            <a:ext cx="2892552" cy="457200"/>
          </a:xfrm>
          <a:prstGeom prst="rect">
            <a:avLst/>
          </a:prstGeom>
          <a:noFill/>
          <a:ln/>
        </p:spPr>
        <p:txBody>
          <a:bodyPr wrap="square" lIns="0" tIns="0" rIns="0" bIns="0" rtlCol="0" anchor="b"/>
          <a:lstStyle/>
          <a:p>
            <a:pPr indent="0" marL="0">
              <a:buNone/>
            </a:pPr>
            <a:r>
              <a:rPr lang="en-US" sz="2600" b="1" dirty="0">
                <a:solidFill>
                  <a:srgbClr val="4636B0"/>
                </a:solidFill>
                <a:latin typeface="Sora" pitchFamily="34" charset="0"/>
                <a:ea typeface="Sora" pitchFamily="34" charset="-122"/>
                <a:cs typeface="Sora" pitchFamily="34" charset="-120"/>
              </a:rPr>
              <a:t>225 €</a:t>
            </a:r>
            <a:pPr indent="0" marL="0">
              <a:buNone/>
            </a:pPr>
            <a:r>
              <a:rPr lang="en-US" sz="1050" dirty="0">
                <a:solidFill>
                  <a:srgbClr val="5B6475"/>
                </a:solidFill>
                <a:latin typeface="Inter" pitchFamily="34" charset="0"/>
                <a:ea typeface="Inter" pitchFamily="34" charset="-122"/>
                <a:cs typeface="Inter" pitchFamily="34" charset="-120"/>
              </a:rPr>
              <a:t>  HT / mois</a:t>
            </a:r>
            <a:endParaRPr lang="en-US" sz="2600" dirty="0"/>
          </a:p>
        </p:txBody>
      </p:sp>
      <p:sp>
        <p:nvSpPr>
          <p:cNvPr id="20" name="Text 17"/>
          <p:cNvSpPr/>
          <p:nvPr/>
        </p:nvSpPr>
        <p:spPr>
          <a:xfrm>
            <a:off x="4648200" y="4507992"/>
            <a:ext cx="2892552" cy="274320"/>
          </a:xfrm>
          <a:prstGeom prst="rect">
            <a:avLst/>
          </a:prstGeom>
          <a:noFill/>
          <a:ln/>
        </p:spPr>
        <p:txBody>
          <a:bodyPr wrap="square" lIns="0" tIns="0" rIns="0" bIns="0" rtlCol="0" anchor="t"/>
          <a:lstStyle/>
          <a:p>
            <a:pPr indent="0" marL="0">
              <a:buNone/>
            </a:pPr>
            <a:r>
              <a:rPr lang="en-US" sz="950" dirty="0">
                <a:solidFill>
                  <a:srgbClr val="1F7A5C"/>
                </a:solidFill>
                <a:latin typeface="Inter" pitchFamily="34" charset="0"/>
                <a:ea typeface="Inter" pitchFamily="34" charset="-122"/>
                <a:cs typeface="Inter" pitchFamily="34" charset="-120"/>
              </a:rPr>
              <a:t>ou 2 400 € à l’année — 300 € de moins</a:t>
            </a:r>
            <a:endParaRPr lang="en-US" sz="950" dirty="0"/>
          </a:p>
        </p:txBody>
      </p:sp>
      <p:sp>
        <p:nvSpPr>
          <p:cNvPr id="21" name="Shape 18"/>
          <p:cNvSpPr/>
          <p:nvPr/>
        </p:nvSpPr>
        <p:spPr>
          <a:xfrm>
            <a:off x="8052816" y="2331720"/>
            <a:ext cx="3404616" cy="2743200"/>
          </a:xfrm>
          <a:prstGeom prst="roundRect">
            <a:avLst>
              <a:gd name="adj" fmla="val 4000"/>
            </a:avLst>
          </a:prstGeom>
          <a:solidFill>
            <a:srgbClr val="FFFFFF"/>
          </a:solidFill>
          <a:ln w="12700">
            <a:solidFill>
              <a:srgbClr val="E3E6EE"/>
            </a:solidFill>
            <a:prstDash val="solid"/>
          </a:ln>
        </p:spPr>
      </p:sp>
      <p:sp>
        <p:nvSpPr>
          <p:cNvPr id="22" name="Text 19"/>
          <p:cNvSpPr/>
          <p:nvPr/>
        </p:nvSpPr>
        <p:spPr>
          <a:xfrm>
            <a:off x="8308848" y="2825496"/>
            <a:ext cx="2892552" cy="347472"/>
          </a:xfrm>
          <a:prstGeom prst="rect">
            <a:avLst/>
          </a:prstGeom>
          <a:noFill/>
          <a:ln/>
        </p:spPr>
        <p:txBody>
          <a:bodyPr wrap="square" lIns="0" tIns="0" rIns="0" bIns="0" rtlCol="0" anchor="t"/>
          <a:lstStyle/>
          <a:p>
            <a:pPr indent="0" marL="0">
              <a:buNone/>
            </a:pPr>
            <a:r>
              <a:rPr lang="en-US" sz="1800" b="1" dirty="0">
                <a:solidFill>
                  <a:srgbClr val="0B0F19"/>
                </a:solidFill>
                <a:latin typeface="Sora" pitchFamily="34" charset="0"/>
                <a:ea typeface="Sora" pitchFamily="34" charset="-122"/>
                <a:cs typeface="Sora" pitchFamily="34" charset="-120"/>
              </a:rPr>
              <a:t>Enterprise</a:t>
            </a:r>
            <a:endParaRPr lang="en-US" sz="1800" dirty="0"/>
          </a:p>
        </p:txBody>
      </p:sp>
      <p:sp>
        <p:nvSpPr>
          <p:cNvPr id="23" name="Text 20"/>
          <p:cNvSpPr/>
          <p:nvPr/>
        </p:nvSpPr>
        <p:spPr>
          <a:xfrm>
            <a:off x="8308848" y="3227832"/>
            <a:ext cx="2892552" cy="256032"/>
          </a:xfrm>
          <a:prstGeom prst="rect">
            <a:avLst/>
          </a:prstGeom>
          <a:noFill/>
          <a:ln/>
        </p:spPr>
        <p:txBody>
          <a:bodyPr wrap="square" lIns="0" tIns="0" rIns="0" bIns="0" rtlCol="0" anchor="t"/>
          <a:lstStyle/>
          <a:p>
            <a:pPr indent="0" marL="0">
              <a:buNone/>
            </a:pPr>
            <a:r>
              <a:rPr lang="en-US" sz="1100" b="1" dirty="0">
                <a:solidFill>
                  <a:srgbClr val="6366F1"/>
                </a:solidFill>
                <a:latin typeface="Inter" pitchFamily="34" charset="0"/>
                <a:ea typeface="Inter" pitchFamily="34" charset="-122"/>
                <a:cs typeface="Inter" pitchFamily="34" charset="-120"/>
              </a:rPr>
              <a:t>21 à 100 appareils</a:t>
            </a:r>
            <a:endParaRPr lang="en-US" sz="1100" dirty="0"/>
          </a:p>
        </p:txBody>
      </p:sp>
      <p:sp>
        <p:nvSpPr>
          <p:cNvPr id="24" name="Text 21"/>
          <p:cNvSpPr/>
          <p:nvPr/>
        </p:nvSpPr>
        <p:spPr>
          <a:xfrm>
            <a:off x="8308848" y="3538728"/>
            <a:ext cx="2892552" cy="457200"/>
          </a:xfrm>
          <a:prstGeom prst="rect">
            <a:avLst/>
          </a:prstGeom>
          <a:noFill/>
          <a:ln/>
        </p:spPr>
        <p:txBody>
          <a:bodyPr wrap="square" lIns="0" tIns="0" rIns="0" bIns="0" rtlCol="0" anchor="t"/>
          <a:lstStyle/>
          <a:p>
            <a:pPr indent="0" marL="0">
              <a:lnSpc>
                <a:spcPct val="112000"/>
              </a:lnSpc>
              <a:buNone/>
            </a:pPr>
            <a:r>
              <a:rPr lang="en-US" sz="1000" dirty="0">
                <a:solidFill>
                  <a:srgbClr val="5B6475"/>
                </a:solidFill>
                <a:latin typeface="Inter" pitchFamily="34" charset="0"/>
                <a:ea typeface="Inter" pitchFamily="34" charset="-122"/>
                <a:cs typeface="Inter" pitchFamily="34" charset="-120"/>
              </a:rPr>
              <a:t>La grande surface, qui mobilise une équipe entière.</a:t>
            </a:r>
            <a:endParaRPr lang="en-US" sz="1000" dirty="0"/>
          </a:p>
        </p:txBody>
      </p:sp>
      <p:sp>
        <p:nvSpPr>
          <p:cNvPr id="25" name="Text 22"/>
          <p:cNvSpPr/>
          <p:nvPr/>
        </p:nvSpPr>
        <p:spPr>
          <a:xfrm>
            <a:off x="8308848" y="4050792"/>
            <a:ext cx="2892552" cy="457200"/>
          </a:xfrm>
          <a:prstGeom prst="rect">
            <a:avLst/>
          </a:prstGeom>
          <a:noFill/>
          <a:ln/>
        </p:spPr>
        <p:txBody>
          <a:bodyPr wrap="square" lIns="0" tIns="0" rIns="0" bIns="0" rtlCol="0" anchor="b"/>
          <a:lstStyle/>
          <a:p>
            <a:pPr indent="0" marL="0">
              <a:buNone/>
            </a:pPr>
            <a:r>
              <a:rPr lang="en-US" sz="2600" b="1" dirty="0">
                <a:solidFill>
                  <a:srgbClr val="4636B0"/>
                </a:solidFill>
                <a:latin typeface="Sora" pitchFamily="34" charset="0"/>
                <a:ea typeface="Sora" pitchFamily="34" charset="-122"/>
                <a:cs typeface="Sora" pitchFamily="34" charset="-120"/>
              </a:rPr>
              <a:t>650 €</a:t>
            </a:r>
            <a:pPr indent="0" marL="0">
              <a:buNone/>
            </a:pPr>
            <a:r>
              <a:rPr lang="en-US" sz="1050" dirty="0">
                <a:solidFill>
                  <a:srgbClr val="5B6475"/>
                </a:solidFill>
                <a:latin typeface="Inter" pitchFamily="34" charset="0"/>
                <a:ea typeface="Inter" pitchFamily="34" charset="-122"/>
                <a:cs typeface="Inter" pitchFamily="34" charset="-120"/>
              </a:rPr>
              <a:t>  HT / mois</a:t>
            </a:r>
            <a:endParaRPr lang="en-US" sz="2600" dirty="0"/>
          </a:p>
        </p:txBody>
      </p:sp>
      <p:sp>
        <p:nvSpPr>
          <p:cNvPr id="26" name="Text 23"/>
          <p:cNvSpPr/>
          <p:nvPr/>
        </p:nvSpPr>
        <p:spPr>
          <a:xfrm>
            <a:off x="8308848" y="4507992"/>
            <a:ext cx="2892552" cy="274320"/>
          </a:xfrm>
          <a:prstGeom prst="rect">
            <a:avLst/>
          </a:prstGeom>
          <a:noFill/>
          <a:ln/>
        </p:spPr>
        <p:txBody>
          <a:bodyPr wrap="square" lIns="0" tIns="0" rIns="0" bIns="0" rtlCol="0" anchor="t"/>
          <a:lstStyle/>
          <a:p>
            <a:pPr indent="0" marL="0">
              <a:buNone/>
            </a:pPr>
            <a:r>
              <a:rPr lang="en-US" sz="950" dirty="0">
                <a:solidFill>
                  <a:srgbClr val="1F7A5C"/>
                </a:solidFill>
                <a:latin typeface="Inter" pitchFamily="34" charset="0"/>
                <a:ea typeface="Inter" pitchFamily="34" charset="-122"/>
                <a:cs typeface="Inter" pitchFamily="34" charset="-120"/>
              </a:rPr>
              <a:t>ou 6 900 € à l’année — 900 € de moins</a:t>
            </a:r>
            <a:endParaRPr lang="en-US" sz="950" dirty="0"/>
          </a:p>
        </p:txBody>
      </p:sp>
      <p:sp>
        <p:nvSpPr>
          <p:cNvPr id="27" name="Text 24"/>
          <p:cNvSpPr/>
          <p:nvPr/>
        </p:nvSpPr>
        <p:spPr>
          <a:xfrm>
            <a:off x="731520" y="5212080"/>
            <a:ext cx="10725912" cy="1005840"/>
          </a:xfrm>
          <a:prstGeom prst="rect">
            <a:avLst/>
          </a:prstGeom>
          <a:noFill/>
          <a:ln/>
        </p:spPr>
        <p:txBody>
          <a:bodyPr wrap="square" lIns="0" tIns="0" rIns="0" bIns="0" rtlCol="0" anchor="t"/>
          <a:lstStyle/>
          <a:p>
            <a:pPr indent="0" marL="0">
              <a:lnSpc>
                <a:spcPct val="118000"/>
              </a:lnSpc>
              <a:spcAft>
                <a:spcPts val="900"/>
              </a:spcAft>
              <a:buNone/>
            </a:pPr>
            <a:r>
              <a:rPr lang="en-US" sz="1200" b="1" dirty="0">
                <a:solidFill>
                  <a:srgbClr val="0B0F19"/>
                </a:solidFill>
                <a:latin typeface="Inter" pitchFamily="34" charset="0"/>
                <a:ea typeface="Inter" pitchFamily="34" charset="-122"/>
                <a:cs typeface="Inter" pitchFamily="34" charset="-120"/>
              </a:rPr>
              <a:t>Ce que ça change pour l’inventaire tournant. </a:t>
            </a:r>
            <a:pPr indent="0" marL="0">
              <a:lnSpc>
                <a:spcPct val="118000"/>
              </a:lnSpc>
              <a:spcAft>
                <a:spcPts val="900"/>
              </a:spcAft>
              <a:buNone/>
            </a:pPr>
            <a:r>
              <a:rPr lang="en-US" sz="1200" dirty="0">
                <a:solidFill>
                  <a:srgbClr val="3D4556"/>
                </a:solidFill>
                <a:latin typeface="Inter" pitchFamily="34" charset="0"/>
                <a:ea typeface="Inter" pitchFamily="34" charset="-122"/>
                <a:cs typeface="Inter" pitchFamily="34" charset="-120"/>
              </a:rPr>
              <a:t>À l'intérieur d'un palier, compter davantage ne coûte rien : un chef d'équipe qui décide de compter son rayon un mardi matin n'a aucun budget à demander. C'est ce qui rend le transfert au floor tenable dans la durée.</a:t>
            </a:r>
            <a:endParaRPr lang="en-US" sz="1200" dirty="0"/>
          </a:p>
          <a:p>
            <a:pPr indent="0" marL="0">
              <a:lnSpc>
                <a:spcPct val="118000"/>
              </a:lnSpc>
              <a:spcAft>
                <a:spcPts val="900"/>
              </a:spcAft>
              <a:buNone/>
            </a:pPr>
            <a:r>
              <a:rPr lang="en-US" sz="1200" b="1" dirty="0">
                <a:solidFill>
                  <a:srgbClr val="0B0F19"/>
                </a:solidFill>
                <a:latin typeface="Inter" pitchFamily="34" charset="0"/>
                <a:ea typeface="Inter" pitchFamily="34" charset="-122"/>
                <a:cs typeface="Inter" pitchFamily="34" charset="-120"/>
              </a:rPr>
              <a:t>Zéro matériel. </a:t>
            </a:r>
            <a:pPr indent="0" marL="0">
              <a:lnSpc>
                <a:spcPct val="118000"/>
              </a:lnSpc>
              <a:spcAft>
                <a:spcPts val="900"/>
              </a:spcAft>
              <a:buNone/>
            </a:pPr>
            <a:r>
              <a:rPr lang="en-US" sz="1200" dirty="0">
                <a:solidFill>
                  <a:srgbClr val="3D4556"/>
                </a:solidFill>
                <a:latin typeface="Inter" pitchFamily="34" charset="0"/>
                <a:ea typeface="Inter" pitchFamily="34" charset="-122"/>
                <a:cs typeface="Inter" pitchFamily="34" charset="-120"/>
              </a:rPr>
              <a:t>Aucun terminal à acheter, à louer, à configurer ou à remplacer. L'application, le tableau de bord, les rapports et les mises à jour sont compris.</a:t>
            </a:r>
            <a:endParaRPr lang="en-US" sz="1200" dirty="0"/>
          </a:p>
        </p:txBody>
      </p:sp>
      <p:sp>
        <p:nvSpPr>
          <p:cNvPr id="28" name="Text 25"/>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Inter" pitchFamily="34" charset="0"/>
                <a:ea typeface="Inter" pitchFamily="34" charset="-122"/>
                <a:cs typeface="Inter" pitchFamily="34" charset="-120"/>
              </a:rPr>
              <a:t>Quantinvo · proposition pour La Samaritaine</a:t>
            </a:r>
            <a:endParaRPr lang="en-US" sz="900" dirty="0"/>
          </a:p>
        </p:txBody>
      </p:sp>
      <p:sp>
        <p:nvSpPr>
          <p:cNvPr id="29" name="Text 26"/>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Inter" pitchFamily="34" charset="0"/>
                <a:ea typeface="Inter" pitchFamily="34" charset="-122"/>
                <a:cs typeface="Inter"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66928" cy="566928"/>
          </a:xfrm>
          <a:prstGeom prst="rect">
            <a:avLst/>
          </a:prstGeom>
        </p:spPr>
      </p:pic>
      <p:sp>
        <p:nvSpPr>
          <p:cNvPr id="3" name="Text 0"/>
          <p:cNvSpPr/>
          <p:nvPr/>
        </p:nvSpPr>
        <p:spPr>
          <a:xfrm>
            <a:off x="1444752" y="658368"/>
            <a:ext cx="4572000" cy="621792"/>
          </a:xfrm>
          <a:prstGeom prst="rect">
            <a:avLst/>
          </a:prstGeom>
          <a:noFill/>
          <a:ln/>
        </p:spPr>
        <p:txBody>
          <a:bodyPr wrap="square" lIns="0" tIns="0" rIns="0" bIns="0" rtlCol="0" anchor="ctr"/>
          <a:lstStyle/>
          <a:p>
            <a:pPr indent="0" marL="0">
              <a:buNone/>
            </a:pPr>
            <a:r>
              <a:rPr lang="en-US" sz="2400" b="1" dirty="0">
                <a:solidFill>
                  <a:srgbClr val="0B0F19"/>
                </a:solidFill>
                <a:latin typeface="Sora" pitchFamily="34" charset="0"/>
                <a:ea typeface="Sora" pitchFamily="34" charset="-122"/>
                <a:cs typeface="Sora" pitchFamily="34" charset="-120"/>
              </a:rPr>
              <a:t>Quantinvo</a:t>
            </a:r>
            <a:endParaRPr lang="en-US" sz="2400" dirty="0"/>
          </a:p>
        </p:txBody>
      </p:sp>
      <p:sp>
        <p:nvSpPr>
          <p:cNvPr id="4" name="Shape 1"/>
          <p:cNvSpPr/>
          <p:nvPr/>
        </p:nvSpPr>
        <p:spPr>
          <a:xfrm>
            <a:off x="731520" y="1481328"/>
            <a:ext cx="2377440" cy="25603"/>
          </a:xfrm>
          <a:prstGeom prst="rect">
            <a:avLst/>
          </a:prstGeom>
          <a:solidFill>
            <a:srgbClr val="38C9FF"/>
          </a:solidFill>
          <a:ln w="12700">
            <a:solidFill>
              <a:srgbClr val="38C9FF"/>
            </a:solidFill>
            <a:prstDash val="solid"/>
          </a:ln>
        </p:spPr>
      </p:sp>
      <p:sp>
        <p:nvSpPr>
          <p:cNvPr id="5" name="Text 2"/>
          <p:cNvSpPr/>
          <p:nvPr/>
        </p:nvSpPr>
        <p:spPr>
          <a:xfrm>
            <a:off x="731520" y="2377440"/>
            <a:ext cx="8686800" cy="1188720"/>
          </a:xfrm>
          <a:prstGeom prst="rect">
            <a:avLst/>
          </a:prstGeom>
          <a:noFill/>
          <a:ln/>
        </p:spPr>
        <p:txBody>
          <a:bodyPr wrap="square" lIns="0" tIns="0" rIns="0" bIns="0" rtlCol="0" anchor="t"/>
          <a:lstStyle/>
          <a:p>
            <a:pPr indent="0" marL="0">
              <a:lnSpc>
                <a:spcPct val="105000"/>
              </a:lnSpc>
              <a:buNone/>
            </a:pPr>
            <a:r>
              <a:rPr lang="en-US" sz="3600" b="1" dirty="0">
                <a:solidFill>
                  <a:srgbClr val="4636B0"/>
                </a:solidFill>
                <a:latin typeface="Sora" pitchFamily="34" charset="0"/>
                <a:ea typeface="Sora" pitchFamily="34" charset="-122"/>
                <a:cs typeface="Sora" pitchFamily="34" charset="-120"/>
              </a:rPr>
              <a:t>Essayons sur un rayon.</a:t>
            </a:r>
            <a:endParaRPr lang="en-US" sz="3600" dirty="0"/>
          </a:p>
        </p:txBody>
      </p:sp>
      <p:sp>
        <p:nvSpPr>
          <p:cNvPr id="6" name="Text 3"/>
          <p:cNvSpPr/>
          <p:nvPr/>
        </p:nvSpPr>
        <p:spPr>
          <a:xfrm>
            <a:off x="731520" y="3657600"/>
            <a:ext cx="7315200" cy="1188720"/>
          </a:xfrm>
          <a:prstGeom prst="rect">
            <a:avLst/>
          </a:prstGeom>
          <a:noFill/>
          <a:ln/>
        </p:spPr>
        <p:txBody>
          <a:bodyPr wrap="square" lIns="0" tIns="0" rIns="0" bIns="0" rtlCol="0" anchor="t"/>
          <a:lstStyle/>
          <a:p>
            <a:pPr indent="0" marL="0">
              <a:lnSpc>
                <a:spcPct val="120000"/>
              </a:lnSpc>
              <a:buNone/>
            </a:pPr>
            <a:r>
              <a:rPr lang="en-US" sz="1450" dirty="0">
                <a:solidFill>
                  <a:srgbClr val="3D4556"/>
                </a:solidFill>
                <a:latin typeface="Inter" pitchFamily="34" charset="0"/>
                <a:ea typeface="Inter" pitchFamily="34" charset="-122"/>
                <a:cs typeface="Inter" pitchFamily="34" charset="-120"/>
              </a:rPr>
              <a:t>Une démonstration avec un chef d'équipe et deux vendeurs, sur votre propre stock théorique : il l'importe, ils balisent leur rayon, ils comptent, et vous recevez le rapport. Un mardi matin avant l'ouverture suffit.</a:t>
            </a:r>
            <a:endParaRPr lang="en-US" sz="1450" dirty="0"/>
          </a:p>
        </p:txBody>
      </p:sp>
      <p:sp>
        <p:nvSpPr>
          <p:cNvPr id="7" name="Text 4"/>
          <p:cNvSpPr/>
          <p:nvPr/>
        </p:nvSpPr>
        <p:spPr>
          <a:xfrm>
            <a:off x="731520" y="5029200"/>
            <a:ext cx="8229600" cy="411480"/>
          </a:xfrm>
          <a:prstGeom prst="rect">
            <a:avLst/>
          </a:prstGeom>
          <a:noFill/>
          <a:ln/>
        </p:spPr>
        <p:txBody>
          <a:bodyPr wrap="square" lIns="0" tIns="0" rIns="0" bIns="0" rtlCol="0" anchor="t"/>
          <a:lstStyle/>
          <a:p>
            <a:pPr indent="0" marL="0">
              <a:buNone/>
            </a:pPr>
            <a:r>
              <a:rPr lang="en-US" sz="1500" b="1" dirty="0">
                <a:solidFill>
                  <a:srgbClr val="4636B0"/>
                </a:solidFill>
                <a:latin typeface="Sora" pitchFamily="34" charset="0"/>
                <a:ea typeface="Sora" pitchFamily="34" charset="-122"/>
                <a:cs typeface="Sora" pitchFamily="34" charset="-120"/>
              </a:rPr>
              <a:t>contact@quantinvo.com   ·   www.quantinvo.com</a:t>
            </a:r>
            <a:endParaRPr lang="en-US" sz="1500" dirty="0"/>
          </a:p>
        </p:txBody>
      </p:sp>
      <p:sp>
        <p:nvSpPr>
          <p:cNvPr id="8" name="Text 5"/>
          <p:cNvSpPr/>
          <p:nvPr/>
        </p:nvSpPr>
        <p:spPr>
          <a:xfrm>
            <a:off x="731520" y="6080760"/>
            <a:ext cx="9144000" cy="320040"/>
          </a:xfrm>
          <a:prstGeom prst="rect">
            <a:avLst/>
          </a:prstGeom>
          <a:noFill/>
          <a:ln/>
        </p:spPr>
        <p:txBody>
          <a:bodyPr wrap="square" lIns="0" tIns="0" rIns="0" bIns="0" rtlCol="0" anchor="t"/>
          <a:lstStyle/>
          <a:p>
            <a:pPr indent="0" marL="0">
              <a:buNone/>
            </a:pPr>
            <a:r>
              <a:rPr lang="en-US" sz="1050" dirty="0">
                <a:solidFill>
                  <a:srgbClr val="5B6475"/>
                </a:solidFill>
                <a:latin typeface="Inter" pitchFamily="34" charset="0"/>
                <a:ea typeface="Inter" pitchFamily="34" charset="-122"/>
                <a:cs typeface="Inter" pitchFamily="34" charset="-120"/>
              </a:rPr>
              <a:t>Quantinvo, par Devkaylab. L’outil d’inventaire pour le commerce.</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Devkaylab</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Quantinvo — proposition pour La Samaritaine</dc:title>
  <dc:subject>PptxGenJS Presentation</dc:subject>
  <dc:creator>Devkaylab</dc:creator>
  <cp:lastModifiedBy>Devkaylab</cp:lastModifiedBy>
  <cp:revision>1</cp:revision>
  <dcterms:created xsi:type="dcterms:W3CDTF">2026-08-30T17:39:24Z</dcterms:created>
  <dcterms:modified xsi:type="dcterms:W3CDTF">2026-08-30T17:39:24Z</dcterms:modified>
</cp:coreProperties>
</file>