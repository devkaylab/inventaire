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téléphone sur la table en même temps que la page s'affiche. Ne rien vendre encore : on montre l'objet, on dit d'où il vient, et on enchaîne.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rien commenter : lire, et laisser la page faire son effet. C'est leur document, ils s'y reconnaissent. La question qui vient toute seule : pourquoi tout cela passe-t-il par l'Inventory Control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lire les cinq lignes : lire « La veille », puis descendre directement sur « Au total ». Chaque ligne de gauche est portée par l'Inventory Control, chaque ligne de droite par le floor — sauf la dernière, la seule qui vous reste. C'est le pivot de toute la proposition : on ne propose pas d'alléger votre charge, on propose de la transférer.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écrans sont de vraies captures de l'application, celles du guide de prise en main. Et l'Inventory Control ? Il n'a pas d'écran sur cette page — c'est le message. Le sien arrive deux pages plus loin :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poste de surveillance n'est pas supprimé, il est distribué : chaque chef d'équipe voit son rayon, et vous voyez tout sans rien opérer. Le recomptage ne disparaît pas non plus — il se décide à chaud plutôt que d'être découvert sur la plateforme.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page de l'Inventory Control : son travail commence ici, sur un fichier déjà croisé avec le théorique. Le circuit de validation ne change pas — il s'exerce sur un fichier mieux rangé, et plus tôt dans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pages en une : la comparaison et les limites. Ne pas la sauter — un prospect qui découvre une limite après coup perd confiance, un prospect averti la comprend. L'argument décisif de la colonne de gauche : un outil expert suppose un service expert pour le servir, ce qui est incompatible avec le transfert au floor. Un dossier technique séparé existe pour la DSI : le proposer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48799" y="1097280"/>
            <a:ext cx="2208633" cy="4663440"/>
          </a:xfrm>
          <a:prstGeom prst="roundRect">
            <a:avLst>
              <a:gd name="adj" fmla="val 12420"/>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3" name="Image 0" descr="preencoded.png">    </p:cNvPr>
          <p:cNvPicPr>
            <a:picLocks noChangeAspect="1"/>
          </p:cNvPicPr>
          <p:nvPr/>
        </p:nvPicPr>
        <p:blipFill>
          <a:blip r:embed="rId1"/>
          <a:stretch>
            <a:fillRect/>
          </a:stretch>
        </p:blipFill>
        <p:spPr>
          <a:xfrm>
            <a:off x="9248799" y="1097280"/>
            <a:ext cx="2208633" cy="4663440"/>
          </a:xfrm>
          <a:prstGeom prst="rect">
            <a:avLst/>
          </a:prstGeom>
        </p:spPr>
      </p:pic>
      <p:pic>
        <p:nvPicPr>
          <p:cNvPr id="4" name="Image 1" descr="preencoded.png">    </p:cNvPr>
          <p:cNvPicPr>
            <a:picLocks noChangeAspect="1"/>
          </p:cNvPicPr>
          <p:nvPr/>
        </p:nvPicPr>
        <p:blipFill>
          <a:blip r:embed="rId2"/>
          <a:stretch>
            <a:fillRect/>
          </a:stretch>
        </p:blipFill>
        <p:spPr>
          <a:xfrm>
            <a:off x="731520" y="1417320"/>
            <a:ext cx="566928" cy="566928"/>
          </a:xfrm>
          <a:prstGeom prst="rect">
            <a:avLst/>
          </a:prstGeom>
        </p:spPr>
      </p:pic>
      <p:sp>
        <p:nvSpPr>
          <p:cNvPr id="5" name="Text 1"/>
          <p:cNvSpPr/>
          <p:nvPr/>
        </p:nvSpPr>
        <p:spPr>
          <a:xfrm>
            <a:off x="1444752" y="138988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6" name="Shape 2"/>
          <p:cNvSpPr/>
          <p:nvPr/>
        </p:nvSpPr>
        <p:spPr>
          <a:xfrm>
            <a:off x="731520" y="2212848"/>
            <a:ext cx="2377440" cy="25603"/>
          </a:xfrm>
          <a:prstGeom prst="rect">
            <a:avLst/>
          </a:prstGeom>
          <a:solidFill>
            <a:srgbClr val="38C9FF"/>
          </a:solidFill>
          <a:ln w="12700">
            <a:solidFill>
              <a:srgbClr val="38C9FF"/>
            </a:solidFill>
            <a:prstDash val="solid"/>
          </a:ln>
        </p:spPr>
      </p:sp>
      <p:sp>
        <p:nvSpPr>
          <p:cNvPr id="7" name="Text 3"/>
          <p:cNvSpPr/>
          <p:nvPr/>
        </p:nvSpPr>
        <p:spPr>
          <a:xfrm>
            <a:off x="731520" y="2788920"/>
            <a:ext cx="6400800" cy="1828800"/>
          </a:xfrm>
          <a:prstGeom prst="rect">
            <a:avLst/>
          </a:prstGeom>
          <a:noFill/>
          <a:ln/>
        </p:spPr>
        <p:txBody>
          <a:bodyPr wrap="square" lIns="0" tIns="0" rIns="0" bIns="0" rtlCol="0" anchor="t"/>
          <a:lstStyle/>
          <a:p>
            <a:pPr indent="0" marL="0">
              <a:lnSpc>
                <a:spcPct val="115000"/>
              </a:lnSpc>
              <a:buNone/>
            </a:pPr>
            <a:r>
              <a:rPr lang="en-US" sz="2500" i="1" dirty="0">
                <a:solidFill>
                  <a:srgbClr val="4636B0"/>
                </a:solidFill>
                <a:latin typeface="Sora" pitchFamily="34" charset="0"/>
                <a:ea typeface="Sora" pitchFamily="34" charset="-122"/>
                <a:cs typeface="Sora" pitchFamily="34" charset="-120"/>
              </a:rPr>
              <a:t>« J'ai dessiné Quantinvo pendant des inventaires, pas dans une salle de réunion. »</a:t>
            </a:r>
            <a:endParaRPr lang="en-US" sz="2500" dirty="0"/>
          </a:p>
        </p:txBody>
      </p:sp>
      <p:sp>
        <p:nvSpPr>
          <p:cNvPr id="8" name="Text 4"/>
          <p:cNvSpPr/>
          <p:nvPr/>
        </p:nvSpPr>
        <p:spPr>
          <a:xfrm>
            <a:off x="731520" y="4206240"/>
            <a:ext cx="6400800" cy="365760"/>
          </a:xfrm>
          <a:prstGeom prst="rect">
            <a:avLst/>
          </a:prstGeom>
          <a:noFill/>
          <a:ln/>
        </p:spPr>
        <p:txBody>
          <a:bodyPr wrap="square" lIns="0" tIns="0" rIns="0" bIns="0" rtlCol="0" anchor="t"/>
          <a:lstStyle/>
          <a:p>
            <a:pPr algn="l" indent="0" marL="0">
              <a:lnSpc>
                <a:spcPct val="118000"/>
              </a:lnSpc>
              <a:buNone/>
            </a:pPr>
            <a:r>
              <a:rPr lang="en-US" sz="1250" dirty="0">
                <a:solidFill>
                  <a:srgbClr val="5B6475"/>
                </a:solidFill>
                <a:latin typeface="Inter" pitchFamily="34" charset="0"/>
                <a:ea typeface="Inter" pitchFamily="34" charset="-122"/>
                <a:cs typeface="Inter" pitchFamily="34" charset="-120"/>
              </a:rPr>
              <a:t>Julien Thiong-kay, Devkaylab</a:t>
            </a:r>
            <a:endParaRPr lang="en-US" sz="1250" dirty="0"/>
          </a:p>
        </p:txBody>
      </p:sp>
      <p:sp>
        <p:nvSpPr>
          <p:cNvPr id="9" name="Text 5"/>
          <p:cNvSpPr/>
          <p:nvPr/>
        </p:nvSpPr>
        <p:spPr>
          <a:xfrm>
            <a:off x="731520" y="5532120"/>
            <a:ext cx="6400800" cy="320040"/>
          </a:xfrm>
          <a:prstGeom prst="rect">
            <a:avLst/>
          </a:prstGeom>
          <a:noFill/>
          <a:ln/>
        </p:spPr>
        <p:txBody>
          <a:bodyPr wrap="square" lIns="0" tIns="0" rIns="0" bIns="0" rtlCol="0" anchor="t"/>
          <a:lstStyle/>
          <a:p>
            <a:pPr algn="l" indent="0" marL="0">
              <a:lnSpc>
                <a:spcPct val="118000"/>
              </a:lnSpc>
              <a:buNone/>
            </a:pPr>
            <a:r>
              <a:rPr lang="en-US" sz="1050" dirty="0">
                <a:solidFill>
                  <a:srgbClr val="5B6475"/>
                </a:solidFill>
                <a:latin typeface="Inter" pitchFamily="34" charset="0"/>
                <a:ea typeface="Inter" pitchFamily="34" charset="-122"/>
                <a:cs typeface="Inter" pitchFamily="34" charset="-120"/>
              </a:rPr>
              <a:t>L'outil d'inventaire pour le commerce.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5544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Votre journée d'inventaire, telle qu'elle se déroule.</a:t>
            </a:r>
            <a:endParaRPr lang="en-US" sz="2600" dirty="0"/>
          </a:p>
        </p:txBody>
      </p:sp>
      <p:sp>
        <p:nvSpPr>
          <p:cNvPr id="7" name="Text 4"/>
          <p:cNvSpPr/>
          <p:nvPr/>
        </p:nvSpPr>
        <p:spPr>
          <a:xfrm>
            <a:off x="731520" y="2926080"/>
            <a:ext cx="4206240" cy="109728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Reprise de votre déroulement d'inventaire tournant, étape par étape. Chaque ligne est tirée de votre document — et chaque ligne est portée par l'Inventory Control.</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La veille.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Balisage des zones à inventorier, stickers posés avec une personne du floor ou du relay.</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Le matin.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Télécharger le stock théorique du jour, ouvrir la session SmartCount, connecter les terminaux Zebra un par un — en vérifiant la date et la localisation de chacun (101 floor / BOH, 902 relay). Puis briefer les compteurs sur le maniement des terminaux et la procédure.</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Pendant.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Déclencher l'audit des zones comptées — 100 % pour la W&amp;J, 30 % au moins ailleurs —, guetter les failed audits sur SmartCount, faire recompter les zones en désaccord.</a:t>
            </a:r>
            <a:endParaRPr lang="en-US" sz="1300" dirty="0"/>
          </a:p>
          <a:p>
            <a:pPr indent="0" marL="0">
              <a:lnSpc>
                <a:spcPct val="118000"/>
              </a:lnSpc>
              <a:spcAft>
                <a:spcPts val="1600"/>
              </a:spcAft>
              <a:buNone/>
            </a:pPr>
            <a:r>
              <a:rPr lang="en-US" sz="1300" b="1" dirty="0">
                <a:solidFill>
                  <a:srgbClr val="0B0F19"/>
                </a:solidFill>
                <a:latin typeface="Inter" pitchFamily="34" charset="0"/>
                <a:ea typeface="Inter" pitchFamily="34" charset="-122"/>
                <a:cs typeface="Inter" pitchFamily="34" charset="-120"/>
              </a:rPr>
              <a:t>Après. </a:t>
            </a:r>
            <a:pPr indent="0" marL="0">
              <a:lnSpc>
                <a:spcPct val="118000"/>
              </a:lnSpc>
              <a:spcAft>
                <a:spcPts val="1600"/>
              </a:spcAft>
              <a:buNone/>
            </a:pPr>
            <a:r>
              <a:rPr lang="en-US" sz="1300" dirty="0">
                <a:solidFill>
                  <a:srgbClr val="3D4556"/>
                </a:solidFill>
                <a:latin typeface="Inter" pitchFamily="34" charset="0"/>
                <a:ea typeface="Inter" pitchFamily="34" charset="-122"/>
                <a:cs typeface="Inter" pitchFamily="34" charset="-120"/>
              </a:rPr>
              <a:t>Extraire le rapport SKU Variance, le consolider à la main avec le stock théorique, faire valider les résultats selon la valeur de l'écart (Inventory Control, PSM ou AGM), puis ajuster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Ce qui change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Le déroulement ne change pas. Ce qui change, c'est qui le porte.</a:t>
            </a:r>
            <a:endParaRPr lang="en-US" sz="2500" dirty="0"/>
          </a:p>
        </p:txBody>
      </p:sp>
      <p:sp>
        <p:nvSpPr>
          <p:cNvPr id="7" name="Text 4"/>
          <p:cNvSpPr/>
          <p:nvPr/>
        </p:nvSpPr>
        <p:spPr>
          <a:xfrm>
            <a:off x="731520" y="1828800"/>
            <a:ext cx="10725912" cy="36576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Votre journée, ligne à ligne, et la même conduite par les équipes de vente.</a:t>
            </a:r>
            <a:endParaRPr lang="en-US" sz="1200" dirty="0"/>
          </a:p>
        </p:txBody>
      </p:sp>
      <p:sp>
        <p:nvSpPr>
          <p:cNvPr id="8" name="Text 5"/>
          <p:cNvSpPr/>
          <p:nvPr/>
        </p:nvSpPr>
        <p:spPr>
          <a:xfrm>
            <a:off x="731520" y="2331720"/>
            <a:ext cx="5088636"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Aujourd'hui</a:t>
            </a:r>
            <a:endParaRPr lang="en-US" sz="1050" dirty="0"/>
          </a:p>
        </p:txBody>
      </p:sp>
      <p:sp>
        <p:nvSpPr>
          <p:cNvPr id="9" name="Text 6"/>
          <p:cNvSpPr/>
          <p:nvPr/>
        </p:nvSpPr>
        <p:spPr>
          <a:xfrm>
            <a:off x="6368796" y="2331720"/>
            <a:ext cx="5088636"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Avec Quantinvo</a:t>
            </a:r>
            <a:endParaRPr lang="en-US" sz="1050" dirty="0"/>
          </a:p>
        </p:txBody>
      </p:sp>
      <p:sp>
        <p:nvSpPr>
          <p:cNvPr id="10" name="Shape 7"/>
          <p:cNvSpPr/>
          <p:nvPr/>
        </p:nvSpPr>
        <p:spPr>
          <a:xfrm>
            <a:off x="731520" y="2679192"/>
            <a:ext cx="10725912" cy="0"/>
          </a:xfrm>
          <a:prstGeom prst="line">
            <a:avLst/>
          </a:prstGeom>
          <a:noFill/>
          <a:ln w="9525">
            <a:solidFill>
              <a:srgbClr val="E3E6EE"/>
            </a:solidFill>
            <a:prstDash val="solid"/>
          </a:ln>
        </p:spPr>
      </p:sp>
      <p:sp>
        <p:nvSpPr>
          <p:cNvPr id="11" name="Text 8"/>
          <p:cNvSpPr/>
          <p:nvPr/>
        </p:nvSpPr>
        <p:spPr>
          <a:xfrm>
            <a:off x="731520" y="2807208"/>
            <a:ext cx="5088636" cy="548640"/>
          </a:xfrm>
          <a:prstGeom prst="rect">
            <a:avLst/>
          </a:prstGeom>
          <a:noFill/>
          <a:ln/>
        </p:spPr>
        <p:txBody>
          <a:bodyPr wrap="square" lIns="0" tIns="0" rIns="0" bIns="0" rtlCol="0" anchor="t"/>
          <a:lstStyle/>
          <a:p>
            <a:pPr indent="0" marL="0">
              <a:lnSpc>
                <a:spcPct val="115000"/>
              </a:lnSpc>
              <a:buNone/>
            </a:pPr>
            <a:r>
              <a:rPr lang="en-US" sz="1150" b="1" dirty="0">
                <a:solidFill>
                  <a:srgbClr val="0B0F19"/>
                </a:solidFill>
                <a:latin typeface="Inter" pitchFamily="34" charset="0"/>
                <a:ea typeface="Inter" pitchFamily="34" charset="-122"/>
                <a:cs typeface="Inter" pitchFamily="34" charset="-120"/>
              </a:rPr>
              <a:t>La veille. </a:t>
            </a:r>
            <a:pPr indent="0" marL="0">
              <a:lnSpc>
                <a:spcPct val="115000"/>
              </a:lnSpc>
              <a:buNone/>
            </a:pPr>
            <a:r>
              <a:rPr lang="en-US" sz="1150" dirty="0">
                <a:solidFill>
                  <a:srgbClr val="3D4556"/>
                </a:solidFill>
                <a:latin typeface="Inter" pitchFamily="34" charset="0"/>
                <a:ea typeface="Inter" pitchFamily="34" charset="-122"/>
                <a:cs typeface="Inter" pitchFamily="34" charset="-120"/>
              </a:rPr>
              <a:t>Balisage par l'Inventory Control, stickers posés avec une personne du floor ou du relay.</a:t>
            </a:r>
            <a:endParaRPr lang="en-US" sz="1150" dirty="0"/>
          </a:p>
        </p:txBody>
      </p:sp>
      <p:sp>
        <p:nvSpPr>
          <p:cNvPr id="12" name="Text 9"/>
          <p:cNvSpPr/>
          <p:nvPr/>
        </p:nvSpPr>
        <p:spPr>
          <a:xfrm>
            <a:off x="6368796" y="2807208"/>
            <a:ext cx="5088636" cy="548640"/>
          </a:xfrm>
          <a:prstGeom prst="rect">
            <a:avLst/>
          </a:prstGeom>
          <a:noFill/>
          <a:ln/>
        </p:spPr>
        <p:txBody>
          <a:bodyPr wrap="square" lIns="0" tIns="0" rIns="0" bIns="0" rtlCol="0" anchor="t"/>
          <a:lstStyle/>
          <a:p>
            <a:pPr indent="0" marL="0">
              <a:lnSpc>
                <a:spcPct val="115000"/>
              </a:lnSpc>
              <a:buNone/>
            </a:pPr>
            <a:r>
              <a:rPr lang="en-US" sz="1150" dirty="0">
                <a:solidFill>
                  <a:srgbClr val="0B0F19"/>
                </a:solidFill>
                <a:latin typeface="Inter" pitchFamily="34" charset="0"/>
                <a:ea typeface="Inter" pitchFamily="34" charset="-122"/>
                <a:cs typeface="Inter" pitchFamily="34" charset="-120"/>
              </a:rPr>
              <a:t>Le chef d'équipe imprime ses balises — une planche d'étiquettes numérotées, en PDF — et les pose avec son équipe.</a:t>
            </a:r>
            <a:endParaRPr lang="en-US" sz="1150" dirty="0"/>
          </a:p>
        </p:txBody>
      </p:sp>
      <p:sp>
        <p:nvSpPr>
          <p:cNvPr id="13" name="Shape 10"/>
          <p:cNvSpPr/>
          <p:nvPr/>
        </p:nvSpPr>
        <p:spPr>
          <a:xfrm>
            <a:off x="731520" y="3374136"/>
            <a:ext cx="10725912" cy="0"/>
          </a:xfrm>
          <a:prstGeom prst="line">
            <a:avLst/>
          </a:prstGeom>
          <a:noFill/>
          <a:ln w="9525">
            <a:solidFill>
              <a:srgbClr val="E3E6EE"/>
            </a:solidFill>
            <a:prstDash val="solid"/>
          </a:ln>
        </p:spPr>
      </p:sp>
      <p:sp>
        <p:nvSpPr>
          <p:cNvPr id="14" name="Text 11"/>
          <p:cNvSpPr/>
          <p:nvPr/>
        </p:nvSpPr>
        <p:spPr>
          <a:xfrm>
            <a:off x="731520" y="3502152"/>
            <a:ext cx="5088636" cy="548640"/>
          </a:xfrm>
          <a:prstGeom prst="rect">
            <a:avLst/>
          </a:prstGeom>
          <a:noFill/>
          <a:ln/>
        </p:spPr>
        <p:txBody>
          <a:bodyPr wrap="square" lIns="0" tIns="0" rIns="0" bIns="0" rtlCol="0" anchor="t"/>
          <a:lstStyle/>
          <a:p>
            <a:pPr indent="0" marL="0">
              <a:lnSpc>
                <a:spcPct val="115000"/>
              </a:lnSpc>
              <a:buNone/>
            </a:pPr>
            <a:r>
              <a:rPr lang="en-US" sz="1150" b="1" dirty="0">
                <a:solidFill>
                  <a:srgbClr val="0B0F19"/>
                </a:solidFill>
                <a:latin typeface="Inter" pitchFamily="34" charset="0"/>
                <a:ea typeface="Inter" pitchFamily="34" charset="-122"/>
                <a:cs typeface="Inter" pitchFamily="34" charset="-120"/>
              </a:rPr>
              <a:t>Le matin. </a:t>
            </a:r>
            <a:pPr indent="0" marL="0">
              <a:lnSpc>
                <a:spcPct val="115000"/>
              </a:lnSpc>
              <a:buNone/>
            </a:pPr>
            <a:r>
              <a:rPr lang="en-US" sz="1150" dirty="0">
                <a:solidFill>
                  <a:srgbClr val="3D4556"/>
                </a:solidFill>
                <a:latin typeface="Inter" pitchFamily="34" charset="0"/>
                <a:ea typeface="Inter" pitchFamily="34" charset="-122"/>
                <a:cs typeface="Inter" pitchFamily="34" charset="-120"/>
              </a:rPr>
              <a:t>Stock théorique à télécharger, session à ouvrir, terminaux à connecter et vérifier un par un, briefing sur le matériel.</a:t>
            </a:r>
            <a:endParaRPr lang="en-US" sz="1150" dirty="0"/>
          </a:p>
        </p:txBody>
      </p:sp>
      <p:sp>
        <p:nvSpPr>
          <p:cNvPr id="15" name="Text 12"/>
          <p:cNvSpPr/>
          <p:nvPr/>
        </p:nvSpPr>
        <p:spPr>
          <a:xfrm>
            <a:off x="6368796" y="3502152"/>
            <a:ext cx="5088636" cy="548640"/>
          </a:xfrm>
          <a:prstGeom prst="rect">
            <a:avLst/>
          </a:prstGeom>
          <a:noFill/>
          <a:ln/>
        </p:spPr>
        <p:txBody>
          <a:bodyPr wrap="square" lIns="0" tIns="0" rIns="0" bIns="0" rtlCol="0" anchor="t"/>
          <a:lstStyle/>
          <a:p>
            <a:pPr indent="0" marL="0">
              <a:lnSpc>
                <a:spcPct val="115000"/>
              </a:lnSpc>
              <a:buNone/>
            </a:pPr>
            <a:r>
              <a:rPr lang="en-US" sz="1150" dirty="0">
                <a:solidFill>
                  <a:srgbClr val="0B0F19"/>
                </a:solidFill>
                <a:latin typeface="Inter" pitchFamily="34" charset="0"/>
                <a:ea typeface="Inter" pitchFamily="34" charset="-122"/>
                <a:cs typeface="Inter" pitchFamily="34" charset="-120"/>
              </a:rPr>
              <a:t>Il importe le stock théorique tel quel, colonnes reconnues, et ouvre l'inventaire. Chaque vendeur le rejoint depuis son téléphone.</a:t>
            </a:r>
            <a:endParaRPr lang="en-US" sz="1150" dirty="0"/>
          </a:p>
        </p:txBody>
      </p:sp>
      <p:sp>
        <p:nvSpPr>
          <p:cNvPr id="16" name="Shape 13"/>
          <p:cNvSpPr/>
          <p:nvPr/>
        </p:nvSpPr>
        <p:spPr>
          <a:xfrm>
            <a:off x="731520" y="4069080"/>
            <a:ext cx="10725912" cy="0"/>
          </a:xfrm>
          <a:prstGeom prst="line">
            <a:avLst/>
          </a:prstGeom>
          <a:noFill/>
          <a:ln w="9525">
            <a:solidFill>
              <a:srgbClr val="E3E6EE"/>
            </a:solidFill>
            <a:prstDash val="solid"/>
          </a:ln>
        </p:spPr>
      </p:sp>
      <p:sp>
        <p:nvSpPr>
          <p:cNvPr id="17" name="Text 14"/>
          <p:cNvSpPr/>
          <p:nvPr/>
        </p:nvSpPr>
        <p:spPr>
          <a:xfrm>
            <a:off x="731520" y="4197096"/>
            <a:ext cx="5088636" cy="548640"/>
          </a:xfrm>
          <a:prstGeom prst="rect">
            <a:avLst/>
          </a:prstGeom>
          <a:noFill/>
          <a:ln/>
        </p:spPr>
        <p:txBody>
          <a:bodyPr wrap="square" lIns="0" tIns="0" rIns="0" bIns="0" rtlCol="0" anchor="t"/>
          <a:lstStyle/>
          <a:p>
            <a:pPr indent="0" marL="0">
              <a:lnSpc>
                <a:spcPct val="115000"/>
              </a:lnSpc>
              <a:buNone/>
            </a:pPr>
            <a:r>
              <a:rPr lang="en-US" sz="1150" b="1" dirty="0">
                <a:solidFill>
                  <a:srgbClr val="0B0F19"/>
                </a:solidFill>
                <a:latin typeface="Inter" pitchFamily="34" charset="0"/>
                <a:ea typeface="Inter" pitchFamily="34" charset="-122"/>
                <a:cs typeface="Inter" pitchFamily="34" charset="-120"/>
              </a:rPr>
              <a:t>Pendant. </a:t>
            </a:r>
            <a:pPr indent="0" marL="0">
              <a:lnSpc>
                <a:spcPct val="115000"/>
              </a:lnSpc>
              <a:buNone/>
            </a:pPr>
            <a:r>
              <a:rPr lang="en-US" sz="1150" dirty="0">
                <a:solidFill>
                  <a:srgbClr val="3D4556"/>
                </a:solidFill>
                <a:latin typeface="Inter" pitchFamily="34" charset="0"/>
                <a:ea typeface="Inter" pitchFamily="34" charset="-122"/>
                <a:cs typeface="Inter" pitchFamily="34" charset="-120"/>
              </a:rPr>
              <a:t>Quelqu'un reste posté sur la plateforme pour guetter les failed audits et faire recompter les zones.</a:t>
            </a:r>
            <a:endParaRPr lang="en-US" sz="1150" dirty="0"/>
          </a:p>
        </p:txBody>
      </p:sp>
      <p:sp>
        <p:nvSpPr>
          <p:cNvPr id="18" name="Text 15"/>
          <p:cNvSpPr/>
          <p:nvPr/>
        </p:nvSpPr>
        <p:spPr>
          <a:xfrm>
            <a:off x="6368796" y="4197096"/>
            <a:ext cx="5088636" cy="548640"/>
          </a:xfrm>
          <a:prstGeom prst="rect">
            <a:avLst/>
          </a:prstGeom>
          <a:noFill/>
          <a:ln/>
        </p:spPr>
        <p:txBody>
          <a:bodyPr wrap="square" lIns="0" tIns="0" rIns="0" bIns="0" rtlCol="0" anchor="t"/>
          <a:lstStyle/>
          <a:p>
            <a:pPr indent="0" marL="0">
              <a:lnSpc>
                <a:spcPct val="115000"/>
              </a:lnSpc>
              <a:buNone/>
            </a:pPr>
            <a:r>
              <a:rPr lang="en-US" sz="1150" dirty="0">
                <a:solidFill>
                  <a:srgbClr val="0B0F19"/>
                </a:solidFill>
                <a:latin typeface="Inter" pitchFamily="34" charset="0"/>
                <a:ea typeface="Inter" pitchFamily="34" charset="-122"/>
                <a:cs typeface="Inter" pitchFamily="34" charset="-120"/>
              </a:rPr>
              <a:t>Le chef d'équipe suit l'avancement, audite selon votre règle et tranche les désaccords au rayon, en direct.</a:t>
            </a:r>
            <a:endParaRPr lang="en-US" sz="1150" dirty="0"/>
          </a:p>
        </p:txBody>
      </p:sp>
      <p:sp>
        <p:nvSpPr>
          <p:cNvPr id="19" name="Shape 16"/>
          <p:cNvSpPr/>
          <p:nvPr/>
        </p:nvSpPr>
        <p:spPr>
          <a:xfrm>
            <a:off x="731520" y="4764024"/>
            <a:ext cx="10725912" cy="0"/>
          </a:xfrm>
          <a:prstGeom prst="line">
            <a:avLst/>
          </a:prstGeom>
          <a:noFill/>
          <a:ln w="9525">
            <a:solidFill>
              <a:srgbClr val="E3E6EE"/>
            </a:solidFill>
            <a:prstDash val="solid"/>
          </a:ln>
        </p:spPr>
      </p:sp>
      <p:sp>
        <p:nvSpPr>
          <p:cNvPr id="20" name="Text 17"/>
          <p:cNvSpPr/>
          <p:nvPr/>
        </p:nvSpPr>
        <p:spPr>
          <a:xfrm>
            <a:off x="731520" y="4892040"/>
            <a:ext cx="5088636" cy="548640"/>
          </a:xfrm>
          <a:prstGeom prst="rect">
            <a:avLst/>
          </a:prstGeom>
          <a:noFill/>
          <a:ln/>
        </p:spPr>
        <p:txBody>
          <a:bodyPr wrap="square" lIns="0" tIns="0" rIns="0" bIns="0" rtlCol="0" anchor="t"/>
          <a:lstStyle/>
          <a:p>
            <a:pPr indent="0" marL="0">
              <a:lnSpc>
                <a:spcPct val="115000"/>
              </a:lnSpc>
              <a:buNone/>
            </a:pPr>
            <a:r>
              <a:rPr lang="en-US" sz="1150" b="1" dirty="0">
                <a:solidFill>
                  <a:srgbClr val="0B0F19"/>
                </a:solidFill>
                <a:latin typeface="Inter" pitchFamily="34" charset="0"/>
                <a:ea typeface="Inter" pitchFamily="34" charset="-122"/>
                <a:cs typeface="Inter" pitchFamily="34" charset="-120"/>
              </a:rPr>
              <a:t>Après. </a:t>
            </a:r>
            <a:pPr indent="0" marL="0">
              <a:lnSpc>
                <a:spcPct val="115000"/>
              </a:lnSpc>
              <a:buNone/>
            </a:pPr>
            <a:r>
              <a:rPr lang="en-US" sz="1150" dirty="0">
                <a:solidFill>
                  <a:srgbClr val="3D4556"/>
                </a:solidFill>
                <a:latin typeface="Inter" pitchFamily="34" charset="0"/>
                <a:ea typeface="Inter" pitchFamily="34" charset="-122"/>
                <a:cs typeface="Inter" pitchFamily="34" charset="-120"/>
              </a:rPr>
              <a:t>Le SKU Variance à extraire, puis à consolider à la main avec le stock théorique.</a:t>
            </a:r>
            <a:endParaRPr lang="en-US" sz="1150" dirty="0"/>
          </a:p>
        </p:txBody>
      </p:sp>
      <p:sp>
        <p:nvSpPr>
          <p:cNvPr id="21" name="Text 18"/>
          <p:cNvSpPr/>
          <p:nvPr/>
        </p:nvSpPr>
        <p:spPr>
          <a:xfrm>
            <a:off x="6368796" y="4892040"/>
            <a:ext cx="5088636" cy="548640"/>
          </a:xfrm>
          <a:prstGeom prst="rect">
            <a:avLst/>
          </a:prstGeom>
          <a:noFill/>
          <a:ln/>
        </p:spPr>
        <p:txBody>
          <a:bodyPr wrap="square" lIns="0" tIns="0" rIns="0" bIns="0" rtlCol="0" anchor="t"/>
          <a:lstStyle/>
          <a:p>
            <a:pPr indent="0" marL="0">
              <a:lnSpc>
                <a:spcPct val="115000"/>
              </a:lnSpc>
              <a:buNone/>
            </a:pPr>
            <a:r>
              <a:rPr lang="en-US" sz="1150" dirty="0">
                <a:solidFill>
                  <a:srgbClr val="0B0F19"/>
                </a:solidFill>
                <a:latin typeface="Inter" pitchFamily="34" charset="0"/>
                <a:ea typeface="Inter" pitchFamily="34" charset="-122"/>
                <a:cs typeface="Inter" pitchFamily="34" charset="-120"/>
              </a:rPr>
              <a:t>Le rapport arrive déjà croisé avec l'attendu, prêt pour la validation.</a:t>
            </a:r>
            <a:endParaRPr lang="en-US" sz="1150" dirty="0"/>
          </a:p>
        </p:txBody>
      </p:sp>
      <p:sp>
        <p:nvSpPr>
          <p:cNvPr id="22" name="Shape 19"/>
          <p:cNvSpPr/>
          <p:nvPr/>
        </p:nvSpPr>
        <p:spPr>
          <a:xfrm>
            <a:off x="731520" y="5458968"/>
            <a:ext cx="10725912" cy="0"/>
          </a:xfrm>
          <a:prstGeom prst="line">
            <a:avLst/>
          </a:prstGeom>
          <a:noFill/>
          <a:ln w="9525">
            <a:solidFill>
              <a:srgbClr val="E3E6EE"/>
            </a:solidFill>
            <a:prstDash val="solid"/>
          </a:ln>
        </p:spPr>
      </p:sp>
      <p:sp>
        <p:nvSpPr>
          <p:cNvPr id="23" name="Text 20"/>
          <p:cNvSpPr/>
          <p:nvPr/>
        </p:nvSpPr>
        <p:spPr>
          <a:xfrm>
            <a:off x="731520" y="5586984"/>
            <a:ext cx="5088636" cy="548640"/>
          </a:xfrm>
          <a:prstGeom prst="rect">
            <a:avLst/>
          </a:prstGeom>
          <a:noFill/>
          <a:ln/>
        </p:spPr>
        <p:txBody>
          <a:bodyPr wrap="square" lIns="0" tIns="0" rIns="0" bIns="0" rtlCol="0" anchor="t"/>
          <a:lstStyle/>
          <a:p>
            <a:pPr indent="0" marL="0">
              <a:lnSpc>
                <a:spcPct val="115000"/>
              </a:lnSpc>
              <a:buNone/>
            </a:pPr>
            <a:r>
              <a:rPr lang="en-US" sz="1150" b="1" dirty="0">
                <a:solidFill>
                  <a:srgbClr val="0B0F19"/>
                </a:solidFill>
                <a:latin typeface="Inter" pitchFamily="34" charset="0"/>
                <a:ea typeface="Inter" pitchFamily="34" charset="-122"/>
                <a:cs typeface="Inter" pitchFamily="34" charset="-120"/>
              </a:rPr>
              <a:t>Au total. </a:t>
            </a:r>
            <a:pPr indent="0" marL="0">
              <a:lnSpc>
                <a:spcPct val="115000"/>
              </a:lnSpc>
              <a:buNone/>
            </a:pPr>
            <a:r>
              <a:rPr lang="en-US" sz="1150" dirty="0">
                <a:solidFill>
                  <a:srgbClr val="3D4556"/>
                </a:solidFill>
                <a:latin typeface="Inter" pitchFamily="34" charset="0"/>
                <a:ea typeface="Inter" pitchFamily="34" charset="-122"/>
                <a:cs typeface="Inter" pitchFamily="34" charset="-120"/>
              </a:rPr>
              <a:t>Quatre casquettes pour l'Inventory Control : préparer, surveiller, réconcilier, corriger.</a:t>
            </a:r>
            <a:endParaRPr lang="en-US" sz="1150" dirty="0"/>
          </a:p>
        </p:txBody>
      </p:sp>
      <p:sp>
        <p:nvSpPr>
          <p:cNvPr id="24" name="Text 21"/>
          <p:cNvSpPr/>
          <p:nvPr/>
        </p:nvSpPr>
        <p:spPr>
          <a:xfrm>
            <a:off x="6368796" y="5586984"/>
            <a:ext cx="5088636" cy="548640"/>
          </a:xfrm>
          <a:prstGeom prst="rect">
            <a:avLst/>
          </a:prstGeom>
          <a:noFill/>
          <a:ln/>
        </p:spPr>
        <p:txBody>
          <a:bodyPr wrap="square" lIns="0" tIns="0" rIns="0" bIns="0" rtlCol="0" anchor="t"/>
          <a:lstStyle/>
          <a:p>
            <a:pPr indent="0" marL="0">
              <a:lnSpc>
                <a:spcPct val="115000"/>
              </a:lnSpc>
              <a:buNone/>
            </a:pPr>
            <a:r>
              <a:rPr lang="en-US" sz="1150" dirty="0">
                <a:solidFill>
                  <a:srgbClr val="0B0F19"/>
                </a:solidFill>
                <a:latin typeface="Inter" pitchFamily="34" charset="0"/>
                <a:ea typeface="Inter" pitchFamily="34" charset="-122"/>
                <a:cs typeface="Inter" pitchFamily="34" charset="-120"/>
              </a:rPr>
              <a:t>Une seule vous reste : valider l'écart, ajuster le stock.</a:t>
            </a:r>
            <a:endParaRPr lang="en-US" sz="1150" dirty="0"/>
          </a:p>
        </p:txBody>
      </p:sp>
      <p:sp>
        <p:nvSpPr>
          <p:cNvPr id="25" name="Shape 22"/>
          <p:cNvSpPr/>
          <p:nvPr/>
        </p:nvSpPr>
        <p:spPr>
          <a:xfrm>
            <a:off x="731520" y="6153912"/>
            <a:ext cx="10725912" cy="0"/>
          </a:xfrm>
          <a:prstGeom prst="line">
            <a:avLst/>
          </a:prstGeom>
          <a:noFill/>
          <a:ln w="9525">
            <a:solidFill>
              <a:srgbClr val="E3E6EE"/>
            </a:solidFill>
            <a:prstDash val="solid"/>
          </a:ln>
        </p:spPr>
      </p:sp>
      <p:sp>
        <p:nvSpPr>
          <p:cNvPr id="26" name="Text 2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7" name="Text 2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Qui fait quoi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L'inventaire appartient au floor. Voici leurs écrans.</a:t>
            </a:r>
            <a:endParaRPr lang="en-US" sz="2400" dirty="0"/>
          </a:p>
        </p:txBody>
      </p:sp>
      <p:sp>
        <p:nvSpPr>
          <p:cNvPr id="7" name="Text 4"/>
          <p:cNvSpPr/>
          <p:nvPr/>
        </p:nvSpPr>
        <p:spPr>
          <a:xfrm>
            <a:off x="731520" y="173736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Inter" pitchFamily="34" charset="0"/>
                <a:ea typeface="Inter" pitchFamily="34" charset="-122"/>
                <a:cs typeface="Inter" pitchFamily="34" charset="-120"/>
              </a:rPr>
              <a:t>Une application sur l'iPhone des compteurs, un tableau de bord pour celui qui pilote, un rapport à la fin. Rien d'autre à installer, rien à acheter.</a:t>
            </a:r>
            <a:endParaRPr lang="en-US" sz="1200" dirty="0"/>
          </a:p>
        </p:txBody>
      </p:sp>
      <p:sp>
        <p:nvSpPr>
          <p:cNvPr id="8" name="Text 5"/>
          <p:cNvSpPr/>
          <p:nvPr/>
        </p:nvSpPr>
        <p:spPr>
          <a:xfrm>
            <a:off x="731520" y="22402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 chef d'équipe prépare</a:t>
            </a:r>
            <a:endParaRPr lang="en-US" sz="1350" dirty="0"/>
          </a:p>
        </p:txBody>
      </p:sp>
      <p:sp>
        <p:nvSpPr>
          <p:cNvPr id="9" name="Text 6"/>
          <p:cNvSpPr/>
          <p:nvPr/>
        </p:nvSpPr>
        <p:spPr>
          <a:xfrm>
            <a:off x="731520" y="26243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Il choisit la numérotation et imprime sa planche d'étiquettes.</a:t>
            </a:r>
            <a:endParaRPr lang="en-US" sz="1100" dirty="0"/>
          </a:p>
        </p:txBody>
      </p:sp>
      <p:sp>
        <p:nvSpPr>
          <p:cNvPr id="10" name="Shape 7"/>
          <p:cNvSpPr/>
          <p:nvPr/>
        </p:nvSpPr>
        <p:spPr>
          <a:xfrm>
            <a:off x="731520" y="3246120"/>
            <a:ext cx="3392424" cy="2953512"/>
          </a:xfrm>
          <a:prstGeom prst="roundRect">
            <a:avLst>
              <a:gd name="adj" fmla="val 4334"/>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1042416" y="3246321"/>
            <a:ext cx="2770632" cy="2953311"/>
          </a:xfrm>
          <a:prstGeom prst="rect">
            <a:avLst/>
          </a:prstGeom>
        </p:spPr>
      </p:pic>
      <p:sp>
        <p:nvSpPr>
          <p:cNvPr id="12" name="Text 8"/>
          <p:cNvSpPr/>
          <p:nvPr/>
        </p:nvSpPr>
        <p:spPr>
          <a:xfrm>
            <a:off x="4398264" y="22402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Les vendeurs comptent</a:t>
            </a:r>
            <a:endParaRPr lang="en-US" sz="1350" dirty="0"/>
          </a:p>
        </p:txBody>
      </p:sp>
      <p:sp>
        <p:nvSpPr>
          <p:cNvPr id="13" name="Text 9"/>
          <p:cNvSpPr/>
          <p:nvPr/>
        </p:nvSpPr>
        <p:spPr>
          <a:xfrm>
            <a:off x="4398264" y="26243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Ils scannent la balise du rayon, puis les articles. Le geste qu'ils connaissent.</a:t>
            </a:r>
            <a:endParaRPr lang="en-US" sz="1100" dirty="0"/>
          </a:p>
        </p:txBody>
      </p:sp>
      <p:sp>
        <p:nvSpPr>
          <p:cNvPr id="14" name="Shape 10"/>
          <p:cNvSpPr/>
          <p:nvPr/>
        </p:nvSpPr>
        <p:spPr>
          <a:xfrm>
            <a:off x="4398264" y="3246120"/>
            <a:ext cx="3392424" cy="2953512"/>
          </a:xfrm>
          <a:prstGeom prst="roundRect">
            <a:avLst>
              <a:gd name="adj" fmla="val 4334"/>
            </a:avLst>
          </a:prstGeom>
          <a:solidFill>
            <a:srgbClr val="EEEEFC"/>
          </a:solidFill>
          <a:ln w="12700">
            <a:solidFill>
              <a:srgbClr val="EEEEFC"/>
            </a:solidFill>
            <a:prstDash val="solid"/>
          </a:ln>
        </p:spPr>
      </p:sp>
      <p:pic>
        <p:nvPicPr>
          <p:cNvPr id="15" name="Image 2" descr="preencoded.png">    </p:cNvPr>
          <p:cNvPicPr>
            <a:picLocks noChangeAspect="1"/>
          </p:cNvPicPr>
          <p:nvPr/>
        </p:nvPicPr>
        <p:blipFill>
          <a:blip r:embed="rId3"/>
          <a:stretch>
            <a:fillRect/>
          </a:stretch>
        </p:blipFill>
        <p:spPr>
          <a:xfrm>
            <a:off x="4709160" y="3246321"/>
            <a:ext cx="2770632" cy="2953311"/>
          </a:xfrm>
          <a:prstGeom prst="rect">
            <a:avLst/>
          </a:prstGeom>
        </p:spPr>
      </p:pic>
      <p:sp>
        <p:nvSpPr>
          <p:cNvPr id="16" name="Text 11"/>
          <p:cNvSpPr/>
          <p:nvPr/>
        </p:nvSpPr>
        <p:spPr>
          <a:xfrm>
            <a:off x="8065008" y="22402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 chef d'équipe repasse</a:t>
            </a:r>
            <a:endParaRPr lang="en-US" sz="1350" dirty="0"/>
          </a:p>
        </p:txBody>
      </p:sp>
      <p:sp>
        <p:nvSpPr>
          <p:cNvPr id="17" name="Text 12"/>
          <p:cNvSpPr/>
          <p:nvPr/>
        </p:nvSpPr>
        <p:spPr>
          <a:xfrm>
            <a:off x="8065008" y="26243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Il audite la zone selon votre règle, pendant que le comptage continue ailleurs.</a:t>
            </a:r>
            <a:endParaRPr lang="en-US" sz="1100" dirty="0"/>
          </a:p>
        </p:txBody>
      </p:sp>
      <p:sp>
        <p:nvSpPr>
          <p:cNvPr id="18" name="Shape 13"/>
          <p:cNvSpPr/>
          <p:nvPr/>
        </p:nvSpPr>
        <p:spPr>
          <a:xfrm>
            <a:off x="8065008" y="3246120"/>
            <a:ext cx="3392424" cy="2953512"/>
          </a:xfrm>
          <a:prstGeom prst="roundRect">
            <a:avLst>
              <a:gd name="adj" fmla="val 4334"/>
            </a:avLst>
          </a:prstGeom>
          <a:solidFill>
            <a:srgbClr val="F4F5F9"/>
          </a:solidFill>
          <a:ln w="12700">
            <a:solidFill>
              <a:srgbClr val="F4F5F9"/>
            </a:solidFill>
            <a:prstDash val="solid"/>
          </a:ln>
        </p:spPr>
      </p:sp>
      <p:pic>
        <p:nvPicPr>
          <p:cNvPr id="19" name="Image 3" descr="preencoded.png">    </p:cNvPr>
          <p:cNvPicPr>
            <a:picLocks noChangeAspect="1"/>
          </p:cNvPicPr>
          <p:nvPr/>
        </p:nvPicPr>
        <p:blipFill>
          <a:blip r:embed="rId4"/>
          <a:stretch>
            <a:fillRect/>
          </a:stretch>
        </p:blipFill>
        <p:spPr>
          <a:xfrm>
            <a:off x="8375904" y="3246321"/>
            <a:ext cx="2770632" cy="2953311"/>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Vous fixez la règle d'audit. Le floor l'applique.</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100 % de la W&amp;J, 30 % au moins ailleurs : la règle reste la vôtre. Un failed audit ne s'attend plus dans un rapport — les deux comptages s'affichent côte à côte, l'écart en pièces et en valeur d'achat, et il se tranche pendant que le compteur est encore au rayon. L'Inventory Control ouvre la même vue sur n'importe quel inventaire en cours, sans en conduire aucun.</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3552"/>
            </a:avLst>
          </a:prstGeom>
          <a:solidFill>
            <a:srgbClr val="FFFFFF"/>
          </a:solidFill>
          <a:ln w="12700">
            <a:solidFill>
              <a:srgbClr val="E3E6EE"/>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3516"/>
            </a:avLst>
          </a:prstGeom>
          <a:solidFill>
            <a:srgbClr val="FFFFFF"/>
          </a:solidFill>
          <a:ln w="12700">
            <a:solidFill>
              <a:srgbClr val="E3E6EE"/>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37160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Ce qui vous revient : un rapport déjà consolidé.</a:t>
            </a:r>
            <a:endParaRPr lang="en-US" sz="2400" dirty="0"/>
          </a:p>
        </p:txBody>
      </p:sp>
      <p:sp>
        <p:nvSpPr>
          <p:cNvPr id="7" name="Text 4"/>
          <p:cNvSpPr/>
          <p:nvPr/>
        </p:nvSpPr>
        <p:spPr>
          <a:xfrm>
            <a:off x="731520" y="2880360"/>
            <a:ext cx="4206240" cy="14630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rapport part du stock théorique, pas seulement de ce qui a été scanné. Un article attendu et jamais trouvé y figure, avec son manque : la démarque que l'inventaire est censé révéler est déjà dans le fichier.</a:t>
            </a:r>
            <a:endParaRPr lang="en-US" sz="1250" dirty="0"/>
          </a:p>
        </p:txBody>
      </p:sp>
      <p:sp>
        <p:nvSpPr>
          <p:cNvPr id="8" name="Text 5"/>
          <p:cNvSpPr/>
          <p:nvPr/>
        </p:nvSpPr>
        <p:spPr>
          <a:xfrm>
            <a:off x="731520" y="429768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Export Excel en un clic. Il ne reste que la validation — Inventory Control, PSM ou AGM selon la valeur de l'écart — et l'ajustement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Votre projet d'inventaire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Shape 5"/>
          <p:cNvSpPr/>
          <p:nvPr/>
        </p:nvSpPr>
        <p:spPr>
          <a:xfrm>
            <a:off x="9725171" y="2377440"/>
            <a:ext cx="1732261" cy="3657600"/>
          </a:xfrm>
          <a:prstGeom prst="roundRect">
            <a:avLst>
              <a:gd name="adj" fmla="val 15836"/>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10" name="Text 6"/>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Créer un inventaire ciblé, dans l'application.</a:t>
            </a:r>
            <a:endParaRPr lang="en-US" sz="1000" dirty="0"/>
          </a:p>
        </p:txBody>
      </p:sp>
      <p:sp>
        <p:nvSpPr>
          <p:cNvPr id="11" name="Text 7"/>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La sélection.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Elle reste chez vous : variances négatives répétées, articles sensibles, slow movers. Les rapports des inventaires précédents donnent les chiffres d'où cette sélection se tire.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déclenchement.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Un inventaire ciblé se crée en quelques minutes — une marque, un rayon, une liste d'articles — le jour même s'il le faut. Les équipes concernées sont invitées depuis l'outil.</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comptage.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Rien à sortir, rien à monter : c'est ce qui rend l'aléatoire réellement aléatoire, et non un rendez-vous annoncé par la préparation qu'il demande.</a:t>
            </a:r>
            <a:endParaRPr lang="en-US" sz="1300" dirty="0"/>
          </a:p>
          <a:p>
            <a:pPr indent="0" marL="0">
              <a:lnSpc>
                <a:spcPct val="118000"/>
              </a:lnSpc>
              <a:spcAft>
                <a:spcPts val="1400"/>
              </a:spcAft>
              <a:buNone/>
            </a:pPr>
            <a:r>
              <a:rPr lang="en-US" sz="1300" b="1" dirty="0">
                <a:solidFill>
                  <a:srgbClr val="0B0F19"/>
                </a:solidFill>
                <a:latin typeface="Inter" pitchFamily="34" charset="0"/>
                <a:ea typeface="Inter" pitchFamily="34" charset="-122"/>
                <a:cs typeface="Inter" pitchFamily="34" charset="-120"/>
              </a:rPr>
              <a:t>Le contrôle. </a:t>
            </a:r>
            <a:pPr indent="0" marL="0">
              <a:lnSpc>
                <a:spcPct val="118000"/>
              </a:lnSpc>
              <a:spcAft>
                <a:spcPts val="1400"/>
              </a:spcAft>
              <a:buNone/>
            </a:pPr>
            <a:r>
              <a:rPr lang="en-US" sz="1300" dirty="0">
                <a:solidFill>
                  <a:srgbClr val="3D4556"/>
                </a:solidFill>
                <a:latin typeface="Inter" pitchFamily="34" charset="0"/>
                <a:ea typeface="Inter" pitchFamily="34" charset="-122"/>
                <a:cs typeface="Inter" pitchFamily="34" charset="-120"/>
              </a:rPr>
              <a:t>L'écart se lit en direct. S'il dépasse votre seuil, l'Inventory Control reprend la main, et le rapport nourrit l'enquête.</a:t>
            </a:r>
            <a:endParaRPr lang="en-US" sz="13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Sora" pitchFamily="34" charset="0"/>
                <a:ea typeface="Sora" pitchFamily="34" charset="-122"/>
                <a:cs typeface="Sora" pitchFamily="34" charset="-120"/>
              </a:rPr>
              <a:t>Pourquoi nous — et ce que nous ne promettons pas.</a:t>
            </a:r>
            <a:endParaRPr lang="en-US" sz="2500" dirty="0"/>
          </a:p>
        </p:txBody>
      </p:sp>
      <p:sp>
        <p:nvSpPr>
          <p:cNvPr id="7" name="Text 4"/>
          <p:cNvSpPr/>
          <p:nvPr/>
        </p:nvSpPr>
        <p:spPr>
          <a:xfrm>
            <a:off x="731520" y="1783080"/>
            <a:ext cx="5042916"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Plutôt que SmartCount</a:t>
            </a:r>
            <a:endParaRPr lang="en-US" sz="1050" dirty="0"/>
          </a:p>
        </p:txBody>
      </p:sp>
      <p:sp>
        <p:nvSpPr>
          <p:cNvPr id="8" name="Text 5"/>
          <p:cNvSpPr/>
          <p:nvPr/>
        </p:nvSpPr>
        <p:spPr>
          <a:xfrm>
            <a:off x="6414516" y="1783080"/>
            <a:ext cx="5042916"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Ce qu'on ne vous promet pas</a:t>
            </a:r>
            <a:endParaRPr lang="en-US" sz="1050" dirty="0"/>
          </a:p>
        </p:txBody>
      </p:sp>
      <p:sp>
        <p:nvSpPr>
          <p:cNvPr id="9" name="Shape 6"/>
          <p:cNvSpPr/>
          <p:nvPr/>
        </p:nvSpPr>
        <p:spPr>
          <a:xfrm>
            <a:off x="731520" y="2103120"/>
            <a:ext cx="10725912" cy="0"/>
          </a:xfrm>
          <a:prstGeom prst="line">
            <a:avLst/>
          </a:prstGeom>
          <a:noFill/>
          <a:ln w="9525">
            <a:solidFill>
              <a:srgbClr val="E3E6EE"/>
            </a:solidFill>
            <a:prstDash val="solid"/>
          </a:ln>
        </p:spPr>
      </p:sp>
      <p:sp>
        <p:nvSpPr>
          <p:cNvPr id="10" name="Text 7"/>
          <p:cNvSpPr/>
          <p:nvPr/>
        </p:nvSpPr>
        <p:spPr>
          <a:xfrm>
            <a:off x="731520" y="2286000"/>
            <a:ext cx="5042916" cy="2651760"/>
          </a:xfrm>
          <a:prstGeom prst="rect">
            <a:avLst/>
          </a:prstGeom>
          <a:noFill/>
          <a:ln/>
        </p:spPr>
        <p:txBody>
          <a:bodyPr wrap="square" lIns="0" tIns="0" rIns="0" bIns="0" rtlCol="0" anchor="t"/>
          <a:lstStyle/>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Le matériel.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SmartCount repose sur une flotte de terminaux dédiés : à charger, configurer, vérifier avant chaque session — le métier qu'on cherche justement à ne plus faire. Quantinvo tourne sur les iPhone que vos équipes ont déjà, et une douchette Bluetooth s'y branche pour les gros volumes.</a:t>
            </a:r>
            <a:endParaRPr lang="en-US" sz="1150" dirty="0"/>
          </a:p>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La réconciliation.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SmartCount rend un rapport de variance, à consolider ensuite avec le stock théorique. Quantinvo rend ce croisement déjà fait : l'attendu, le compté, le non-compté, l'écart en valeur.</a:t>
            </a:r>
            <a:endParaRPr lang="en-US" sz="1150" dirty="0"/>
          </a:p>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L'éditeur.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SmartCount est un module au catalogue d'un géant du matériel. Quantinvo ne fait qu'une chose — l'inventaire — et la personne qui l'a dessiné répond elle-même à vos questions.</a:t>
            </a:r>
            <a:endParaRPr lang="en-US" sz="1150" dirty="0"/>
          </a:p>
        </p:txBody>
      </p:sp>
      <p:sp>
        <p:nvSpPr>
          <p:cNvPr id="11" name="Text 8"/>
          <p:cNvSpPr/>
          <p:nvPr/>
        </p:nvSpPr>
        <p:spPr>
          <a:xfrm>
            <a:off x="6414516" y="2286000"/>
            <a:ext cx="5042916" cy="2651760"/>
          </a:xfrm>
          <a:prstGeom prst="rect">
            <a:avLst/>
          </a:prstGeom>
          <a:noFill/>
          <a:ln/>
        </p:spPr>
        <p:txBody>
          <a:bodyPr wrap="square" lIns="0" tIns="0" rIns="0" bIns="0" rtlCol="0" anchor="t"/>
          <a:lstStyle/>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L'inventaire fiscal certifié.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Si votre commissaire aux comptes exige un comptage par un tiers, ce comptage reste. Quantinvo fait tout le reste de l'année, et il le prépare.</a:t>
            </a:r>
            <a:endParaRPr lang="en-US" sz="1150" dirty="0"/>
          </a:p>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Une connexion à votre ERP.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Quantinvo importe vos fichiers et rend un Excel. L'ajustement du stock reste un geste dans votre système — le seul qui doive le rester.</a:t>
            </a:r>
            <a:endParaRPr lang="en-US" sz="1150" dirty="0"/>
          </a:p>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La connexion par votre annuaire.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Les comptes sont nominatifs, créés par invitation. Pas de SAML ni d'Entra ID ; dites-nous si c'est une exigence.</a:t>
            </a:r>
            <a:endParaRPr lang="en-US" sz="1150" dirty="0"/>
          </a:p>
          <a:p>
            <a:pPr indent="0" marL="0">
              <a:lnSpc>
                <a:spcPct val="118000"/>
              </a:lnSpc>
              <a:spcAft>
                <a:spcPts val="1000"/>
              </a:spcAft>
              <a:buNone/>
            </a:pPr>
            <a:r>
              <a:rPr lang="en-US" sz="1150" b="1" dirty="0">
                <a:solidFill>
                  <a:srgbClr val="0B0F19"/>
                </a:solidFill>
                <a:latin typeface="Inter" pitchFamily="34" charset="0"/>
                <a:ea typeface="Inter" pitchFamily="34" charset="-122"/>
                <a:cs typeface="Inter" pitchFamily="34" charset="-120"/>
              </a:rPr>
              <a:t>Android sur les boutiques. </a:t>
            </a:r>
            <a:pPr indent="0" marL="0">
              <a:lnSpc>
                <a:spcPct val="118000"/>
              </a:lnSpc>
              <a:spcAft>
                <a:spcPts val="1000"/>
              </a:spcAft>
              <a:buNone/>
            </a:pPr>
            <a:r>
              <a:rPr lang="en-US" sz="1150" dirty="0">
                <a:solidFill>
                  <a:srgbClr val="3D4556"/>
                </a:solidFill>
                <a:latin typeface="Inter" pitchFamily="34" charset="0"/>
                <a:ea typeface="Inter" pitchFamily="34" charset="-122"/>
                <a:cs typeface="Inter" pitchFamily="34" charset="-120"/>
              </a:rPr>
              <a:t>L'application tourne sur Android et sur iPhone. Sa mise en ligne sur Google Play est en cours ; d'ici là, elle passe par votre catalogue d'entreprise.</a:t>
            </a:r>
            <a:endParaRPr lang="en-US" sz="1150" dirty="0"/>
          </a:p>
        </p:txBody>
      </p:sp>
      <p:sp>
        <p:nvSpPr>
          <p:cNvPr id="12" name="Shape 9"/>
          <p:cNvSpPr/>
          <p:nvPr/>
        </p:nvSpPr>
        <p:spPr>
          <a:xfrm>
            <a:off x="731520" y="5166360"/>
            <a:ext cx="10725912" cy="1051560"/>
          </a:xfrm>
          <a:prstGeom prst="roundRect">
            <a:avLst>
              <a:gd name="adj" fmla="val 6957"/>
            </a:avLst>
          </a:prstGeom>
          <a:solidFill>
            <a:srgbClr val="F4F5F9"/>
          </a:solidFill>
          <a:ln w="12700">
            <a:solidFill>
              <a:srgbClr val="F4F5F9"/>
            </a:solidFill>
            <a:prstDash val="solid"/>
          </a:ln>
        </p:spPr>
      </p:sp>
      <p:sp>
        <p:nvSpPr>
          <p:cNvPr id="13" name="Text 10"/>
          <p:cNvSpPr/>
          <p:nvPr/>
        </p:nvSpPr>
        <p:spPr>
          <a:xfrm>
            <a:off x="1005840" y="533095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Pour être honnête</a:t>
            </a:r>
            <a:endParaRPr lang="en-US" sz="950" dirty="0"/>
          </a:p>
        </p:txBody>
      </p:sp>
      <p:sp>
        <p:nvSpPr>
          <p:cNvPr id="14" name="Text 11"/>
          <p:cNvSpPr/>
          <p:nvPr/>
        </p:nvSpPr>
        <p:spPr>
          <a:xfrm>
            <a:off x="1005840" y="558698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terminal durci encaisse mieux les chocs qu'un téléphone, et si votre flotte est déjà amortie, l'argument du matériel pèse moins. Ce qui ne bouge pas : un outil que le floor prend en main sans briefing, et une réconciliation qui n'existe plus.</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Inter" pitchFamily="34" charset="0"/>
                <a:ea typeface="Inter" pitchFamily="34" charset="-122"/>
                <a:cs typeface="Inter"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Inter" pitchFamily="34" charset="0"/>
                <a:ea typeface="Inter" pitchFamily="34" charset="-122"/>
                <a:cs typeface="Inter"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310 €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890 €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Ce que ça change pour l'inventaire tournant.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2026-09-01T14:44:10Z</dcterms:created>
  <dcterms:modified xsi:type="dcterms:W3CDTF">2026-09-01T14:44:10Z</dcterms:modified>
</cp:coreProperties>
</file>