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Laisser la page respirer deux secondes, sans commenter. On montre l'objet ; le titre et l'objet de la proposition arrivent à la page suivante.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Ouvrir sur l'idée, pas sur le produit : l'inventaire cesse d'être une opération de l'Inventory Control pour devenir un geste des équipes de vente. Le deck suit leur propre document de déroulement.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Poser le décor, sans commenter : c'est leur journée, ils s'y reconnaissent. Ne pas s'attarder — cette page n'est pas le sujet, elle prépare la suivante.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page du problème. Lire l'encadré à voix haute : c'est lui qui articule tout le deck — un inventaire tournant suppose de compter souvent, et ce qu'on vient d'énumérer est précisément ce qui l'en empêche. Ne pas en rajouter : ces quatre points suffisent, et ils sont vrais.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respiration du deck. Une phrase, un silence, on tourne. Ne rien ajouter à l'oral : si on se met à énumérer ce qui vient, la page suivante n'a plus rien à apprendre. La seconde ligne suffit à dire que les réponses arrivent dans l'ordre des contraintes.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trois cartes répondent aux irritants dans leur ordre d'apparition : le balisage, le briefing, puis la conduite. La flotte est réglée par la phrase du haut. Les écrans sont de vraies captures. Et l'Inventory Control ? Il n'a pas d'écran sur cette page — c'est le message ; le sien arrive deux pages plus loin.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réponse au premier irritant : le poste de surveillance n'est pas supprimé, il est distribué. Chaque chef d'équipe voit son rayon ; vous voyez tout sans avoir à rester dessus. Le recomptage ne disparaît pas — il se décide à chaud. Le suivi est agrégé, personne n'est suivi nominativement en direct : cela parle aux RH et au CSE d'une maison de cette taille.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page de l'Inventory Control : son travail commence ici. Ne pas survendre — le recoupement n'était pas le plus dur de la journée, c'est simplement une chose de moins à faire, et le circuit de validation ne change 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Leur document dit « en cours d'élaboration » : la page montre que l'outil le rend possible sans rien construire. La répartition est la même que pour le tournant — vous choisissez quoi et quand, le floor compte, vous contrôlez l'écart.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L'argument décisif est le premier : un outil expert suppose un service expert pour le servir, ce qui est incompatible avec le transfert au floor. Ne jamais citer de prix Zebra, même en réponse à une question. Et lire l'encadré : c'est lui qui rend le reste crédible. Un dossier technique séparé existe pour la DSI — le proposer ici, il porte les limites du produit.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palier se choisit sur le nombre de personnes qui comptent EN MÊME TEMPS, pas sur l'effectif : un floor de cent vendeurs dont vingt comptent le mardi matin relève d'Advanced. Le dépassement ne bloque jamais un comptage, il se règle au renouvellement. Au-delà de cent appareils sur un même magasin, ou pour plusieurs magasins, on établit un devis.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Clore sur l'essai qui prouve l'idée : ce n'est pas nous qui faisons la démonstration, c'est un chef d'équipe et ses vendeurs. Si eux y arrivent un mardi matin, le transfert est démontré.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075573" y="914400"/>
            <a:ext cx="2381859" cy="5029200"/>
          </a:xfrm>
          <a:prstGeom prst="rect">
            <a:avLst/>
          </a:prstGeom>
        </p:spPr>
      </p:pic>
      <p:pic>
        <p:nvPicPr>
          <p:cNvPr id="3" name="Image 1" descr="preencoded.png">    </p:cNvPr>
          <p:cNvPicPr>
            <a:picLocks noChangeAspect="1"/>
          </p:cNvPicPr>
          <p:nvPr/>
        </p:nvPicPr>
        <p:blipFill>
          <a:blip r:embed="rId2"/>
          <a:stretch>
            <a:fillRect/>
          </a:stretch>
        </p:blipFill>
        <p:spPr>
          <a:xfrm>
            <a:off x="731520" y="3017520"/>
            <a:ext cx="566928" cy="566928"/>
          </a:xfrm>
          <a:prstGeom prst="rect">
            <a:avLst/>
          </a:prstGeom>
        </p:spPr>
      </p:pic>
      <p:sp>
        <p:nvSpPr>
          <p:cNvPr id="4" name="Text 0"/>
          <p:cNvSpPr/>
          <p:nvPr/>
        </p:nvSpPr>
        <p:spPr>
          <a:xfrm>
            <a:off x="1444752" y="2990088"/>
            <a:ext cx="4572000" cy="621792"/>
          </a:xfrm>
          <a:prstGeom prst="rect">
            <a:avLst/>
          </a:prstGeom>
          <a:noFill/>
          <a:ln/>
        </p:spPr>
        <p:txBody>
          <a:bodyPr wrap="square" lIns="0" tIns="0" rIns="0" bIns="0" rtlCol="0" anchor="ctr"/>
          <a:lstStyle/>
          <a:p>
            <a:pPr indent="0" marL="0">
              <a:buNone/>
            </a:pPr>
            <a:r>
              <a:rPr lang="en-US" sz="2400" b="1" dirty="0">
                <a:solidFill>
                  <a:srgbClr val="14181A"/>
                </a:solidFill>
                <a:latin typeface="Arial" pitchFamily="34" charset="0"/>
                <a:ea typeface="Arial" pitchFamily="34" charset="-122"/>
                <a:cs typeface="Arial" pitchFamily="34" charset="-120"/>
              </a:rPr>
              <a:t>Quantinvo</a:t>
            </a:r>
            <a:endParaRPr lang="en-US" sz="2400" dirty="0"/>
          </a:p>
        </p:txBody>
      </p:sp>
      <p:sp>
        <p:nvSpPr>
          <p:cNvPr id="5" name="Shape 1"/>
          <p:cNvSpPr/>
          <p:nvPr/>
        </p:nvSpPr>
        <p:spPr>
          <a:xfrm>
            <a:off x="731520" y="3813048"/>
            <a:ext cx="2011680" cy="20117"/>
          </a:xfrm>
          <a:prstGeom prst="rect">
            <a:avLst/>
          </a:prstGeom>
          <a:solidFill>
            <a:srgbClr val="14181A"/>
          </a:solidFill>
          <a:ln w="12700">
            <a:solidFill>
              <a:srgbClr val="14181A"/>
            </a:solidFill>
            <a:prstDash val="solid"/>
          </a:ln>
        </p:spPr>
      </p:sp>
      <p:sp>
        <p:nvSpPr>
          <p:cNvPr id="6" name="Text 2"/>
          <p:cNvSpPr/>
          <p:nvPr/>
        </p:nvSpPr>
        <p:spPr>
          <a:xfrm>
            <a:off x="731520" y="4005072"/>
            <a:ext cx="4937760" cy="365760"/>
          </a:xfrm>
          <a:prstGeom prst="rect">
            <a:avLst/>
          </a:prstGeom>
          <a:noFill/>
          <a:ln/>
        </p:spPr>
        <p:txBody>
          <a:bodyPr wrap="square" lIns="0" tIns="0" rIns="0" bIns="0" rtlCol="0" anchor="t"/>
          <a:lstStyle/>
          <a:p>
            <a:pPr indent="0" marL="0">
              <a:buNone/>
            </a:pPr>
            <a:r>
              <a:rPr lang="en-US" sz="1300" dirty="0">
                <a:solidFill>
                  <a:srgbClr val="575F5C"/>
                </a:solidFill>
                <a:latin typeface="Arial" pitchFamily="34" charset="0"/>
                <a:ea typeface="Arial" pitchFamily="34" charset="-122"/>
                <a:cs typeface="Arial" pitchFamily="34" charset="-120"/>
              </a:rPr>
              <a:t>La fiabilisation du stock au quotidien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685800"/>
            <a:ext cx="566928" cy="566928"/>
          </a:xfrm>
          <a:prstGeom prst="rect">
            <a:avLst/>
          </a:prstGeom>
        </p:spPr>
      </p:pic>
      <p:sp>
        <p:nvSpPr>
          <p:cNvPr id="3" name="Text 0"/>
          <p:cNvSpPr/>
          <p:nvPr/>
        </p:nvSpPr>
        <p:spPr>
          <a:xfrm>
            <a:off x="1444752" y="658368"/>
            <a:ext cx="4572000" cy="621792"/>
          </a:xfrm>
          <a:prstGeom prst="rect">
            <a:avLst/>
          </a:prstGeom>
          <a:noFill/>
          <a:ln/>
        </p:spPr>
        <p:txBody>
          <a:bodyPr wrap="square" lIns="0" tIns="0" rIns="0" bIns="0" rtlCol="0" anchor="ctr"/>
          <a:lstStyle/>
          <a:p>
            <a:pPr indent="0" marL="0">
              <a:buNone/>
            </a:pPr>
            <a:r>
              <a:rPr lang="en-US" sz="2400" b="1" dirty="0">
                <a:solidFill>
                  <a:srgbClr val="14181A"/>
                </a:solidFill>
                <a:latin typeface="Arial" pitchFamily="34" charset="0"/>
                <a:ea typeface="Arial" pitchFamily="34" charset="-122"/>
                <a:cs typeface="Arial" pitchFamily="34" charset="-120"/>
              </a:rPr>
              <a:t>Quantinvo</a:t>
            </a:r>
            <a:endParaRPr lang="en-US" sz="2400" dirty="0"/>
          </a:p>
        </p:txBody>
      </p:sp>
      <p:sp>
        <p:nvSpPr>
          <p:cNvPr id="4" name="Shape 1"/>
          <p:cNvSpPr/>
          <p:nvPr/>
        </p:nvSpPr>
        <p:spPr>
          <a:xfrm>
            <a:off x="731520" y="1481328"/>
            <a:ext cx="2011680" cy="20117"/>
          </a:xfrm>
          <a:prstGeom prst="rect">
            <a:avLst/>
          </a:prstGeom>
          <a:solidFill>
            <a:srgbClr val="14181A"/>
          </a:solidFill>
          <a:ln w="12700">
            <a:solidFill>
              <a:srgbClr val="14181A"/>
            </a:solidFill>
            <a:prstDash val="solid"/>
          </a:ln>
        </p:spPr>
      </p:sp>
      <p:sp>
        <p:nvSpPr>
          <p:cNvPr id="5" name="Text 2"/>
          <p:cNvSpPr/>
          <p:nvPr/>
        </p:nvSpPr>
        <p:spPr>
          <a:xfrm>
            <a:off x="731520" y="2331720"/>
            <a:ext cx="8229600" cy="365760"/>
          </a:xfrm>
          <a:prstGeom prst="rect">
            <a:avLst/>
          </a:prstGeom>
          <a:noFill/>
          <a:ln/>
        </p:spPr>
        <p:txBody>
          <a:bodyPr wrap="square" lIns="0" tIns="0" rIns="0" bIns="0" rtlCol="0" anchor="t"/>
          <a:lstStyle/>
          <a:p>
            <a:pPr indent="0" marL="0">
              <a:buNone/>
            </a:pPr>
            <a:r>
              <a:rPr lang="en-US" sz="1300" dirty="0">
                <a:solidFill>
                  <a:srgbClr val="575F5C"/>
                </a:solidFill>
                <a:latin typeface="Arial" pitchFamily="34" charset="0"/>
                <a:ea typeface="Arial" pitchFamily="34" charset="-122"/>
                <a:cs typeface="Arial" pitchFamily="34" charset="-120"/>
              </a:rPr>
              <a:t>Proposition pour La Samaritaine</a:t>
            </a:r>
            <a:endParaRPr lang="en-US" sz="1300" dirty="0"/>
          </a:p>
        </p:txBody>
      </p:sp>
      <p:sp>
        <p:nvSpPr>
          <p:cNvPr id="6" name="Text 3"/>
          <p:cNvSpPr/>
          <p:nvPr/>
        </p:nvSpPr>
        <p:spPr>
          <a:xfrm>
            <a:off x="731520" y="2743200"/>
            <a:ext cx="8686800" cy="1737360"/>
          </a:xfrm>
          <a:prstGeom prst="rect">
            <a:avLst/>
          </a:prstGeom>
          <a:noFill/>
          <a:ln/>
        </p:spPr>
        <p:txBody>
          <a:bodyPr wrap="square" lIns="0" tIns="0" rIns="0" bIns="0" rtlCol="0" anchor="t"/>
          <a:lstStyle/>
          <a:p>
            <a:pPr indent="0" marL="0">
              <a:lnSpc>
                <a:spcPct val="105000"/>
              </a:lnSpc>
              <a:buNone/>
            </a:pPr>
            <a:r>
              <a:rPr lang="en-US" sz="4000" b="1" dirty="0">
                <a:solidFill>
                  <a:srgbClr val="14181A"/>
                </a:solidFill>
                <a:latin typeface="Arial" pitchFamily="34" charset="0"/>
                <a:ea typeface="Arial" pitchFamily="34" charset="-122"/>
                <a:cs typeface="Arial" pitchFamily="34" charset="-120"/>
              </a:rPr>
              <a:t>L'inventaire tournant, rendu aux équipes de vente.</a:t>
            </a:r>
            <a:endParaRPr lang="en-US" sz="4000" dirty="0"/>
          </a:p>
        </p:txBody>
      </p:sp>
      <p:sp>
        <p:nvSpPr>
          <p:cNvPr id="7" name="Text 4"/>
          <p:cNvSpPr/>
          <p:nvPr/>
        </p:nvSpPr>
        <p:spPr>
          <a:xfrm>
            <a:off x="731520" y="4572000"/>
            <a:ext cx="7498080" cy="822960"/>
          </a:xfrm>
          <a:prstGeom prst="rect">
            <a:avLst/>
          </a:prstGeom>
          <a:noFill/>
          <a:ln/>
        </p:spPr>
        <p:txBody>
          <a:bodyPr wrap="square" lIns="0" tIns="0" rIns="0" bIns="0" rtlCol="0" anchor="t"/>
          <a:lstStyle/>
          <a:p>
            <a:pPr indent="0" marL="0">
              <a:lnSpc>
                <a:spcPct val="120000"/>
              </a:lnSpc>
              <a:buNone/>
            </a:pPr>
            <a:r>
              <a:rPr lang="en-US" sz="1500" dirty="0">
                <a:solidFill>
                  <a:srgbClr val="3A423F"/>
                </a:solidFill>
                <a:latin typeface="Arial" pitchFamily="34" charset="0"/>
                <a:ea typeface="Arial" pitchFamily="34" charset="-122"/>
                <a:cs typeface="Arial" pitchFamily="34" charset="-120"/>
              </a:rPr>
              <a:t>Le balisage, le comptage et la conduite de chaque inventaire passent au floor : les chefs d'équipe supervisent, les vendeurs comptent. L'Inventory Control reçoit le rapport, valide et ajuste.</a:t>
            </a:r>
            <a:endParaRPr lang="en-US" sz="1500" dirty="0"/>
          </a:p>
        </p:txBody>
      </p:sp>
      <p:sp>
        <p:nvSpPr>
          <p:cNvPr id="8" name="Text 5"/>
          <p:cNvSpPr/>
          <p:nvPr/>
        </p:nvSpPr>
        <p:spPr>
          <a:xfrm>
            <a:off x="731520" y="6080760"/>
            <a:ext cx="9144000" cy="320040"/>
          </a:xfrm>
          <a:prstGeom prst="rect">
            <a:avLst/>
          </a:prstGeom>
          <a:noFill/>
          <a:ln/>
        </p:spPr>
        <p:txBody>
          <a:bodyPr wrap="square" lIns="0" tIns="0" rIns="0" bIns="0" rtlCol="0" anchor="t"/>
          <a:lstStyle/>
          <a:p>
            <a:pPr indent="0" marL="0">
              <a:buNone/>
            </a:pPr>
            <a:r>
              <a:rPr lang="en-US" sz="1050" dirty="0">
                <a:solidFill>
                  <a:srgbClr val="575F5C"/>
                </a:solidFill>
                <a:latin typeface="Arial" pitchFamily="34" charset="0"/>
                <a:ea typeface="Arial" pitchFamily="34" charset="-122"/>
                <a:cs typeface="Arial" pitchFamily="34" charset="-120"/>
              </a:rPr>
              <a:t>Devkaylab  ·  septembre 2026  ·  www.quantinvo.com</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ial" pitchFamily="34" charset="0"/>
                <a:ea typeface="Arial" pitchFamily="34" charset="-122"/>
                <a:cs typeface="Arial"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Arial" pitchFamily="34" charset="0"/>
                <a:ea typeface="Arial" pitchFamily="34" charset="-122"/>
                <a:cs typeface="Arial" pitchFamily="34" charset="-120"/>
              </a:rPr>
              <a:t>Aujourd'hui</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325880"/>
            <a:ext cx="4206240" cy="1463040"/>
          </a:xfrm>
          <a:prstGeom prst="rect">
            <a:avLst/>
          </a:prstGeom>
          <a:noFill/>
          <a:ln/>
        </p:spPr>
        <p:txBody>
          <a:bodyPr wrap="square" lIns="0" tIns="0" rIns="0" bIns="0" rtlCol="0" anchor="t"/>
          <a:lstStyle/>
          <a:p>
            <a:pPr indent="0" marL="0">
              <a:lnSpc>
                <a:spcPct val="105000"/>
              </a:lnSpc>
              <a:buNone/>
            </a:pPr>
            <a:r>
              <a:rPr lang="en-US" sz="2600" b="1" dirty="0">
                <a:solidFill>
                  <a:srgbClr val="14181A"/>
                </a:solidFill>
                <a:latin typeface="Arial" pitchFamily="34" charset="0"/>
                <a:ea typeface="Arial" pitchFamily="34" charset="-122"/>
                <a:cs typeface="Arial" pitchFamily="34" charset="-120"/>
              </a:rPr>
              <a:t>Un inventaire tournant, aujourd’hui.</a:t>
            </a:r>
            <a:endParaRPr lang="en-US" sz="2600" dirty="0"/>
          </a:p>
        </p:txBody>
      </p:sp>
      <p:sp>
        <p:nvSpPr>
          <p:cNvPr id="7" name="Text 4"/>
          <p:cNvSpPr/>
          <p:nvPr/>
        </p:nvSpPr>
        <p:spPr>
          <a:xfrm>
            <a:off x="731520" y="2834640"/>
            <a:ext cx="4206240" cy="914400"/>
          </a:xfrm>
          <a:prstGeom prst="rect">
            <a:avLst/>
          </a:prstGeom>
          <a:noFill/>
          <a:ln/>
        </p:spPr>
        <p:txBody>
          <a:bodyPr wrap="square" lIns="0" tIns="0" rIns="0" bIns="0" rtlCol="0" anchor="t"/>
          <a:lstStyle/>
          <a:p>
            <a:pPr algn="l" indent="0" marL="0">
              <a:lnSpc>
                <a:spcPct val="118000"/>
              </a:lnSpc>
              <a:buNone/>
            </a:pPr>
            <a:r>
              <a:rPr lang="en-US" sz="1200" i="1" dirty="0">
                <a:solidFill>
                  <a:srgbClr val="575F5C"/>
                </a:solidFill>
                <a:latin typeface="Arial" pitchFamily="34" charset="0"/>
                <a:ea typeface="Arial" pitchFamily="34" charset="-122"/>
                <a:cs typeface="Arial" pitchFamily="34" charset="-120"/>
              </a:rPr>
              <a:t>Le déroulement est le même partout, quel que soit l'outil de comptage.</a:t>
            </a:r>
            <a:endParaRPr lang="en-US" sz="1200" dirty="0"/>
          </a:p>
        </p:txBody>
      </p:sp>
      <p:sp>
        <p:nvSpPr>
          <p:cNvPr id="8" name="Text 5"/>
          <p:cNvSpPr/>
          <p:nvPr/>
        </p:nvSpPr>
        <p:spPr>
          <a:xfrm>
            <a:off x="5394960" y="1371600"/>
            <a:ext cx="6062472" cy="4754880"/>
          </a:xfrm>
          <a:prstGeom prst="rect">
            <a:avLst/>
          </a:prstGeom>
          <a:noFill/>
          <a:ln/>
        </p:spPr>
        <p:txBody>
          <a:bodyPr wrap="square" lIns="0" tIns="0" rIns="0" bIns="0" rtlCol="0" anchor="t"/>
          <a:lstStyle/>
          <a:p>
            <a:pPr indent="0" marL="0">
              <a:lnSpc>
                <a:spcPct val="118000"/>
              </a:lnSpc>
              <a:spcAft>
                <a:spcPts val="1600"/>
              </a:spcAft>
              <a:buNone/>
            </a:pPr>
            <a:r>
              <a:rPr lang="en-US" sz="1300" b="1" dirty="0">
                <a:solidFill>
                  <a:srgbClr val="14181A"/>
                </a:solidFill>
                <a:latin typeface="Arial" pitchFamily="34" charset="0"/>
                <a:ea typeface="Arial" pitchFamily="34" charset="-122"/>
                <a:cs typeface="Arial" pitchFamily="34" charset="-120"/>
              </a:rPr>
              <a:t>La veille. </a:t>
            </a:r>
            <a:pPr indent="0" marL="0">
              <a:lnSpc>
                <a:spcPct val="118000"/>
              </a:lnSpc>
              <a:spcAft>
                <a:spcPts val="1600"/>
              </a:spcAft>
              <a:buNone/>
            </a:pPr>
            <a:r>
              <a:rPr lang="en-US" sz="1300" dirty="0">
                <a:solidFill>
                  <a:srgbClr val="3A423F"/>
                </a:solidFill>
                <a:latin typeface="Arial" pitchFamily="34" charset="0"/>
                <a:ea typeface="Arial" pitchFamily="34" charset="-122"/>
                <a:cs typeface="Arial" pitchFamily="34" charset="-120"/>
              </a:rPr>
              <a:t>On balise les zones à inventorier : quelqu'un passe dans le magasin poser les étiquettes, rayon par rayon.</a:t>
            </a:r>
            <a:endParaRPr lang="en-US" sz="1300" dirty="0"/>
          </a:p>
          <a:p>
            <a:pPr indent="0" marL="0">
              <a:lnSpc>
                <a:spcPct val="118000"/>
              </a:lnSpc>
              <a:spcAft>
                <a:spcPts val="1600"/>
              </a:spcAft>
              <a:buNone/>
            </a:pPr>
            <a:r>
              <a:rPr lang="en-US" sz="1300" b="1" dirty="0">
                <a:solidFill>
                  <a:srgbClr val="14181A"/>
                </a:solidFill>
                <a:latin typeface="Arial" pitchFamily="34" charset="0"/>
                <a:ea typeface="Arial" pitchFamily="34" charset="-122"/>
                <a:cs typeface="Arial" pitchFamily="34" charset="-120"/>
              </a:rPr>
              <a:t>Le matin. </a:t>
            </a:r>
            <a:pPr indent="0" marL="0">
              <a:lnSpc>
                <a:spcPct val="118000"/>
              </a:lnSpc>
              <a:spcAft>
                <a:spcPts val="1600"/>
              </a:spcAft>
              <a:buNone/>
            </a:pPr>
            <a:r>
              <a:rPr lang="en-US" sz="1300" dirty="0">
                <a:solidFill>
                  <a:srgbClr val="3A423F"/>
                </a:solidFill>
                <a:latin typeface="Arial" pitchFamily="34" charset="0"/>
                <a:ea typeface="Arial" pitchFamily="34" charset="-122"/>
                <a:cs typeface="Arial" pitchFamily="34" charset="-120"/>
              </a:rPr>
              <a:t>On télécharge le stock théorique du jour, on ouvre la session, on prépare les terminaux un par un — charge, date, localisation — puis on briefe les compteurs sur le maniement du matériel et sur la procédure.</a:t>
            </a:r>
            <a:endParaRPr lang="en-US" sz="1300" dirty="0"/>
          </a:p>
          <a:p>
            <a:pPr indent="0" marL="0">
              <a:lnSpc>
                <a:spcPct val="118000"/>
              </a:lnSpc>
              <a:spcAft>
                <a:spcPts val="1600"/>
              </a:spcAft>
              <a:buNone/>
            </a:pPr>
            <a:r>
              <a:rPr lang="en-US" sz="1300" b="1" dirty="0">
                <a:solidFill>
                  <a:srgbClr val="14181A"/>
                </a:solidFill>
                <a:latin typeface="Arial" pitchFamily="34" charset="0"/>
                <a:ea typeface="Arial" pitchFamily="34" charset="-122"/>
                <a:cs typeface="Arial" pitchFamily="34" charset="-120"/>
              </a:rPr>
              <a:t>Pendant. </a:t>
            </a:r>
            <a:pPr indent="0" marL="0">
              <a:lnSpc>
                <a:spcPct val="118000"/>
              </a:lnSpc>
              <a:spcAft>
                <a:spcPts val="1600"/>
              </a:spcAft>
              <a:buNone/>
            </a:pPr>
            <a:r>
              <a:rPr lang="en-US" sz="1300" dirty="0">
                <a:solidFill>
                  <a:srgbClr val="3A423F"/>
                </a:solidFill>
                <a:latin typeface="Arial" pitchFamily="34" charset="0"/>
                <a:ea typeface="Arial" pitchFamily="34" charset="-122"/>
                <a:cs typeface="Arial" pitchFamily="34" charset="-120"/>
              </a:rPr>
              <a:t>Les équipes comptent. On déclenche l'audit selon la règle du magasin — 100 % sur l'horlogerie et la joaillerie, 30 % au moins ailleurs — et on fait recompter les zones en désaccord.</a:t>
            </a:r>
            <a:endParaRPr lang="en-US" sz="1300" dirty="0"/>
          </a:p>
          <a:p>
            <a:pPr indent="0" marL="0">
              <a:lnSpc>
                <a:spcPct val="118000"/>
              </a:lnSpc>
              <a:spcAft>
                <a:spcPts val="1600"/>
              </a:spcAft>
              <a:buNone/>
            </a:pPr>
            <a:r>
              <a:rPr lang="en-US" sz="1300" b="1" dirty="0">
                <a:solidFill>
                  <a:srgbClr val="14181A"/>
                </a:solidFill>
                <a:latin typeface="Arial" pitchFamily="34" charset="0"/>
                <a:ea typeface="Arial" pitchFamily="34" charset="-122"/>
                <a:cs typeface="Arial" pitchFamily="34" charset="-120"/>
              </a:rPr>
              <a:t>Après. </a:t>
            </a:r>
            <a:pPr indent="0" marL="0">
              <a:lnSpc>
                <a:spcPct val="118000"/>
              </a:lnSpc>
              <a:spcAft>
                <a:spcPts val="1600"/>
              </a:spcAft>
              <a:buNone/>
            </a:pPr>
            <a:r>
              <a:rPr lang="en-US" sz="1300" dirty="0">
                <a:solidFill>
                  <a:srgbClr val="3A423F"/>
                </a:solidFill>
                <a:latin typeface="Arial" pitchFamily="34" charset="0"/>
                <a:ea typeface="Arial" pitchFamily="34" charset="-122"/>
                <a:cs typeface="Arial" pitchFamily="34" charset="-120"/>
              </a:rPr>
              <a:t>On sort le rapport d'inventaire, on le recoupe avec le stock théorique, on fait valider selon la valeur de l'écart, puis on ajuste le stock.</a:t>
            </a:r>
            <a:endParaRPr lang="en-US" sz="1300" dirty="0"/>
          </a:p>
        </p:txBody>
      </p:sp>
      <p:sp>
        <p:nvSpPr>
          <p:cNvPr id="9" name="Text 6"/>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Arial" pitchFamily="34" charset="0"/>
                <a:ea typeface="Arial" pitchFamily="34" charset="-122"/>
                <a:cs typeface="Arial" pitchFamily="34" charset="-120"/>
              </a:rPr>
              <a:t>Quantinvo · proposition pour La Samaritaine</a:t>
            </a:r>
            <a:endParaRPr lang="en-US" sz="900" dirty="0"/>
          </a:p>
        </p:txBody>
      </p:sp>
      <p:sp>
        <p:nvSpPr>
          <p:cNvPr id="10" name="Text 7"/>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ial" pitchFamily="34" charset="0"/>
                <a:ea typeface="Arial" pitchFamily="34" charset="-122"/>
                <a:cs typeface="Arial"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Arial" pitchFamily="34" charset="0"/>
                <a:ea typeface="Arial" pitchFamily="34" charset="-122"/>
                <a:cs typeface="Arial" pitchFamily="34" charset="-120"/>
              </a:rPr>
              <a:t>Ce que ça demande</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143000"/>
            <a:ext cx="10725912" cy="822960"/>
          </a:xfrm>
          <a:prstGeom prst="rect">
            <a:avLst/>
          </a:prstGeom>
          <a:noFill/>
          <a:ln/>
        </p:spPr>
        <p:txBody>
          <a:bodyPr wrap="square" lIns="0" tIns="0" rIns="0" bIns="0" rtlCol="0" anchor="t"/>
          <a:lstStyle/>
          <a:p>
            <a:pPr indent="0" marL="0">
              <a:lnSpc>
                <a:spcPct val="105000"/>
              </a:lnSpc>
              <a:buNone/>
            </a:pPr>
            <a:r>
              <a:rPr lang="en-US" sz="2400" b="1" dirty="0">
                <a:solidFill>
                  <a:srgbClr val="14181A"/>
                </a:solidFill>
                <a:latin typeface="Arial" pitchFamily="34" charset="0"/>
                <a:ea typeface="Arial" pitchFamily="34" charset="-122"/>
                <a:cs typeface="Arial" pitchFamily="34" charset="-120"/>
              </a:rPr>
              <a:t>Le comptage est fait par les équipes. Tout ce qui l’entoure est fait par vous.</a:t>
            </a:r>
            <a:endParaRPr lang="en-US" sz="2400" dirty="0"/>
          </a:p>
        </p:txBody>
      </p:sp>
      <p:sp>
        <p:nvSpPr>
          <p:cNvPr id="7" name="Text 4"/>
          <p:cNvSpPr/>
          <p:nvPr/>
        </p:nvSpPr>
        <p:spPr>
          <a:xfrm>
            <a:off x="731520" y="2286000"/>
            <a:ext cx="10725912" cy="2743200"/>
          </a:xfrm>
          <a:prstGeom prst="rect">
            <a:avLst/>
          </a:prstGeom>
          <a:noFill/>
          <a:ln/>
        </p:spPr>
        <p:txBody>
          <a:bodyPr wrap="square" lIns="0" tIns="0" rIns="0" bIns="0" rtlCol="0" anchor="t"/>
          <a:lstStyle/>
          <a:p>
            <a:pPr indent="0" marL="0">
              <a:lnSpc>
                <a:spcPct val="118000"/>
              </a:lnSpc>
              <a:spcAft>
                <a:spcPts val="1400"/>
              </a:spcAft>
              <a:buNone/>
            </a:pPr>
            <a:r>
              <a:rPr lang="en-US" sz="1300" b="1" dirty="0">
                <a:solidFill>
                  <a:srgbClr val="14181A"/>
                </a:solidFill>
                <a:latin typeface="Arial" pitchFamily="34" charset="0"/>
                <a:ea typeface="Arial" pitchFamily="34" charset="-122"/>
                <a:cs typeface="Arial" pitchFamily="34" charset="-120"/>
              </a:rPr>
              <a:t>Un service mobilisé du début à la fin. </a:t>
            </a:r>
            <a:pPr indent="0" marL="0">
              <a:lnSpc>
                <a:spcPct val="118000"/>
              </a:lnSpc>
              <a:spcAft>
                <a:spcPts val="1400"/>
              </a:spcAft>
              <a:buNone/>
            </a:pPr>
            <a:r>
              <a:rPr lang="en-US" sz="1300" dirty="0">
                <a:solidFill>
                  <a:srgbClr val="3A423F"/>
                </a:solidFill>
                <a:latin typeface="Arial" pitchFamily="34" charset="0"/>
                <a:ea typeface="Arial" pitchFamily="34" charset="-122"/>
                <a:cs typeface="Arial" pitchFamily="34" charset="-120"/>
              </a:rPr>
              <a:t>Quelqu'un de l'Inventory Control prépare l'inventaire, participe au comptage, puis reprend le rapport d'inventaire pour le recouper avec le stock théorique.</a:t>
            </a:r>
            <a:endParaRPr lang="en-US" sz="1300" dirty="0"/>
          </a:p>
          <a:p>
            <a:pPr indent="0" marL="0">
              <a:lnSpc>
                <a:spcPct val="118000"/>
              </a:lnSpc>
              <a:spcAft>
                <a:spcPts val="1400"/>
              </a:spcAft>
              <a:buNone/>
            </a:pPr>
            <a:r>
              <a:rPr lang="en-US" sz="1300" b="1" dirty="0">
                <a:solidFill>
                  <a:srgbClr val="14181A"/>
                </a:solidFill>
                <a:latin typeface="Arial" pitchFamily="34" charset="0"/>
                <a:ea typeface="Arial" pitchFamily="34" charset="-122"/>
                <a:cs typeface="Arial" pitchFamily="34" charset="-120"/>
              </a:rPr>
              <a:t>Une flotte à préparer. </a:t>
            </a:r>
            <a:pPr indent="0" marL="0">
              <a:lnSpc>
                <a:spcPct val="118000"/>
              </a:lnSpc>
              <a:spcAft>
                <a:spcPts val="1400"/>
              </a:spcAft>
              <a:buNone/>
            </a:pPr>
            <a:r>
              <a:rPr lang="en-US" sz="1300" dirty="0">
                <a:solidFill>
                  <a:srgbClr val="3A423F"/>
                </a:solidFill>
                <a:latin typeface="Arial" pitchFamily="34" charset="0"/>
                <a:ea typeface="Arial" pitchFamily="34" charset="-122"/>
                <a:cs typeface="Arial" pitchFamily="34" charset="-120"/>
              </a:rPr>
              <a:t>Les terminaux se chargent, se connectent et se vérifient un par un avant chaque session — date, localisation. C'est un travail en soi. Sans oublier les mises à jour, qui ne sont pas automatiques.</a:t>
            </a:r>
            <a:endParaRPr lang="en-US" sz="1300" dirty="0"/>
          </a:p>
          <a:p>
            <a:pPr indent="0" marL="0">
              <a:lnSpc>
                <a:spcPct val="118000"/>
              </a:lnSpc>
              <a:spcAft>
                <a:spcPts val="1400"/>
              </a:spcAft>
              <a:buNone/>
            </a:pPr>
            <a:r>
              <a:rPr lang="en-US" sz="1300" b="1" dirty="0">
                <a:solidFill>
                  <a:srgbClr val="14181A"/>
                </a:solidFill>
                <a:latin typeface="Arial" pitchFamily="34" charset="0"/>
                <a:ea typeface="Arial" pitchFamily="34" charset="-122"/>
                <a:cs typeface="Arial" pitchFamily="34" charset="-120"/>
              </a:rPr>
              <a:t>Un briefing à chaque fois. </a:t>
            </a:r>
            <a:pPr indent="0" marL="0">
              <a:lnSpc>
                <a:spcPct val="118000"/>
              </a:lnSpc>
              <a:spcAft>
                <a:spcPts val="1400"/>
              </a:spcAft>
              <a:buNone/>
            </a:pPr>
            <a:r>
              <a:rPr lang="en-US" sz="1300" dirty="0">
                <a:solidFill>
                  <a:srgbClr val="3A423F"/>
                </a:solidFill>
                <a:latin typeface="Arial" pitchFamily="34" charset="0"/>
                <a:ea typeface="Arial" pitchFamily="34" charset="-122"/>
                <a:cs typeface="Arial" pitchFamily="34" charset="-120"/>
              </a:rPr>
              <a:t>Le maniement du matériel s'explique à chaque équipe et à chaque inventaire. Les compteurs changent, la procédure se réapprend.</a:t>
            </a:r>
            <a:endParaRPr lang="en-US" sz="1300" dirty="0"/>
          </a:p>
          <a:p>
            <a:pPr indent="0" marL="0">
              <a:lnSpc>
                <a:spcPct val="118000"/>
              </a:lnSpc>
              <a:spcAft>
                <a:spcPts val="1400"/>
              </a:spcAft>
              <a:buNone/>
            </a:pPr>
            <a:r>
              <a:rPr lang="en-US" sz="1300" b="1" dirty="0">
                <a:solidFill>
                  <a:srgbClr val="14181A"/>
                </a:solidFill>
                <a:latin typeface="Arial" pitchFamily="34" charset="0"/>
                <a:ea typeface="Arial" pitchFamily="34" charset="-122"/>
                <a:cs typeface="Arial" pitchFamily="34" charset="-120"/>
              </a:rPr>
              <a:t>Un balisage la veille. </a:t>
            </a:r>
            <a:pPr indent="0" marL="0">
              <a:lnSpc>
                <a:spcPct val="118000"/>
              </a:lnSpc>
              <a:spcAft>
                <a:spcPts val="1400"/>
              </a:spcAft>
              <a:buNone/>
            </a:pPr>
            <a:r>
              <a:rPr lang="en-US" sz="1300" dirty="0">
                <a:solidFill>
                  <a:srgbClr val="3A423F"/>
                </a:solidFill>
                <a:latin typeface="Arial" pitchFamily="34" charset="0"/>
                <a:ea typeface="Arial" pitchFamily="34" charset="-122"/>
                <a:cs typeface="Arial" pitchFamily="34" charset="-120"/>
              </a:rPr>
              <a:t>Il faut mobiliser quelqu'un du magasin pour poser les étiquettes, avant même que le comptage ait commencé.</a:t>
            </a:r>
            <a:endParaRPr lang="en-US" sz="1300" dirty="0"/>
          </a:p>
        </p:txBody>
      </p:sp>
      <p:sp>
        <p:nvSpPr>
          <p:cNvPr id="8" name="Shape 5"/>
          <p:cNvSpPr/>
          <p:nvPr/>
        </p:nvSpPr>
        <p:spPr>
          <a:xfrm>
            <a:off x="731520" y="5120640"/>
            <a:ext cx="10725912" cy="1051560"/>
          </a:xfrm>
          <a:prstGeom prst="roundRect">
            <a:avLst>
              <a:gd name="adj" fmla="val 3478"/>
            </a:avLst>
          </a:prstGeom>
          <a:solidFill>
            <a:srgbClr val="F2F3F1"/>
          </a:solidFill>
          <a:ln w="12700">
            <a:solidFill>
              <a:srgbClr val="F2F3F1"/>
            </a:solidFill>
            <a:prstDash val="solid"/>
          </a:ln>
        </p:spPr>
      </p:sp>
      <p:sp>
        <p:nvSpPr>
          <p:cNvPr id="9" name="Text 6"/>
          <p:cNvSpPr/>
          <p:nvPr/>
        </p:nvSpPr>
        <p:spPr>
          <a:xfrm>
            <a:off x="1005840" y="5285232"/>
            <a:ext cx="10177272" cy="228600"/>
          </a:xfrm>
          <a:prstGeom prst="rect">
            <a:avLst/>
          </a:prstGeom>
          <a:noFill/>
          <a:ln/>
        </p:spPr>
        <p:txBody>
          <a:bodyPr wrap="square" lIns="0" tIns="0" rIns="0" bIns="0" rtlCol="0" anchor="t"/>
          <a:lstStyle/>
          <a:p>
            <a:pPr indent="0" marL="0">
              <a:buNone/>
            </a:pPr>
            <a:r>
              <a:rPr lang="en-US" sz="950" b="1" dirty="0">
                <a:solidFill>
                  <a:srgbClr val="575F5C"/>
                </a:solidFill>
                <a:latin typeface="Arial" pitchFamily="34" charset="0"/>
                <a:ea typeface="Arial" pitchFamily="34" charset="-122"/>
                <a:cs typeface="Arial" pitchFamily="34" charset="-120"/>
              </a:rPr>
              <a:t>Ce que ça coûte vraiment</a:t>
            </a:r>
            <a:endParaRPr lang="en-US" sz="950" dirty="0"/>
          </a:p>
        </p:txBody>
      </p:sp>
      <p:sp>
        <p:nvSpPr>
          <p:cNvPr id="10" name="Text 7"/>
          <p:cNvSpPr/>
          <p:nvPr/>
        </p:nvSpPr>
        <p:spPr>
          <a:xfrm>
            <a:off x="1005840" y="5541264"/>
            <a:ext cx="10177272" cy="502920"/>
          </a:xfrm>
          <a:prstGeom prst="rect">
            <a:avLst/>
          </a:prstGeom>
          <a:noFill/>
          <a:ln/>
        </p:spPr>
        <p:txBody>
          <a:bodyPr wrap="square" lIns="0" tIns="0" rIns="0" bIns="0" rtlCol="0" anchor="t"/>
          <a:lstStyle/>
          <a:p>
            <a:pPr indent="0" marL="0">
              <a:lnSpc>
                <a:spcPct val="115000"/>
              </a:lnSpc>
              <a:buNone/>
            </a:pPr>
            <a:r>
              <a:rPr lang="en-US" sz="1150" i="1" dirty="0">
                <a:solidFill>
                  <a:srgbClr val="3A423F"/>
                </a:solidFill>
                <a:latin typeface="Arial" pitchFamily="34" charset="0"/>
                <a:ea typeface="Arial" pitchFamily="34" charset="-122"/>
                <a:cs typeface="Arial" pitchFamily="34" charset="-120"/>
              </a:rPr>
              <a:t>Ce n'est pas le comptage qui pèse — il est fait par les équipes de vente, et il se fait bien. C'est tout ce qu'il faut monter autour, à chaque fois, et qui dissuade de compter souvent.</a:t>
            </a:r>
            <a:endParaRPr lang="en-US" sz="1150" dirty="0"/>
          </a:p>
        </p:txBody>
      </p:sp>
      <p:sp>
        <p:nvSpPr>
          <p:cNvPr id="11" name="Text 8"/>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Arial" pitchFamily="34" charset="0"/>
                <a:ea typeface="Arial" pitchFamily="34" charset="-122"/>
                <a:cs typeface="Arial" pitchFamily="34" charset="-120"/>
              </a:rPr>
              <a:t>Quantinvo · proposition pour La Samaritaine</a:t>
            </a:r>
            <a:endParaRPr lang="en-US" sz="900" dirty="0"/>
          </a:p>
        </p:txBody>
      </p:sp>
      <p:sp>
        <p:nvSpPr>
          <p:cNvPr id="12" name="Text 9"/>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ial" pitchFamily="34" charset="0"/>
                <a:ea typeface="Arial" pitchFamily="34" charset="-122"/>
                <a:cs typeface="Arial"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Arial" pitchFamily="34" charset="0"/>
                <a:ea typeface="Arial" pitchFamily="34" charset="-122"/>
                <a:cs typeface="Arial" pitchFamily="34" charset="-120"/>
              </a:rPr>
              <a:t>Avec Quantinvo</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2743200"/>
            <a:ext cx="10725912" cy="1463040"/>
          </a:xfrm>
          <a:prstGeom prst="rect">
            <a:avLst/>
          </a:prstGeom>
          <a:noFill/>
          <a:ln/>
        </p:spPr>
        <p:txBody>
          <a:bodyPr wrap="square" lIns="0" tIns="0" rIns="0" bIns="0" rtlCol="0" anchor="t"/>
          <a:lstStyle/>
          <a:p>
            <a:pPr indent="0" marL="0">
              <a:lnSpc>
                <a:spcPct val="112000"/>
              </a:lnSpc>
              <a:buNone/>
            </a:pPr>
            <a:r>
              <a:rPr lang="en-US" sz="3200" b="1" dirty="0">
                <a:solidFill>
                  <a:srgbClr val="14181A"/>
                </a:solidFill>
                <a:latin typeface="Arial" pitchFamily="34" charset="0"/>
                <a:ea typeface="Arial" pitchFamily="34" charset="-122"/>
                <a:cs typeface="Arial" pitchFamily="34" charset="-120"/>
              </a:rPr>
              <a:t>Quantinvo, l’outil d’inventaire qui apporte l’autonomie.</a:t>
            </a:r>
            <a:endParaRPr lang="en-US" sz="3200" dirty="0"/>
          </a:p>
        </p:txBody>
      </p:sp>
      <p:sp>
        <p:nvSpPr>
          <p:cNvPr id="7" name="Text 4"/>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Arial" pitchFamily="34" charset="0"/>
                <a:ea typeface="Arial" pitchFamily="34" charset="-122"/>
                <a:cs typeface="Arial" pitchFamily="34" charset="-120"/>
              </a:rPr>
              <a:t>Quantinvo · proposition pour La Samaritaine</a:t>
            </a:r>
            <a:endParaRPr lang="en-US" sz="900" dirty="0"/>
          </a:p>
        </p:txBody>
      </p:sp>
      <p:sp>
        <p:nvSpPr>
          <p:cNvPr id="8" name="Text 5"/>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ial" pitchFamily="34" charset="0"/>
                <a:ea typeface="Arial" pitchFamily="34" charset="-122"/>
                <a:cs typeface="Arial"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Arial" pitchFamily="34" charset="0"/>
                <a:ea typeface="Arial" pitchFamily="34" charset="-122"/>
                <a:cs typeface="Arial" pitchFamily="34" charset="-120"/>
              </a:rPr>
              <a:t>Avec Quantinvo</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143000"/>
            <a:ext cx="10725912" cy="822960"/>
          </a:xfrm>
          <a:prstGeom prst="rect">
            <a:avLst/>
          </a:prstGeom>
          <a:noFill/>
          <a:ln/>
        </p:spPr>
        <p:txBody>
          <a:bodyPr wrap="square" lIns="0" tIns="0" rIns="0" bIns="0" rtlCol="0" anchor="t"/>
          <a:lstStyle/>
          <a:p>
            <a:pPr indent="0" marL="0">
              <a:lnSpc>
                <a:spcPct val="105000"/>
              </a:lnSpc>
              <a:buNone/>
            </a:pPr>
            <a:r>
              <a:rPr lang="en-US" sz="2500" b="1" dirty="0">
                <a:solidFill>
                  <a:srgbClr val="14181A"/>
                </a:solidFill>
                <a:latin typeface="Arial" pitchFamily="34" charset="0"/>
                <a:ea typeface="Arial" pitchFamily="34" charset="-122"/>
                <a:cs typeface="Arial" pitchFamily="34" charset="-120"/>
              </a:rPr>
              <a:t>Le chef d’équipe conduit. Ses collaborateurs comptent.</a:t>
            </a:r>
            <a:endParaRPr lang="en-US" sz="2500" dirty="0"/>
          </a:p>
        </p:txBody>
      </p:sp>
      <p:sp>
        <p:nvSpPr>
          <p:cNvPr id="7" name="Text 4"/>
          <p:cNvSpPr/>
          <p:nvPr/>
        </p:nvSpPr>
        <p:spPr>
          <a:xfrm>
            <a:off x="731520" y="1783080"/>
            <a:ext cx="10725912" cy="365760"/>
          </a:xfrm>
          <a:prstGeom prst="rect">
            <a:avLst/>
          </a:prstGeom>
          <a:noFill/>
          <a:ln/>
        </p:spPr>
        <p:txBody>
          <a:bodyPr wrap="square" lIns="0" tIns="0" rIns="0" bIns="0" rtlCol="0" anchor="t"/>
          <a:lstStyle/>
          <a:p>
            <a:pPr algn="l" indent="0" marL="0">
              <a:lnSpc>
                <a:spcPct val="118000"/>
              </a:lnSpc>
              <a:buNone/>
            </a:pPr>
            <a:r>
              <a:rPr lang="en-US" sz="1200" dirty="0">
                <a:solidFill>
                  <a:srgbClr val="575F5C"/>
                </a:solidFill>
                <a:latin typeface="Arial" pitchFamily="34" charset="0"/>
                <a:ea typeface="Arial" pitchFamily="34" charset="-122"/>
                <a:cs typeface="Arial" pitchFamily="34" charset="-120"/>
              </a:rPr>
              <a:t>Une application sur les smartphones que vos équipes ont déjà — iOS comme Android —, un tableau de bord pour celui qui pilote, un rapport à la fin. Rien à charger la veille, rien à briefer, aucune flotte à préparer.</a:t>
            </a:r>
            <a:endParaRPr lang="en-US" sz="1200" dirty="0"/>
          </a:p>
        </p:txBody>
      </p:sp>
      <p:sp>
        <p:nvSpPr>
          <p:cNvPr id="8" name="Text 5"/>
          <p:cNvSpPr/>
          <p:nvPr/>
        </p:nvSpPr>
        <p:spPr>
          <a:xfrm>
            <a:off x="731520" y="2286000"/>
            <a:ext cx="3392424" cy="365760"/>
          </a:xfrm>
          <a:prstGeom prst="rect">
            <a:avLst/>
          </a:prstGeom>
          <a:noFill/>
          <a:ln/>
        </p:spPr>
        <p:txBody>
          <a:bodyPr wrap="square" lIns="0" tIns="0" rIns="0" bIns="0" rtlCol="0" anchor="t"/>
          <a:lstStyle/>
          <a:p>
            <a:pPr indent="0" marL="0">
              <a:lnSpc>
                <a:spcPct val="100000"/>
              </a:lnSpc>
              <a:buNone/>
            </a:pPr>
            <a:r>
              <a:rPr lang="en-US" sz="1350" b="1" dirty="0">
                <a:solidFill>
                  <a:srgbClr val="14181A"/>
                </a:solidFill>
                <a:latin typeface="Arial" pitchFamily="34" charset="0"/>
                <a:ea typeface="Arial" pitchFamily="34" charset="-122"/>
                <a:cs typeface="Arial" pitchFamily="34" charset="-120"/>
              </a:rPr>
              <a:t>Il imprime ses balises</a:t>
            </a:r>
            <a:endParaRPr lang="en-US" sz="1350" dirty="0"/>
          </a:p>
        </p:txBody>
      </p:sp>
      <p:sp>
        <p:nvSpPr>
          <p:cNvPr id="9" name="Text 6"/>
          <p:cNvSpPr/>
          <p:nvPr/>
        </p:nvSpPr>
        <p:spPr>
          <a:xfrm>
            <a:off x="731520" y="2670048"/>
            <a:ext cx="3392424" cy="585216"/>
          </a:xfrm>
          <a:prstGeom prst="rect">
            <a:avLst/>
          </a:prstGeom>
          <a:noFill/>
          <a:ln/>
        </p:spPr>
        <p:txBody>
          <a:bodyPr wrap="square" lIns="0" tIns="0" rIns="0" bIns="0" rtlCol="0" anchor="t"/>
          <a:lstStyle/>
          <a:p>
            <a:pPr indent="0" marL="0">
              <a:lnSpc>
                <a:spcPct val="115000"/>
              </a:lnSpc>
              <a:buNone/>
            </a:pPr>
            <a:r>
              <a:rPr lang="en-US" sz="1100" dirty="0">
                <a:solidFill>
                  <a:srgbClr val="3A423F"/>
                </a:solidFill>
                <a:latin typeface="Arial" pitchFamily="34" charset="0"/>
                <a:ea typeface="Arial" pitchFamily="34" charset="-122"/>
                <a:cs typeface="Arial" pitchFamily="34" charset="-120"/>
              </a:rPr>
              <a:t>Une planche d'étiquettes numérotées, en PDF. Personne d'autre à mobiliser la veille.</a:t>
            </a:r>
            <a:endParaRPr lang="en-US" sz="1100" dirty="0"/>
          </a:p>
        </p:txBody>
      </p:sp>
      <p:sp>
        <p:nvSpPr>
          <p:cNvPr id="10" name="Shape 7"/>
          <p:cNvSpPr/>
          <p:nvPr/>
        </p:nvSpPr>
        <p:spPr>
          <a:xfrm>
            <a:off x="731520" y="3291840"/>
            <a:ext cx="3392424" cy="2907792"/>
          </a:xfrm>
          <a:prstGeom prst="roundRect">
            <a:avLst>
              <a:gd name="adj" fmla="val 1258"/>
            </a:avLst>
          </a:prstGeom>
          <a:solidFill>
            <a:srgbClr val="F2F3F1"/>
          </a:solidFill>
          <a:ln w="12700">
            <a:solidFill>
              <a:srgbClr val="F2F3F1"/>
            </a:solidFill>
            <a:prstDash val="solid"/>
          </a:ln>
        </p:spPr>
      </p:sp>
      <p:pic>
        <p:nvPicPr>
          <p:cNvPr id="11" name="Image 1" descr="preencoded.png">    </p:cNvPr>
          <p:cNvPicPr>
            <a:picLocks noChangeAspect="1"/>
          </p:cNvPicPr>
          <p:nvPr/>
        </p:nvPicPr>
        <p:blipFill>
          <a:blip r:embed="rId2"/>
          <a:stretch>
            <a:fillRect/>
          </a:stretch>
        </p:blipFill>
        <p:spPr>
          <a:xfrm>
            <a:off x="1042416" y="3289816"/>
            <a:ext cx="2770632" cy="2909816"/>
          </a:xfrm>
          <a:prstGeom prst="rect">
            <a:avLst/>
          </a:prstGeom>
        </p:spPr>
      </p:pic>
      <p:sp>
        <p:nvSpPr>
          <p:cNvPr id="12" name="Text 8"/>
          <p:cNvSpPr/>
          <p:nvPr/>
        </p:nvSpPr>
        <p:spPr>
          <a:xfrm>
            <a:off x="4398264" y="2286000"/>
            <a:ext cx="3392424" cy="365760"/>
          </a:xfrm>
          <a:prstGeom prst="rect">
            <a:avLst/>
          </a:prstGeom>
          <a:noFill/>
          <a:ln/>
        </p:spPr>
        <p:txBody>
          <a:bodyPr wrap="square" lIns="0" tIns="0" rIns="0" bIns="0" rtlCol="0" anchor="t"/>
          <a:lstStyle/>
          <a:p>
            <a:pPr indent="0" marL="0">
              <a:lnSpc>
                <a:spcPct val="100000"/>
              </a:lnSpc>
              <a:buNone/>
            </a:pPr>
            <a:r>
              <a:rPr lang="en-US" sz="1350" b="1" dirty="0">
                <a:solidFill>
                  <a:srgbClr val="14181A"/>
                </a:solidFill>
                <a:latin typeface="Arial" pitchFamily="34" charset="0"/>
                <a:ea typeface="Arial" pitchFamily="34" charset="-122"/>
                <a:cs typeface="Arial" pitchFamily="34" charset="-120"/>
              </a:rPr>
              <a:t>Ils comptent au rayon, à la marque, à la référence</a:t>
            </a:r>
            <a:endParaRPr lang="en-US" sz="1350" dirty="0"/>
          </a:p>
        </p:txBody>
      </p:sp>
      <p:sp>
        <p:nvSpPr>
          <p:cNvPr id="13" name="Text 9"/>
          <p:cNvSpPr/>
          <p:nvPr/>
        </p:nvSpPr>
        <p:spPr>
          <a:xfrm>
            <a:off x="4398264" y="2670048"/>
            <a:ext cx="3392424" cy="585216"/>
          </a:xfrm>
          <a:prstGeom prst="rect">
            <a:avLst/>
          </a:prstGeom>
          <a:noFill/>
          <a:ln/>
        </p:spPr>
        <p:txBody>
          <a:bodyPr wrap="square" lIns="0" tIns="0" rIns="0" bIns="0" rtlCol="0" anchor="t"/>
          <a:lstStyle/>
          <a:p>
            <a:pPr indent="0" marL="0">
              <a:lnSpc>
                <a:spcPct val="115000"/>
              </a:lnSpc>
              <a:buNone/>
            </a:pPr>
            <a:r>
              <a:rPr lang="en-US" sz="1100" dirty="0">
                <a:solidFill>
                  <a:srgbClr val="3A423F"/>
                </a:solidFill>
                <a:latin typeface="Arial" pitchFamily="34" charset="0"/>
                <a:ea typeface="Arial" pitchFamily="34" charset="-122"/>
                <a:cs typeface="Arial" pitchFamily="34" charset="-120"/>
              </a:rPr>
              <a:t>Scanner l'étiquette, puis les articles. Le geste ne demande pas de briefing.</a:t>
            </a:r>
            <a:endParaRPr lang="en-US" sz="1100" dirty="0"/>
          </a:p>
        </p:txBody>
      </p:sp>
      <p:sp>
        <p:nvSpPr>
          <p:cNvPr id="14" name="Shape 10"/>
          <p:cNvSpPr/>
          <p:nvPr/>
        </p:nvSpPr>
        <p:spPr>
          <a:xfrm>
            <a:off x="4398264" y="3291840"/>
            <a:ext cx="3392424" cy="2907792"/>
          </a:xfrm>
          <a:prstGeom prst="roundRect">
            <a:avLst>
              <a:gd name="adj" fmla="val 1258"/>
            </a:avLst>
          </a:prstGeom>
          <a:solidFill>
            <a:srgbClr val="E7EDE9"/>
          </a:solidFill>
          <a:ln w="12700">
            <a:solidFill>
              <a:srgbClr val="E7EDE9"/>
            </a:solidFill>
            <a:prstDash val="solid"/>
          </a:ln>
        </p:spPr>
      </p:sp>
      <p:pic>
        <p:nvPicPr>
          <p:cNvPr id="15" name="Image 2" descr="preencoded.png">    </p:cNvPr>
          <p:cNvPicPr>
            <a:picLocks noChangeAspect="1"/>
          </p:cNvPicPr>
          <p:nvPr/>
        </p:nvPicPr>
        <p:blipFill>
          <a:blip r:embed="rId3"/>
          <a:stretch>
            <a:fillRect/>
          </a:stretch>
        </p:blipFill>
        <p:spPr>
          <a:xfrm>
            <a:off x="4709160" y="3289816"/>
            <a:ext cx="2770632" cy="2909816"/>
          </a:xfrm>
          <a:prstGeom prst="rect">
            <a:avLst/>
          </a:prstGeom>
        </p:spPr>
      </p:pic>
      <p:sp>
        <p:nvSpPr>
          <p:cNvPr id="16" name="Text 11"/>
          <p:cNvSpPr/>
          <p:nvPr/>
        </p:nvSpPr>
        <p:spPr>
          <a:xfrm>
            <a:off x="8065008" y="2286000"/>
            <a:ext cx="3392424" cy="365760"/>
          </a:xfrm>
          <a:prstGeom prst="rect">
            <a:avLst/>
          </a:prstGeom>
          <a:noFill/>
          <a:ln/>
        </p:spPr>
        <p:txBody>
          <a:bodyPr wrap="square" lIns="0" tIns="0" rIns="0" bIns="0" rtlCol="0" anchor="t"/>
          <a:lstStyle/>
          <a:p>
            <a:pPr indent="0" marL="0">
              <a:lnSpc>
                <a:spcPct val="100000"/>
              </a:lnSpc>
              <a:buNone/>
            </a:pPr>
            <a:r>
              <a:rPr lang="en-US" sz="1350" b="1" dirty="0">
                <a:solidFill>
                  <a:srgbClr val="14181A"/>
                </a:solidFill>
                <a:latin typeface="Arial" pitchFamily="34" charset="0"/>
                <a:ea typeface="Arial" pitchFamily="34" charset="-122"/>
                <a:cs typeface="Arial" pitchFamily="34" charset="-120"/>
              </a:rPr>
              <a:t>Il audite selon les règles de l’Inventory Control</a:t>
            </a:r>
            <a:endParaRPr lang="en-US" sz="1350" dirty="0"/>
          </a:p>
        </p:txBody>
      </p:sp>
      <p:sp>
        <p:nvSpPr>
          <p:cNvPr id="17" name="Text 12"/>
          <p:cNvSpPr/>
          <p:nvPr/>
        </p:nvSpPr>
        <p:spPr>
          <a:xfrm>
            <a:off x="8065008" y="2670048"/>
            <a:ext cx="3392424" cy="585216"/>
          </a:xfrm>
          <a:prstGeom prst="rect">
            <a:avLst/>
          </a:prstGeom>
          <a:noFill/>
          <a:ln/>
        </p:spPr>
        <p:txBody>
          <a:bodyPr wrap="square" lIns="0" tIns="0" rIns="0" bIns="0" rtlCol="0" anchor="t"/>
          <a:lstStyle/>
          <a:p>
            <a:pPr indent="0" marL="0">
              <a:lnSpc>
                <a:spcPct val="115000"/>
              </a:lnSpc>
              <a:buNone/>
            </a:pPr>
            <a:r>
              <a:rPr lang="en-US" sz="1100" dirty="0">
                <a:solidFill>
                  <a:srgbClr val="3A423F"/>
                </a:solidFill>
                <a:latin typeface="Arial" pitchFamily="34" charset="0"/>
                <a:ea typeface="Arial" pitchFamily="34" charset="-122"/>
                <a:cs typeface="Arial" pitchFamily="34" charset="-120"/>
              </a:rPr>
              <a:t>L’audit se lance de la même application, pendant que le comptage continue.</a:t>
            </a:r>
            <a:endParaRPr lang="en-US" sz="1100" dirty="0"/>
          </a:p>
        </p:txBody>
      </p:sp>
      <p:sp>
        <p:nvSpPr>
          <p:cNvPr id="18" name="Shape 13"/>
          <p:cNvSpPr/>
          <p:nvPr/>
        </p:nvSpPr>
        <p:spPr>
          <a:xfrm>
            <a:off x="8065008" y="3291840"/>
            <a:ext cx="3392424" cy="2907792"/>
          </a:xfrm>
          <a:prstGeom prst="roundRect">
            <a:avLst>
              <a:gd name="adj" fmla="val 1258"/>
            </a:avLst>
          </a:prstGeom>
          <a:solidFill>
            <a:srgbClr val="F2F3F1"/>
          </a:solidFill>
          <a:ln w="12700">
            <a:solidFill>
              <a:srgbClr val="F2F3F1"/>
            </a:solidFill>
            <a:prstDash val="solid"/>
          </a:ln>
        </p:spPr>
      </p:sp>
      <p:pic>
        <p:nvPicPr>
          <p:cNvPr id="19" name="Image 3" descr="preencoded.png">    </p:cNvPr>
          <p:cNvPicPr>
            <a:picLocks noChangeAspect="1"/>
          </p:cNvPicPr>
          <p:nvPr/>
        </p:nvPicPr>
        <p:blipFill>
          <a:blip r:embed="rId4"/>
          <a:stretch>
            <a:fillRect/>
          </a:stretch>
        </p:blipFill>
        <p:spPr>
          <a:xfrm>
            <a:off x="8375904" y="3289816"/>
            <a:ext cx="2770632" cy="2909816"/>
          </a:xfrm>
          <a:prstGeom prst="rect">
            <a:avLst/>
          </a:prstGeom>
        </p:spPr>
      </p:pic>
      <p:sp>
        <p:nvSpPr>
          <p:cNvPr id="20" name="Text 14"/>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Arial" pitchFamily="34" charset="0"/>
                <a:ea typeface="Arial" pitchFamily="34" charset="-122"/>
                <a:cs typeface="Arial" pitchFamily="34" charset="-120"/>
              </a:rPr>
              <a:t>Quantinvo · proposition pour La Samaritaine</a:t>
            </a:r>
            <a:endParaRPr lang="en-US" sz="900" dirty="0"/>
          </a:p>
        </p:txBody>
      </p:sp>
      <p:sp>
        <p:nvSpPr>
          <p:cNvPr id="21" name="Text 15"/>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ial" pitchFamily="34" charset="0"/>
                <a:ea typeface="Arial" pitchFamily="34" charset="-122"/>
                <a:cs typeface="Arial"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Arial" pitchFamily="34" charset="0"/>
                <a:ea typeface="Arial" pitchFamily="34" charset="-122"/>
                <a:cs typeface="Arial" pitchFamily="34" charset="-120"/>
              </a:rPr>
              <a:t>Pendant le comptage</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143000"/>
            <a:ext cx="10725912" cy="822960"/>
          </a:xfrm>
          <a:prstGeom prst="rect">
            <a:avLst/>
          </a:prstGeom>
          <a:noFill/>
          <a:ln/>
        </p:spPr>
        <p:txBody>
          <a:bodyPr wrap="square" lIns="0" tIns="0" rIns="0" bIns="0" rtlCol="0" anchor="t"/>
          <a:lstStyle/>
          <a:p>
            <a:pPr indent="0" marL="0">
              <a:lnSpc>
                <a:spcPct val="105000"/>
              </a:lnSpc>
              <a:buNone/>
            </a:pPr>
            <a:r>
              <a:rPr lang="en-US" sz="2500" b="1" dirty="0">
                <a:solidFill>
                  <a:srgbClr val="14181A"/>
                </a:solidFill>
                <a:latin typeface="Arial" pitchFamily="34" charset="0"/>
                <a:ea typeface="Arial" pitchFamily="34" charset="-122"/>
                <a:cs typeface="Arial" pitchFamily="34" charset="-120"/>
              </a:rPr>
              <a:t>L’Inventory Control fixe la règle d'audit. Les équipes l'appliquent.</a:t>
            </a:r>
            <a:endParaRPr lang="en-US" sz="2500" dirty="0"/>
          </a:p>
        </p:txBody>
      </p:sp>
      <p:sp>
        <p:nvSpPr>
          <p:cNvPr id="7" name="Text 4"/>
          <p:cNvSpPr/>
          <p:nvPr/>
        </p:nvSpPr>
        <p:spPr>
          <a:xfrm>
            <a:off x="731520" y="1783080"/>
            <a:ext cx="10725912" cy="777240"/>
          </a:xfrm>
          <a:prstGeom prst="rect">
            <a:avLst/>
          </a:prstGeom>
          <a:noFill/>
          <a:ln/>
        </p:spPr>
        <p:txBody>
          <a:bodyPr wrap="square" lIns="0" tIns="0" rIns="0" bIns="0" rtlCol="0" anchor="t"/>
          <a:lstStyle/>
          <a:p>
            <a:pPr algn="l" indent="0" marL="0">
              <a:lnSpc>
                <a:spcPct val="118000"/>
              </a:lnSpc>
              <a:buNone/>
            </a:pPr>
            <a:r>
              <a:rPr lang="en-US" sz="1250" dirty="0">
                <a:solidFill>
                  <a:srgbClr val="3A423F"/>
                </a:solidFill>
                <a:latin typeface="Arial" pitchFamily="34" charset="0"/>
                <a:ea typeface="Arial" pitchFamily="34" charset="-122"/>
                <a:cs typeface="Arial" pitchFamily="34" charset="-120"/>
              </a:rPr>
              <a:t>100 % sur l'horlogerie et la joaillerie, 30 % au moins ailleurs. Le désaccord entre les deux comptages ne s'attend plus : ils s'affichent côte à côte, l'écart d'audit en pièces et en valeur d'achat, et il se tranche pendant que le compteur est encore devant l'article. L'Inventory Control ouvre la même vue sur n'importe quel inventaire en cours.</a:t>
            </a:r>
            <a:endParaRPr lang="en-US" sz="1250" dirty="0"/>
          </a:p>
        </p:txBody>
      </p:sp>
      <p:sp>
        <p:nvSpPr>
          <p:cNvPr id="8" name="Text 5"/>
          <p:cNvSpPr/>
          <p:nvPr/>
        </p:nvSpPr>
        <p:spPr>
          <a:xfrm>
            <a:off x="731520" y="2935224"/>
            <a:ext cx="5134356" cy="274320"/>
          </a:xfrm>
          <a:prstGeom prst="rect">
            <a:avLst/>
          </a:prstGeom>
          <a:noFill/>
          <a:ln/>
        </p:spPr>
        <p:txBody>
          <a:bodyPr wrap="square" lIns="0" tIns="0" rIns="0" bIns="0" rtlCol="0" anchor="t"/>
          <a:lstStyle/>
          <a:p>
            <a:pPr indent="0" marL="0">
              <a:buNone/>
            </a:pPr>
            <a:r>
              <a:rPr lang="en-US" sz="1250" b="1" dirty="0">
                <a:solidFill>
                  <a:srgbClr val="14181A"/>
                </a:solidFill>
                <a:latin typeface="Arial" pitchFamily="34" charset="0"/>
                <a:ea typeface="Arial" pitchFamily="34" charset="-122"/>
                <a:cs typeface="Arial" pitchFamily="34" charset="-120"/>
              </a:rPr>
              <a:t>L'avancement, zone par zone</a:t>
            </a:r>
            <a:endParaRPr lang="en-US" sz="1250" dirty="0"/>
          </a:p>
        </p:txBody>
      </p:sp>
      <p:sp>
        <p:nvSpPr>
          <p:cNvPr id="9" name="Text 6"/>
          <p:cNvSpPr/>
          <p:nvPr/>
        </p:nvSpPr>
        <p:spPr>
          <a:xfrm>
            <a:off x="6323076" y="2935224"/>
            <a:ext cx="5134356" cy="274320"/>
          </a:xfrm>
          <a:prstGeom prst="rect">
            <a:avLst/>
          </a:prstGeom>
          <a:noFill/>
          <a:ln/>
        </p:spPr>
        <p:txBody>
          <a:bodyPr wrap="square" lIns="0" tIns="0" rIns="0" bIns="0" rtlCol="0" anchor="t"/>
          <a:lstStyle/>
          <a:p>
            <a:pPr indent="0" marL="0">
              <a:buNone/>
            </a:pPr>
            <a:r>
              <a:rPr lang="en-US" sz="1250" b="1" dirty="0">
                <a:solidFill>
                  <a:srgbClr val="14181A"/>
                </a:solidFill>
                <a:latin typeface="Arial" pitchFamily="34" charset="0"/>
                <a:ea typeface="Arial" pitchFamily="34" charset="-122"/>
                <a:cs typeface="Arial" pitchFamily="34" charset="-120"/>
              </a:rPr>
              <a:t>L'écart, tranché au rayon</a:t>
            </a:r>
            <a:endParaRPr lang="en-US" sz="1250" dirty="0"/>
          </a:p>
        </p:txBody>
      </p:sp>
      <p:sp>
        <p:nvSpPr>
          <p:cNvPr id="10" name="Shape 7"/>
          <p:cNvSpPr/>
          <p:nvPr/>
        </p:nvSpPr>
        <p:spPr>
          <a:xfrm>
            <a:off x="676656" y="3191256"/>
            <a:ext cx="5244084" cy="2059239"/>
          </a:xfrm>
          <a:prstGeom prst="roundRect">
            <a:avLst>
              <a:gd name="adj" fmla="val 1776"/>
            </a:avLst>
          </a:prstGeom>
          <a:solidFill>
            <a:srgbClr val="FFFFFF"/>
          </a:solidFill>
          <a:ln w="12700">
            <a:solidFill>
              <a:srgbClr val="E2E5E1"/>
            </a:solidFill>
            <a:prstDash val="solid"/>
          </a:ln>
        </p:spPr>
      </p:sp>
      <p:pic>
        <p:nvPicPr>
          <p:cNvPr id="11" name="Image 1" descr="preencoded.png">    </p:cNvPr>
          <p:cNvPicPr>
            <a:picLocks noChangeAspect="1"/>
          </p:cNvPicPr>
          <p:nvPr/>
        </p:nvPicPr>
        <p:blipFill>
          <a:blip r:embed="rId2"/>
          <a:stretch>
            <a:fillRect/>
          </a:stretch>
        </p:blipFill>
        <p:spPr>
          <a:xfrm>
            <a:off x="731520" y="3246120"/>
            <a:ext cx="5134356" cy="1949511"/>
          </a:xfrm>
          <a:prstGeom prst="rect">
            <a:avLst/>
          </a:prstGeom>
        </p:spPr>
      </p:pic>
      <p:sp>
        <p:nvSpPr>
          <p:cNvPr id="12" name="Shape 8"/>
          <p:cNvSpPr/>
          <p:nvPr/>
        </p:nvSpPr>
        <p:spPr>
          <a:xfrm>
            <a:off x="6268212" y="3191256"/>
            <a:ext cx="5244084" cy="2080383"/>
          </a:xfrm>
          <a:prstGeom prst="roundRect">
            <a:avLst>
              <a:gd name="adj" fmla="val 1758"/>
            </a:avLst>
          </a:prstGeom>
          <a:solidFill>
            <a:srgbClr val="FFFFFF"/>
          </a:solidFill>
          <a:ln w="12700">
            <a:solidFill>
              <a:srgbClr val="E2E5E1"/>
            </a:solidFill>
            <a:prstDash val="solid"/>
          </a:ln>
        </p:spPr>
      </p:sp>
      <p:pic>
        <p:nvPicPr>
          <p:cNvPr id="13" name="Image 2" descr="preencoded.png">    </p:cNvPr>
          <p:cNvPicPr>
            <a:picLocks noChangeAspect="1"/>
          </p:cNvPicPr>
          <p:nvPr/>
        </p:nvPicPr>
        <p:blipFill>
          <a:blip r:embed="rId3"/>
          <a:stretch>
            <a:fillRect/>
          </a:stretch>
        </p:blipFill>
        <p:spPr>
          <a:xfrm>
            <a:off x="6323076" y="3246120"/>
            <a:ext cx="5134356" cy="1970655"/>
          </a:xfrm>
          <a:prstGeom prst="rect">
            <a:avLst/>
          </a:prstGeom>
        </p:spPr>
      </p:pic>
      <p:sp>
        <p:nvSpPr>
          <p:cNvPr id="14" name="Text 9"/>
          <p:cNvSpPr/>
          <p:nvPr/>
        </p:nvSpPr>
        <p:spPr>
          <a:xfrm>
            <a:off x="731520" y="5344791"/>
            <a:ext cx="5134356" cy="365760"/>
          </a:xfrm>
          <a:prstGeom prst="rect">
            <a:avLst/>
          </a:prstGeom>
          <a:noFill/>
          <a:ln/>
        </p:spPr>
        <p:txBody>
          <a:bodyPr wrap="square" lIns="0" tIns="0" rIns="0" bIns="0" rtlCol="0" anchor="t"/>
          <a:lstStyle/>
          <a:p>
            <a:pPr indent="0" marL="0">
              <a:buNone/>
            </a:pPr>
            <a:r>
              <a:rPr lang="en-US" sz="1000" i="1" dirty="0">
                <a:solidFill>
                  <a:srgbClr val="575F5C"/>
                </a:solidFill>
                <a:latin typeface="Arial" pitchFamily="34" charset="0"/>
                <a:ea typeface="Arial" pitchFamily="34" charset="-122"/>
                <a:cs typeface="Arial" pitchFamily="34" charset="-120"/>
              </a:rPr>
              <a:t>Onglet Suivi, données d'essai.</a:t>
            </a:r>
            <a:endParaRPr lang="en-US" sz="1000" dirty="0"/>
          </a:p>
        </p:txBody>
      </p:sp>
      <p:sp>
        <p:nvSpPr>
          <p:cNvPr id="15" name="Text 10"/>
          <p:cNvSpPr/>
          <p:nvPr/>
        </p:nvSpPr>
        <p:spPr>
          <a:xfrm>
            <a:off x="6323076" y="5344791"/>
            <a:ext cx="5134356" cy="365760"/>
          </a:xfrm>
          <a:prstGeom prst="rect">
            <a:avLst/>
          </a:prstGeom>
          <a:noFill/>
          <a:ln/>
        </p:spPr>
        <p:txBody>
          <a:bodyPr wrap="square" lIns="0" tIns="0" rIns="0" bIns="0" rtlCol="0" anchor="t"/>
          <a:lstStyle/>
          <a:p>
            <a:pPr indent="0" marL="0">
              <a:buNone/>
            </a:pPr>
            <a:r>
              <a:rPr lang="en-US" sz="1000" i="1" dirty="0">
                <a:solidFill>
                  <a:srgbClr val="575F5C"/>
                </a:solidFill>
                <a:latin typeface="Arial" pitchFamily="34" charset="0"/>
                <a:ea typeface="Arial" pitchFamily="34" charset="-122"/>
                <a:cs typeface="Arial" pitchFamily="34" charset="-120"/>
              </a:rPr>
              <a:t>Onglet Écarts d'audit, données d'essai.</a:t>
            </a:r>
            <a:endParaRPr lang="en-US" sz="1000" dirty="0"/>
          </a:p>
        </p:txBody>
      </p:sp>
      <p:sp>
        <p:nvSpPr>
          <p:cNvPr id="16" name="Text 11"/>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Arial" pitchFamily="34" charset="0"/>
                <a:ea typeface="Arial" pitchFamily="34" charset="-122"/>
                <a:cs typeface="Arial" pitchFamily="34" charset="-120"/>
              </a:rPr>
              <a:t>Quantinvo · proposition pour La Samaritaine</a:t>
            </a:r>
            <a:endParaRPr lang="en-US" sz="900" dirty="0"/>
          </a:p>
        </p:txBody>
      </p:sp>
      <p:sp>
        <p:nvSpPr>
          <p:cNvPr id="17" name="Text 12"/>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ial" pitchFamily="34" charset="0"/>
                <a:ea typeface="Arial" pitchFamily="34" charset="-122"/>
                <a:cs typeface="Arial"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Arial" pitchFamily="34" charset="0"/>
                <a:ea typeface="Arial" pitchFamily="34" charset="-122"/>
                <a:cs typeface="Arial" pitchFamily="34" charset="-120"/>
              </a:rPr>
              <a:t>Après le comptage</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325880"/>
            <a:ext cx="4206240" cy="1097280"/>
          </a:xfrm>
          <a:prstGeom prst="rect">
            <a:avLst/>
          </a:prstGeom>
          <a:noFill/>
          <a:ln/>
        </p:spPr>
        <p:txBody>
          <a:bodyPr wrap="square" lIns="0" tIns="0" rIns="0" bIns="0" rtlCol="0" anchor="t"/>
          <a:lstStyle/>
          <a:p>
            <a:pPr indent="0" marL="0">
              <a:lnSpc>
                <a:spcPct val="105000"/>
              </a:lnSpc>
              <a:buNone/>
            </a:pPr>
            <a:r>
              <a:rPr lang="en-US" sz="2600" b="1" dirty="0">
                <a:solidFill>
                  <a:srgbClr val="14181A"/>
                </a:solidFill>
                <a:latin typeface="Arial" pitchFamily="34" charset="0"/>
                <a:ea typeface="Arial" pitchFamily="34" charset="-122"/>
                <a:cs typeface="Arial" pitchFamily="34" charset="-120"/>
              </a:rPr>
              <a:t>Le rapport arrive déjà croisé.</a:t>
            </a:r>
            <a:endParaRPr lang="en-US" sz="2600" dirty="0"/>
          </a:p>
        </p:txBody>
      </p:sp>
      <p:sp>
        <p:nvSpPr>
          <p:cNvPr id="7" name="Text 4"/>
          <p:cNvSpPr/>
          <p:nvPr/>
        </p:nvSpPr>
        <p:spPr>
          <a:xfrm>
            <a:off x="731520" y="2606040"/>
            <a:ext cx="4206240" cy="1371600"/>
          </a:xfrm>
          <a:prstGeom prst="rect">
            <a:avLst/>
          </a:prstGeom>
          <a:noFill/>
          <a:ln/>
        </p:spPr>
        <p:txBody>
          <a:bodyPr wrap="square" lIns="0" tIns="0" rIns="0" bIns="0" rtlCol="0" anchor="t"/>
          <a:lstStyle/>
          <a:p>
            <a:pPr algn="l" indent="0" marL="0">
              <a:lnSpc>
                <a:spcPct val="118000"/>
              </a:lnSpc>
              <a:buNone/>
            </a:pPr>
            <a:r>
              <a:rPr lang="en-US" sz="1250" dirty="0">
                <a:solidFill>
                  <a:srgbClr val="3A423F"/>
                </a:solidFill>
                <a:latin typeface="Arial" pitchFamily="34" charset="0"/>
                <a:ea typeface="Arial" pitchFamily="34" charset="-122"/>
                <a:cs typeface="Arial" pitchFamily="34" charset="-120"/>
              </a:rPr>
              <a:t>Il part du stock théorique, pas seulement de ce qui a été scanné : un article attendu et jamais trouvé y figure, avec son manque. Le recoupement n'est plus à faire : il se télécharge.</a:t>
            </a:r>
            <a:endParaRPr lang="en-US" sz="1250" dirty="0"/>
          </a:p>
        </p:txBody>
      </p:sp>
      <p:sp>
        <p:nvSpPr>
          <p:cNvPr id="8" name="Text 5"/>
          <p:cNvSpPr/>
          <p:nvPr/>
        </p:nvSpPr>
        <p:spPr>
          <a:xfrm>
            <a:off x="731520" y="3977640"/>
            <a:ext cx="4206240" cy="1097280"/>
          </a:xfrm>
          <a:prstGeom prst="rect">
            <a:avLst/>
          </a:prstGeom>
          <a:noFill/>
          <a:ln/>
        </p:spPr>
        <p:txBody>
          <a:bodyPr wrap="square" lIns="0" tIns="0" rIns="0" bIns="0" rtlCol="0" anchor="t"/>
          <a:lstStyle/>
          <a:p>
            <a:pPr algn="l" indent="0" marL="0">
              <a:lnSpc>
                <a:spcPct val="118000"/>
              </a:lnSpc>
              <a:buNone/>
            </a:pPr>
            <a:r>
              <a:rPr lang="en-US" sz="1250" dirty="0">
                <a:solidFill>
                  <a:srgbClr val="3A423F"/>
                </a:solidFill>
                <a:latin typeface="Arial" pitchFamily="34" charset="0"/>
                <a:ea typeface="Arial" pitchFamily="34" charset="-122"/>
                <a:cs typeface="Arial" pitchFamily="34" charset="-120"/>
              </a:rPr>
              <a:t>Export Excel en un clic. Restent la validation, selon la valeur de l'écart, et l'ajustement du stock.</a:t>
            </a:r>
            <a:endParaRPr lang="en-US" sz="1250" dirty="0"/>
          </a:p>
        </p:txBody>
      </p:sp>
      <p:sp>
        <p:nvSpPr>
          <p:cNvPr id="9" name="Shape 6"/>
          <p:cNvSpPr/>
          <p:nvPr/>
        </p:nvSpPr>
        <p:spPr>
          <a:xfrm>
            <a:off x="5340096" y="1316736"/>
            <a:ext cx="6172200" cy="4260383"/>
          </a:xfrm>
          <a:prstGeom prst="roundRect">
            <a:avLst>
              <a:gd name="adj" fmla="val 859"/>
            </a:avLst>
          </a:prstGeom>
          <a:solidFill>
            <a:srgbClr val="FFFFFF"/>
          </a:solidFill>
          <a:ln w="12700">
            <a:solidFill>
              <a:srgbClr val="E2E5E1"/>
            </a:solidFill>
            <a:prstDash val="solid"/>
          </a:ln>
        </p:spPr>
      </p:sp>
      <p:pic>
        <p:nvPicPr>
          <p:cNvPr id="10" name="Image 1" descr="preencoded.png">    </p:cNvPr>
          <p:cNvPicPr>
            <a:picLocks noChangeAspect="1"/>
          </p:cNvPicPr>
          <p:nvPr/>
        </p:nvPicPr>
        <p:blipFill>
          <a:blip r:embed="rId2"/>
          <a:stretch>
            <a:fillRect/>
          </a:stretch>
        </p:blipFill>
        <p:spPr>
          <a:xfrm>
            <a:off x="5394960" y="1371600"/>
            <a:ext cx="6062472" cy="4150655"/>
          </a:xfrm>
          <a:prstGeom prst="rect">
            <a:avLst/>
          </a:prstGeom>
        </p:spPr>
      </p:pic>
      <p:sp>
        <p:nvSpPr>
          <p:cNvPr id="11" name="Text 7"/>
          <p:cNvSpPr/>
          <p:nvPr/>
        </p:nvSpPr>
        <p:spPr>
          <a:xfrm>
            <a:off x="5394960" y="5659415"/>
            <a:ext cx="6062472" cy="365760"/>
          </a:xfrm>
          <a:prstGeom prst="rect">
            <a:avLst/>
          </a:prstGeom>
          <a:noFill/>
          <a:ln/>
        </p:spPr>
        <p:txBody>
          <a:bodyPr wrap="square" lIns="0" tIns="0" rIns="0" bIns="0" rtlCol="0" anchor="t"/>
          <a:lstStyle/>
          <a:p>
            <a:pPr indent="0" marL="0">
              <a:buNone/>
            </a:pPr>
            <a:r>
              <a:rPr lang="en-US" sz="1000" i="1" dirty="0">
                <a:solidFill>
                  <a:srgbClr val="575F5C"/>
                </a:solidFill>
                <a:latin typeface="Arial" pitchFamily="34" charset="0"/>
                <a:ea typeface="Arial" pitchFamily="34" charset="-122"/>
                <a:cs typeface="Arial" pitchFamily="34" charset="-120"/>
              </a:rPr>
              <a:t>Onglet Rapport, données d'essai.</a:t>
            </a:r>
            <a:endParaRPr lang="en-US" sz="1000" dirty="0"/>
          </a:p>
        </p:txBody>
      </p:sp>
      <p:sp>
        <p:nvSpPr>
          <p:cNvPr id="12" name="Text 8"/>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Arial" pitchFamily="34" charset="0"/>
                <a:ea typeface="Arial" pitchFamily="34" charset="-122"/>
                <a:cs typeface="Arial" pitchFamily="34" charset="-120"/>
              </a:rPr>
              <a:t>Quantinvo · proposition pour La Samaritaine</a:t>
            </a:r>
            <a:endParaRPr lang="en-US" sz="900" dirty="0"/>
          </a:p>
        </p:txBody>
      </p:sp>
      <p:sp>
        <p:nvSpPr>
          <p:cNvPr id="13" name="Text 9"/>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Arial" pitchFamily="34" charset="0"/>
                <a:ea typeface="Arial" pitchFamily="34" charset="-122"/>
                <a:cs typeface="Arial"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ial" pitchFamily="34" charset="0"/>
                <a:ea typeface="Arial" pitchFamily="34" charset="-122"/>
                <a:cs typeface="Arial"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Arial" pitchFamily="34" charset="0"/>
                <a:ea typeface="Arial" pitchFamily="34" charset="-122"/>
                <a:cs typeface="Arial" pitchFamily="34" charset="-120"/>
              </a:rPr>
              <a:t>L'inventaire aléatoire</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143000"/>
            <a:ext cx="10725912" cy="822960"/>
          </a:xfrm>
          <a:prstGeom prst="rect">
            <a:avLst/>
          </a:prstGeom>
          <a:noFill/>
          <a:ln/>
        </p:spPr>
        <p:txBody>
          <a:bodyPr wrap="square" lIns="0" tIns="0" rIns="0" bIns="0" rtlCol="0" anchor="t"/>
          <a:lstStyle/>
          <a:p>
            <a:pPr indent="0" marL="0">
              <a:lnSpc>
                <a:spcPct val="105000"/>
              </a:lnSpc>
              <a:buNone/>
            </a:pPr>
            <a:r>
              <a:rPr lang="en-US" sz="2500" b="1" dirty="0">
                <a:solidFill>
                  <a:srgbClr val="14181A"/>
                </a:solidFill>
                <a:latin typeface="Arial" pitchFamily="34" charset="0"/>
                <a:ea typeface="Arial" pitchFamily="34" charset="-122"/>
                <a:cs typeface="Arial" pitchFamily="34" charset="-120"/>
              </a:rPr>
              <a:t>L'inventaire aléatoire, prêt à fonctionner.</a:t>
            </a:r>
            <a:endParaRPr lang="en-US" sz="2500" dirty="0"/>
          </a:p>
        </p:txBody>
      </p:sp>
      <p:sp>
        <p:nvSpPr>
          <p:cNvPr id="7" name="Text 4"/>
          <p:cNvSpPr/>
          <p:nvPr/>
        </p:nvSpPr>
        <p:spPr>
          <a:xfrm>
            <a:off x="731520" y="1783080"/>
            <a:ext cx="8348472" cy="548640"/>
          </a:xfrm>
          <a:prstGeom prst="rect">
            <a:avLst/>
          </a:prstGeom>
          <a:noFill/>
          <a:ln/>
        </p:spPr>
        <p:txBody>
          <a:bodyPr wrap="square" lIns="0" tIns="0" rIns="0" bIns="0" rtlCol="0" anchor="t"/>
          <a:lstStyle/>
          <a:p>
            <a:pPr algn="l" indent="0" marL="0">
              <a:lnSpc>
                <a:spcPct val="118000"/>
              </a:lnSpc>
              <a:buNone/>
            </a:pPr>
            <a:r>
              <a:rPr lang="en-US" sz="1200" i="1" dirty="0">
                <a:solidFill>
                  <a:srgbClr val="575F5C"/>
                </a:solidFill>
                <a:latin typeface="Arial" pitchFamily="34" charset="0"/>
                <a:ea typeface="Arial" pitchFamily="34" charset="-122"/>
                <a:cs typeface="Arial" pitchFamily="34" charset="-120"/>
              </a:rPr>
              <a:t>L’Inventory Control en a posé les objectifs : identifier les vols, tester la rigueur des procédures, garantir que chaque responsable maîtrise son stock. Confier le comptage au floor, c'est exactement cela.</a:t>
            </a:r>
            <a:endParaRPr lang="en-US" sz="1200" dirty="0"/>
          </a:p>
        </p:txBody>
      </p:sp>
      <p:pic>
        <p:nvPicPr>
          <p:cNvPr id="8" name="Image 1" descr="preencoded.png">    </p:cNvPr>
          <p:cNvPicPr>
            <a:picLocks noChangeAspect="1"/>
          </p:cNvPicPr>
          <p:nvPr/>
        </p:nvPicPr>
        <p:blipFill>
          <a:blip r:embed="rId2"/>
          <a:stretch>
            <a:fillRect/>
          </a:stretch>
        </p:blipFill>
        <p:spPr>
          <a:xfrm>
            <a:off x="9725171" y="2377440"/>
            <a:ext cx="1732261" cy="3657600"/>
          </a:xfrm>
          <a:prstGeom prst="rect">
            <a:avLst/>
          </a:prstGeom>
        </p:spPr>
      </p:pic>
      <p:sp>
        <p:nvSpPr>
          <p:cNvPr id="9" name="Text 5"/>
          <p:cNvSpPr/>
          <p:nvPr/>
        </p:nvSpPr>
        <p:spPr>
          <a:xfrm>
            <a:off x="9267971" y="6163056"/>
            <a:ext cx="2646661" cy="329184"/>
          </a:xfrm>
          <a:prstGeom prst="rect">
            <a:avLst/>
          </a:prstGeom>
          <a:noFill/>
          <a:ln/>
        </p:spPr>
        <p:txBody>
          <a:bodyPr wrap="square" lIns="0" tIns="0" rIns="0" bIns="0" rtlCol="0" anchor="t"/>
          <a:lstStyle/>
          <a:p>
            <a:pPr algn="ctr" indent="0" marL="0">
              <a:buNone/>
            </a:pPr>
            <a:r>
              <a:rPr lang="en-US" sz="1000" i="1" dirty="0">
                <a:solidFill>
                  <a:srgbClr val="575F5C"/>
                </a:solidFill>
                <a:latin typeface="Arial" pitchFamily="34" charset="0"/>
                <a:ea typeface="Arial" pitchFamily="34" charset="-122"/>
                <a:cs typeface="Arial" pitchFamily="34" charset="-120"/>
              </a:rPr>
              <a:t>Créer un inventaire ciblé, dans l'application.</a:t>
            </a:r>
            <a:endParaRPr lang="en-US" sz="1000" dirty="0"/>
          </a:p>
        </p:txBody>
      </p:sp>
      <p:sp>
        <p:nvSpPr>
          <p:cNvPr id="10" name="Text 6"/>
          <p:cNvSpPr/>
          <p:nvPr/>
        </p:nvSpPr>
        <p:spPr>
          <a:xfrm>
            <a:off x="731520" y="2514600"/>
            <a:ext cx="8445011" cy="3566160"/>
          </a:xfrm>
          <a:prstGeom prst="rect">
            <a:avLst/>
          </a:prstGeom>
          <a:noFill/>
          <a:ln/>
        </p:spPr>
        <p:txBody>
          <a:bodyPr wrap="square" lIns="0" tIns="0" rIns="0" bIns="0" rtlCol="0" anchor="t"/>
          <a:lstStyle/>
          <a:p>
            <a:pPr indent="0" marL="0">
              <a:lnSpc>
                <a:spcPct val="118000"/>
              </a:lnSpc>
              <a:spcAft>
                <a:spcPts val="1400"/>
              </a:spcAft>
              <a:buNone/>
            </a:pPr>
            <a:r>
              <a:rPr lang="en-US" sz="1300" b="1" dirty="0">
                <a:solidFill>
                  <a:srgbClr val="14181A"/>
                </a:solidFill>
                <a:latin typeface="Arial" pitchFamily="34" charset="0"/>
                <a:ea typeface="Arial" pitchFamily="34" charset="-122"/>
                <a:cs typeface="Arial" pitchFamily="34" charset="-120"/>
              </a:rPr>
              <a:t>La sélection. </a:t>
            </a:r>
            <a:pPr indent="0" marL="0">
              <a:lnSpc>
                <a:spcPct val="118000"/>
              </a:lnSpc>
              <a:spcAft>
                <a:spcPts val="1400"/>
              </a:spcAft>
              <a:buNone/>
            </a:pPr>
            <a:r>
              <a:rPr lang="en-US" sz="1300" dirty="0">
                <a:solidFill>
                  <a:srgbClr val="3A423F"/>
                </a:solidFill>
                <a:latin typeface="Arial" pitchFamily="34" charset="0"/>
                <a:ea typeface="Arial" pitchFamily="34" charset="-122"/>
                <a:cs typeface="Arial" pitchFamily="34" charset="-120"/>
              </a:rPr>
              <a:t>Elle reste du côté de l’Inventory Control, ou du superviseur curieux : variances négatives répétées, articles sensibles, slow movers.</a:t>
            </a:r>
            <a:endParaRPr lang="en-US" sz="1300" dirty="0"/>
          </a:p>
          <a:p>
            <a:pPr indent="0" marL="0">
              <a:lnSpc>
                <a:spcPct val="118000"/>
              </a:lnSpc>
              <a:spcAft>
                <a:spcPts val="1400"/>
              </a:spcAft>
              <a:buNone/>
            </a:pPr>
            <a:r>
              <a:rPr lang="en-US" sz="1300" b="1" dirty="0">
                <a:solidFill>
                  <a:srgbClr val="14181A"/>
                </a:solidFill>
                <a:latin typeface="Arial" pitchFamily="34" charset="0"/>
                <a:ea typeface="Arial" pitchFamily="34" charset="-122"/>
                <a:cs typeface="Arial" pitchFamily="34" charset="-120"/>
              </a:rPr>
              <a:t>Le déclenchement. </a:t>
            </a:r>
            <a:pPr indent="0" marL="0">
              <a:lnSpc>
                <a:spcPct val="118000"/>
              </a:lnSpc>
              <a:spcAft>
                <a:spcPts val="1400"/>
              </a:spcAft>
              <a:buNone/>
            </a:pPr>
            <a:r>
              <a:rPr lang="en-US" sz="1300" dirty="0">
                <a:solidFill>
                  <a:srgbClr val="3A423F"/>
                </a:solidFill>
                <a:latin typeface="Arial" pitchFamily="34" charset="0"/>
                <a:ea typeface="Arial" pitchFamily="34" charset="-122"/>
                <a:cs typeface="Arial" pitchFamily="34" charset="-120"/>
              </a:rPr>
              <a:t>Un inventaire ciblé se crée en quelques minutes — une marque, un rayon, une liste d'articles — le jour même s'il le faut. Les équipes concernées sont invitées depuis Quantinvo.</a:t>
            </a:r>
            <a:endParaRPr lang="en-US" sz="1300" dirty="0"/>
          </a:p>
          <a:p>
            <a:pPr indent="0" marL="0">
              <a:lnSpc>
                <a:spcPct val="118000"/>
              </a:lnSpc>
              <a:spcAft>
                <a:spcPts val="1400"/>
              </a:spcAft>
              <a:buNone/>
            </a:pPr>
            <a:r>
              <a:rPr lang="en-US" sz="1300" b="1" dirty="0">
                <a:solidFill>
                  <a:srgbClr val="14181A"/>
                </a:solidFill>
                <a:latin typeface="Arial" pitchFamily="34" charset="0"/>
                <a:ea typeface="Arial" pitchFamily="34" charset="-122"/>
                <a:cs typeface="Arial" pitchFamily="34" charset="-120"/>
              </a:rPr>
              <a:t>Le comptage. </a:t>
            </a:r>
            <a:pPr indent="0" marL="0">
              <a:lnSpc>
                <a:spcPct val="118000"/>
              </a:lnSpc>
              <a:spcAft>
                <a:spcPts val="1400"/>
              </a:spcAft>
              <a:buNone/>
            </a:pPr>
            <a:r>
              <a:rPr lang="en-US" sz="1300" dirty="0">
                <a:solidFill>
                  <a:srgbClr val="3A423F"/>
                </a:solidFill>
                <a:latin typeface="Arial" pitchFamily="34" charset="0"/>
                <a:ea typeface="Arial" pitchFamily="34" charset="-122"/>
                <a:cs typeface="Arial" pitchFamily="34" charset="-120"/>
              </a:rPr>
              <a:t>Rien à sortir, rien à monter la veille : c'est ce qui permet à un inventaire ciblé de rester discret, au lieu d'être annoncé par sa préparation.</a:t>
            </a:r>
            <a:endParaRPr lang="en-US" sz="1300" dirty="0"/>
          </a:p>
          <a:p>
            <a:pPr indent="0" marL="0">
              <a:lnSpc>
                <a:spcPct val="118000"/>
              </a:lnSpc>
              <a:spcAft>
                <a:spcPts val="1400"/>
              </a:spcAft>
              <a:buNone/>
            </a:pPr>
            <a:r>
              <a:rPr lang="en-US" sz="1300" b="1" dirty="0">
                <a:solidFill>
                  <a:srgbClr val="14181A"/>
                </a:solidFill>
                <a:latin typeface="Arial" pitchFamily="34" charset="0"/>
                <a:ea typeface="Arial" pitchFamily="34" charset="-122"/>
                <a:cs typeface="Arial" pitchFamily="34" charset="-120"/>
              </a:rPr>
              <a:t>Le contrôle. </a:t>
            </a:r>
            <a:pPr indent="0" marL="0">
              <a:lnSpc>
                <a:spcPct val="118000"/>
              </a:lnSpc>
              <a:spcAft>
                <a:spcPts val="1400"/>
              </a:spcAft>
              <a:buNone/>
            </a:pPr>
            <a:r>
              <a:rPr lang="en-US" sz="1300" dirty="0">
                <a:solidFill>
                  <a:srgbClr val="3A423F"/>
                </a:solidFill>
                <a:latin typeface="Arial" pitchFamily="34" charset="0"/>
                <a:ea typeface="Arial" pitchFamily="34" charset="-122"/>
                <a:cs typeface="Arial" pitchFamily="34" charset="-120"/>
              </a:rPr>
              <a:t>L'écart se lit en direct. S'il dépasse votre seuil, l'Inventory Control reprend la main, et le rapport nourrit l'enquête.</a:t>
            </a:r>
            <a:endParaRPr lang="en-US" sz="1300" dirty="0"/>
          </a:p>
        </p:txBody>
      </p:sp>
      <p:sp>
        <p:nvSpPr>
          <p:cNvPr id="11" name="Text 7"/>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Arial" pitchFamily="34" charset="0"/>
                <a:ea typeface="Arial" pitchFamily="34" charset="-122"/>
                <a:cs typeface="Arial" pitchFamily="34" charset="-120"/>
              </a:rPr>
              <a:t>Quantinvo · proposition pour La Samaritaine</a:t>
            </a:r>
            <a:endParaRPr lang="en-US" sz="900" dirty="0"/>
          </a:p>
        </p:txBody>
      </p:sp>
      <p:sp>
        <p:nvSpPr>
          <p:cNvPr id="12" name="Text 8"/>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ial" pitchFamily="34" charset="0"/>
                <a:ea typeface="Arial" pitchFamily="34" charset="-122"/>
                <a:cs typeface="Arial"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Arial" pitchFamily="34" charset="0"/>
                <a:ea typeface="Arial" pitchFamily="34" charset="-122"/>
                <a:cs typeface="Arial" pitchFamily="34" charset="-120"/>
              </a:rPr>
              <a:t>Pourquoi nous</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143000"/>
            <a:ext cx="10725912" cy="822960"/>
          </a:xfrm>
          <a:prstGeom prst="rect">
            <a:avLst/>
          </a:prstGeom>
          <a:noFill/>
          <a:ln/>
        </p:spPr>
        <p:txBody>
          <a:bodyPr wrap="square" lIns="0" tIns="0" rIns="0" bIns="0" rtlCol="0" anchor="t"/>
          <a:lstStyle/>
          <a:p>
            <a:pPr indent="0" marL="0">
              <a:lnSpc>
                <a:spcPct val="105000"/>
              </a:lnSpc>
              <a:buNone/>
            </a:pPr>
            <a:r>
              <a:rPr lang="en-US" sz="2600" b="1" dirty="0">
                <a:solidFill>
                  <a:srgbClr val="14181A"/>
                </a:solidFill>
                <a:latin typeface="Arial" pitchFamily="34" charset="0"/>
                <a:ea typeface="Arial" pitchFamily="34" charset="-122"/>
                <a:cs typeface="Arial" pitchFamily="34" charset="-120"/>
              </a:rPr>
              <a:t>Pourquoi Quantinvo, et pas SmartCount ?</a:t>
            </a:r>
            <a:endParaRPr lang="en-US" sz="2600" dirty="0"/>
          </a:p>
        </p:txBody>
      </p:sp>
      <p:sp>
        <p:nvSpPr>
          <p:cNvPr id="7" name="Text 4"/>
          <p:cNvSpPr/>
          <p:nvPr/>
        </p:nvSpPr>
        <p:spPr>
          <a:xfrm>
            <a:off x="731520" y="1874520"/>
            <a:ext cx="10725912" cy="3108960"/>
          </a:xfrm>
          <a:prstGeom prst="rect">
            <a:avLst/>
          </a:prstGeom>
          <a:noFill/>
          <a:ln/>
        </p:spPr>
        <p:txBody>
          <a:bodyPr wrap="square" lIns="0" tIns="0" rIns="0" bIns="0" rtlCol="0" anchor="t"/>
          <a:lstStyle/>
          <a:p>
            <a:pPr indent="0" marL="0">
              <a:lnSpc>
                <a:spcPct val="118000"/>
              </a:lnSpc>
              <a:spcAft>
                <a:spcPts val="1300"/>
              </a:spcAft>
              <a:buNone/>
            </a:pPr>
            <a:r>
              <a:rPr lang="en-US" sz="1250" b="1" dirty="0">
                <a:solidFill>
                  <a:srgbClr val="14181A"/>
                </a:solidFill>
                <a:latin typeface="Arial" pitchFamily="34" charset="0"/>
                <a:ea typeface="Arial" pitchFamily="34" charset="-122"/>
                <a:cs typeface="Arial" pitchFamily="34" charset="-120"/>
              </a:rPr>
              <a:t>Le matériel. </a:t>
            </a:r>
            <a:pPr indent="0" marL="0">
              <a:lnSpc>
                <a:spcPct val="118000"/>
              </a:lnSpc>
              <a:spcAft>
                <a:spcPts val="1300"/>
              </a:spcAft>
              <a:buNone/>
            </a:pPr>
            <a:r>
              <a:rPr lang="en-US" sz="1250" dirty="0">
                <a:solidFill>
                  <a:srgbClr val="3A423F"/>
                </a:solidFill>
                <a:latin typeface="Arial" pitchFamily="34" charset="0"/>
                <a:ea typeface="Arial" pitchFamily="34" charset="-122"/>
                <a:cs typeface="Arial" pitchFamily="34" charset="-120"/>
              </a:rPr>
              <a:t>SmartCount repose sur une flotte de terminaux dédiés : à charger, configurer, vérifier avant chaque session — le travail qu'on cherche justement à ne plus faire. Quantinvo tourne sous iOS et sous Android, sur les téléphones que vos équipes ont déjà.</a:t>
            </a:r>
            <a:endParaRPr lang="en-US" sz="1250" dirty="0"/>
          </a:p>
          <a:p>
            <a:pPr indent="0" marL="0">
              <a:lnSpc>
                <a:spcPct val="118000"/>
              </a:lnSpc>
              <a:spcAft>
                <a:spcPts val="1300"/>
              </a:spcAft>
              <a:buNone/>
            </a:pPr>
            <a:r>
              <a:rPr lang="en-US" sz="1250" b="1" dirty="0">
                <a:solidFill>
                  <a:srgbClr val="14181A"/>
                </a:solidFill>
                <a:latin typeface="Arial" pitchFamily="34" charset="0"/>
                <a:ea typeface="Arial" pitchFamily="34" charset="-122"/>
                <a:cs typeface="Arial" pitchFamily="34" charset="-120"/>
              </a:rPr>
              <a:t>La mise à jour. </a:t>
            </a:r>
            <a:pPr indent="0" marL="0">
              <a:lnSpc>
                <a:spcPct val="118000"/>
              </a:lnSpc>
              <a:spcAft>
                <a:spcPts val="1300"/>
              </a:spcAft>
              <a:buNone/>
            </a:pPr>
            <a:r>
              <a:rPr lang="en-US" sz="1250" dirty="0">
                <a:solidFill>
                  <a:srgbClr val="3A423F"/>
                </a:solidFill>
                <a:latin typeface="Arial" pitchFamily="34" charset="0"/>
                <a:ea typeface="Arial" pitchFamily="34" charset="-122"/>
                <a:cs typeface="Arial" pitchFamily="34" charset="-120"/>
              </a:rPr>
              <a:t>Celle des outils Zebra, comme celle de la base, demande l'intervention de l'IT Zebra et de la DSI du magasin. Quantinvo se met à jour tout seul, et les données d'inventaire sont chargées avant chaque comptage par les superviseurs eux-mêmes.</a:t>
            </a:r>
            <a:endParaRPr lang="en-US" sz="1250" dirty="0"/>
          </a:p>
          <a:p>
            <a:pPr indent="0" marL="0">
              <a:lnSpc>
                <a:spcPct val="118000"/>
              </a:lnSpc>
              <a:spcAft>
                <a:spcPts val="1300"/>
              </a:spcAft>
              <a:buNone/>
            </a:pPr>
            <a:r>
              <a:rPr lang="en-US" sz="1250" b="1" dirty="0">
                <a:solidFill>
                  <a:srgbClr val="14181A"/>
                </a:solidFill>
                <a:latin typeface="Arial" pitchFamily="34" charset="0"/>
                <a:ea typeface="Arial" pitchFamily="34" charset="-122"/>
                <a:cs typeface="Arial" pitchFamily="34" charset="-120"/>
              </a:rPr>
              <a:t>Le fichier. </a:t>
            </a:r>
            <a:pPr indent="0" marL="0">
              <a:lnSpc>
                <a:spcPct val="118000"/>
              </a:lnSpc>
              <a:spcAft>
                <a:spcPts val="1300"/>
              </a:spcAft>
              <a:buNone/>
            </a:pPr>
            <a:r>
              <a:rPr lang="en-US" sz="1250" dirty="0">
                <a:solidFill>
                  <a:srgbClr val="3A423F"/>
                </a:solidFill>
                <a:latin typeface="Arial" pitchFamily="34" charset="0"/>
                <a:ea typeface="Arial" pitchFamily="34" charset="-122"/>
                <a:cs typeface="Arial" pitchFamily="34" charset="-120"/>
              </a:rPr>
              <a:t>SmartCount rend un rapport de variance, à recouper ensuite avec le stock théorique. Quantinvo rend ce croisement déjà fait : l'attendu, le compté, le non-compté, l'écart en valeur.</a:t>
            </a:r>
            <a:endParaRPr lang="en-US" sz="1250" dirty="0"/>
          </a:p>
          <a:p>
            <a:pPr indent="0" marL="0">
              <a:lnSpc>
                <a:spcPct val="118000"/>
              </a:lnSpc>
              <a:spcAft>
                <a:spcPts val="1300"/>
              </a:spcAft>
              <a:buNone/>
            </a:pPr>
            <a:r>
              <a:rPr lang="en-US" sz="1250" b="1" dirty="0">
                <a:solidFill>
                  <a:srgbClr val="14181A"/>
                </a:solidFill>
                <a:latin typeface="Arial" pitchFamily="34" charset="0"/>
                <a:ea typeface="Arial" pitchFamily="34" charset="-122"/>
                <a:cs typeface="Arial" pitchFamily="34" charset="-120"/>
              </a:rPr>
              <a:t>L'éditeur. </a:t>
            </a:r>
            <a:pPr indent="0" marL="0">
              <a:lnSpc>
                <a:spcPct val="118000"/>
              </a:lnSpc>
              <a:spcAft>
                <a:spcPts val="1300"/>
              </a:spcAft>
              <a:buNone/>
            </a:pPr>
            <a:r>
              <a:rPr lang="en-US" sz="1250" dirty="0">
                <a:solidFill>
                  <a:srgbClr val="3A423F"/>
                </a:solidFill>
                <a:latin typeface="Arial" pitchFamily="34" charset="0"/>
                <a:ea typeface="Arial" pitchFamily="34" charset="-122"/>
                <a:cs typeface="Arial" pitchFamily="34" charset="-120"/>
              </a:rPr>
              <a:t>SmartCount est un module au catalogue d'un géant du matériel. Quantinvo ne fait qu'une chose — l'inventaire — et la personne qui l'a imaginé répond elle-même à vos questions.</a:t>
            </a:r>
            <a:endParaRPr lang="en-US" sz="1250" dirty="0"/>
          </a:p>
        </p:txBody>
      </p:sp>
      <p:sp>
        <p:nvSpPr>
          <p:cNvPr id="8" name="Shape 5"/>
          <p:cNvSpPr/>
          <p:nvPr/>
        </p:nvSpPr>
        <p:spPr>
          <a:xfrm>
            <a:off x="731520" y="4663440"/>
            <a:ext cx="10725912" cy="1005840"/>
          </a:xfrm>
          <a:prstGeom prst="roundRect">
            <a:avLst>
              <a:gd name="adj" fmla="val 3636"/>
            </a:avLst>
          </a:prstGeom>
          <a:solidFill>
            <a:srgbClr val="F2F3F1"/>
          </a:solidFill>
          <a:ln w="12700">
            <a:solidFill>
              <a:srgbClr val="F2F3F1"/>
            </a:solidFill>
            <a:prstDash val="solid"/>
          </a:ln>
        </p:spPr>
      </p:sp>
      <p:sp>
        <p:nvSpPr>
          <p:cNvPr id="9" name="Text 6"/>
          <p:cNvSpPr/>
          <p:nvPr/>
        </p:nvSpPr>
        <p:spPr>
          <a:xfrm>
            <a:off x="1005840" y="4828032"/>
            <a:ext cx="10177272" cy="228600"/>
          </a:xfrm>
          <a:prstGeom prst="rect">
            <a:avLst/>
          </a:prstGeom>
          <a:noFill/>
          <a:ln/>
        </p:spPr>
        <p:txBody>
          <a:bodyPr wrap="square" lIns="0" tIns="0" rIns="0" bIns="0" rtlCol="0" anchor="t"/>
          <a:lstStyle/>
          <a:p>
            <a:pPr indent="0" marL="0">
              <a:buNone/>
            </a:pPr>
            <a:r>
              <a:rPr lang="en-US" sz="950" b="1" dirty="0">
                <a:solidFill>
                  <a:srgbClr val="575F5C"/>
                </a:solidFill>
                <a:latin typeface="Arial" pitchFamily="34" charset="0"/>
                <a:ea typeface="Arial" pitchFamily="34" charset="-122"/>
                <a:cs typeface="Arial" pitchFamily="34" charset="-120"/>
              </a:rPr>
              <a:t>Pour être honnête</a:t>
            </a:r>
            <a:endParaRPr lang="en-US" sz="950" dirty="0"/>
          </a:p>
        </p:txBody>
      </p:sp>
      <p:sp>
        <p:nvSpPr>
          <p:cNvPr id="10" name="Text 7"/>
          <p:cNvSpPr/>
          <p:nvPr/>
        </p:nvSpPr>
        <p:spPr>
          <a:xfrm>
            <a:off x="1005840" y="5084064"/>
            <a:ext cx="10177272" cy="457200"/>
          </a:xfrm>
          <a:prstGeom prst="rect">
            <a:avLst/>
          </a:prstGeom>
          <a:noFill/>
          <a:ln/>
        </p:spPr>
        <p:txBody>
          <a:bodyPr wrap="square" lIns="0" tIns="0" rIns="0" bIns="0" rtlCol="0" anchor="t"/>
          <a:lstStyle/>
          <a:p>
            <a:pPr indent="0" marL="0">
              <a:lnSpc>
                <a:spcPct val="115000"/>
              </a:lnSpc>
              <a:buNone/>
            </a:pPr>
            <a:r>
              <a:rPr lang="en-US" sz="1150" i="1" dirty="0">
                <a:solidFill>
                  <a:srgbClr val="3A423F"/>
                </a:solidFill>
                <a:latin typeface="Arial" pitchFamily="34" charset="0"/>
                <a:ea typeface="Arial" pitchFamily="34" charset="-122"/>
                <a:cs typeface="Arial" pitchFamily="34" charset="-120"/>
              </a:rPr>
              <a:t>Un terminal durci encaisse mieux les chocs qu'un téléphone, et si votre flotte est déjà amortie, l'argument du matériel pèse moins. Ce qui ne bouge pas : un outil que le floor prend en main sans briefing, et un fichier qui arrive déjà croisé.</a:t>
            </a:r>
            <a:endParaRPr lang="en-US" sz="1150" dirty="0"/>
          </a:p>
        </p:txBody>
      </p:sp>
      <p:sp>
        <p:nvSpPr>
          <p:cNvPr id="11" name="Text 8"/>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Arial" pitchFamily="34" charset="0"/>
                <a:ea typeface="Arial" pitchFamily="34" charset="-122"/>
                <a:cs typeface="Arial" pitchFamily="34" charset="-120"/>
              </a:rPr>
              <a:t>Quantinvo · proposition pour La Samaritaine</a:t>
            </a:r>
            <a:endParaRPr lang="en-US" sz="900" dirty="0"/>
          </a:p>
        </p:txBody>
      </p:sp>
      <p:sp>
        <p:nvSpPr>
          <p:cNvPr id="12" name="Text 9"/>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384048"/>
            <a:ext cx="329184" cy="329184"/>
          </a:xfrm>
          <a:prstGeom prst="rect">
            <a:avLst/>
          </a:prstGeom>
        </p:spPr>
      </p:pic>
      <p:sp>
        <p:nvSpPr>
          <p:cNvPr id="3" name="Text 0"/>
          <p:cNvSpPr/>
          <p:nvPr/>
        </p:nvSpPr>
        <p:spPr>
          <a:xfrm>
            <a:off x="1170432" y="347472"/>
            <a:ext cx="2743200" cy="402336"/>
          </a:xfrm>
          <a:prstGeom prst="rect">
            <a:avLst/>
          </a:prstGeom>
          <a:noFill/>
          <a:ln/>
        </p:spPr>
        <p:txBody>
          <a:bodyPr wrap="square" lIns="0" tIns="0" rIns="0" bIns="0" rtlCol="0" anchor="ctr"/>
          <a:lstStyle/>
          <a:p>
            <a:pPr indent="0" marL="0">
              <a:buNone/>
            </a:pPr>
            <a:r>
              <a:rPr lang="en-US" sz="1600" b="1" dirty="0">
                <a:solidFill>
                  <a:srgbClr val="14181A"/>
                </a:solidFill>
                <a:latin typeface="Arial" pitchFamily="34" charset="0"/>
                <a:ea typeface="Arial" pitchFamily="34" charset="-122"/>
                <a:cs typeface="Arial" pitchFamily="34" charset="-120"/>
              </a:rPr>
              <a:t>Quantinvo</a:t>
            </a:r>
            <a:endParaRPr lang="en-US" sz="1600" dirty="0"/>
          </a:p>
        </p:txBody>
      </p:sp>
      <p:sp>
        <p:nvSpPr>
          <p:cNvPr id="4" name="Text 1"/>
          <p:cNvSpPr/>
          <p:nvPr/>
        </p:nvSpPr>
        <p:spPr>
          <a:xfrm>
            <a:off x="5971032" y="347472"/>
            <a:ext cx="5486400" cy="402336"/>
          </a:xfrm>
          <a:prstGeom prst="rect">
            <a:avLst/>
          </a:prstGeom>
          <a:noFill/>
          <a:ln/>
        </p:spPr>
        <p:txBody>
          <a:bodyPr wrap="square" lIns="0" tIns="0" rIns="0" bIns="0" rtlCol="0" anchor="ctr"/>
          <a:lstStyle/>
          <a:p>
            <a:pPr algn="r" indent="0" marL="0">
              <a:buNone/>
            </a:pPr>
            <a:r>
              <a:rPr lang="en-US" sz="1000" dirty="0">
                <a:solidFill>
                  <a:srgbClr val="575F5C"/>
                </a:solidFill>
                <a:latin typeface="Arial" pitchFamily="34" charset="0"/>
                <a:ea typeface="Arial" pitchFamily="34" charset="-122"/>
                <a:cs typeface="Arial" pitchFamily="34" charset="-120"/>
              </a:rPr>
              <a:t>L'offre</a:t>
            </a:r>
            <a:endParaRPr lang="en-US" sz="1000" dirty="0"/>
          </a:p>
        </p:txBody>
      </p:sp>
      <p:sp>
        <p:nvSpPr>
          <p:cNvPr id="5" name="Shape 2"/>
          <p:cNvSpPr/>
          <p:nvPr/>
        </p:nvSpPr>
        <p:spPr>
          <a:xfrm>
            <a:off x="731520" y="877824"/>
            <a:ext cx="10725912" cy="10973"/>
          </a:xfrm>
          <a:prstGeom prst="rect">
            <a:avLst/>
          </a:prstGeom>
          <a:solidFill>
            <a:srgbClr val="E2E5E1"/>
          </a:solidFill>
          <a:ln w="12700">
            <a:solidFill>
              <a:srgbClr val="E2E5E1"/>
            </a:solidFill>
            <a:prstDash val="solid"/>
          </a:ln>
        </p:spPr>
      </p:sp>
      <p:sp>
        <p:nvSpPr>
          <p:cNvPr id="6" name="Text 3"/>
          <p:cNvSpPr/>
          <p:nvPr/>
        </p:nvSpPr>
        <p:spPr>
          <a:xfrm>
            <a:off x="731520" y="1188720"/>
            <a:ext cx="10725912" cy="822960"/>
          </a:xfrm>
          <a:prstGeom prst="rect">
            <a:avLst/>
          </a:prstGeom>
          <a:noFill/>
          <a:ln/>
        </p:spPr>
        <p:txBody>
          <a:bodyPr wrap="square" lIns="0" tIns="0" rIns="0" bIns="0" rtlCol="0" anchor="t"/>
          <a:lstStyle/>
          <a:p>
            <a:pPr indent="0" marL="0">
              <a:lnSpc>
                <a:spcPct val="105000"/>
              </a:lnSpc>
              <a:buNone/>
            </a:pPr>
            <a:r>
              <a:rPr lang="en-US" sz="2600" b="1" dirty="0">
                <a:solidFill>
                  <a:srgbClr val="14181A"/>
                </a:solidFill>
                <a:latin typeface="Arial" pitchFamily="34" charset="0"/>
                <a:ea typeface="Arial" pitchFamily="34" charset="-122"/>
                <a:cs typeface="Arial" pitchFamily="34" charset="-120"/>
              </a:rPr>
              <a:t>Une licence par magasin, inventaires illimités</a:t>
            </a:r>
            <a:endParaRPr lang="en-US" sz="2600" dirty="0"/>
          </a:p>
        </p:txBody>
      </p:sp>
      <p:sp>
        <p:nvSpPr>
          <p:cNvPr id="7" name="Text 4"/>
          <p:cNvSpPr/>
          <p:nvPr/>
        </p:nvSpPr>
        <p:spPr>
          <a:xfrm>
            <a:off x="731520" y="1783080"/>
            <a:ext cx="10725912" cy="457200"/>
          </a:xfrm>
          <a:prstGeom prst="rect">
            <a:avLst/>
          </a:prstGeom>
          <a:noFill/>
          <a:ln/>
        </p:spPr>
        <p:txBody>
          <a:bodyPr wrap="square" lIns="0" tIns="0" rIns="0" bIns="0" rtlCol="0" anchor="t"/>
          <a:lstStyle/>
          <a:p>
            <a:pPr algn="l" indent="0" marL="0">
              <a:lnSpc>
                <a:spcPct val="118000"/>
              </a:lnSpc>
              <a:buNone/>
            </a:pPr>
            <a:r>
              <a:rPr lang="en-US" sz="1150" dirty="0">
                <a:solidFill>
                  <a:srgbClr val="575F5C"/>
                </a:solidFill>
                <a:latin typeface="Arial" pitchFamily="34" charset="0"/>
                <a:ea typeface="Arial" pitchFamily="34" charset="-122"/>
                <a:cs typeface="Arial" pitchFamily="34" charset="-120"/>
              </a:rPr>
              <a:t>Le prix suit le nombre d'appareils qui comptent en même temps dans le magasin — la seule chose que vous puissiez vérifier vous-même. Ni le volume de votre stock, ni le nombre de comptes, ni le nombre d'inventaires dans l'année.</a:t>
            </a:r>
            <a:endParaRPr lang="en-US" sz="1150" dirty="0"/>
          </a:p>
        </p:txBody>
      </p:sp>
      <p:sp>
        <p:nvSpPr>
          <p:cNvPr id="8" name="Shape 5"/>
          <p:cNvSpPr/>
          <p:nvPr/>
        </p:nvSpPr>
        <p:spPr>
          <a:xfrm>
            <a:off x="731520" y="2331720"/>
            <a:ext cx="3404616" cy="2743200"/>
          </a:xfrm>
          <a:prstGeom prst="roundRect">
            <a:avLst>
              <a:gd name="adj" fmla="val 1333"/>
            </a:avLst>
          </a:prstGeom>
          <a:solidFill>
            <a:srgbClr val="F2F3F1"/>
          </a:solidFill>
          <a:ln w="12700">
            <a:solidFill>
              <a:srgbClr val="F2F3F1"/>
            </a:solidFill>
            <a:prstDash val="solid"/>
          </a:ln>
        </p:spPr>
      </p:sp>
      <p:sp>
        <p:nvSpPr>
          <p:cNvPr id="9" name="Text 6"/>
          <p:cNvSpPr/>
          <p:nvPr/>
        </p:nvSpPr>
        <p:spPr>
          <a:xfrm>
            <a:off x="987552" y="2825496"/>
            <a:ext cx="2892552" cy="347472"/>
          </a:xfrm>
          <a:prstGeom prst="rect">
            <a:avLst/>
          </a:prstGeom>
          <a:noFill/>
          <a:ln/>
        </p:spPr>
        <p:txBody>
          <a:bodyPr wrap="square" lIns="0" tIns="0" rIns="0" bIns="0" rtlCol="0" anchor="t"/>
          <a:lstStyle/>
          <a:p>
            <a:pPr indent="0" marL="0">
              <a:buNone/>
            </a:pPr>
            <a:r>
              <a:rPr lang="en-US" sz="1800" b="1" dirty="0">
                <a:solidFill>
                  <a:srgbClr val="14181A"/>
                </a:solidFill>
                <a:latin typeface="Arial" pitchFamily="34" charset="0"/>
                <a:ea typeface="Arial" pitchFamily="34" charset="-122"/>
                <a:cs typeface="Arial" pitchFamily="34" charset="-120"/>
              </a:rPr>
              <a:t>Essential</a:t>
            </a:r>
            <a:endParaRPr lang="en-US" sz="1800" dirty="0"/>
          </a:p>
        </p:txBody>
      </p:sp>
      <p:sp>
        <p:nvSpPr>
          <p:cNvPr id="10" name="Text 7"/>
          <p:cNvSpPr/>
          <p:nvPr/>
        </p:nvSpPr>
        <p:spPr>
          <a:xfrm>
            <a:off x="987552" y="3227832"/>
            <a:ext cx="2892552" cy="256032"/>
          </a:xfrm>
          <a:prstGeom prst="rect">
            <a:avLst/>
          </a:prstGeom>
          <a:noFill/>
          <a:ln/>
        </p:spPr>
        <p:txBody>
          <a:bodyPr wrap="square" lIns="0" tIns="0" rIns="0" bIns="0" rtlCol="0" anchor="t"/>
          <a:lstStyle/>
          <a:p>
            <a:pPr indent="0" marL="0">
              <a:buNone/>
            </a:pPr>
            <a:r>
              <a:rPr lang="en-US" sz="1100" b="1" dirty="0">
                <a:solidFill>
                  <a:srgbClr val="1E4D3B"/>
                </a:solidFill>
                <a:latin typeface="Arial" pitchFamily="34" charset="0"/>
                <a:ea typeface="Arial" pitchFamily="34" charset="-122"/>
                <a:cs typeface="Arial" pitchFamily="34" charset="-120"/>
              </a:rPr>
              <a:t>Jusqu’à 2 appareils</a:t>
            </a:r>
            <a:endParaRPr lang="en-US" sz="1100" dirty="0"/>
          </a:p>
        </p:txBody>
      </p:sp>
      <p:sp>
        <p:nvSpPr>
          <p:cNvPr id="11" name="Text 8"/>
          <p:cNvSpPr/>
          <p:nvPr/>
        </p:nvSpPr>
        <p:spPr>
          <a:xfrm>
            <a:off x="987552" y="3538728"/>
            <a:ext cx="2892552" cy="457200"/>
          </a:xfrm>
          <a:prstGeom prst="rect">
            <a:avLst/>
          </a:prstGeom>
          <a:noFill/>
          <a:ln/>
        </p:spPr>
        <p:txBody>
          <a:bodyPr wrap="square" lIns="0" tIns="0" rIns="0" bIns="0" rtlCol="0" anchor="t"/>
          <a:lstStyle/>
          <a:p>
            <a:pPr indent="0" marL="0">
              <a:lnSpc>
                <a:spcPct val="112000"/>
              </a:lnSpc>
              <a:buNone/>
            </a:pPr>
            <a:r>
              <a:rPr lang="en-US" sz="1000" dirty="0">
                <a:solidFill>
                  <a:srgbClr val="575F5C"/>
                </a:solidFill>
                <a:latin typeface="Arial" pitchFamily="34" charset="0"/>
                <a:ea typeface="Arial" pitchFamily="34" charset="-122"/>
                <a:cs typeface="Arial" pitchFamily="34" charset="-120"/>
              </a:rPr>
              <a:t>Vous comptez seul ou à deux, dans un magasin.</a:t>
            </a:r>
            <a:endParaRPr lang="en-US" sz="1000" dirty="0"/>
          </a:p>
        </p:txBody>
      </p:sp>
      <p:sp>
        <p:nvSpPr>
          <p:cNvPr id="12" name="Text 9"/>
          <p:cNvSpPr/>
          <p:nvPr/>
        </p:nvSpPr>
        <p:spPr>
          <a:xfrm>
            <a:off x="987552" y="4050792"/>
            <a:ext cx="2892552" cy="457200"/>
          </a:xfrm>
          <a:prstGeom prst="rect">
            <a:avLst/>
          </a:prstGeom>
          <a:noFill/>
          <a:ln/>
        </p:spPr>
        <p:txBody>
          <a:bodyPr wrap="square" lIns="0" tIns="0" rIns="0" bIns="0" rtlCol="0" anchor="b"/>
          <a:lstStyle/>
          <a:p>
            <a:pPr indent="0" marL="0">
              <a:buNone/>
            </a:pPr>
            <a:r>
              <a:rPr lang="en-US" sz="2600" b="1" dirty="0">
                <a:solidFill>
                  <a:srgbClr val="14181A"/>
                </a:solidFill>
                <a:latin typeface="Arial" pitchFamily="34" charset="0"/>
                <a:ea typeface="Arial" pitchFamily="34" charset="-122"/>
                <a:cs typeface="Arial" pitchFamily="34" charset="-120"/>
              </a:rPr>
              <a:t>89 €</a:t>
            </a:r>
            <a:pPr indent="0" marL="0">
              <a:buNone/>
            </a:pPr>
            <a:r>
              <a:rPr lang="en-US" sz="1050" dirty="0">
                <a:solidFill>
                  <a:srgbClr val="575F5C"/>
                </a:solidFill>
                <a:latin typeface="Arial" pitchFamily="34" charset="0"/>
                <a:ea typeface="Arial" pitchFamily="34" charset="-122"/>
                <a:cs typeface="Arial" pitchFamily="34" charset="-120"/>
              </a:rPr>
              <a:t>  HT / mois</a:t>
            </a:r>
            <a:endParaRPr lang="en-US" sz="2600" dirty="0"/>
          </a:p>
        </p:txBody>
      </p:sp>
      <p:sp>
        <p:nvSpPr>
          <p:cNvPr id="13" name="Text 10"/>
          <p:cNvSpPr/>
          <p:nvPr/>
        </p:nvSpPr>
        <p:spPr>
          <a:xfrm>
            <a:off x="987552" y="4507992"/>
            <a:ext cx="2892552" cy="274320"/>
          </a:xfrm>
          <a:prstGeom prst="rect">
            <a:avLst/>
          </a:prstGeom>
          <a:noFill/>
          <a:ln/>
        </p:spPr>
        <p:txBody>
          <a:bodyPr wrap="square" lIns="0" tIns="0" rIns="0" bIns="0" rtlCol="0" anchor="t"/>
          <a:lstStyle/>
          <a:p>
            <a:pPr indent="0" marL="0">
              <a:buNone/>
            </a:pPr>
            <a:r>
              <a:rPr lang="en-US" sz="950" dirty="0">
                <a:solidFill>
                  <a:srgbClr val="15704F"/>
                </a:solidFill>
                <a:latin typeface="Arial" pitchFamily="34" charset="0"/>
                <a:ea typeface="Arial" pitchFamily="34" charset="-122"/>
                <a:cs typeface="Arial" pitchFamily="34" charset="-120"/>
              </a:rPr>
              <a:t>ou 950 € à l’année — 118 € de moins</a:t>
            </a:r>
            <a:endParaRPr lang="en-US" sz="950" dirty="0"/>
          </a:p>
        </p:txBody>
      </p:sp>
      <p:sp>
        <p:nvSpPr>
          <p:cNvPr id="14" name="Shape 11"/>
          <p:cNvSpPr/>
          <p:nvPr/>
        </p:nvSpPr>
        <p:spPr>
          <a:xfrm>
            <a:off x="4392168" y="2331720"/>
            <a:ext cx="3404616" cy="2743200"/>
          </a:xfrm>
          <a:prstGeom prst="roundRect">
            <a:avLst>
              <a:gd name="adj" fmla="val 1333"/>
            </a:avLst>
          </a:prstGeom>
          <a:solidFill>
            <a:srgbClr val="E7EDE9"/>
          </a:solidFill>
          <a:ln w="15875">
            <a:solidFill>
              <a:srgbClr val="1E4D3B"/>
            </a:solidFill>
            <a:prstDash val="solid"/>
          </a:ln>
        </p:spPr>
      </p:sp>
      <p:sp>
        <p:nvSpPr>
          <p:cNvPr id="15" name="Text 12"/>
          <p:cNvSpPr/>
          <p:nvPr/>
        </p:nvSpPr>
        <p:spPr>
          <a:xfrm>
            <a:off x="4648200" y="2532888"/>
            <a:ext cx="2892552" cy="219456"/>
          </a:xfrm>
          <a:prstGeom prst="rect">
            <a:avLst/>
          </a:prstGeom>
          <a:noFill/>
          <a:ln/>
        </p:spPr>
        <p:txBody>
          <a:bodyPr wrap="square" lIns="0" tIns="0" rIns="0" bIns="0" rtlCol="0" anchor="t"/>
          <a:lstStyle/>
          <a:p>
            <a:pPr indent="0" marL="0">
              <a:buNone/>
            </a:pPr>
            <a:r>
              <a:rPr lang="en-US" sz="800" b="1" spc="60" kern="0" dirty="0">
                <a:solidFill>
                  <a:srgbClr val="1E4D3B"/>
                </a:solidFill>
                <a:latin typeface="Arial" pitchFamily="34" charset="0"/>
                <a:ea typeface="Arial" pitchFamily="34" charset="-122"/>
                <a:cs typeface="Arial" pitchFamily="34" charset="-120"/>
              </a:rPr>
              <a:t>ADAPTÉE AU MAGASIN</a:t>
            </a:r>
            <a:endParaRPr lang="en-US" sz="800" dirty="0"/>
          </a:p>
        </p:txBody>
      </p:sp>
      <p:sp>
        <p:nvSpPr>
          <p:cNvPr id="16" name="Text 13"/>
          <p:cNvSpPr/>
          <p:nvPr/>
        </p:nvSpPr>
        <p:spPr>
          <a:xfrm>
            <a:off x="4648200" y="2825496"/>
            <a:ext cx="2892552" cy="347472"/>
          </a:xfrm>
          <a:prstGeom prst="rect">
            <a:avLst/>
          </a:prstGeom>
          <a:noFill/>
          <a:ln/>
        </p:spPr>
        <p:txBody>
          <a:bodyPr wrap="square" lIns="0" tIns="0" rIns="0" bIns="0" rtlCol="0" anchor="t"/>
          <a:lstStyle/>
          <a:p>
            <a:pPr indent="0" marL="0">
              <a:buNone/>
            </a:pPr>
            <a:r>
              <a:rPr lang="en-US" sz="1800" b="1" dirty="0">
                <a:solidFill>
                  <a:srgbClr val="14181A"/>
                </a:solidFill>
                <a:latin typeface="Arial" pitchFamily="34" charset="0"/>
                <a:ea typeface="Arial" pitchFamily="34" charset="-122"/>
                <a:cs typeface="Arial" pitchFamily="34" charset="-120"/>
              </a:rPr>
              <a:t>Advanced</a:t>
            </a:r>
            <a:endParaRPr lang="en-US" sz="1800" dirty="0"/>
          </a:p>
        </p:txBody>
      </p:sp>
      <p:sp>
        <p:nvSpPr>
          <p:cNvPr id="17" name="Text 14"/>
          <p:cNvSpPr/>
          <p:nvPr/>
        </p:nvSpPr>
        <p:spPr>
          <a:xfrm>
            <a:off x="4648200" y="3227832"/>
            <a:ext cx="2892552" cy="256032"/>
          </a:xfrm>
          <a:prstGeom prst="rect">
            <a:avLst/>
          </a:prstGeom>
          <a:noFill/>
          <a:ln/>
        </p:spPr>
        <p:txBody>
          <a:bodyPr wrap="square" lIns="0" tIns="0" rIns="0" bIns="0" rtlCol="0" anchor="t"/>
          <a:lstStyle/>
          <a:p>
            <a:pPr indent="0" marL="0">
              <a:buNone/>
            </a:pPr>
            <a:r>
              <a:rPr lang="en-US" sz="1100" b="1" dirty="0">
                <a:solidFill>
                  <a:srgbClr val="1E4D3B"/>
                </a:solidFill>
                <a:latin typeface="Arial" pitchFamily="34" charset="0"/>
                <a:ea typeface="Arial" pitchFamily="34" charset="-122"/>
                <a:cs typeface="Arial" pitchFamily="34" charset="-120"/>
              </a:rPr>
              <a:t>Jusqu’à 20 appareils</a:t>
            </a:r>
            <a:endParaRPr lang="en-US" sz="1100" dirty="0"/>
          </a:p>
        </p:txBody>
      </p:sp>
      <p:sp>
        <p:nvSpPr>
          <p:cNvPr id="18" name="Text 15"/>
          <p:cNvSpPr/>
          <p:nvPr/>
        </p:nvSpPr>
        <p:spPr>
          <a:xfrm>
            <a:off x="4648200" y="3538728"/>
            <a:ext cx="2892552" cy="457200"/>
          </a:xfrm>
          <a:prstGeom prst="rect">
            <a:avLst/>
          </a:prstGeom>
          <a:noFill/>
          <a:ln/>
        </p:spPr>
        <p:txBody>
          <a:bodyPr wrap="square" lIns="0" tIns="0" rIns="0" bIns="0" rtlCol="0" anchor="t"/>
          <a:lstStyle/>
          <a:p>
            <a:pPr indent="0" marL="0">
              <a:lnSpc>
                <a:spcPct val="112000"/>
              </a:lnSpc>
              <a:buNone/>
            </a:pPr>
            <a:r>
              <a:rPr lang="en-US" sz="1000" dirty="0">
                <a:solidFill>
                  <a:srgbClr val="575F5C"/>
                </a:solidFill>
                <a:latin typeface="Arial" pitchFamily="34" charset="0"/>
                <a:ea typeface="Arial" pitchFamily="34" charset="-122"/>
                <a:cs typeface="Arial" pitchFamily="34" charset="-120"/>
              </a:rPr>
              <a:t>Vous montez une équipe le jour de l’inventaire.</a:t>
            </a:r>
            <a:endParaRPr lang="en-US" sz="1000" dirty="0"/>
          </a:p>
        </p:txBody>
      </p:sp>
      <p:sp>
        <p:nvSpPr>
          <p:cNvPr id="19" name="Text 16"/>
          <p:cNvSpPr/>
          <p:nvPr/>
        </p:nvSpPr>
        <p:spPr>
          <a:xfrm>
            <a:off x="4648200" y="4050792"/>
            <a:ext cx="2892552" cy="457200"/>
          </a:xfrm>
          <a:prstGeom prst="rect">
            <a:avLst/>
          </a:prstGeom>
          <a:noFill/>
          <a:ln/>
        </p:spPr>
        <p:txBody>
          <a:bodyPr wrap="square" lIns="0" tIns="0" rIns="0" bIns="0" rtlCol="0" anchor="b"/>
          <a:lstStyle/>
          <a:p>
            <a:pPr indent="0" marL="0">
              <a:buNone/>
            </a:pPr>
            <a:r>
              <a:rPr lang="en-US" sz="2600" b="1" dirty="0">
                <a:solidFill>
                  <a:srgbClr val="14181A"/>
                </a:solidFill>
                <a:latin typeface="Arial" pitchFamily="34" charset="0"/>
                <a:ea typeface="Arial" pitchFamily="34" charset="-122"/>
                <a:cs typeface="Arial" pitchFamily="34" charset="-120"/>
              </a:rPr>
              <a:t>310 €</a:t>
            </a:r>
            <a:pPr indent="0" marL="0">
              <a:buNone/>
            </a:pPr>
            <a:r>
              <a:rPr lang="en-US" sz="1050" dirty="0">
                <a:solidFill>
                  <a:srgbClr val="575F5C"/>
                </a:solidFill>
                <a:latin typeface="Arial" pitchFamily="34" charset="0"/>
                <a:ea typeface="Arial" pitchFamily="34" charset="-122"/>
                <a:cs typeface="Arial" pitchFamily="34" charset="-120"/>
              </a:rPr>
              <a:t>  HT / mois</a:t>
            </a:r>
            <a:endParaRPr lang="en-US" sz="2600" dirty="0"/>
          </a:p>
        </p:txBody>
      </p:sp>
      <p:sp>
        <p:nvSpPr>
          <p:cNvPr id="20" name="Text 17"/>
          <p:cNvSpPr/>
          <p:nvPr/>
        </p:nvSpPr>
        <p:spPr>
          <a:xfrm>
            <a:off x="4648200" y="4507992"/>
            <a:ext cx="2892552" cy="274320"/>
          </a:xfrm>
          <a:prstGeom prst="rect">
            <a:avLst/>
          </a:prstGeom>
          <a:noFill/>
          <a:ln/>
        </p:spPr>
        <p:txBody>
          <a:bodyPr wrap="square" lIns="0" tIns="0" rIns="0" bIns="0" rtlCol="0" anchor="t"/>
          <a:lstStyle/>
          <a:p>
            <a:pPr indent="0" marL="0">
              <a:buNone/>
            </a:pPr>
            <a:r>
              <a:rPr lang="en-US" sz="950" dirty="0">
                <a:solidFill>
                  <a:srgbClr val="15704F"/>
                </a:solidFill>
                <a:latin typeface="Arial" pitchFamily="34" charset="0"/>
                <a:ea typeface="Arial" pitchFamily="34" charset="-122"/>
                <a:cs typeface="Arial" pitchFamily="34" charset="-120"/>
              </a:rPr>
              <a:t>ou 3 300 € à l’année — 420 € de moins</a:t>
            </a:r>
            <a:endParaRPr lang="en-US" sz="950" dirty="0"/>
          </a:p>
        </p:txBody>
      </p:sp>
      <p:sp>
        <p:nvSpPr>
          <p:cNvPr id="21" name="Shape 18"/>
          <p:cNvSpPr/>
          <p:nvPr/>
        </p:nvSpPr>
        <p:spPr>
          <a:xfrm>
            <a:off x="8052816" y="2331720"/>
            <a:ext cx="3404616" cy="2743200"/>
          </a:xfrm>
          <a:prstGeom prst="roundRect">
            <a:avLst>
              <a:gd name="adj" fmla="val 1333"/>
            </a:avLst>
          </a:prstGeom>
          <a:solidFill>
            <a:srgbClr val="F2F3F1"/>
          </a:solidFill>
          <a:ln w="12700">
            <a:solidFill>
              <a:srgbClr val="F2F3F1"/>
            </a:solidFill>
            <a:prstDash val="solid"/>
          </a:ln>
        </p:spPr>
      </p:sp>
      <p:sp>
        <p:nvSpPr>
          <p:cNvPr id="22" name="Text 19"/>
          <p:cNvSpPr/>
          <p:nvPr/>
        </p:nvSpPr>
        <p:spPr>
          <a:xfrm>
            <a:off x="8308848" y="2825496"/>
            <a:ext cx="2892552" cy="347472"/>
          </a:xfrm>
          <a:prstGeom prst="rect">
            <a:avLst/>
          </a:prstGeom>
          <a:noFill/>
          <a:ln/>
        </p:spPr>
        <p:txBody>
          <a:bodyPr wrap="square" lIns="0" tIns="0" rIns="0" bIns="0" rtlCol="0" anchor="t"/>
          <a:lstStyle/>
          <a:p>
            <a:pPr indent="0" marL="0">
              <a:buNone/>
            </a:pPr>
            <a:r>
              <a:rPr lang="en-US" sz="1800" b="1" dirty="0">
                <a:solidFill>
                  <a:srgbClr val="14181A"/>
                </a:solidFill>
                <a:latin typeface="Arial" pitchFamily="34" charset="0"/>
                <a:ea typeface="Arial" pitchFamily="34" charset="-122"/>
                <a:cs typeface="Arial" pitchFamily="34" charset="-120"/>
              </a:rPr>
              <a:t>Enterprise</a:t>
            </a:r>
            <a:endParaRPr lang="en-US" sz="1800" dirty="0"/>
          </a:p>
        </p:txBody>
      </p:sp>
      <p:sp>
        <p:nvSpPr>
          <p:cNvPr id="23" name="Text 20"/>
          <p:cNvSpPr/>
          <p:nvPr/>
        </p:nvSpPr>
        <p:spPr>
          <a:xfrm>
            <a:off x="8308848" y="3227832"/>
            <a:ext cx="2892552" cy="256032"/>
          </a:xfrm>
          <a:prstGeom prst="rect">
            <a:avLst/>
          </a:prstGeom>
          <a:noFill/>
          <a:ln/>
        </p:spPr>
        <p:txBody>
          <a:bodyPr wrap="square" lIns="0" tIns="0" rIns="0" bIns="0" rtlCol="0" anchor="t"/>
          <a:lstStyle/>
          <a:p>
            <a:pPr indent="0" marL="0">
              <a:buNone/>
            </a:pPr>
            <a:r>
              <a:rPr lang="en-US" sz="1100" b="1" dirty="0">
                <a:solidFill>
                  <a:srgbClr val="1E4D3B"/>
                </a:solidFill>
                <a:latin typeface="Arial" pitchFamily="34" charset="0"/>
                <a:ea typeface="Arial" pitchFamily="34" charset="-122"/>
                <a:cs typeface="Arial" pitchFamily="34" charset="-120"/>
              </a:rPr>
              <a:t>Jusqu’à 100 appareils</a:t>
            </a:r>
            <a:endParaRPr lang="en-US" sz="1100" dirty="0"/>
          </a:p>
        </p:txBody>
      </p:sp>
      <p:sp>
        <p:nvSpPr>
          <p:cNvPr id="24" name="Text 21"/>
          <p:cNvSpPr/>
          <p:nvPr/>
        </p:nvSpPr>
        <p:spPr>
          <a:xfrm>
            <a:off x="8308848" y="3538728"/>
            <a:ext cx="2892552" cy="457200"/>
          </a:xfrm>
          <a:prstGeom prst="rect">
            <a:avLst/>
          </a:prstGeom>
          <a:noFill/>
          <a:ln/>
        </p:spPr>
        <p:txBody>
          <a:bodyPr wrap="square" lIns="0" tIns="0" rIns="0" bIns="0" rtlCol="0" anchor="t"/>
          <a:lstStyle/>
          <a:p>
            <a:pPr indent="0" marL="0">
              <a:lnSpc>
                <a:spcPct val="112000"/>
              </a:lnSpc>
              <a:buNone/>
            </a:pPr>
            <a:r>
              <a:rPr lang="en-US" sz="1000" dirty="0">
                <a:solidFill>
                  <a:srgbClr val="575F5C"/>
                </a:solidFill>
                <a:latin typeface="Arial" pitchFamily="34" charset="0"/>
                <a:ea typeface="Arial" pitchFamily="34" charset="-122"/>
                <a:cs typeface="Arial" pitchFamily="34" charset="-120"/>
              </a:rPr>
              <a:t>La grande surface, qui mobilise une équipe entière.</a:t>
            </a:r>
            <a:endParaRPr lang="en-US" sz="1000" dirty="0"/>
          </a:p>
        </p:txBody>
      </p:sp>
      <p:sp>
        <p:nvSpPr>
          <p:cNvPr id="25" name="Text 22"/>
          <p:cNvSpPr/>
          <p:nvPr/>
        </p:nvSpPr>
        <p:spPr>
          <a:xfrm>
            <a:off x="8308848" y="4050792"/>
            <a:ext cx="2892552" cy="457200"/>
          </a:xfrm>
          <a:prstGeom prst="rect">
            <a:avLst/>
          </a:prstGeom>
          <a:noFill/>
          <a:ln/>
        </p:spPr>
        <p:txBody>
          <a:bodyPr wrap="square" lIns="0" tIns="0" rIns="0" bIns="0" rtlCol="0" anchor="b"/>
          <a:lstStyle/>
          <a:p>
            <a:pPr indent="0" marL="0">
              <a:buNone/>
            </a:pPr>
            <a:r>
              <a:rPr lang="en-US" sz="2600" b="1" dirty="0">
                <a:solidFill>
                  <a:srgbClr val="14181A"/>
                </a:solidFill>
                <a:latin typeface="Arial" pitchFamily="34" charset="0"/>
                <a:ea typeface="Arial" pitchFamily="34" charset="-122"/>
                <a:cs typeface="Arial" pitchFamily="34" charset="-120"/>
              </a:rPr>
              <a:t>890 €</a:t>
            </a:r>
            <a:pPr indent="0" marL="0">
              <a:buNone/>
            </a:pPr>
            <a:r>
              <a:rPr lang="en-US" sz="1050" dirty="0">
                <a:solidFill>
                  <a:srgbClr val="575F5C"/>
                </a:solidFill>
                <a:latin typeface="Arial" pitchFamily="34" charset="0"/>
                <a:ea typeface="Arial" pitchFamily="34" charset="-122"/>
                <a:cs typeface="Arial" pitchFamily="34" charset="-120"/>
              </a:rPr>
              <a:t>  HT / mois</a:t>
            </a:r>
            <a:endParaRPr lang="en-US" sz="2600" dirty="0"/>
          </a:p>
        </p:txBody>
      </p:sp>
      <p:sp>
        <p:nvSpPr>
          <p:cNvPr id="26" name="Text 23"/>
          <p:cNvSpPr/>
          <p:nvPr/>
        </p:nvSpPr>
        <p:spPr>
          <a:xfrm>
            <a:off x="8308848" y="4507992"/>
            <a:ext cx="2892552" cy="274320"/>
          </a:xfrm>
          <a:prstGeom prst="rect">
            <a:avLst/>
          </a:prstGeom>
          <a:noFill/>
          <a:ln/>
        </p:spPr>
        <p:txBody>
          <a:bodyPr wrap="square" lIns="0" tIns="0" rIns="0" bIns="0" rtlCol="0" anchor="t"/>
          <a:lstStyle/>
          <a:p>
            <a:pPr indent="0" marL="0">
              <a:buNone/>
            </a:pPr>
            <a:r>
              <a:rPr lang="en-US" sz="950" dirty="0">
                <a:solidFill>
                  <a:srgbClr val="15704F"/>
                </a:solidFill>
                <a:latin typeface="Arial" pitchFamily="34" charset="0"/>
                <a:ea typeface="Arial" pitchFamily="34" charset="-122"/>
                <a:cs typeface="Arial" pitchFamily="34" charset="-120"/>
              </a:rPr>
              <a:t>ou 9 450 € à l’année — 1 230 € de moins</a:t>
            </a:r>
            <a:endParaRPr lang="en-US" sz="950" dirty="0"/>
          </a:p>
        </p:txBody>
      </p:sp>
      <p:sp>
        <p:nvSpPr>
          <p:cNvPr id="27" name="Text 24"/>
          <p:cNvSpPr/>
          <p:nvPr/>
        </p:nvSpPr>
        <p:spPr>
          <a:xfrm>
            <a:off x="731520" y="5257800"/>
            <a:ext cx="10725912" cy="914400"/>
          </a:xfrm>
          <a:prstGeom prst="rect">
            <a:avLst/>
          </a:prstGeom>
          <a:noFill/>
          <a:ln/>
        </p:spPr>
        <p:txBody>
          <a:bodyPr wrap="square" lIns="0" tIns="0" rIns="0" bIns="0" rtlCol="0" anchor="t"/>
          <a:lstStyle/>
          <a:p>
            <a:pPr indent="0" marL="0">
              <a:lnSpc>
                <a:spcPct val="118000"/>
              </a:lnSpc>
              <a:spcAft>
                <a:spcPts val="900"/>
              </a:spcAft>
              <a:buNone/>
            </a:pPr>
            <a:r>
              <a:rPr lang="en-US" sz="1200" b="1" dirty="0">
                <a:solidFill>
                  <a:srgbClr val="14181A"/>
                </a:solidFill>
                <a:latin typeface="Arial" pitchFamily="34" charset="0"/>
                <a:ea typeface="Arial" pitchFamily="34" charset="-122"/>
                <a:cs typeface="Arial" pitchFamily="34" charset="-120"/>
              </a:rPr>
              <a:t>Ce que ça change pour l'inventaire. </a:t>
            </a:r>
            <a:pPr indent="0" marL="0">
              <a:lnSpc>
                <a:spcPct val="118000"/>
              </a:lnSpc>
              <a:spcAft>
                <a:spcPts val="900"/>
              </a:spcAft>
              <a:buNone/>
            </a:pPr>
            <a:r>
              <a:rPr lang="en-US" sz="1200" dirty="0">
                <a:solidFill>
                  <a:srgbClr val="3A423F"/>
                </a:solidFill>
                <a:latin typeface="Arial" pitchFamily="34" charset="0"/>
                <a:ea typeface="Arial" pitchFamily="34" charset="-122"/>
                <a:cs typeface="Arial" pitchFamily="34" charset="-120"/>
              </a:rPr>
              <a:t>À l'intérieur d'un palier, compter davantage ne coûte rien : un chef d'équipe qui décide de compter son rayon un mardi matin n'a aucun budget à demander. C'est ce qui rend le transfert au floor tenable dans la durée. L'application, le tableau de bord, les rapports et les mises à jour sont compris.</a:t>
            </a:r>
            <a:endParaRPr lang="en-US" sz="1200" dirty="0"/>
          </a:p>
        </p:txBody>
      </p:sp>
      <p:sp>
        <p:nvSpPr>
          <p:cNvPr id="28" name="Text 25"/>
          <p:cNvSpPr/>
          <p:nvPr/>
        </p:nvSpPr>
        <p:spPr>
          <a:xfrm>
            <a:off x="731520" y="6400800"/>
            <a:ext cx="6400800" cy="274320"/>
          </a:xfrm>
          <a:prstGeom prst="rect">
            <a:avLst/>
          </a:prstGeom>
          <a:noFill/>
          <a:ln/>
        </p:spPr>
        <p:txBody>
          <a:bodyPr wrap="square" lIns="0" tIns="0" rIns="0" bIns="0" rtlCol="0" anchor="t"/>
          <a:lstStyle/>
          <a:p>
            <a:pPr indent="0" marL="0">
              <a:buNone/>
            </a:pPr>
            <a:r>
              <a:rPr lang="en-US" sz="900" dirty="0">
                <a:solidFill>
                  <a:srgbClr val="575F5C"/>
                </a:solidFill>
                <a:latin typeface="Arial" pitchFamily="34" charset="0"/>
                <a:ea typeface="Arial" pitchFamily="34" charset="-122"/>
                <a:cs typeface="Arial" pitchFamily="34" charset="-120"/>
              </a:rPr>
              <a:t>Quantinvo · proposition pour La Samaritaine</a:t>
            </a:r>
            <a:endParaRPr lang="en-US" sz="900" dirty="0"/>
          </a:p>
        </p:txBody>
      </p:sp>
      <p:sp>
        <p:nvSpPr>
          <p:cNvPr id="29" name="Text 26"/>
          <p:cNvSpPr/>
          <p:nvPr/>
        </p:nvSpPr>
        <p:spPr>
          <a:xfrm>
            <a:off x="11000232" y="6400800"/>
            <a:ext cx="457200" cy="274320"/>
          </a:xfrm>
          <a:prstGeom prst="rect">
            <a:avLst/>
          </a:prstGeom>
          <a:noFill/>
          <a:ln/>
        </p:spPr>
        <p:txBody>
          <a:bodyPr wrap="square" lIns="0" tIns="0" rIns="0" bIns="0" rtlCol="0" anchor="t"/>
          <a:lstStyle/>
          <a:p>
            <a:pPr algn="r" indent="0" marL="0">
              <a:buNone/>
            </a:pPr>
            <a:r>
              <a:rPr lang="en-US" sz="900" dirty="0">
                <a:solidFill>
                  <a:srgbClr val="575F5C"/>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31520" y="685800"/>
            <a:ext cx="566928" cy="566928"/>
          </a:xfrm>
          <a:prstGeom prst="rect">
            <a:avLst/>
          </a:prstGeom>
        </p:spPr>
      </p:pic>
      <p:sp>
        <p:nvSpPr>
          <p:cNvPr id="3" name="Text 0"/>
          <p:cNvSpPr/>
          <p:nvPr/>
        </p:nvSpPr>
        <p:spPr>
          <a:xfrm>
            <a:off x="1444752" y="658368"/>
            <a:ext cx="4572000" cy="621792"/>
          </a:xfrm>
          <a:prstGeom prst="rect">
            <a:avLst/>
          </a:prstGeom>
          <a:noFill/>
          <a:ln/>
        </p:spPr>
        <p:txBody>
          <a:bodyPr wrap="square" lIns="0" tIns="0" rIns="0" bIns="0" rtlCol="0" anchor="ctr"/>
          <a:lstStyle/>
          <a:p>
            <a:pPr indent="0" marL="0">
              <a:buNone/>
            </a:pPr>
            <a:r>
              <a:rPr lang="en-US" sz="2400" b="1" dirty="0">
                <a:solidFill>
                  <a:srgbClr val="14181A"/>
                </a:solidFill>
                <a:latin typeface="Arial" pitchFamily="34" charset="0"/>
                <a:ea typeface="Arial" pitchFamily="34" charset="-122"/>
                <a:cs typeface="Arial" pitchFamily="34" charset="-120"/>
              </a:rPr>
              <a:t>Quantinvo</a:t>
            </a:r>
            <a:endParaRPr lang="en-US" sz="2400" dirty="0"/>
          </a:p>
        </p:txBody>
      </p:sp>
      <p:sp>
        <p:nvSpPr>
          <p:cNvPr id="4" name="Shape 1"/>
          <p:cNvSpPr/>
          <p:nvPr/>
        </p:nvSpPr>
        <p:spPr>
          <a:xfrm>
            <a:off x="731520" y="1481328"/>
            <a:ext cx="2011680" cy="20117"/>
          </a:xfrm>
          <a:prstGeom prst="rect">
            <a:avLst/>
          </a:prstGeom>
          <a:solidFill>
            <a:srgbClr val="14181A"/>
          </a:solidFill>
          <a:ln w="12700">
            <a:solidFill>
              <a:srgbClr val="14181A"/>
            </a:solidFill>
            <a:prstDash val="solid"/>
          </a:ln>
        </p:spPr>
      </p:sp>
      <p:sp>
        <p:nvSpPr>
          <p:cNvPr id="5" name="Text 2"/>
          <p:cNvSpPr/>
          <p:nvPr/>
        </p:nvSpPr>
        <p:spPr>
          <a:xfrm>
            <a:off x="731520" y="2377440"/>
            <a:ext cx="8686800" cy="1188720"/>
          </a:xfrm>
          <a:prstGeom prst="rect">
            <a:avLst/>
          </a:prstGeom>
          <a:noFill/>
          <a:ln/>
        </p:spPr>
        <p:txBody>
          <a:bodyPr wrap="square" lIns="0" tIns="0" rIns="0" bIns="0" rtlCol="0" anchor="t"/>
          <a:lstStyle/>
          <a:p>
            <a:pPr indent="0" marL="0">
              <a:lnSpc>
                <a:spcPct val="105000"/>
              </a:lnSpc>
              <a:buNone/>
            </a:pPr>
            <a:r>
              <a:rPr lang="en-US" sz="3600" b="1" dirty="0">
                <a:solidFill>
                  <a:srgbClr val="14181A"/>
                </a:solidFill>
                <a:latin typeface="Arial" pitchFamily="34" charset="0"/>
                <a:ea typeface="Arial" pitchFamily="34" charset="-122"/>
                <a:cs typeface="Arial" pitchFamily="34" charset="-120"/>
              </a:rPr>
              <a:t>Un essai suffit pour être convaincu.</a:t>
            </a:r>
            <a:endParaRPr lang="en-US" sz="3600" dirty="0"/>
          </a:p>
        </p:txBody>
      </p:sp>
      <p:sp>
        <p:nvSpPr>
          <p:cNvPr id="6" name="Text 3"/>
          <p:cNvSpPr/>
          <p:nvPr/>
        </p:nvSpPr>
        <p:spPr>
          <a:xfrm>
            <a:off x="731520" y="3657600"/>
            <a:ext cx="7315200" cy="1188720"/>
          </a:xfrm>
          <a:prstGeom prst="rect">
            <a:avLst/>
          </a:prstGeom>
          <a:noFill/>
          <a:ln/>
        </p:spPr>
        <p:txBody>
          <a:bodyPr wrap="square" lIns="0" tIns="0" rIns="0" bIns="0" rtlCol="0" anchor="t"/>
          <a:lstStyle/>
          <a:p>
            <a:pPr indent="0" marL="0">
              <a:lnSpc>
                <a:spcPct val="120000"/>
              </a:lnSpc>
              <a:buNone/>
            </a:pPr>
            <a:r>
              <a:rPr lang="en-US" sz="1450" dirty="0">
                <a:solidFill>
                  <a:srgbClr val="3A423F"/>
                </a:solidFill>
                <a:latin typeface="Arial" pitchFamily="34" charset="0"/>
                <a:ea typeface="Arial" pitchFamily="34" charset="-122"/>
                <a:cs typeface="Arial" pitchFamily="34" charset="-120"/>
              </a:rPr>
              <a:t>Une démonstration avec un chef d'équipe et deux vendeurs, sur votre propre stock théorique : il l'importe, ils balisent, ils comptent, et vous recevez le rapport. Un mardi matin avant l'ouverture suffit.</a:t>
            </a:r>
            <a:endParaRPr lang="en-US" sz="1450" dirty="0"/>
          </a:p>
        </p:txBody>
      </p:sp>
      <p:sp>
        <p:nvSpPr>
          <p:cNvPr id="7" name="Text 4"/>
          <p:cNvSpPr/>
          <p:nvPr/>
        </p:nvSpPr>
        <p:spPr>
          <a:xfrm>
            <a:off x="731520" y="5029200"/>
            <a:ext cx="8229600" cy="411480"/>
          </a:xfrm>
          <a:prstGeom prst="rect">
            <a:avLst/>
          </a:prstGeom>
          <a:noFill/>
          <a:ln/>
        </p:spPr>
        <p:txBody>
          <a:bodyPr wrap="square" lIns="0" tIns="0" rIns="0" bIns="0" rtlCol="0" anchor="t"/>
          <a:lstStyle/>
          <a:p>
            <a:pPr indent="0" marL="0">
              <a:buNone/>
            </a:pPr>
            <a:r>
              <a:rPr lang="en-US" sz="1500" b="1" dirty="0">
                <a:solidFill>
                  <a:srgbClr val="14181A"/>
                </a:solidFill>
                <a:latin typeface="Arial" pitchFamily="34" charset="0"/>
                <a:ea typeface="Arial" pitchFamily="34" charset="-122"/>
                <a:cs typeface="Arial" pitchFamily="34" charset="-120"/>
              </a:rPr>
              <a:t>contact@quantinvo.com   ·   www.quantinvo.com</a:t>
            </a:r>
            <a:endParaRPr lang="en-US" sz="1500" dirty="0"/>
          </a:p>
        </p:txBody>
      </p:sp>
      <p:sp>
        <p:nvSpPr>
          <p:cNvPr id="8" name="Text 5"/>
          <p:cNvSpPr/>
          <p:nvPr/>
        </p:nvSpPr>
        <p:spPr>
          <a:xfrm>
            <a:off x="731520" y="6080760"/>
            <a:ext cx="9144000" cy="320040"/>
          </a:xfrm>
          <a:prstGeom prst="rect">
            <a:avLst/>
          </a:prstGeom>
          <a:noFill/>
          <a:ln/>
        </p:spPr>
        <p:txBody>
          <a:bodyPr wrap="square" lIns="0" tIns="0" rIns="0" bIns="0" rtlCol="0" anchor="t"/>
          <a:lstStyle/>
          <a:p>
            <a:pPr indent="0" marL="0">
              <a:buNone/>
            </a:pPr>
            <a:r>
              <a:rPr lang="en-US" sz="1050" dirty="0">
                <a:solidFill>
                  <a:srgbClr val="575F5C"/>
                </a:solidFill>
                <a:latin typeface="Arial" pitchFamily="34" charset="0"/>
                <a:ea typeface="Arial" pitchFamily="34" charset="-122"/>
                <a:cs typeface="Arial" pitchFamily="34" charset="-120"/>
              </a:rPr>
              <a:t>Quantinvo, par Devkaylab. L'outil d'inventaire pour le commerce.</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Devkaylab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Quantinvo — proposition pour La Samaritaine</dc:title>
  <dc:subject>PptxGenJS Presentation</dc:subject>
  <dc:creator>Devkaylab</dc:creator>
  <cp:lastModifiedBy>Devkaylab</cp:lastModifiedBy>
  <cp:revision>1</cp:revision>
  <dcterms:created xsi:type="dcterms:W3CDTF">2026-09-11T14:01:57Z</dcterms:created>
  <dcterms:modified xsi:type="dcterms:W3CDTF">2026-09-11T14:01:57Z</dcterms:modified>
</cp:coreProperties>
</file>