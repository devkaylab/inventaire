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commenter : lire, et laisser la page faire son effet. C'est leur document, ils s'y reconnaissent. La question qui vient toute seule : pourquoi tout cela passe-t-il par l'Inventory Control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du deck est dans l'encadré : on ne propose pas d'alléger la charge de l'Inventory Control, on propose de la transférer au floor. Chaque responsable maîtrise son stock — c'est l'objectif écrit dans leur propre projet d'inventaire aléatoire.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 le rayon, la réserve, la nuit d'inventaire. La simplicité n'est pas un confort, c'est la condition du transfert au floor — un outil qui demande un expert recrée l'Inventory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écrans sont de vraies captures de l'application, celles du guide de prise en main. Et l'Inventory Control ? Il n'a pas d'écran sur cette page — c'est le message. Le sien arrive plus loin :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miroir de la page 2, même structure veille / matin / pendant / après — mais le sujet des phrases a changé : c'est le chef d'équipe qui agit. Insister sur la dernière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Chaque ligne de gauche est portée par l'Inventory Control ; chaque ligne de droite par le floor — sauf la dernière, la seule qui vous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de surveillance n'est pas supprimé, il est distribué : chaque chef d'équipe voit son inventaire, et vous voyez tout sans rien opérer. Le suivi agrégé (personne n'est suivi nominativement en direct)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recomptage ne disparaît pas : il se décide à chaud, par le chef d'équipe, au lieu d'être découvert par l'Inventory Control en surveillant la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page de l'Inventory Control : son travail commence ici, sur un fichier déjà croisé avec le théorique. La validation PSM / AGM garde le même circuit qu'aujourd'hui, sur un fichier mieux rangé.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de prix Zebra — on n'en parle pas, même en réponse à une question. L'argument décisif ici : un outil expert suppose un service expert pour le servir ; c'est incompatible avec le transfert au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La grille au volume est dans le deck commercial et se confirme au devis ; ici, l'argument est que le modèle encourage précisément le transfert : plus le floor compte, plus la licence est rentabilisée.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5544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journée d'inventaire, telle qu'elle se déroule.</a:t>
            </a:r>
            <a:endParaRPr lang="en-US" sz="2600" dirty="0"/>
          </a:p>
        </p:txBody>
      </p:sp>
      <p:sp>
        <p:nvSpPr>
          <p:cNvPr id="7" name="Text 4"/>
          <p:cNvSpPr/>
          <p:nvPr/>
        </p:nvSpPr>
        <p:spPr>
          <a:xfrm>
            <a:off x="731520" y="2926080"/>
            <a:ext cx="4206240" cy="10972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Reprise de votre déroulement d'inventaire tournant, étape par étape. Chaque ligne est tirée de votre document — et chaque ligne est portée par l'Inventory Control.</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La veille.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Balisage des zones à inventorier, stickers posés avec une personne du floor ou du relay.</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matin.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Télécharger le stock théorique du jour, ouvrir la session SmartCount, connecter les terminaux Zebra un par un — en vérifiant la date et la localisation de chacun (101 floor / BOH, 902 relay). Puis briefer les compteurs sur le maniement des terminaux et la procédure.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Pendant.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Déclencher l'audit des zones comptées — 100 % pour la W&amp;J, 30 % au moins ailleurs —, guetter les failed audits sur SmartCount, faire recompter les zones en désaccord.</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Après.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Extraire le rapport SKU Variance, le consolider à la main avec le stock théorique, faire valider les résultats selon la valeur de l'écart (Inventory Control, PSM ou AGM), puis ajuster le stock.</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comptage est fait par les équipes. Tout le reste est fait par vous.</a:t>
            </a:r>
            <a:endParaRPr lang="en-US" sz="2600" dirty="0"/>
          </a:p>
        </p:txBody>
      </p:sp>
      <p:sp>
        <p:nvSpPr>
          <p:cNvPr id="7" name="Text 4"/>
          <p:cNvSpPr/>
          <p:nvPr/>
        </p:nvSpPr>
        <p:spPr>
          <a:xfrm>
            <a:off x="731520" y="338328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4</a:t>
            </a:r>
            <a:endParaRPr lang="en-US" sz="5400" dirty="0"/>
          </a:p>
        </p:txBody>
      </p:sp>
      <p:sp>
        <p:nvSpPr>
          <p:cNvPr id="8" name="Text 5"/>
          <p:cNvSpPr/>
          <p:nvPr/>
        </p:nvSpPr>
        <p:spPr>
          <a:xfrm>
            <a:off x="731520" y="429768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casquettes portées par l'Inventory Control à chaque inventaire : préparer, surveiller, réconcilier, corriger.</a:t>
            </a:r>
            <a:endParaRPr lang="en-US" sz="1200" dirty="0"/>
          </a:p>
        </p:txBody>
      </p:sp>
      <p:sp>
        <p:nvSpPr>
          <p:cNvPr id="9" name="Text 6"/>
          <p:cNvSpPr/>
          <p:nvPr/>
        </p:nvSpPr>
        <p:spPr>
          <a:xfrm>
            <a:off x="5394960" y="1371600"/>
            <a:ext cx="6062472" cy="420624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préparation.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 balisage, le stock du jour, la session, les terminaux, le briefing : la moitié de chaque inventaire ne compte aucun article.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surveillance.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Pendant tout le comptage, quelqu'un reste posté sur la plateforme pour suivre les audits et guetter les failed audits. Ce quelqu'un, c'est vous.</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Deux fichiers à rapprocher à la main après chaque inventaire — le stock théorique et le SKU Variance.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correction.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L'ajustement du stock, après validation. Avec le programme des inventaires, la seule chose qui doive vraiment rester entre vos mains.</a:t>
            </a:r>
            <a:endParaRPr lang="en-US" sz="1300" dirty="0"/>
          </a:p>
        </p:txBody>
      </p:sp>
      <p:sp>
        <p:nvSpPr>
          <p:cNvPr id="10" name="Shape 7"/>
          <p:cNvSpPr/>
          <p:nvPr/>
        </p:nvSpPr>
        <p:spPr>
          <a:xfrm>
            <a:off x="5394960" y="5212080"/>
            <a:ext cx="6062472" cy="1097280"/>
          </a:xfrm>
          <a:prstGeom prst="roundRect">
            <a:avLst>
              <a:gd name="adj" fmla="val 6667"/>
            </a:avLst>
          </a:prstGeom>
          <a:solidFill>
            <a:srgbClr val="F4F5F9"/>
          </a:solidFill>
          <a:ln w="12700">
            <a:solidFill>
              <a:srgbClr val="F4F5F9"/>
            </a:solidFill>
            <a:prstDash val="solid"/>
          </a:ln>
        </p:spPr>
      </p:sp>
      <p:sp>
        <p:nvSpPr>
          <p:cNvPr id="11" name="Text 8"/>
          <p:cNvSpPr/>
          <p:nvPr/>
        </p:nvSpPr>
        <p:spPr>
          <a:xfrm>
            <a:off x="5669280" y="537667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L'idée de cette proposition</a:t>
            </a:r>
            <a:endParaRPr lang="en-US" sz="950" dirty="0"/>
          </a:p>
        </p:txBody>
      </p:sp>
      <p:sp>
        <p:nvSpPr>
          <p:cNvPr id="12" name="Text 9"/>
          <p:cNvSpPr/>
          <p:nvPr/>
        </p:nvSpPr>
        <p:spPr>
          <a:xfrm>
            <a:off x="5669280" y="563270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Rendre l'inventaire aux équipes de vente, du balisage au dernier scan : le chef d'équipe supervise, ses vendeurs comptent. L'Inventory Control fixe les règles, reçoit le rapport, valide et ajuste — il ne conduit plus rien.</a:t>
            </a:r>
            <a:endParaRPr lang="en-US" sz="1150" dirty="0"/>
          </a:p>
        </p:txBody>
      </p:sp>
      <p:sp>
        <p:nvSpPr>
          <p:cNvPr id="13"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4"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Qu'est-ce que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Quantinvo est un outil d'inventaire complet : une application sur l'iPhone des compteurs, un tableau de bord web pour celui qui pilote, un rapport à la fin. Rien d'autre à installer, rien à acheter.</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Né du terrain.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Je fais du contrôle des stocks en magasin. La balise qu'on ne retrouve pas, la réserve sans réseau, la consolidation qui prend l'après-midi : Quantinvo est la réponse à ces irritants, et rien de plus.</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Assez simple pour le floor.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Prise en main en dix minutes, sans briefing matériel : c'est ce qui permet de confier l'inventaire aux équipes de vente plutôt qu'à un service spécialisé.</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Pensé pour l'inventaire tournant.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Des comptages toute l'année — un rayon, une marque, une liste d'articles — plutôt qu'une nuit par an. C'est le cœur de l'outil, pas une option.</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Qui fait quoi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3444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L'inventaire appartient au floor. Voici leurs écrans.</a:t>
            </a:r>
            <a:endParaRPr lang="en-US" sz="2400" dirty="0"/>
          </a:p>
        </p:txBody>
      </p:sp>
      <p:sp>
        <p:nvSpPr>
          <p:cNvPr id="7" name="Text 4"/>
          <p:cNvSpPr/>
          <p:nvPr/>
        </p:nvSpPr>
        <p:spPr>
          <a:xfrm>
            <a:off x="731520"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chef d'équipe prépare</a:t>
            </a:r>
            <a:endParaRPr lang="en-US" sz="1350" dirty="0"/>
          </a:p>
        </p:txBody>
      </p:sp>
      <p:sp>
        <p:nvSpPr>
          <p:cNvPr id="8" name="Text 5"/>
          <p:cNvSpPr/>
          <p:nvPr/>
        </p:nvSpPr>
        <p:spPr>
          <a:xfrm>
            <a:off x="731520"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 imprime ses balises depuis l'outil et les pose avec son équipe. Aucun matériel à réserver.</a:t>
            </a:r>
            <a:endParaRPr lang="en-US" sz="1100" dirty="0"/>
          </a:p>
        </p:txBody>
      </p:sp>
      <p:sp>
        <p:nvSpPr>
          <p:cNvPr id="9" name="Shape 6"/>
          <p:cNvSpPr/>
          <p:nvPr/>
        </p:nvSpPr>
        <p:spPr>
          <a:xfrm>
            <a:off x="731520" y="2971800"/>
            <a:ext cx="3392424" cy="3227832"/>
          </a:xfrm>
          <a:prstGeom prst="roundRect">
            <a:avLst>
              <a:gd name="adj" fmla="val 3966"/>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972302"/>
            <a:ext cx="2770632" cy="3227330"/>
          </a:xfrm>
          <a:prstGeom prst="rect">
            <a:avLst/>
          </a:prstGeom>
        </p:spPr>
      </p:pic>
      <p:sp>
        <p:nvSpPr>
          <p:cNvPr id="11" name="Text 7"/>
          <p:cNvSpPr/>
          <p:nvPr/>
        </p:nvSpPr>
        <p:spPr>
          <a:xfrm>
            <a:off x="4398264"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vendeurs comptent</a:t>
            </a:r>
            <a:endParaRPr lang="en-US" sz="1350" dirty="0"/>
          </a:p>
        </p:txBody>
      </p:sp>
      <p:sp>
        <p:nvSpPr>
          <p:cNvPr id="12" name="Text 8"/>
          <p:cNvSpPr/>
          <p:nvPr/>
        </p:nvSpPr>
        <p:spPr>
          <a:xfrm>
            <a:off x="4398264"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Scanner la balise du rayon, puis les articles, avec le téléphone qu'ils ont en poche.</a:t>
            </a:r>
            <a:endParaRPr lang="en-US" sz="1100" dirty="0"/>
          </a:p>
        </p:txBody>
      </p:sp>
      <p:sp>
        <p:nvSpPr>
          <p:cNvPr id="13" name="Shape 9"/>
          <p:cNvSpPr/>
          <p:nvPr/>
        </p:nvSpPr>
        <p:spPr>
          <a:xfrm>
            <a:off x="4398264" y="2971800"/>
            <a:ext cx="3392424" cy="3227832"/>
          </a:xfrm>
          <a:prstGeom prst="roundRect">
            <a:avLst>
              <a:gd name="adj" fmla="val 3966"/>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972302"/>
            <a:ext cx="2770632" cy="3227330"/>
          </a:xfrm>
          <a:prstGeom prst="rect">
            <a:avLst/>
          </a:prstGeom>
        </p:spPr>
      </p:pic>
      <p:sp>
        <p:nvSpPr>
          <p:cNvPr id="15" name="Text 10"/>
          <p:cNvSpPr/>
          <p:nvPr/>
        </p:nvSpPr>
        <p:spPr>
          <a:xfrm>
            <a:off x="8065008"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chef d'équipe tranche</a:t>
            </a:r>
            <a:endParaRPr lang="en-US" sz="1350" dirty="0"/>
          </a:p>
        </p:txBody>
      </p:sp>
      <p:sp>
        <p:nvSpPr>
          <p:cNvPr id="16" name="Text 11"/>
          <p:cNvSpPr/>
          <p:nvPr/>
        </p:nvSpPr>
        <p:spPr>
          <a:xfrm>
            <a:off x="8065008"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 audite selon votre règle et règle les désaccords au rayon, pendant que ça compte.</a:t>
            </a:r>
            <a:endParaRPr lang="en-US" sz="1100" dirty="0"/>
          </a:p>
        </p:txBody>
      </p:sp>
      <p:sp>
        <p:nvSpPr>
          <p:cNvPr id="17" name="Shape 12"/>
          <p:cNvSpPr/>
          <p:nvPr/>
        </p:nvSpPr>
        <p:spPr>
          <a:xfrm>
            <a:off x="8065008" y="2971800"/>
            <a:ext cx="3392424" cy="3227832"/>
          </a:xfrm>
          <a:prstGeom prst="roundRect">
            <a:avLst>
              <a:gd name="adj" fmla="val 3966"/>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972302"/>
            <a:ext cx="2770632" cy="3227330"/>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La même journée, conduite par le floor.</a:t>
            </a:r>
            <a:endParaRPr lang="en-US" sz="2600" dirty="0"/>
          </a:p>
        </p:txBody>
      </p:sp>
      <p:sp>
        <p:nvSpPr>
          <p:cNvPr id="7" name="Text 4"/>
          <p:cNvSpPr/>
          <p:nvPr/>
        </p:nvSpPr>
        <p:spPr>
          <a:xfrm>
            <a:off x="731520" y="265176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déroulement ne change pas. Ce qui change, c'est qui le porte : vous n'apparaissez qu'à la dernière ligne.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La veille.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 chef d'équipe imprime ses balises — une planche d'étiquettes numérotées, en PDF — et les pose avec son équipe. Personne d'autre à mobiliser.</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matin.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Il importe le stock théorique tel quel, colonnes reconnues, et ouvre l'inventaire. Pas de flotte à préparer : chaque vendeur le rejoint depuis son téléphone.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Pendant.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Les vendeurs comptent, zone par zone. Le chef d'équipe suit l'avancement, audite selon votre règle — 100 % W&amp;J, 30 % au moins ailleurs — et tranche les désaccords au rayon, en direct.</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Après.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 rapport croise déjà l'attendu et le compté. L'Inventory Control le reçoit, le fait valider selon la valeur de l'écart, et ajuste le stock. C'est sa première apparition de la journée.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Sans, avec</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change de mains</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Sans Quantinvo</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Le balisage la veille, par l’Inventory Control avec une personne du floor.</a:t>
            </a:r>
            <a:endParaRPr lang="en-US" sz="125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Le chef d’équipe imprime ses balises et les pose avec son équipe.</a:t>
            </a:r>
            <a:endParaRPr lang="en-US" sz="125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Des terminaux à connecter et vérifier un par un avant chaque session.</a:t>
            </a:r>
            <a:endParaRPr lang="en-US" sz="125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Aucune flotte : chaque vendeur rejoint l’inventaire depuis son téléphone.</a:t>
            </a:r>
            <a:endParaRPr lang="en-US" sz="125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Un briefing sur le maniement des terminaux à chaque inventaire.</a:t>
            </a:r>
            <a:endParaRPr lang="en-US" sz="125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Le geste qu’ils connaissent : scanner la balise, scanner les articles.</a:t>
            </a:r>
            <a:endParaRPr lang="en-US" sz="125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Quelqu’un posté sur la plateforme pour guetter les failed audits.</a:t>
            </a:r>
            <a:endParaRPr lang="en-US" sz="125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Le chef d’équipe voit tout et tranche les écarts au rayon.</a:t>
            </a:r>
            <a:endParaRPr lang="en-US" sz="125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Le SKU Variance à consolider, l’Inventory Control présent du début à la fin.</a:t>
            </a:r>
            <a:endParaRPr lang="en-US" sz="125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Un rapport déjà croisé avec le théorique. Vous validez, vous ajustez.</a:t>
            </a:r>
            <a:endParaRPr lang="en-US" sz="125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Chacun suit son inventaire. Vous gardez la vue d’ensemble.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chef d'équipe suit son rayon en direct : l'avancement zone par zone, les appareils en comptage et en audit, les derniers scans. L'Inventory Control, s'il le souhaite, ouvre la même vue sur n'importe quel inventaire en cours — sans en conduire aucun. Le suivi est agrégé : on pilote le travail, pas les personnes.</a:t>
            </a:r>
            <a:endParaRPr lang="en-US" sz="1250" dirty="0"/>
          </a:p>
        </p:txBody>
      </p:sp>
      <p:sp>
        <p:nvSpPr>
          <p:cNvPr id="8" name="Shape 5"/>
          <p:cNvSpPr/>
          <p:nvPr/>
        </p:nvSpPr>
        <p:spPr>
          <a:xfrm>
            <a:off x="1808769" y="2825496"/>
            <a:ext cx="8571413" cy="3172968"/>
          </a:xfrm>
          <a:prstGeom prst="roundRect">
            <a:avLst>
              <a:gd name="adj" fmla="val 230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863633" y="2880360"/>
            <a:ext cx="8461685" cy="3063240"/>
          </a:xfrm>
          <a:prstGeom prst="rect">
            <a:avLst/>
          </a:prstGeom>
        </p:spPr>
      </p:pic>
      <p:sp>
        <p:nvSpPr>
          <p:cNvPr id="10" name="Text 6"/>
          <p:cNvSpPr/>
          <p:nvPr/>
        </p:nvSpPr>
        <p:spPr>
          <a:xfrm>
            <a:off x="1863633" y="608076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L'audit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Vous fixez la règle d’audit. Le floor l’applique.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100 % de la W&amp;J, 30 % au moins ailleurs : la règle reste la vôtre — le chef d'équipe l'exécute. Un failed audit ne s'attend plus dans un rapport : les deux comptages s'affichent côte à côte, l'écart en pièces et en valeur d'achat, et il se tranche pendant que le compteur est encore au rayon.</a:t>
            </a:r>
            <a:endParaRPr lang="en-US" sz="1250" dirty="0"/>
          </a:p>
        </p:txBody>
      </p:sp>
      <p:sp>
        <p:nvSpPr>
          <p:cNvPr id="8" name="Shape 5"/>
          <p:cNvSpPr/>
          <p:nvPr/>
        </p:nvSpPr>
        <p:spPr>
          <a:xfrm>
            <a:off x="2139696" y="287121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26080"/>
            <a:ext cx="7799832" cy="2973030"/>
          </a:xfrm>
          <a:prstGeom prst="rect">
            <a:avLst/>
          </a:prstGeom>
        </p:spPr>
      </p:pic>
      <p:sp>
        <p:nvSpPr>
          <p:cNvPr id="10" name="Text 6"/>
          <p:cNvSpPr/>
          <p:nvPr/>
        </p:nvSpPr>
        <p:spPr>
          <a:xfrm>
            <a:off x="2194560" y="603627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Ce qui vous arrive : un rapport déjà consolidé.</a:t>
            </a:r>
            <a:endParaRPr lang="en-US" sz="2400" dirty="0"/>
          </a:p>
        </p:txBody>
      </p:sp>
      <p:sp>
        <p:nvSpPr>
          <p:cNvPr id="7" name="Text 4"/>
          <p:cNvSpPr/>
          <p:nvPr/>
        </p:nvSpPr>
        <p:spPr>
          <a:xfrm>
            <a:off x="731520" y="3017520"/>
            <a:ext cx="4206240" cy="14630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théorique, pas seulement de ce qui a été scanné. Un article attendu et jamais trouvé y figure, avec son manque : la démarque que l'inventaire est censé révéler est déjà dans le fichier.</a:t>
            </a:r>
            <a:endParaRPr lang="en-US" sz="1250" dirty="0"/>
          </a:p>
        </p:txBody>
      </p:sp>
      <p:sp>
        <p:nvSpPr>
          <p:cNvPr id="8" name="Text 5"/>
          <p:cNvSpPr/>
          <p:nvPr/>
        </p:nvSpPr>
        <p:spPr>
          <a:xfrm>
            <a:off x="731520" y="4480560"/>
            <a:ext cx="4206240" cy="9144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Il ne reste que la validation et l'ajustement — les deux gestes qui doivent rester chez vous.</a:t>
            </a:r>
            <a:endParaRPr lang="en-US" sz="1250" dirty="0"/>
          </a:p>
        </p:txBody>
      </p:sp>
      <p:sp>
        <p:nvSpPr>
          <p:cNvPr id="9" name="Shape 6"/>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1" name="Text 7"/>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7373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projet d’inventaire aléatoire, prêt à fonctionner.</a:t>
            </a:r>
            <a:endParaRPr lang="en-US" sz="2600" dirty="0"/>
          </a:p>
        </p:txBody>
      </p:sp>
      <p:sp>
        <p:nvSpPr>
          <p:cNvPr id="7" name="Text 4"/>
          <p:cNvSpPr/>
          <p:nvPr/>
        </p:nvSpPr>
        <p:spPr>
          <a:xfrm>
            <a:off x="731520" y="3108960"/>
            <a:ext cx="4206240" cy="15544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La sélection.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Elle reste chez vous : variances négatives répétées, articles sensibles, slow movers. Les rapports des inventaires précédents donnent les chiffres d'où cette sélection se tire.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déclenchement.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l'outil.</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comptage.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Les équipes de vente comptent avec le téléphone qu'elles ont en poche. Pas de matériel à sortir, pas de session à monter : c'est ce qui rend l'aléatoire réellement aléatoire.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contrôle.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Pourquoi pas Zebra</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Pourquoi Quantinvo, et pas Zebra ?</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SmartCount repose sur une flotte de terminaux dédiés : à charger, configurer, vérifier avant chaque session — un métier en soi, celui qu'on cherche justement à ne plus faire. Quantinvo tourne sur les iPhone que vos équipes ont déjà, et une douchette Bluetooth s'y branche pour les gros volumes.</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coût.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Une licence par magasin, à l'année, comptages et compteurs illimités. Pas de coût par terminal, pas d'abonnement par appareil. Faire compter tout un floor un matin ne coûte rien de plus.</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SmartCount rend un rapport de variance, à consolider ensuite avec le stock théorique. Quantinvo rend ce croisement déjà fait : l'attendu, le compté, le non-compté, l'écart en valeur.</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La taille de l'éditeur.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SmartCount est un module au catalogue d'un géant du matériel. Quantinvo ne fait qu'une chose — l'inventaire — et la personne qui l'a dessiné répond elle-même à vos questions.</a:t>
            </a:r>
            <a:endParaRPr lang="en-US" sz="1250" dirty="0"/>
          </a:p>
        </p:txBody>
      </p:sp>
      <p:sp>
        <p:nvSpPr>
          <p:cNvPr id="9" name="Shape 6"/>
          <p:cNvSpPr/>
          <p:nvPr/>
        </p:nvSpPr>
        <p:spPr>
          <a:xfrm>
            <a:off x="731520" y="5212080"/>
            <a:ext cx="10725912" cy="1097280"/>
          </a:xfrm>
          <a:prstGeom prst="roundRect">
            <a:avLst>
              <a:gd name="adj" fmla="val 6667"/>
            </a:avLst>
          </a:prstGeom>
          <a:solidFill>
            <a:srgbClr val="F4F5F9"/>
          </a:solidFill>
          <a:ln w="12700">
            <a:solidFill>
              <a:srgbClr val="F4F5F9"/>
            </a:solidFill>
            <a:prstDash val="solid"/>
          </a:ln>
        </p:spPr>
      </p:sp>
      <p:sp>
        <p:nvSpPr>
          <p:cNvPr id="10" name="Text 7"/>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être honnête</a:t>
            </a:r>
            <a:endParaRPr lang="en-US" sz="950" dirty="0"/>
          </a:p>
        </p:txBody>
      </p:sp>
      <p:sp>
        <p:nvSpPr>
          <p:cNvPr id="11" name="Text 8"/>
          <p:cNvSpPr/>
          <p:nvPr/>
        </p:nvSpPr>
        <p:spPr>
          <a:xfrm>
            <a:off x="1005840" y="5632704"/>
            <a:ext cx="1017727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Les nôtres ne bougent pas : un outil que le floor prend en main sans briefing, aucun plafond au nombre de compteurs, et une réconciliation qui n'existe plus.</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Quantinvo importe vos fichiers et rend un Excel. L'ajustement du stock reste un geste dans votre système — c'est d'ailleurs le seul qui doive le rester.</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Android.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L'application est sur iPhone aujourd'hui. La version Android est en cours.</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64592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Une licence par magasin, à l’année, comptages illimités.</a:t>
            </a:r>
            <a:endParaRPr lang="en-US" sz="2400" dirty="0"/>
          </a:p>
        </p:txBody>
      </p:sp>
      <p:sp>
        <p:nvSpPr>
          <p:cNvPr id="7" name="Text 4"/>
          <p:cNvSpPr/>
          <p:nvPr/>
        </p:nvSpPr>
        <p:spPr>
          <a:xfrm>
            <a:off x="731520" y="374904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0</a:t>
            </a:r>
            <a:endParaRPr lang="en-US" sz="5400" dirty="0"/>
          </a:p>
        </p:txBody>
      </p:sp>
      <p:sp>
        <p:nvSpPr>
          <p:cNvPr id="8" name="Text 5"/>
          <p:cNvSpPr/>
          <p:nvPr/>
        </p:nvSpPr>
        <p:spPr>
          <a:xfrm>
            <a:off x="731520" y="46634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terminal à acheter, à louer ou à configurer.</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350" b="1" dirty="0">
                <a:solidFill>
                  <a:srgbClr val="0B0F19"/>
                </a:solidFill>
                <a:latin typeface="Arial" pitchFamily="34" charset="0"/>
                <a:ea typeface="Arial" pitchFamily="34" charset="-122"/>
                <a:cs typeface="Arial" pitchFamily="34" charset="-120"/>
              </a:rPr>
              <a:t>Le prix suit le stock, pas l'usage. </a:t>
            </a:r>
            <a:pPr indent="0" marL="0">
              <a:lnSpc>
                <a:spcPct val="118000"/>
              </a:lnSpc>
              <a:spcAft>
                <a:spcPts val="1400"/>
              </a:spcAft>
              <a:buNone/>
            </a:pPr>
            <a:r>
              <a:rPr lang="en-US" sz="1350" dirty="0">
                <a:solidFill>
                  <a:srgbClr val="3D4556"/>
                </a:solidFill>
                <a:latin typeface="Arial" pitchFamily="34" charset="0"/>
                <a:ea typeface="Arial" pitchFamily="34" charset="-122"/>
                <a:cs typeface="Arial" pitchFamily="34" charset="-120"/>
              </a:rPr>
              <a:t>La licence se calcule sur le volume de stock du magasin, en unités. Elle ne dépend ni du nombre de compteurs, ni du nombre d'inventaires — tournants, aléatoires ou complets — dans l'année. Chaque chef d'équipe peut compter son rayon quand il le décide : ça ne coûte rien de plus.</a:t>
            </a:r>
            <a:endParaRPr lang="en-US" sz="1350" dirty="0"/>
          </a:p>
          <a:p>
            <a:pPr indent="0" marL="0">
              <a:lnSpc>
                <a:spcPct val="118000"/>
              </a:lnSpc>
              <a:spcAft>
                <a:spcPts val="1400"/>
              </a:spcAft>
              <a:buNone/>
            </a:pPr>
            <a:r>
              <a:rPr lang="en-US" sz="1350" b="1" dirty="0">
                <a:solidFill>
                  <a:srgbClr val="0B0F19"/>
                </a:solidFill>
                <a:latin typeface="Arial" pitchFamily="34" charset="0"/>
                <a:ea typeface="Arial" pitchFamily="34" charset="-122"/>
                <a:cs typeface="Arial" pitchFamily="34" charset="-120"/>
              </a:rPr>
              <a:t>Tout est compris. </a:t>
            </a:r>
            <a:pPr indent="0" marL="0">
              <a:lnSpc>
                <a:spcPct val="118000"/>
              </a:lnSpc>
              <a:spcAft>
                <a:spcPts val="1400"/>
              </a:spcAft>
              <a:buNone/>
            </a:pPr>
            <a:r>
              <a:rPr lang="en-US" sz="1350" dirty="0">
                <a:solidFill>
                  <a:srgbClr val="3D4556"/>
                </a:solidFill>
                <a:latin typeface="Arial" pitchFamily="34" charset="0"/>
                <a:ea typeface="Arial" pitchFamily="34" charset="-122"/>
                <a:cs typeface="Arial" pitchFamily="34" charset="-120"/>
              </a:rPr>
              <a:t>L'application, le tableau de bord, les rapports, les mises à jour. Le chiffrage précis se fait au devis, sur votre volume de stock déclaré.</a:t>
            </a:r>
            <a:endParaRPr lang="en-US" sz="1350" dirty="0"/>
          </a:p>
          <a:p>
            <a:pPr indent="0" marL="0">
              <a:lnSpc>
                <a:spcPct val="118000"/>
              </a:lnSpc>
              <a:spcAft>
                <a:spcPts val="1400"/>
              </a:spcAft>
              <a:buNone/>
            </a:pPr>
            <a:r>
              <a:rPr lang="en-US" sz="1350" b="1" dirty="0">
                <a:solidFill>
                  <a:srgbClr val="0B0F19"/>
                </a:solidFill>
                <a:latin typeface="Arial" pitchFamily="34" charset="0"/>
                <a:ea typeface="Arial" pitchFamily="34" charset="-122"/>
                <a:cs typeface="Arial" pitchFamily="34" charset="-120"/>
              </a:rPr>
              <a:t>Un déploiement en jours, pas en mois. </a:t>
            </a:r>
            <a:pPr indent="0" marL="0">
              <a:lnSpc>
                <a:spcPct val="118000"/>
              </a:lnSpc>
              <a:spcAft>
                <a:spcPts val="1400"/>
              </a:spcAft>
              <a:buNone/>
            </a:pPr>
            <a:r>
              <a:rPr lang="en-US" sz="1350" dirty="0">
                <a:solidFill>
                  <a:srgbClr val="3D4556"/>
                </a:solidFill>
                <a:latin typeface="Arial" pitchFamily="34" charset="0"/>
                <a:ea typeface="Arial" pitchFamily="34" charset="-122"/>
                <a:cs typeface="Arial" pitchFamily="34" charset="-120"/>
              </a:rPr>
              <a:t>Pas de projet informatique : les comptes se créent par invitation, l'application s'installe — y compris par votre catalogue d'entreprise —, et le premier inventaire peut se faire la semaine de la signature.</a:t>
            </a:r>
            <a:endParaRPr lang="en-US" sz="135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2026-08-27T18:04:24Z</dcterms:created>
  <dcterms:modified xsi:type="dcterms:W3CDTF">2026-08-27T18:04:24Z</dcterms:modified>
</cp:coreProperties>
</file>