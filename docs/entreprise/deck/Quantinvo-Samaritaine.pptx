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la page respirer deux secondes, sans commenter. On montre l'objet ; le titre et l'objet de la proposition arrivent à la page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commenter : c'est leur journée, ils s'y reconnaissent. Ne pas s'attarder — cette page n'est pas le sujet, elle prépare la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du problème. Lire l'encadré à voix haute : c'est lui qui articule tout le deck — un inventaire tournant suppose de compter souvent, et ce qu'on vient d'énumérer est précisément ce qui l'en empêche. Ne pas en rajouter : ces quatre points suffisent, et ils sont vrais.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respiration du deck. Une phrase, un silence, on tourne. Ne rien ajouter à l'oral : si on se met à énumérer ce qui vient, la page suivante n'a plus rien à apprendre. La seconde ligne suffit à dire que les réponses arrivent dans l'ordre des contraintes.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cartes répondent aux irritants dans leur ordre d'apparition : le balisage, le briefing, puis la conduite. La flotte est réglée par la phrase du haut. Les écrans sont de vraies captures. Et l'Inventory Control ? Il n'a pas d'écran sur cette page — c'est le message ; le sien arrive deux pages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réponse au premier irritant : le poste de surveillance n'est pas supprimé, il est distribué. Chaque chef d'équipe voit son rayon ; vous voyez tout sans avoir à rester dessus. Le recomptage ne disparaît pas — il se décide à chaud.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de l'Inventory Control : son travail commence ici. Ne pas survendre — le recoupement n'était pas le plus dur de la journée, c'est simplement une chose de moins à faire, et le circuit de validation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décisif est le premier : un outil expert suppose un service expert pour le servir, ce qui est incompatible avec le transfert au floor. Ne jamais citer de prix Zebra, même en réponse à une question. Et lire l'encadré : c'est lui qui rend le reste crédible. Un dossier technique séparé existe pour la DSI — le proposer ici, il porte les limites du produit.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075573" y="914400"/>
            <a:ext cx="2381859" cy="5029200"/>
          </a:xfrm>
          <a:prstGeom prst="rect">
            <a:avLst/>
          </a:prstGeom>
        </p:spPr>
      </p:pic>
      <p:pic>
        <p:nvPicPr>
          <p:cNvPr id="3" name="Image 1" descr="preencoded.png">    </p:cNvPr>
          <p:cNvPicPr>
            <a:picLocks noChangeAspect="1"/>
          </p:cNvPicPr>
          <p:nvPr/>
        </p:nvPicPr>
        <p:blipFill>
          <a:blip r:embed="rId2"/>
          <a:stretch>
            <a:fillRect/>
          </a:stretch>
        </p:blipFill>
        <p:spPr>
          <a:xfrm>
            <a:off x="731520" y="3017520"/>
            <a:ext cx="566928" cy="566928"/>
          </a:xfrm>
          <a:prstGeom prst="rect">
            <a:avLst/>
          </a:prstGeom>
        </p:spPr>
      </p:pic>
      <p:sp>
        <p:nvSpPr>
          <p:cNvPr id="4" name="Text 0"/>
          <p:cNvSpPr/>
          <p:nvPr/>
        </p:nvSpPr>
        <p:spPr>
          <a:xfrm>
            <a:off x="1444752" y="299008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5" name="Shape 1"/>
          <p:cNvSpPr/>
          <p:nvPr/>
        </p:nvSpPr>
        <p:spPr>
          <a:xfrm>
            <a:off x="731520" y="3813048"/>
            <a:ext cx="2011680" cy="20117"/>
          </a:xfrm>
          <a:prstGeom prst="rect">
            <a:avLst/>
          </a:prstGeom>
          <a:solidFill>
            <a:srgbClr val="14181A"/>
          </a:solidFill>
          <a:ln w="12700">
            <a:solidFill>
              <a:srgbClr val="14181A"/>
            </a:solidFill>
            <a:prstDash val="solid"/>
          </a:ln>
        </p:spPr>
      </p:sp>
      <p:sp>
        <p:nvSpPr>
          <p:cNvPr id="6" name="Text 2"/>
          <p:cNvSpPr/>
          <p:nvPr/>
        </p:nvSpPr>
        <p:spPr>
          <a:xfrm>
            <a:off x="731520" y="4005072"/>
            <a:ext cx="493776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La fiabilisation du stock au quotidien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Aujourd'hui</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 inventaire tournant, aujourd’hui.</a:t>
            </a:r>
            <a:endParaRPr lang="en-US" sz="2600" dirty="0"/>
          </a:p>
        </p:txBody>
      </p:sp>
      <p:sp>
        <p:nvSpPr>
          <p:cNvPr id="7" name="Text 4"/>
          <p:cNvSpPr/>
          <p:nvPr/>
        </p:nvSpPr>
        <p:spPr>
          <a:xfrm>
            <a:off x="731520" y="283464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Le déroulement est le même partout, quel que soit l'outil de comptage.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14181A"/>
                </a:solidFill>
                <a:latin typeface="Arial" pitchFamily="34" charset="0"/>
                <a:ea typeface="Arial" pitchFamily="34" charset="-122"/>
                <a:cs typeface="Arial" pitchFamily="34" charset="-120"/>
              </a:rPr>
              <a:t>La veille. </a:t>
            </a:r>
            <a:pPr indent="0" marL="0">
              <a:lnSpc>
                <a:spcPct val="118000"/>
              </a:lnSpc>
              <a:spcAft>
                <a:spcPts val="1600"/>
              </a:spcAft>
              <a:buNone/>
            </a:pPr>
            <a:r>
              <a:rPr lang="en-US" sz="1300" dirty="0">
                <a:solidFill>
                  <a:srgbClr val="3A423F"/>
                </a:solidFill>
                <a:latin typeface="Arial" pitchFamily="34" charset="0"/>
                <a:ea typeface="Arial" pitchFamily="34" charset="-122"/>
                <a:cs typeface="Arial" pitchFamily="34" charset="-120"/>
              </a:rPr>
              <a:t>On balise les zones à inventorier : quelqu'un passe dans le magasin poser les étiquettes, rayon par rayon.</a:t>
            </a:r>
            <a:endParaRPr lang="en-US" sz="1300" dirty="0"/>
          </a:p>
          <a:p>
            <a:pPr indent="0" marL="0">
              <a:lnSpc>
                <a:spcPct val="118000"/>
              </a:lnSpc>
              <a:spcAft>
                <a:spcPts val="1600"/>
              </a:spcAft>
              <a:buNone/>
            </a:pPr>
            <a:r>
              <a:rPr lang="en-US" sz="1300" b="1" dirty="0">
                <a:solidFill>
                  <a:srgbClr val="14181A"/>
                </a:solidFill>
                <a:latin typeface="Arial" pitchFamily="34" charset="0"/>
                <a:ea typeface="Arial" pitchFamily="34" charset="-122"/>
                <a:cs typeface="Arial" pitchFamily="34" charset="-120"/>
              </a:rPr>
              <a:t>Le matin. </a:t>
            </a:r>
            <a:pPr indent="0" marL="0">
              <a:lnSpc>
                <a:spcPct val="118000"/>
              </a:lnSpc>
              <a:spcAft>
                <a:spcPts val="1600"/>
              </a:spcAft>
              <a:buNone/>
            </a:pPr>
            <a:r>
              <a:rPr lang="en-US" sz="1300" dirty="0">
                <a:solidFill>
                  <a:srgbClr val="3A423F"/>
                </a:solidFill>
                <a:latin typeface="Arial" pitchFamily="34" charset="0"/>
                <a:ea typeface="Arial" pitchFamily="34" charset="-122"/>
                <a:cs typeface="Arial" pitchFamily="34" charset="-120"/>
              </a:rPr>
              <a:t>On télécharge le stock théorique du jour, on ouvre la session, on prépare les terminaux un par un — charge, date, localisation — puis on briefe les compteurs sur le maniement du matériel et sur la procédure.</a:t>
            </a:r>
            <a:endParaRPr lang="en-US" sz="1300" dirty="0"/>
          </a:p>
          <a:p>
            <a:pPr indent="0" marL="0">
              <a:lnSpc>
                <a:spcPct val="118000"/>
              </a:lnSpc>
              <a:spcAft>
                <a:spcPts val="1600"/>
              </a:spcAft>
              <a:buNone/>
            </a:pPr>
            <a:r>
              <a:rPr lang="en-US" sz="1300" b="1" dirty="0">
                <a:solidFill>
                  <a:srgbClr val="14181A"/>
                </a:solidFill>
                <a:latin typeface="Arial" pitchFamily="34" charset="0"/>
                <a:ea typeface="Arial" pitchFamily="34" charset="-122"/>
                <a:cs typeface="Arial" pitchFamily="34" charset="-120"/>
              </a:rPr>
              <a:t>Pendant. </a:t>
            </a:r>
            <a:pPr indent="0" marL="0">
              <a:lnSpc>
                <a:spcPct val="118000"/>
              </a:lnSpc>
              <a:spcAft>
                <a:spcPts val="1600"/>
              </a:spcAft>
              <a:buNone/>
            </a:pPr>
            <a:r>
              <a:rPr lang="en-US" sz="1300" dirty="0">
                <a:solidFill>
                  <a:srgbClr val="3A423F"/>
                </a:solidFill>
                <a:latin typeface="Arial" pitchFamily="34" charset="0"/>
                <a:ea typeface="Arial" pitchFamily="34" charset="-122"/>
                <a:cs typeface="Arial" pitchFamily="34" charset="-120"/>
              </a:rPr>
              <a:t>Les équipes comptent. On déclenche l'audit selon la règle du magasin — 100 % sur l'horlogerie et la joaillerie, 30 % au moins ailleurs — et on fait recompter les zones en désaccord.</a:t>
            </a:r>
            <a:endParaRPr lang="en-US" sz="1300" dirty="0"/>
          </a:p>
          <a:p>
            <a:pPr indent="0" marL="0">
              <a:lnSpc>
                <a:spcPct val="118000"/>
              </a:lnSpc>
              <a:spcAft>
                <a:spcPts val="1600"/>
              </a:spcAft>
              <a:buNone/>
            </a:pPr>
            <a:r>
              <a:rPr lang="en-US" sz="1300" b="1" dirty="0">
                <a:solidFill>
                  <a:srgbClr val="14181A"/>
                </a:solidFill>
                <a:latin typeface="Arial" pitchFamily="34" charset="0"/>
                <a:ea typeface="Arial" pitchFamily="34" charset="-122"/>
                <a:cs typeface="Arial" pitchFamily="34" charset="-120"/>
              </a:rPr>
              <a:t>Après. </a:t>
            </a:r>
            <a:pPr indent="0" marL="0">
              <a:lnSpc>
                <a:spcPct val="118000"/>
              </a:lnSpc>
              <a:spcAft>
                <a:spcPts val="1600"/>
              </a:spcAft>
              <a:buNone/>
            </a:pPr>
            <a:r>
              <a:rPr lang="en-US" sz="1300" dirty="0">
                <a:solidFill>
                  <a:srgbClr val="3A423F"/>
                </a:solidFill>
                <a:latin typeface="Arial" pitchFamily="34" charset="0"/>
                <a:ea typeface="Arial" pitchFamily="34" charset="-122"/>
                <a:cs typeface="Arial" pitchFamily="34" charset="-120"/>
              </a:rPr>
              <a:t>On sort le rapport d'inventaire, on le recoupe avec le stock théorique, on fait valider selon la valeur de l'écart, puis on ajuste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Ce que ça demande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ial" pitchFamily="34" charset="0"/>
                <a:ea typeface="Arial" pitchFamily="34" charset="-122"/>
                <a:cs typeface="Arial" pitchFamily="34" charset="-120"/>
              </a:rPr>
              <a:t>Le comptage est fait par les équipes. Tout ce qui l’entoure est fait par vous.</a:t>
            </a:r>
            <a:endParaRPr lang="en-US" sz="2400" dirty="0"/>
          </a:p>
        </p:txBody>
      </p:sp>
      <p:sp>
        <p:nvSpPr>
          <p:cNvPr id="7" name="Text 4"/>
          <p:cNvSpPr/>
          <p:nvPr/>
        </p:nvSpPr>
        <p:spPr>
          <a:xfrm>
            <a:off x="731520" y="2286000"/>
            <a:ext cx="10725912" cy="274320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Un service mobilisé du début à la fin.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Quelqu'un de l'Inventory Control prépare l'inventaire, participe au comptage, puis reprend le rapport d'inventaire pour le recouper avec le stock théorique.</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Une flotte à préparer.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Les terminaux se chargent, se connectent et se vérifient un par un avant chaque session — date, localisation. C'est un travail en soi. Sans oublier les mises à jour, qui ne sont pas automatiques.</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Un briefing à chaque fois.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Le maniement du matériel s'explique à chaque équipe et à chaque inventaire. Les compteurs changent, la procédure se réapprend.</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Un balisage la veille.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Il faut mobiliser quelqu'un du magasin pour poser les étiquettes, avant même que le comptage ait commencé.</a:t>
            </a:r>
            <a:endParaRPr lang="en-US" sz="1300" dirty="0"/>
          </a:p>
        </p:txBody>
      </p:sp>
      <p:sp>
        <p:nvSpPr>
          <p:cNvPr id="8" name="Shape 5"/>
          <p:cNvSpPr/>
          <p:nvPr/>
        </p:nvSpPr>
        <p:spPr>
          <a:xfrm>
            <a:off x="731520" y="5120640"/>
            <a:ext cx="10725912" cy="1051560"/>
          </a:xfrm>
          <a:prstGeom prst="roundRect">
            <a:avLst>
              <a:gd name="adj" fmla="val 3478"/>
            </a:avLst>
          </a:prstGeom>
          <a:solidFill>
            <a:srgbClr val="F2F3F1"/>
          </a:solidFill>
          <a:ln w="12700">
            <a:solidFill>
              <a:srgbClr val="F2F3F1"/>
            </a:solidFill>
            <a:prstDash val="solid"/>
          </a:ln>
        </p:spPr>
      </p:sp>
      <p:sp>
        <p:nvSpPr>
          <p:cNvPr id="9" name="Text 6"/>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Ce que ça coûte vraiment</a:t>
            </a:r>
            <a:endParaRPr lang="en-US" sz="950" dirty="0"/>
          </a:p>
        </p:txBody>
      </p:sp>
      <p:sp>
        <p:nvSpPr>
          <p:cNvPr id="10" name="Text 7"/>
          <p:cNvSpPr/>
          <p:nvPr/>
        </p:nvSpPr>
        <p:spPr>
          <a:xfrm>
            <a:off x="1005840" y="554126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Ce n'est pas le comptage qui pèse — il est fait par les équipes de vente, et il se fait bien. C'est tout ce qu'il faut monter autour, à chaque fois, et qui dissuade de compter souvent.</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2743200"/>
            <a:ext cx="10725912" cy="1463040"/>
          </a:xfrm>
          <a:prstGeom prst="rect">
            <a:avLst/>
          </a:prstGeom>
          <a:noFill/>
          <a:ln/>
        </p:spPr>
        <p:txBody>
          <a:bodyPr wrap="square" lIns="0" tIns="0" rIns="0" bIns="0" rtlCol="0" anchor="t"/>
          <a:lstStyle/>
          <a:p>
            <a:pPr indent="0" marL="0">
              <a:lnSpc>
                <a:spcPct val="112000"/>
              </a:lnSpc>
              <a:buNone/>
            </a:pPr>
            <a:r>
              <a:rPr lang="en-US" sz="3200" b="1" dirty="0">
                <a:solidFill>
                  <a:srgbClr val="14181A"/>
                </a:solidFill>
                <a:latin typeface="Arial" pitchFamily="34" charset="0"/>
                <a:ea typeface="Arial" pitchFamily="34" charset="-122"/>
                <a:cs typeface="Arial" pitchFamily="34" charset="-120"/>
              </a:rPr>
              <a:t>Quantinvo, l’outil d’inventaire qui apporte l’autonomie.</a:t>
            </a:r>
            <a:endParaRPr lang="en-US" sz="3200" dirty="0"/>
          </a:p>
        </p:txBody>
      </p:sp>
      <p:sp>
        <p:nvSpPr>
          <p:cNvPr id="7" name="Text 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8" name="Text 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Le chef d’équipe conduit. Ses collaborateurs comptent.</a:t>
            </a:r>
            <a:endParaRPr lang="en-US" sz="2500" dirty="0"/>
          </a:p>
        </p:txBody>
      </p:sp>
      <p:sp>
        <p:nvSpPr>
          <p:cNvPr id="7" name="Text 4"/>
          <p:cNvSpPr/>
          <p:nvPr/>
        </p:nvSpPr>
        <p:spPr>
          <a:xfrm>
            <a:off x="731520" y="178308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Arial" pitchFamily="34" charset="0"/>
                <a:ea typeface="Arial" pitchFamily="34" charset="-122"/>
                <a:cs typeface="Arial" pitchFamily="34" charset="-120"/>
              </a:rPr>
              <a:t>Une application sur les smartphones que vos équipes ont déjà — iOS comme Android —, un tableau de bord pour celui qui pilote, un rapport à la fin. Rien à charger la veille, rien à briefer, aucune flotte à préparer.</a:t>
            </a:r>
            <a:endParaRPr lang="en-US" sz="1200" dirty="0"/>
          </a:p>
        </p:txBody>
      </p:sp>
      <p:sp>
        <p:nvSpPr>
          <p:cNvPr id="8" name="Text 5"/>
          <p:cNvSpPr/>
          <p:nvPr/>
        </p:nvSpPr>
        <p:spPr>
          <a:xfrm>
            <a:off x="731520"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Il imprime ses balises</a:t>
            </a:r>
            <a:endParaRPr lang="en-US" sz="1350" dirty="0"/>
          </a:p>
        </p:txBody>
      </p:sp>
      <p:sp>
        <p:nvSpPr>
          <p:cNvPr id="9" name="Text 6"/>
          <p:cNvSpPr/>
          <p:nvPr/>
        </p:nvSpPr>
        <p:spPr>
          <a:xfrm>
            <a:off x="731520"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planche d'étiquettes numérotées, en PDF. Personne d'autre à mobiliser la veille.</a:t>
            </a:r>
            <a:endParaRPr lang="en-US" sz="1100" dirty="0"/>
          </a:p>
        </p:txBody>
      </p:sp>
      <p:sp>
        <p:nvSpPr>
          <p:cNvPr id="10" name="Shape 7"/>
          <p:cNvSpPr/>
          <p:nvPr/>
        </p:nvSpPr>
        <p:spPr>
          <a:xfrm>
            <a:off x="731520" y="3291840"/>
            <a:ext cx="3392424" cy="2907792"/>
          </a:xfrm>
          <a:prstGeom prst="roundRect">
            <a:avLst>
              <a:gd name="adj" fmla="val 1258"/>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1042416" y="3289816"/>
            <a:ext cx="2770632" cy="2909816"/>
          </a:xfrm>
          <a:prstGeom prst="rect">
            <a:avLst/>
          </a:prstGeom>
        </p:spPr>
      </p:pic>
      <p:sp>
        <p:nvSpPr>
          <p:cNvPr id="12" name="Text 8"/>
          <p:cNvSpPr/>
          <p:nvPr/>
        </p:nvSpPr>
        <p:spPr>
          <a:xfrm>
            <a:off x="4398264"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Ils comptent au rayon, à la marque, à la référence</a:t>
            </a:r>
            <a:endParaRPr lang="en-US" sz="1350" dirty="0"/>
          </a:p>
        </p:txBody>
      </p:sp>
      <p:sp>
        <p:nvSpPr>
          <p:cNvPr id="13" name="Text 9"/>
          <p:cNvSpPr/>
          <p:nvPr/>
        </p:nvSpPr>
        <p:spPr>
          <a:xfrm>
            <a:off x="4398264"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Scanner l'étiquette, puis les articles. Le geste ne demande pas de briefing.</a:t>
            </a:r>
            <a:endParaRPr lang="en-US" sz="1100" dirty="0"/>
          </a:p>
        </p:txBody>
      </p:sp>
      <p:sp>
        <p:nvSpPr>
          <p:cNvPr id="14" name="Shape 10"/>
          <p:cNvSpPr/>
          <p:nvPr/>
        </p:nvSpPr>
        <p:spPr>
          <a:xfrm>
            <a:off x="4398264" y="3291840"/>
            <a:ext cx="3392424" cy="2907792"/>
          </a:xfrm>
          <a:prstGeom prst="roundRect">
            <a:avLst>
              <a:gd name="adj" fmla="val 1258"/>
            </a:avLst>
          </a:prstGeom>
          <a:solidFill>
            <a:srgbClr val="E7EDE9"/>
          </a:solidFill>
          <a:ln w="12700">
            <a:solidFill>
              <a:srgbClr val="E7EDE9"/>
            </a:solidFill>
            <a:prstDash val="solid"/>
          </a:ln>
        </p:spPr>
      </p:sp>
      <p:pic>
        <p:nvPicPr>
          <p:cNvPr id="15" name="Image 2" descr="preencoded.png">    </p:cNvPr>
          <p:cNvPicPr>
            <a:picLocks noChangeAspect="1"/>
          </p:cNvPicPr>
          <p:nvPr/>
        </p:nvPicPr>
        <p:blipFill>
          <a:blip r:embed="rId3"/>
          <a:stretch>
            <a:fillRect/>
          </a:stretch>
        </p:blipFill>
        <p:spPr>
          <a:xfrm>
            <a:off x="4709160" y="3289816"/>
            <a:ext cx="2770632" cy="2909816"/>
          </a:xfrm>
          <a:prstGeom prst="rect">
            <a:avLst/>
          </a:prstGeom>
        </p:spPr>
      </p:pic>
      <p:sp>
        <p:nvSpPr>
          <p:cNvPr id="16" name="Text 11"/>
          <p:cNvSpPr/>
          <p:nvPr/>
        </p:nvSpPr>
        <p:spPr>
          <a:xfrm>
            <a:off x="8065008"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Il audite selon les règles de l’Inventory Control</a:t>
            </a:r>
            <a:endParaRPr lang="en-US" sz="1350" dirty="0"/>
          </a:p>
        </p:txBody>
      </p:sp>
      <p:sp>
        <p:nvSpPr>
          <p:cNvPr id="17" name="Text 12"/>
          <p:cNvSpPr/>
          <p:nvPr/>
        </p:nvSpPr>
        <p:spPr>
          <a:xfrm>
            <a:off x="8065008"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L’audit se lance de la même application, pendant que le comptage continue.</a:t>
            </a:r>
            <a:endParaRPr lang="en-US" sz="1100" dirty="0"/>
          </a:p>
        </p:txBody>
      </p:sp>
      <p:sp>
        <p:nvSpPr>
          <p:cNvPr id="18" name="Shape 13"/>
          <p:cNvSpPr/>
          <p:nvPr/>
        </p:nvSpPr>
        <p:spPr>
          <a:xfrm>
            <a:off x="8065008" y="3291840"/>
            <a:ext cx="3392424" cy="2907792"/>
          </a:xfrm>
          <a:prstGeom prst="roundRect">
            <a:avLst>
              <a:gd name="adj" fmla="val 1258"/>
            </a:avLst>
          </a:prstGeom>
          <a:solidFill>
            <a:srgbClr val="F2F3F1"/>
          </a:solidFill>
          <a:ln w="12700">
            <a:solidFill>
              <a:srgbClr val="F2F3F1"/>
            </a:solidFill>
            <a:prstDash val="solid"/>
          </a:ln>
        </p:spPr>
      </p:sp>
      <p:pic>
        <p:nvPicPr>
          <p:cNvPr id="19" name="Image 3" descr="preencoded.png">    </p:cNvPr>
          <p:cNvPicPr>
            <a:picLocks noChangeAspect="1"/>
          </p:cNvPicPr>
          <p:nvPr/>
        </p:nvPicPr>
        <p:blipFill>
          <a:blip r:embed="rId4"/>
          <a:stretch>
            <a:fillRect/>
          </a:stretch>
        </p:blipFill>
        <p:spPr>
          <a:xfrm>
            <a:off x="8375904" y="3289816"/>
            <a:ext cx="2770632" cy="2909816"/>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L’Inventory Control fixe la règle d'audit. Les équipes l'appliquent.</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100 % sur l'horlogerie et la joaillerie, 30 % au moins ailleurs. Le désaccord entre les deux comptages ne s'attend plus : ils s'affichent côte à côte, l'écart d'audit en pièces et en valeur d'achat, et il se tranche pendant que le compteur est encore devant l'article. L'Inventory Control ouvre la même vue sur n'importe quel inventaire en cours.</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1776"/>
            </a:avLst>
          </a:prstGeom>
          <a:solidFill>
            <a:srgbClr val="FFFFFF"/>
          </a:solidFill>
          <a:ln w="12700">
            <a:solidFill>
              <a:srgbClr val="E2E5E1"/>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1758"/>
            </a:avLst>
          </a:prstGeom>
          <a:solidFill>
            <a:srgbClr val="FFFFFF"/>
          </a:solidFill>
          <a:ln w="12700">
            <a:solidFill>
              <a:srgbClr val="E2E5E1"/>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 rapport arrive déjà croisé.</a:t>
            </a:r>
            <a:endParaRPr lang="en-US" sz="2600" dirty="0"/>
          </a:p>
        </p:txBody>
      </p:sp>
      <p:sp>
        <p:nvSpPr>
          <p:cNvPr id="7" name="Text 4"/>
          <p:cNvSpPr/>
          <p:nvPr/>
        </p:nvSpPr>
        <p:spPr>
          <a:xfrm>
            <a:off x="731520" y="260604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Il part du stock théorique, pas seulement de ce qui a été scanné : un article attendu et jamais trouvé y figure, avec son manque. Le recoupement n'est plus à faire : il se télécharge.</a:t>
            </a:r>
            <a:endParaRPr lang="en-US" sz="1250" dirty="0"/>
          </a:p>
        </p:txBody>
      </p:sp>
      <p:sp>
        <p:nvSpPr>
          <p:cNvPr id="8" name="Text 5"/>
          <p:cNvSpPr/>
          <p:nvPr/>
        </p:nvSpPr>
        <p:spPr>
          <a:xfrm>
            <a:off x="731520" y="39776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Export Excel en un clic. Restent la validation, selon la valeur de l'écart, et l'ajustement du stock.</a:t>
            </a:r>
            <a:endParaRPr lang="en-US" sz="1250" dirty="0"/>
          </a:p>
        </p:txBody>
      </p:sp>
      <p:sp>
        <p:nvSpPr>
          <p:cNvPr id="9" name="Shape 6"/>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L'inventaire aléatoire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L'inventaire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L’Inventory Control en a posé les objectifs : identifier les vols, tester la rigueur des procédures, garantir que chaque responsable maîtrise son stock. Confier le comptage au floor, c'est exactement cela.</a:t>
            </a:r>
            <a:endParaRPr lang="en-US" sz="1200" dirty="0"/>
          </a:p>
        </p:txBody>
      </p:sp>
      <p:pic>
        <p:nvPicPr>
          <p:cNvPr id="8"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9" name="Text 5"/>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Créer un inventaire ciblé, dans l'application.</a:t>
            </a:r>
            <a:endParaRPr lang="en-US" sz="1000" dirty="0"/>
          </a:p>
        </p:txBody>
      </p:sp>
      <p:sp>
        <p:nvSpPr>
          <p:cNvPr id="10" name="Text 6"/>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La sélection.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Elle reste du côté de l’Inventory Control, ou du superviseur curieux : variances négatives répétées, articles sensibles, slow movers.</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Le déclenchement.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Un inventaire ciblé se crée en quelques minutes — une marque, un rayon, une liste d'articles — le jour même s'il le faut. Les équipes concernées sont invitées depuis Quantinvo.</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Le comptage.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Rien à sortir, rien à monter la veille : c'est ce qui permet à un inventaire ciblé de rester discret, au lieu d'être annoncé par sa préparation.</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Le contrôle.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L'écart se lit en direct. S'il dépasse votre seuil, l'Inventory Control reprend la main, et le rapport nourrit l'enquête.</a:t>
            </a:r>
            <a:endParaRPr lang="en-US" sz="13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Pourquoi nous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Pourquoi Quantinvo, et pas SmartCount ?</a:t>
            </a:r>
            <a:endParaRPr lang="en-US" sz="2600" dirty="0"/>
          </a:p>
        </p:txBody>
      </p:sp>
      <p:sp>
        <p:nvSpPr>
          <p:cNvPr id="7" name="Text 4"/>
          <p:cNvSpPr/>
          <p:nvPr/>
        </p:nvSpPr>
        <p:spPr>
          <a:xfrm>
            <a:off x="731520" y="1874520"/>
            <a:ext cx="10725912" cy="310896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14181A"/>
                </a:solidFill>
                <a:latin typeface="Arial" pitchFamily="34" charset="0"/>
                <a:ea typeface="Arial" pitchFamily="34" charset="-122"/>
                <a:cs typeface="Arial" pitchFamily="34" charset="-120"/>
              </a:rPr>
              <a:t>Le matériel. </a:t>
            </a:r>
            <a:pPr indent="0" marL="0">
              <a:lnSpc>
                <a:spcPct val="118000"/>
              </a:lnSpc>
              <a:spcAft>
                <a:spcPts val="1300"/>
              </a:spcAft>
              <a:buNone/>
            </a:pPr>
            <a:r>
              <a:rPr lang="en-US" sz="1250" dirty="0">
                <a:solidFill>
                  <a:srgbClr val="3A423F"/>
                </a:solidFill>
                <a:latin typeface="Arial" pitchFamily="34" charset="0"/>
                <a:ea typeface="Arial" pitchFamily="34" charset="-122"/>
                <a:cs typeface="Arial" pitchFamily="34" charset="-120"/>
              </a:rPr>
              <a:t>SmartCount repose sur une flotte de terminaux dédiés : à charger, configurer, vérifier avant chaque session — le travail qu'on cherche justement à ne plus faire. Quantinvo tourne sous iOS et sous Android, sur les téléphones que vos équipes ont déjà.</a:t>
            </a:r>
            <a:endParaRPr lang="en-US" sz="1250" dirty="0"/>
          </a:p>
          <a:p>
            <a:pPr indent="0" marL="0">
              <a:lnSpc>
                <a:spcPct val="118000"/>
              </a:lnSpc>
              <a:spcAft>
                <a:spcPts val="1300"/>
              </a:spcAft>
              <a:buNone/>
            </a:pPr>
            <a:r>
              <a:rPr lang="en-US" sz="1250" b="1" dirty="0">
                <a:solidFill>
                  <a:srgbClr val="14181A"/>
                </a:solidFill>
                <a:latin typeface="Arial" pitchFamily="34" charset="0"/>
                <a:ea typeface="Arial" pitchFamily="34" charset="-122"/>
                <a:cs typeface="Arial" pitchFamily="34" charset="-120"/>
              </a:rPr>
              <a:t>La mise à jour. </a:t>
            </a:r>
            <a:pPr indent="0" marL="0">
              <a:lnSpc>
                <a:spcPct val="118000"/>
              </a:lnSpc>
              <a:spcAft>
                <a:spcPts val="1300"/>
              </a:spcAft>
              <a:buNone/>
            </a:pPr>
            <a:r>
              <a:rPr lang="en-US" sz="1250" dirty="0">
                <a:solidFill>
                  <a:srgbClr val="3A423F"/>
                </a:solidFill>
                <a:latin typeface="Arial" pitchFamily="34" charset="0"/>
                <a:ea typeface="Arial" pitchFamily="34" charset="-122"/>
                <a:cs typeface="Arial" pitchFamily="34" charset="-120"/>
              </a:rPr>
              <a:t>Celle des outils Zebra, comme celle de la base, demande l'intervention de l'IT Zebra et de la DSI du magasin. Quantinvo se met à jour tout seul, et les données d'inventaire sont chargées avant chaque comptage par les superviseurs eux-mêmes.</a:t>
            </a:r>
            <a:endParaRPr lang="en-US" sz="1250" dirty="0"/>
          </a:p>
          <a:p>
            <a:pPr indent="0" marL="0">
              <a:lnSpc>
                <a:spcPct val="118000"/>
              </a:lnSpc>
              <a:spcAft>
                <a:spcPts val="1300"/>
              </a:spcAft>
              <a:buNone/>
            </a:pPr>
            <a:r>
              <a:rPr lang="en-US" sz="1250" b="1" dirty="0">
                <a:solidFill>
                  <a:srgbClr val="14181A"/>
                </a:solidFill>
                <a:latin typeface="Arial" pitchFamily="34" charset="0"/>
                <a:ea typeface="Arial" pitchFamily="34" charset="-122"/>
                <a:cs typeface="Arial" pitchFamily="34" charset="-120"/>
              </a:rPr>
              <a:t>Le fichier. </a:t>
            </a:r>
            <a:pPr indent="0" marL="0">
              <a:lnSpc>
                <a:spcPct val="118000"/>
              </a:lnSpc>
              <a:spcAft>
                <a:spcPts val="1300"/>
              </a:spcAft>
              <a:buNone/>
            </a:pPr>
            <a:r>
              <a:rPr lang="en-US" sz="1250" dirty="0">
                <a:solidFill>
                  <a:srgbClr val="3A423F"/>
                </a:solidFill>
                <a:latin typeface="Arial" pitchFamily="34" charset="0"/>
                <a:ea typeface="Arial" pitchFamily="34" charset="-122"/>
                <a:cs typeface="Arial" pitchFamily="34" charset="-120"/>
              </a:rPr>
              <a:t>SmartCount rend un rapport de variance, à recouper ensuite avec le stock théorique. Quantinvo rend ce croisement déjà fait : l'attendu, le compté, le non-compté, l'écart en valeur.</a:t>
            </a:r>
            <a:endParaRPr lang="en-US" sz="1250" dirty="0"/>
          </a:p>
          <a:p>
            <a:pPr indent="0" marL="0">
              <a:lnSpc>
                <a:spcPct val="118000"/>
              </a:lnSpc>
              <a:spcAft>
                <a:spcPts val="1300"/>
              </a:spcAft>
              <a:buNone/>
            </a:pPr>
            <a:r>
              <a:rPr lang="en-US" sz="1250" b="1" dirty="0">
                <a:solidFill>
                  <a:srgbClr val="14181A"/>
                </a:solidFill>
                <a:latin typeface="Arial" pitchFamily="34" charset="0"/>
                <a:ea typeface="Arial" pitchFamily="34" charset="-122"/>
                <a:cs typeface="Arial" pitchFamily="34" charset="-120"/>
              </a:rPr>
              <a:t>L'éditeur. </a:t>
            </a:r>
            <a:pPr indent="0" marL="0">
              <a:lnSpc>
                <a:spcPct val="118000"/>
              </a:lnSpc>
              <a:spcAft>
                <a:spcPts val="1300"/>
              </a:spcAft>
              <a:buNone/>
            </a:pPr>
            <a:r>
              <a:rPr lang="en-US" sz="1250" dirty="0">
                <a:solidFill>
                  <a:srgbClr val="3A423F"/>
                </a:solidFill>
                <a:latin typeface="Arial" pitchFamily="34" charset="0"/>
                <a:ea typeface="Arial" pitchFamily="34" charset="-122"/>
                <a:cs typeface="Arial" pitchFamily="34" charset="-120"/>
              </a:rPr>
              <a:t>SmartCount est un module au catalogue d'un géant du matériel. Quantinvo ne fait qu'une chose — l'inventaire — et la personne qui l'a imaginé répond elle-même à vos questions.</a:t>
            </a:r>
            <a:endParaRPr lang="en-US" sz="1250" dirty="0"/>
          </a:p>
        </p:txBody>
      </p:sp>
      <p:sp>
        <p:nvSpPr>
          <p:cNvPr id="8" name="Shape 5"/>
          <p:cNvSpPr/>
          <p:nvPr/>
        </p:nvSpPr>
        <p:spPr>
          <a:xfrm>
            <a:off x="731520" y="4663440"/>
            <a:ext cx="10725912" cy="1005840"/>
          </a:xfrm>
          <a:prstGeom prst="roundRect">
            <a:avLst>
              <a:gd name="adj" fmla="val 3636"/>
            </a:avLst>
          </a:prstGeom>
          <a:solidFill>
            <a:srgbClr val="F2F3F1"/>
          </a:solidFill>
          <a:ln w="12700">
            <a:solidFill>
              <a:srgbClr val="F2F3F1"/>
            </a:solidFill>
            <a:prstDash val="solid"/>
          </a:ln>
        </p:spPr>
      </p:sp>
      <p:sp>
        <p:nvSpPr>
          <p:cNvPr id="9" name="Text 6"/>
          <p:cNvSpPr/>
          <p:nvPr/>
        </p:nvSpPr>
        <p:spPr>
          <a:xfrm>
            <a:off x="1005840" y="48280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Pour être honnête</a:t>
            </a:r>
            <a:endParaRPr lang="en-US" sz="950" dirty="0"/>
          </a:p>
        </p:txBody>
      </p:sp>
      <p:sp>
        <p:nvSpPr>
          <p:cNvPr id="10" name="Text 7"/>
          <p:cNvSpPr/>
          <p:nvPr/>
        </p:nvSpPr>
        <p:spPr>
          <a:xfrm>
            <a:off x="1005840" y="5084064"/>
            <a:ext cx="10177272" cy="45720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Un terminal durci encaisse mieux les chocs qu'un téléphone, et si votre flotte est déjà amortie, l'argument du matériel pèse moins. Ce qui ne bouge pas : un outil que le floor prend en main sans briefing, et un fichier qui arrive déjà croisé.</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Arial" pitchFamily="34" charset="0"/>
                <a:ea typeface="Arial" pitchFamily="34" charset="-122"/>
                <a:cs typeface="Arial"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Arial" pitchFamily="34" charset="0"/>
                <a:ea typeface="Arial" pitchFamily="34" charset="-122"/>
                <a:cs typeface="Arial" pitchFamily="34" charset="-120"/>
              </a:rPr>
              <a:t>ADAPTÉE AU MAGASIN</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310 €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Ce que ça change pour l'inventaire.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Un essai suffit pour être convaincu.</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Une démonstration avec un chef d'équipe et deux vendeurs, sur votre propre stock théorique : il l'importe, ils balisent,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2026-09-09T21:04:20Z</dcterms:created>
  <dcterms:modified xsi:type="dcterms:W3CDTF">2026-09-09T21:04:20Z</dcterms:modified>
</cp:coreProperties>
</file>