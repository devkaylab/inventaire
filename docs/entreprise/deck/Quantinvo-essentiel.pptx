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Vingt minutes, dix pages. Ce deck s'adresse à quelqu'un qui a déjà une solution d'inventaire, ou qui vient d'en faire chiffrer une. Ouvrir sur ce qui disparaît — la flotte — pas sur nos fonctionnalités.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 jamais citer un prix concurrent, même si le prospect en donne un : on parle de postes de coût, pas de montants. Si on nous donne un chiffre, on écoute et on n'y ajoute rien.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vraies captures, prises sur un compte d'essai. Ne pas les commenter une par une : dire « c'est tout », et laisser regarder.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Lire trois lignes, pas les six. La quatrième — la réconciliation — est celle qui parle le plus à quelqu'un qui fait le travail lui-même.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L'argument du suivi agrégé parle aux RH et au CSE. Le placer ici évite qu'il revienne en objection à la fin.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consolidation manuelle est le poste le plus détesté du métier, et le plus invisible dans un devis. C'est notre meilleur argument devant quelqu'un qui la fait lui-même.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Annoncer le mensuel. L'annuel économise 300 € sur Advanced. Et surtout : comparer au budget d'inventaire complet — prestataire, matériel, heures — jamais à un abonnement logiciel.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décisive devant quelqu'un qui connaît déjà le concurrent. Dire les trois limites franchement fait gagner plus de crédit que n'importe quel argument de vente.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 pas sauter cette page pour gagner deux minutes : un prospect qui découvre une limite après coup perd confiance, un prospect averti la comprend.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Clore sur un essai que le prospect peut accepter sans engager personne. Ce n'est pas nous qui comptons pendant la démonstration : ce sont ses équipes. S'ils y arrivent, la démonstration est faite.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685800"/>
            <a:ext cx="566928" cy="566928"/>
          </a:xfrm>
          <a:prstGeom prst="rect">
            <a:avLst/>
          </a:prstGeom>
        </p:spPr>
      </p:pic>
      <p:sp>
        <p:nvSpPr>
          <p:cNvPr id="3" name="Text 0"/>
          <p:cNvSpPr/>
          <p:nvPr/>
        </p:nvSpPr>
        <p:spPr>
          <a:xfrm>
            <a:off x="1444752" y="658368"/>
            <a:ext cx="4572000" cy="621792"/>
          </a:xfrm>
          <a:prstGeom prst="rect">
            <a:avLst/>
          </a:prstGeom>
          <a:noFill/>
          <a:ln/>
        </p:spPr>
        <p:txBody>
          <a:bodyPr wrap="square" lIns="0" tIns="0" rIns="0" bIns="0" rtlCol="0" anchor="ctr"/>
          <a:lstStyle/>
          <a:p>
            <a:pPr indent="0" marL="0">
              <a:buNone/>
            </a:pPr>
            <a:r>
              <a:rPr lang="en-US" sz="2400" b="1" dirty="0">
                <a:solidFill>
                  <a:srgbClr val="14181A"/>
                </a:solidFill>
                <a:latin typeface="Arial" pitchFamily="34" charset="0"/>
                <a:ea typeface="Arial" pitchFamily="34" charset="-122"/>
                <a:cs typeface="Arial" pitchFamily="34" charset="-120"/>
              </a:rPr>
              <a:t>Quantinvo</a:t>
            </a:r>
            <a:endParaRPr lang="en-US" sz="2400" dirty="0"/>
          </a:p>
        </p:txBody>
      </p:sp>
      <p:sp>
        <p:nvSpPr>
          <p:cNvPr id="4" name="Shape 1"/>
          <p:cNvSpPr/>
          <p:nvPr/>
        </p:nvSpPr>
        <p:spPr>
          <a:xfrm>
            <a:off x="731520" y="1481328"/>
            <a:ext cx="2011680" cy="20117"/>
          </a:xfrm>
          <a:prstGeom prst="rect">
            <a:avLst/>
          </a:prstGeom>
          <a:solidFill>
            <a:srgbClr val="14181A"/>
          </a:solidFill>
          <a:ln w="12700">
            <a:solidFill>
              <a:srgbClr val="14181A"/>
            </a:solidFill>
            <a:prstDash val="solid"/>
          </a:ln>
        </p:spPr>
      </p:sp>
      <p:sp>
        <p:nvSpPr>
          <p:cNvPr id="5" name="Text 2"/>
          <p:cNvSpPr/>
          <p:nvPr/>
        </p:nvSpPr>
        <p:spPr>
          <a:xfrm>
            <a:off x="731520" y="2331720"/>
            <a:ext cx="8229600" cy="365760"/>
          </a:xfrm>
          <a:prstGeom prst="rect">
            <a:avLst/>
          </a:prstGeom>
          <a:noFill/>
          <a:ln/>
        </p:spPr>
        <p:txBody>
          <a:bodyPr wrap="square" lIns="0" tIns="0" rIns="0" bIns="0" rtlCol="0" anchor="t"/>
          <a:lstStyle/>
          <a:p>
            <a:pPr indent="0" marL="0">
              <a:buNone/>
            </a:pPr>
            <a:r>
              <a:rPr lang="en-US" sz="1300" dirty="0">
                <a:solidFill>
                  <a:srgbClr val="575F5C"/>
                </a:solidFill>
                <a:latin typeface="Arial" pitchFamily="34" charset="0"/>
                <a:ea typeface="Arial" pitchFamily="34" charset="-122"/>
                <a:cs typeface="Arial" pitchFamily="34" charset="-120"/>
              </a:rPr>
              <a:t>L'essentiel en dix pages</a:t>
            </a:r>
            <a:endParaRPr lang="en-US" sz="1300" dirty="0"/>
          </a:p>
        </p:txBody>
      </p:sp>
      <p:sp>
        <p:nvSpPr>
          <p:cNvPr id="6" name="Text 3"/>
          <p:cNvSpPr/>
          <p:nvPr/>
        </p:nvSpPr>
        <p:spPr>
          <a:xfrm>
            <a:off x="731520" y="2743200"/>
            <a:ext cx="8686800" cy="1737360"/>
          </a:xfrm>
          <a:prstGeom prst="rect">
            <a:avLst/>
          </a:prstGeom>
          <a:noFill/>
          <a:ln/>
        </p:spPr>
        <p:txBody>
          <a:bodyPr wrap="square" lIns="0" tIns="0" rIns="0" bIns="0" rtlCol="0" anchor="t"/>
          <a:lstStyle/>
          <a:p>
            <a:pPr indent="0" marL="0">
              <a:lnSpc>
                <a:spcPct val="105000"/>
              </a:lnSpc>
              <a:buNone/>
            </a:pPr>
            <a:r>
              <a:rPr lang="en-US" sz="4000" b="1" dirty="0">
                <a:solidFill>
                  <a:srgbClr val="14181A"/>
                </a:solidFill>
                <a:latin typeface="Arial" pitchFamily="34" charset="0"/>
                <a:ea typeface="Arial" pitchFamily="34" charset="-122"/>
                <a:cs typeface="Arial" pitchFamily="34" charset="-120"/>
              </a:rPr>
              <a:t>Le même inventaire, sans la flotte de terminaux.</a:t>
            </a:r>
            <a:endParaRPr lang="en-US" sz="4000" dirty="0"/>
          </a:p>
        </p:txBody>
      </p:sp>
      <p:sp>
        <p:nvSpPr>
          <p:cNvPr id="7" name="Text 4"/>
          <p:cNvSpPr/>
          <p:nvPr/>
        </p:nvSpPr>
        <p:spPr>
          <a:xfrm>
            <a:off x="731520" y="4572000"/>
            <a:ext cx="7498080" cy="822960"/>
          </a:xfrm>
          <a:prstGeom prst="rect">
            <a:avLst/>
          </a:prstGeom>
          <a:noFill/>
          <a:ln/>
        </p:spPr>
        <p:txBody>
          <a:bodyPr wrap="square" lIns="0" tIns="0" rIns="0" bIns="0" rtlCol="0" anchor="t"/>
          <a:lstStyle/>
          <a:p>
            <a:pPr indent="0" marL="0">
              <a:lnSpc>
                <a:spcPct val="120000"/>
              </a:lnSpc>
              <a:buNone/>
            </a:pPr>
            <a:r>
              <a:rPr lang="en-US" sz="1500" dirty="0">
                <a:solidFill>
                  <a:srgbClr val="3A423F"/>
                </a:solidFill>
                <a:latin typeface="Arial" pitchFamily="34" charset="0"/>
                <a:ea typeface="Arial" pitchFamily="34" charset="-122"/>
                <a:cs typeface="Arial" pitchFamily="34" charset="-120"/>
              </a:rPr>
              <a:t>Vos équipes comptent avec le téléphone qu'elles ont déjà. Vous suivez depuis le bureau. Le rapport sort croisé avec votre stock théorique. Rien d'autre à acheter.</a:t>
            </a:r>
            <a:endParaRPr lang="en-US" sz="1500" dirty="0"/>
          </a:p>
        </p:txBody>
      </p:sp>
      <p:sp>
        <p:nvSpPr>
          <p:cNvPr id="8" name="Text 5"/>
          <p:cNvSpPr/>
          <p:nvPr/>
        </p:nvSpPr>
        <p:spPr>
          <a:xfrm>
            <a:off x="731520" y="6080760"/>
            <a:ext cx="9144000" cy="320040"/>
          </a:xfrm>
          <a:prstGeom prst="rect">
            <a:avLst/>
          </a:prstGeom>
          <a:noFill/>
          <a:ln/>
        </p:spPr>
        <p:txBody>
          <a:bodyPr wrap="square" lIns="0" tIns="0" rIns="0" bIns="0" rtlCol="0" anchor="t"/>
          <a:lstStyle/>
          <a:p>
            <a:pPr indent="0" marL="0">
              <a:buNone/>
            </a:pPr>
            <a:r>
              <a:rPr lang="en-US" sz="1050" dirty="0">
                <a:solidFill>
                  <a:srgbClr val="575F5C"/>
                </a:solidFill>
                <a:latin typeface="Arial" pitchFamily="34" charset="0"/>
                <a:ea typeface="Arial" pitchFamily="34" charset="-122"/>
                <a:cs typeface="Arial" pitchFamily="34" charset="-120"/>
              </a:rPr>
              <a:t>Devkaylab  ·  août 2026  ·  www.quantinvo.com</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ial" pitchFamily="34" charset="0"/>
                <a:ea typeface="Arial" pitchFamily="34" charset="-122"/>
                <a:cs typeface="Arial"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Arial" pitchFamily="34" charset="0"/>
                <a:ea typeface="Arial" pitchFamily="34" charset="-122"/>
                <a:cs typeface="Arial" pitchFamily="34" charset="-120"/>
              </a:rPr>
              <a:t>La vraie question</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325880"/>
            <a:ext cx="4206240" cy="1463040"/>
          </a:xfrm>
          <a:prstGeom prst="rect">
            <a:avLst/>
          </a:prstGeom>
          <a:noFill/>
          <a:ln/>
        </p:spPr>
        <p:txBody>
          <a:bodyPr wrap="square" lIns="0" tIns="0" rIns="0" bIns="0" rtlCol="0" anchor="t"/>
          <a:lstStyle/>
          <a:p>
            <a:pPr indent="0" marL="0">
              <a:lnSpc>
                <a:spcPct val="105000"/>
              </a:lnSpc>
              <a:buNone/>
            </a:pPr>
            <a:r>
              <a:rPr lang="en-US" sz="2600" b="1" dirty="0">
                <a:solidFill>
                  <a:srgbClr val="14181A"/>
                </a:solidFill>
                <a:latin typeface="Arial" pitchFamily="34" charset="0"/>
                <a:ea typeface="Arial" pitchFamily="34" charset="-122"/>
                <a:cs typeface="Arial" pitchFamily="34" charset="-120"/>
              </a:rPr>
              <a:t>La licence n’est pas ce que vous payez.</a:t>
            </a:r>
            <a:endParaRPr lang="en-US" sz="2600" dirty="0"/>
          </a:p>
        </p:txBody>
      </p:sp>
      <p:sp>
        <p:nvSpPr>
          <p:cNvPr id="7" name="Text 4"/>
          <p:cNvSpPr/>
          <p:nvPr/>
        </p:nvSpPr>
        <p:spPr>
          <a:xfrm>
            <a:off x="731520" y="3291840"/>
            <a:ext cx="4206240" cy="868680"/>
          </a:xfrm>
          <a:prstGeom prst="rect">
            <a:avLst/>
          </a:prstGeom>
          <a:noFill/>
          <a:ln/>
        </p:spPr>
        <p:txBody>
          <a:bodyPr wrap="square" lIns="0" tIns="0" rIns="0" bIns="0" rtlCol="0" anchor="t"/>
          <a:lstStyle/>
          <a:p>
            <a:pPr indent="0" marL="0">
              <a:buNone/>
            </a:pPr>
            <a:r>
              <a:rPr lang="en-US" sz="5400" b="1" dirty="0">
                <a:solidFill>
                  <a:srgbClr val="1E4D3B"/>
                </a:solidFill>
                <a:latin typeface="Arial" pitchFamily="34" charset="0"/>
                <a:ea typeface="Arial" pitchFamily="34" charset="-122"/>
                <a:cs typeface="Arial" pitchFamily="34" charset="-120"/>
              </a:rPr>
              <a:t>0</a:t>
            </a:r>
            <a:endParaRPr lang="en-US" sz="5400" dirty="0"/>
          </a:p>
        </p:txBody>
      </p:sp>
      <p:sp>
        <p:nvSpPr>
          <p:cNvPr id="8" name="Text 5"/>
          <p:cNvSpPr/>
          <p:nvPr/>
        </p:nvSpPr>
        <p:spPr>
          <a:xfrm>
            <a:off x="731520" y="4206240"/>
            <a:ext cx="4206240" cy="731520"/>
          </a:xfrm>
          <a:prstGeom prst="rect">
            <a:avLst/>
          </a:prstGeom>
          <a:noFill/>
          <a:ln/>
        </p:spPr>
        <p:txBody>
          <a:bodyPr wrap="square" lIns="0" tIns="0" rIns="0" bIns="0" rtlCol="0" anchor="t"/>
          <a:lstStyle/>
          <a:p>
            <a:pPr indent="0" marL="0">
              <a:lnSpc>
                <a:spcPct val="115000"/>
              </a:lnSpc>
              <a:buNone/>
            </a:pPr>
            <a:r>
              <a:rPr lang="en-US" sz="1200" dirty="0">
                <a:solidFill>
                  <a:srgbClr val="575F5C"/>
                </a:solidFill>
                <a:latin typeface="Arial" pitchFamily="34" charset="0"/>
                <a:ea typeface="Arial" pitchFamily="34" charset="-122"/>
                <a:cs typeface="Arial" pitchFamily="34" charset="-120"/>
              </a:rPr>
              <a:t>terminal à acheter, à louer, à charger, à configurer ou à remplacer.</a:t>
            </a:r>
            <a:endParaRPr lang="en-US" sz="1200" dirty="0"/>
          </a:p>
        </p:txBody>
      </p:sp>
      <p:sp>
        <p:nvSpPr>
          <p:cNvPr id="9" name="Text 6"/>
          <p:cNvSpPr/>
          <p:nvPr/>
        </p:nvSpPr>
        <p:spPr>
          <a:xfrm>
            <a:off x="5394960" y="1371600"/>
            <a:ext cx="6062472" cy="4572000"/>
          </a:xfrm>
          <a:prstGeom prst="rect">
            <a:avLst/>
          </a:prstGeom>
          <a:noFill/>
          <a:ln/>
        </p:spPr>
        <p:txBody>
          <a:bodyPr wrap="square" lIns="0" tIns="0" rIns="0" bIns="0" rtlCol="0" anchor="t"/>
          <a:lstStyle/>
          <a:p>
            <a:pPr indent="0" marL="0">
              <a:lnSpc>
                <a:spcPct val="118000"/>
              </a:lnSpc>
              <a:spcAft>
                <a:spcPts val="1300"/>
              </a:spcAft>
              <a:buNone/>
            </a:pPr>
            <a:r>
              <a:rPr lang="en-US" sz="1300" b="1" dirty="0">
                <a:solidFill>
                  <a:srgbClr val="14181A"/>
                </a:solidFill>
                <a:latin typeface="Arial" pitchFamily="34" charset="0"/>
                <a:ea typeface="Arial" pitchFamily="34" charset="-122"/>
                <a:cs typeface="Arial" pitchFamily="34" charset="-120"/>
              </a:rPr>
              <a:t>Le matériel. </a:t>
            </a:r>
            <a:pPr indent="0" marL="0">
              <a:lnSpc>
                <a:spcPct val="118000"/>
              </a:lnSpc>
              <a:spcAft>
                <a:spcPts val="1300"/>
              </a:spcAft>
              <a:buNone/>
            </a:pPr>
            <a:r>
              <a:rPr lang="en-US" sz="1300" dirty="0">
                <a:solidFill>
                  <a:srgbClr val="3A423F"/>
                </a:solidFill>
                <a:latin typeface="Arial" pitchFamily="34" charset="0"/>
                <a:ea typeface="Arial" pitchFamily="34" charset="-122"/>
                <a:cs typeface="Arial" pitchFamily="34" charset="-120"/>
              </a:rPr>
              <a:t>Une flotte de terminaux durcis s'achète ou se loue, se recharge, se configure, se répare et se remplace. Sur trois ans, elle pèse souvent plus lourd que la licence qu'elle sert.</a:t>
            </a:r>
            <a:endParaRPr lang="en-US" sz="1300" dirty="0"/>
          </a:p>
          <a:p>
            <a:pPr indent="0" marL="0">
              <a:lnSpc>
                <a:spcPct val="118000"/>
              </a:lnSpc>
              <a:spcAft>
                <a:spcPts val="1300"/>
              </a:spcAft>
              <a:buNone/>
            </a:pPr>
            <a:r>
              <a:rPr lang="en-US" sz="1300" b="1" dirty="0">
                <a:solidFill>
                  <a:srgbClr val="14181A"/>
                </a:solidFill>
                <a:latin typeface="Arial" pitchFamily="34" charset="0"/>
                <a:ea typeface="Arial" pitchFamily="34" charset="-122"/>
                <a:cs typeface="Arial" pitchFamily="34" charset="-120"/>
              </a:rPr>
              <a:t>Les heures. </a:t>
            </a:r>
            <a:pPr indent="0" marL="0">
              <a:lnSpc>
                <a:spcPct val="118000"/>
              </a:lnSpc>
              <a:spcAft>
                <a:spcPts val="1300"/>
              </a:spcAft>
              <a:buNone/>
            </a:pPr>
            <a:r>
              <a:rPr lang="en-US" sz="1300" dirty="0">
                <a:solidFill>
                  <a:srgbClr val="3A423F"/>
                </a:solidFill>
                <a:latin typeface="Arial" pitchFamily="34" charset="0"/>
                <a:ea typeface="Arial" pitchFamily="34" charset="-122"/>
                <a:cs typeface="Arial" pitchFamily="34" charset="-120"/>
              </a:rPr>
              <a:t>Connecter et vérifier les terminaux un par un avant chaque session, briefer les compteurs sur leur maniement, rester posté sur la plateforme pendant le comptage : c'est un poste à temps partiel que personne ne budgète.</a:t>
            </a:r>
            <a:endParaRPr lang="en-US" sz="1300" dirty="0"/>
          </a:p>
          <a:p>
            <a:pPr indent="0" marL="0">
              <a:lnSpc>
                <a:spcPct val="118000"/>
              </a:lnSpc>
              <a:spcAft>
                <a:spcPts val="1300"/>
              </a:spcAft>
              <a:buNone/>
            </a:pPr>
            <a:r>
              <a:rPr lang="en-US" sz="1300" b="1" dirty="0">
                <a:solidFill>
                  <a:srgbClr val="14181A"/>
                </a:solidFill>
                <a:latin typeface="Arial" pitchFamily="34" charset="0"/>
                <a:ea typeface="Arial" pitchFamily="34" charset="-122"/>
                <a:cs typeface="Arial" pitchFamily="34" charset="-120"/>
              </a:rPr>
              <a:t>La réconciliation. </a:t>
            </a:r>
            <a:pPr indent="0" marL="0">
              <a:lnSpc>
                <a:spcPct val="118000"/>
              </a:lnSpc>
              <a:spcAft>
                <a:spcPts val="1300"/>
              </a:spcAft>
              <a:buNone/>
            </a:pPr>
            <a:r>
              <a:rPr lang="en-US" sz="1300" dirty="0">
                <a:solidFill>
                  <a:srgbClr val="3A423F"/>
                </a:solidFill>
                <a:latin typeface="Arial" pitchFamily="34" charset="0"/>
                <a:ea typeface="Arial" pitchFamily="34" charset="-122"/>
                <a:cs typeface="Arial" pitchFamily="34" charset="-120"/>
              </a:rPr>
              <a:t>Un rapport de variance à rapprocher à la main du stock théorique, après chaque inventaire. C'est long, et c'est là que les erreurs se glissent.</a:t>
            </a:r>
            <a:endParaRPr lang="en-US" sz="1300" dirty="0"/>
          </a:p>
          <a:p>
            <a:pPr indent="0" marL="0">
              <a:lnSpc>
                <a:spcPct val="118000"/>
              </a:lnSpc>
              <a:spcAft>
                <a:spcPts val="1300"/>
              </a:spcAft>
              <a:buNone/>
            </a:pPr>
            <a:r>
              <a:rPr lang="en-US" sz="1300" b="1" dirty="0">
                <a:solidFill>
                  <a:srgbClr val="14181A"/>
                </a:solidFill>
                <a:latin typeface="Arial" pitchFamily="34" charset="0"/>
                <a:ea typeface="Arial" pitchFamily="34" charset="-122"/>
                <a:cs typeface="Arial" pitchFamily="34" charset="-120"/>
              </a:rPr>
              <a:t>Le plafond invisible. </a:t>
            </a:r>
            <a:pPr indent="0" marL="0">
              <a:lnSpc>
                <a:spcPct val="118000"/>
              </a:lnSpc>
              <a:spcAft>
                <a:spcPts val="1300"/>
              </a:spcAft>
              <a:buNone/>
            </a:pPr>
            <a:r>
              <a:rPr lang="en-US" sz="1300" dirty="0">
                <a:solidFill>
                  <a:srgbClr val="3A423F"/>
                </a:solidFill>
                <a:latin typeface="Arial" pitchFamily="34" charset="0"/>
                <a:ea typeface="Arial" pitchFamily="34" charset="-122"/>
                <a:cs typeface="Arial" pitchFamily="34" charset="-120"/>
              </a:rPr>
              <a:t>Quand compter coûte du matériel et du temps de préparation, on compte moins souvent. Le stock dérive entre deux passages, et personne n'a décidé que ce serait ainsi.</a:t>
            </a:r>
            <a:endParaRPr lang="en-US" sz="1300" dirty="0"/>
          </a:p>
        </p:txBody>
      </p:sp>
      <p:sp>
        <p:nvSpPr>
          <p:cNvPr id="10" name="Text 7"/>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Arial" pitchFamily="34" charset="0"/>
                <a:ea typeface="Arial" pitchFamily="34" charset="-122"/>
                <a:cs typeface="Arial" pitchFamily="34" charset="-120"/>
              </a:rPr>
              <a:t>Quantinvo · l’essentiel</a:t>
            </a:r>
            <a:endParaRPr lang="en-US" sz="900" dirty="0"/>
          </a:p>
        </p:txBody>
      </p:sp>
      <p:sp>
        <p:nvSpPr>
          <p:cNvPr id="11" name="Text 8"/>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ial" pitchFamily="34" charset="0"/>
                <a:ea typeface="Arial" pitchFamily="34" charset="-122"/>
                <a:cs typeface="Arial"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Arial" pitchFamily="34" charset="0"/>
                <a:ea typeface="Arial" pitchFamily="34" charset="-122"/>
                <a:cs typeface="Arial" pitchFamily="34" charset="-120"/>
              </a:rPr>
              <a:t>Ce que c’est</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188720"/>
            <a:ext cx="10725912" cy="822960"/>
          </a:xfrm>
          <a:prstGeom prst="rect">
            <a:avLst/>
          </a:prstGeom>
          <a:noFill/>
          <a:ln/>
        </p:spPr>
        <p:txBody>
          <a:bodyPr wrap="square" lIns="0" tIns="0" rIns="0" bIns="0" rtlCol="0" anchor="t"/>
          <a:lstStyle/>
          <a:p>
            <a:pPr indent="0" marL="0">
              <a:lnSpc>
                <a:spcPct val="105000"/>
              </a:lnSpc>
              <a:buNone/>
            </a:pPr>
            <a:r>
              <a:rPr lang="en-US" sz="2500" b="1" dirty="0">
                <a:solidFill>
                  <a:srgbClr val="14181A"/>
                </a:solidFill>
                <a:latin typeface="Arial" pitchFamily="34" charset="0"/>
                <a:ea typeface="Arial" pitchFamily="34" charset="-122"/>
                <a:cs typeface="Arial" pitchFamily="34" charset="-120"/>
              </a:rPr>
              <a:t>Un outil d’inventaire complet, sur le téléphone qu’ils ont déjà</a:t>
            </a:r>
            <a:endParaRPr lang="en-US" sz="2500" dirty="0"/>
          </a:p>
        </p:txBody>
      </p:sp>
      <p:sp>
        <p:nvSpPr>
          <p:cNvPr id="7" name="Text 4"/>
          <p:cNvSpPr/>
          <p:nvPr/>
        </p:nvSpPr>
        <p:spPr>
          <a:xfrm>
            <a:off x="731520" y="1874520"/>
            <a:ext cx="3392424" cy="365760"/>
          </a:xfrm>
          <a:prstGeom prst="rect">
            <a:avLst/>
          </a:prstGeom>
          <a:noFill/>
          <a:ln/>
        </p:spPr>
        <p:txBody>
          <a:bodyPr wrap="square" lIns="0" tIns="0" rIns="0" bIns="0" rtlCol="0" anchor="t"/>
          <a:lstStyle/>
          <a:p>
            <a:pPr indent="0" marL="0">
              <a:lnSpc>
                <a:spcPct val="100000"/>
              </a:lnSpc>
              <a:buNone/>
            </a:pPr>
            <a:r>
              <a:rPr lang="en-US" sz="1350" b="1" dirty="0">
                <a:solidFill>
                  <a:srgbClr val="14181A"/>
                </a:solidFill>
                <a:latin typeface="Arial" pitchFamily="34" charset="0"/>
                <a:ea typeface="Arial" pitchFamily="34" charset="-122"/>
                <a:cs typeface="Arial" pitchFamily="34" charset="-120"/>
              </a:rPr>
              <a:t>On imprime les balises</a:t>
            </a:r>
            <a:endParaRPr lang="en-US" sz="1350" dirty="0"/>
          </a:p>
        </p:txBody>
      </p:sp>
      <p:sp>
        <p:nvSpPr>
          <p:cNvPr id="8" name="Text 5"/>
          <p:cNvSpPr/>
          <p:nvPr/>
        </p:nvSpPr>
        <p:spPr>
          <a:xfrm>
            <a:off x="731520" y="2258568"/>
            <a:ext cx="3392424" cy="585216"/>
          </a:xfrm>
          <a:prstGeom prst="rect">
            <a:avLst/>
          </a:prstGeom>
          <a:noFill/>
          <a:ln/>
        </p:spPr>
        <p:txBody>
          <a:bodyPr wrap="square" lIns="0" tIns="0" rIns="0" bIns="0" rtlCol="0" anchor="t"/>
          <a:lstStyle/>
          <a:p>
            <a:pPr indent="0" marL="0">
              <a:lnSpc>
                <a:spcPct val="115000"/>
              </a:lnSpc>
              <a:buNone/>
            </a:pPr>
            <a:r>
              <a:rPr lang="en-US" sz="1100" dirty="0">
                <a:solidFill>
                  <a:srgbClr val="3A423F"/>
                </a:solidFill>
                <a:latin typeface="Arial" pitchFamily="34" charset="0"/>
                <a:ea typeface="Arial" pitchFamily="34" charset="-122"/>
                <a:cs typeface="Arial" pitchFamily="34" charset="-120"/>
              </a:rPr>
              <a:t>Une planche d'étiquettes numérotées, en PDF, imprimée depuis l'outil. Aucun matériel à réserver.</a:t>
            </a:r>
            <a:endParaRPr lang="en-US" sz="1100" dirty="0"/>
          </a:p>
        </p:txBody>
      </p:sp>
      <p:sp>
        <p:nvSpPr>
          <p:cNvPr id="9" name="Shape 6"/>
          <p:cNvSpPr/>
          <p:nvPr/>
        </p:nvSpPr>
        <p:spPr>
          <a:xfrm>
            <a:off x="731520" y="2880360"/>
            <a:ext cx="3392424" cy="3319272"/>
          </a:xfrm>
          <a:prstGeom prst="roundRect">
            <a:avLst>
              <a:gd name="adj" fmla="val 1102"/>
            </a:avLst>
          </a:prstGeom>
          <a:solidFill>
            <a:srgbClr val="F2F3F1"/>
          </a:solidFill>
          <a:ln w="12700">
            <a:solidFill>
              <a:srgbClr val="F2F3F1"/>
            </a:solidFill>
            <a:prstDash val="solid"/>
          </a:ln>
        </p:spPr>
      </p:sp>
      <p:pic>
        <p:nvPicPr>
          <p:cNvPr id="10" name="Image 1" descr="preencoded.png">    </p:cNvPr>
          <p:cNvPicPr>
            <a:picLocks noChangeAspect="1"/>
          </p:cNvPicPr>
          <p:nvPr/>
        </p:nvPicPr>
        <p:blipFill>
          <a:blip r:embed="rId2"/>
          <a:stretch>
            <a:fillRect/>
          </a:stretch>
        </p:blipFill>
        <p:spPr>
          <a:xfrm>
            <a:off x="1042416" y="2880963"/>
            <a:ext cx="2770632" cy="3318669"/>
          </a:xfrm>
          <a:prstGeom prst="rect">
            <a:avLst/>
          </a:prstGeom>
        </p:spPr>
      </p:pic>
      <p:sp>
        <p:nvSpPr>
          <p:cNvPr id="11" name="Text 7"/>
          <p:cNvSpPr/>
          <p:nvPr/>
        </p:nvSpPr>
        <p:spPr>
          <a:xfrm>
            <a:off x="4398264" y="1874520"/>
            <a:ext cx="3392424" cy="365760"/>
          </a:xfrm>
          <a:prstGeom prst="rect">
            <a:avLst/>
          </a:prstGeom>
          <a:noFill/>
          <a:ln/>
        </p:spPr>
        <p:txBody>
          <a:bodyPr wrap="square" lIns="0" tIns="0" rIns="0" bIns="0" rtlCol="0" anchor="t"/>
          <a:lstStyle/>
          <a:p>
            <a:pPr indent="0" marL="0">
              <a:lnSpc>
                <a:spcPct val="100000"/>
              </a:lnSpc>
              <a:buNone/>
            </a:pPr>
            <a:r>
              <a:rPr lang="en-US" sz="1350" b="1" dirty="0">
                <a:solidFill>
                  <a:srgbClr val="14181A"/>
                </a:solidFill>
                <a:latin typeface="Arial" pitchFamily="34" charset="0"/>
                <a:ea typeface="Arial" pitchFamily="34" charset="-122"/>
                <a:cs typeface="Arial" pitchFamily="34" charset="-120"/>
              </a:rPr>
              <a:t>On scanne la zone, puis les articles</a:t>
            </a:r>
            <a:endParaRPr lang="en-US" sz="1350" dirty="0"/>
          </a:p>
        </p:txBody>
      </p:sp>
      <p:sp>
        <p:nvSpPr>
          <p:cNvPr id="12" name="Text 8"/>
          <p:cNvSpPr/>
          <p:nvPr/>
        </p:nvSpPr>
        <p:spPr>
          <a:xfrm>
            <a:off x="4398264" y="2258568"/>
            <a:ext cx="3392424" cy="585216"/>
          </a:xfrm>
          <a:prstGeom prst="rect">
            <a:avLst/>
          </a:prstGeom>
          <a:noFill/>
          <a:ln/>
        </p:spPr>
        <p:txBody>
          <a:bodyPr wrap="square" lIns="0" tIns="0" rIns="0" bIns="0" rtlCol="0" anchor="t"/>
          <a:lstStyle/>
          <a:p>
            <a:pPr indent="0" marL="0">
              <a:lnSpc>
                <a:spcPct val="115000"/>
              </a:lnSpc>
              <a:buNone/>
            </a:pPr>
            <a:r>
              <a:rPr lang="en-US" sz="1100" dirty="0">
                <a:solidFill>
                  <a:srgbClr val="3A423F"/>
                </a:solidFill>
                <a:latin typeface="Arial" pitchFamily="34" charset="0"/>
                <a:ea typeface="Arial" pitchFamily="34" charset="-122"/>
                <a:cs typeface="Arial" pitchFamily="34" charset="-120"/>
              </a:rPr>
              <a:t>La caméra du téléphone lit les codes-barres. Une douchette Bluetooth s'y branche pour les gros volumes.</a:t>
            </a:r>
            <a:endParaRPr lang="en-US" sz="1100" dirty="0"/>
          </a:p>
        </p:txBody>
      </p:sp>
      <p:sp>
        <p:nvSpPr>
          <p:cNvPr id="13" name="Shape 9"/>
          <p:cNvSpPr/>
          <p:nvPr/>
        </p:nvSpPr>
        <p:spPr>
          <a:xfrm>
            <a:off x="4398264" y="2880360"/>
            <a:ext cx="3392424" cy="3319272"/>
          </a:xfrm>
          <a:prstGeom prst="roundRect">
            <a:avLst>
              <a:gd name="adj" fmla="val 1102"/>
            </a:avLst>
          </a:prstGeom>
          <a:solidFill>
            <a:srgbClr val="E7EDE9"/>
          </a:solidFill>
          <a:ln w="12700">
            <a:solidFill>
              <a:srgbClr val="E7EDE9"/>
            </a:solidFill>
            <a:prstDash val="solid"/>
          </a:ln>
        </p:spPr>
      </p:sp>
      <p:pic>
        <p:nvPicPr>
          <p:cNvPr id="14" name="Image 2" descr="preencoded.png">    </p:cNvPr>
          <p:cNvPicPr>
            <a:picLocks noChangeAspect="1"/>
          </p:cNvPicPr>
          <p:nvPr/>
        </p:nvPicPr>
        <p:blipFill>
          <a:blip r:embed="rId3"/>
          <a:stretch>
            <a:fillRect/>
          </a:stretch>
        </p:blipFill>
        <p:spPr>
          <a:xfrm>
            <a:off x="4709160" y="2880963"/>
            <a:ext cx="2770632" cy="3318669"/>
          </a:xfrm>
          <a:prstGeom prst="rect">
            <a:avLst/>
          </a:prstGeom>
        </p:spPr>
      </p:pic>
      <p:sp>
        <p:nvSpPr>
          <p:cNvPr id="15" name="Text 10"/>
          <p:cNvSpPr/>
          <p:nvPr/>
        </p:nvSpPr>
        <p:spPr>
          <a:xfrm>
            <a:off x="8065008" y="1874520"/>
            <a:ext cx="3392424" cy="365760"/>
          </a:xfrm>
          <a:prstGeom prst="rect">
            <a:avLst/>
          </a:prstGeom>
          <a:noFill/>
          <a:ln/>
        </p:spPr>
        <p:txBody>
          <a:bodyPr wrap="square" lIns="0" tIns="0" rIns="0" bIns="0" rtlCol="0" anchor="t"/>
          <a:lstStyle/>
          <a:p>
            <a:pPr indent="0" marL="0">
              <a:lnSpc>
                <a:spcPct val="100000"/>
              </a:lnSpc>
              <a:buNone/>
            </a:pPr>
            <a:r>
              <a:rPr lang="en-US" sz="1350" b="1" dirty="0">
                <a:solidFill>
                  <a:srgbClr val="14181A"/>
                </a:solidFill>
                <a:latin typeface="Arial" pitchFamily="34" charset="0"/>
                <a:ea typeface="Arial" pitchFamily="34" charset="-122"/>
                <a:cs typeface="Arial" pitchFamily="34" charset="-120"/>
              </a:rPr>
              <a:t>On audite et on tranche</a:t>
            </a:r>
            <a:endParaRPr lang="en-US" sz="1350" dirty="0"/>
          </a:p>
        </p:txBody>
      </p:sp>
      <p:sp>
        <p:nvSpPr>
          <p:cNvPr id="16" name="Text 11"/>
          <p:cNvSpPr/>
          <p:nvPr/>
        </p:nvSpPr>
        <p:spPr>
          <a:xfrm>
            <a:off x="8065008" y="2258568"/>
            <a:ext cx="3392424" cy="585216"/>
          </a:xfrm>
          <a:prstGeom prst="rect">
            <a:avLst/>
          </a:prstGeom>
          <a:noFill/>
          <a:ln/>
        </p:spPr>
        <p:txBody>
          <a:bodyPr wrap="square" lIns="0" tIns="0" rIns="0" bIns="0" rtlCol="0" anchor="t"/>
          <a:lstStyle/>
          <a:p>
            <a:pPr indent="0" marL="0">
              <a:lnSpc>
                <a:spcPct val="115000"/>
              </a:lnSpc>
              <a:buNone/>
            </a:pPr>
            <a:r>
              <a:rPr lang="en-US" sz="1100" dirty="0">
                <a:solidFill>
                  <a:srgbClr val="3A423F"/>
                </a:solidFill>
                <a:latin typeface="Arial" pitchFamily="34" charset="0"/>
                <a:ea typeface="Arial" pitchFamily="34" charset="-122"/>
                <a:cs typeface="Arial" pitchFamily="34" charset="-120"/>
              </a:rPr>
              <a:t>Un second passage sur les zones qui le méritent. L'écart s'affiche, le superviseur décide au rayon.</a:t>
            </a:r>
            <a:endParaRPr lang="en-US" sz="1100" dirty="0"/>
          </a:p>
        </p:txBody>
      </p:sp>
      <p:sp>
        <p:nvSpPr>
          <p:cNvPr id="17" name="Shape 12"/>
          <p:cNvSpPr/>
          <p:nvPr/>
        </p:nvSpPr>
        <p:spPr>
          <a:xfrm>
            <a:off x="8065008" y="2880360"/>
            <a:ext cx="3392424" cy="3319272"/>
          </a:xfrm>
          <a:prstGeom prst="roundRect">
            <a:avLst>
              <a:gd name="adj" fmla="val 1102"/>
            </a:avLst>
          </a:prstGeom>
          <a:solidFill>
            <a:srgbClr val="F2F3F1"/>
          </a:solidFill>
          <a:ln w="12700">
            <a:solidFill>
              <a:srgbClr val="F2F3F1"/>
            </a:solidFill>
            <a:prstDash val="solid"/>
          </a:ln>
        </p:spPr>
      </p:sp>
      <p:pic>
        <p:nvPicPr>
          <p:cNvPr id="18" name="Image 3" descr="preencoded.png">    </p:cNvPr>
          <p:cNvPicPr>
            <a:picLocks noChangeAspect="1"/>
          </p:cNvPicPr>
          <p:nvPr/>
        </p:nvPicPr>
        <p:blipFill>
          <a:blip r:embed="rId4"/>
          <a:stretch>
            <a:fillRect/>
          </a:stretch>
        </p:blipFill>
        <p:spPr>
          <a:xfrm>
            <a:off x="8375904" y="2880963"/>
            <a:ext cx="2770632" cy="3318669"/>
          </a:xfrm>
          <a:prstGeom prst="rect">
            <a:avLst/>
          </a:prstGeom>
        </p:spPr>
      </p:pic>
      <p:sp>
        <p:nvSpPr>
          <p:cNvPr id="19" name="Text 13"/>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Arial" pitchFamily="34" charset="0"/>
                <a:ea typeface="Arial" pitchFamily="34" charset="-122"/>
                <a:cs typeface="Arial" pitchFamily="34" charset="-120"/>
              </a:rPr>
              <a:t>Quantinvo · l’essentiel</a:t>
            </a:r>
            <a:endParaRPr lang="en-US" sz="900" dirty="0"/>
          </a:p>
        </p:txBody>
      </p:sp>
      <p:sp>
        <p:nvSpPr>
          <p:cNvPr id="20" name="Text 14"/>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ial" pitchFamily="34" charset="0"/>
                <a:ea typeface="Arial" pitchFamily="34" charset="-122"/>
                <a:cs typeface="Arial"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Arial" pitchFamily="34" charset="0"/>
                <a:ea typeface="Arial" pitchFamily="34" charset="-122"/>
                <a:cs typeface="Arial" pitchFamily="34" charset="-120"/>
              </a:rPr>
              <a:t>Face à face</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280160"/>
            <a:ext cx="10725912" cy="822960"/>
          </a:xfrm>
          <a:prstGeom prst="rect">
            <a:avLst/>
          </a:prstGeom>
          <a:noFill/>
          <a:ln/>
        </p:spPr>
        <p:txBody>
          <a:bodyPr wrap="square" lIns="0" tIns="0" rIns="0" bIns="0" rtlCol="0" anchor="t"/>
          <a:lstStyle/>
          <a:p>
            <a:pPr indent="0" marL="0">
              <a:lnSpc>
                <a:spcPct val="105000"/>
              </a:lnSpc>
              <a:buNone/>
            </a:pPr>
            <a:r>
              <a:rPr lang="en-US" sz="2600" b="1" dirty="0">
                <a:solidFill>
                  <a:srgbClr val="14181A"/>
                </a:solidFill>
                <a:latin typeface="Arial" pitchFamily="34" charset="0"/>
                <a:ea typeface="Arial" pitchFamily="34" charset="-122"/>
                <a:cs typeface="Arial" pitchFamily="34" charset="-120"/>
              </a:rPr>
              <a:t>Ce qui change, poste par poste</a:t>
            </a:r>
            <a:endParaRPr lang="en-US" sz="2600" dirty="0"/>
          </a:p>
        </p:txBody>
      </p:sp>
      <p:sp>
        <p:nvSpPr>
          <p:cNvPr id="7" name="Text 4"/>
          <p:cNvSpPr/>
          <p:nvPr/>
        </p:nvSpPr>
        <p:spPr>
          <a:xfrm>
            <a:off x="731520" y="2084832"/>
            <a:ext cx="4846320" cy="274320"/>
          </a:xfrm>
          <a:prstGeom prst="rect">
            <a:avLst/>
          </a:prstGeom>
          <a:noFill/>
          <a:ln/>
        </p:spPr>
        <p:txBody>
          <a:bodyPr wrap="square" lIns="0" tIns="0" rIns="0" bIns="0" rtlCol="0" anchor="t"/>
          <a:lstStyle/>
          <a:p>
            <a:pPr indent="0" marL="0">
              <a:buNone/>
            </a:pPr>
            <a:r>
              <a:rPr lang="en-US" sz="1050" b="1" dirty="0">
                <a:solidFill>
                  <a:srgbClr val="575F5C"/>
                </a:solidFill>
                <a:latin typeface="Arial" pitchFamily="34" charset="0"/>
                <a:ea typeface="Arial" pitchFamily="34" charset="-122"/>
                <a:cs typeface="Arial" pitchFamily="34" charset="-120"/>
              </a:rPr>
              <a:t>Une solution à terminaux dédiés</a:t>
            </a:r>
            <a:endParaRPr lang="en-US" sz="1050" dirty="0"/>
          </a:p>
        </p:txBody>
      </p:sp>
      <p:sp>
        <p:nvSpPr>
          <p:cNvPr id="8" name="Text 5"/>
          <p:cNvSpPr/>
          <p:nvPr/>
        </p:nvSpPr>
        <p:spPr>
          <a:xfrm>
            <a:off x="5852160" y="2084832"/>
            <a:ext cx="4846320" cy="274320"/>
          </a:xfrm>
          <a:prstGeom prst="rect">
            <a:avLst/>
          </a:prstGeom>
          <a:noFill/>
          <a:ln/>
        </p:spPr>
        <p:txBody>
          <a:bodyPr wrap="square" lIns="0" tIns="0" rIns="0" bIns="0" rtlCol="0" anchor="t"/>
          <a:lstStyle/>
          <a:p>
            <a:pPr indent="0" marL="0">
              <a:buNone/>
            </a:pPr>
            <a:r>
              <a:rPr lang="en-US" sz="1050" b="1" dirty="0">
                <a:solidFill>
                  <a:srgbClr val="14181A"/>
                </a:solidFill>
                <a:latin typeface="Arial" pitchFamily="34" charset="0"/>
                <a:ea typeface="Arial" pitchFamily="34" charset="-122"/>
                <a:cs typeface="Arial" pitchFamily="34" charset="-120"/>
              </a:rPr>
              <a:t>Quantinvo</a:t>
            </a:r>
            <a:endParaRPr lang="en-US" sz="1050" dirty="0"/>
          </a:p>
        </p:txBody>
      </p:sp>
      <p:sp>
        <p:nvSpPr>
          <p:cNvPr id="9" name="Shape 6"/>
          <p:cNvSpPr/>
          <p:nvPr/>
        </p:nvSpPr>
        <p:spPr>
          <a:xfrm>
            <a:off x="731520" y="2432304"/>
            <a:ext cx="10725912" cy="0"/>
          </a:xfrm>
          <a:prstGeom prst="line">
            <a:avLst/>
          </a:prstGeom>
          <a:noFill/>
          <a:ln w="9525">
            <a:solidFill>
              <a:srgbClr val="E2E5E1"/>
            </a:solidFill>
            <a:prstDash val="solid"/>
          </a:ln>
        </p:spPr>
      </p:sp>
      <p:sp>
        <p:nvSpPr>
          <p:cNvPr id="10" name="Text 7"/>
          <p:cNvSpPr/>
          <p:nvPr/>
        </p:nvSpPr>
        <p:spPr>
          <a:xfrm>
            <a:off x="731520" y="2523744"/>
            <a:ext cx="4846320" cy="512064"/>
          </a:xfrm>
          <a:prstGeom prst="rect">
            <a:avLst/>
          </a:prstGeom>
          <a:noFill/>
          <a:ln/>
        </p:spPr>
        <p:txBody>
          <a:bodyPr wrap="square" lIns="0" tIns="0" rIns="0" bIns="0" rtlCol="0" anchor="t"/>
          <a:lstStyle/>
          <a:p>
            <a:pPr indent="0" marL="0">
              <a:lnSpc>
                <a:spcPct val="113000"/>
              </a:lnSpc>
              <a:buNone/>
            </a:pPr>
            <a:r>
              <a:rPr lang="en-US" sz="1150" dirty="0">
                <a:solidFill>
                  <a:srgbClr val="3A423F"/>
                </a:solidFill>
                <a:latin typeface="Arial" pitchFamily="34" charset="0"/>
                <a:ea typeface="Arial" pitchFamily="34" charset="-122"/>
                <a:cs typeface="Arial" pitchFamily="34" charset="-120"/>
              </a:rPr>
              <a:t>Une flotte à acheter ou louer, charger, configurer, réparer.</a:t>
            </a:r>
            <a:endParaRPr lang="en-US" sz="1150" dirty="0"/>
          </a:p>
        </p:txBody>
      </p:sp>
      <p:sp>
        <p:nvSpPr>
          <p:cNvPr id="11" name="Text 8"/>
          <p:cNvSpPr/>
          <p:nvPr/>
        </p:nvSpPr>
        <p:spPr>
          <a:xfrm>
            <a:off x="5852160" y="2523744"/>
            <a:ext cx="4846320" cy="512064"/>
          </a:xfrm>
          <a:prstGeom prst="rect">
            <a:avLst/>
          </a:prstGeom>
          <a:noFill/>
          <a:ln/>
        </p:spPr>
        <p:txBody>
          <a:bodyPr wrap="square" lIns="0" tIns="0" rIns="0" bIns="0" rtlCol="0" anchor="t"/>
          <a:lstStyle/>
          <a:p>
            <a:pPr indent="0" marL="0">
              <a:lnSpc>
                <a:spcPct val="113000"/>
              </a:lnSpc>
              <a:buNone/>
            </a:pPr>
            <a:r>
              <a:rPr lang="en-US" sz="1150" dirty="0">
                <a:solidFill>
                  <a:srgbClr val="14181A"/>
                </a:solidFill>
                <a:latin typeface="Arial" pitchFamily="34" charset="0"/>
                <a:ea typeface="Arial" pitchFamily="34" charset="-122"/>
                <a:cs typeface="Arial" pitchFamily="34" charset="-120"/>
              </a:rPr>
              <a:t>Les téléphones de vos équipes. Déjà là, déjà payés.</a:t>
            </a:r>
            <a:endParaRPr lang="en-US" sz="1150" dirty="0"/>
          </a:p>
        </p:txBody>
      </p:sp>
      <p:sp>
        <p:nvSpPr>
          <p:cNvPr id="12" name="Shape 9"/>
          <p:cNvSpPr/>
          <p:nvPr/>
        </p:nvSpPr>
        <p:spPr>
          <a:xfrm>
            <a:off x="731520" y="3054096"/>
            <a:ext cx="10725912" cy="0"/>
          </a:xfrm>
          <a:prstGeom prst="line">
            <a:avLst/>
          </a:prstGeom>
          <a:noFill/>
          <a:ln w="9525">
            <a:solidFill>
              <a:srgbClr val="E2E5E1"/>
            </a:solidFill>
            <a:prstDash val="solid"/>
          </a:ln>
        </p:spPr>
      </p:sp>
      <p:sp>
        <p:nvSpPr>
          <p:cNvPr id="13" name="Text 10"/>
          <p:cNvSpPr/>
          <p:nvPr/>
        </p:nvSpPr>
        <p:spPr>
          <a:xfrm>
            <a:off x="731520" y="3145536"/>
            <a:ext cx="4846320" cy="512064"/>
          </a:xfrm>
          <a:prstGeom prst="rect">
            <a:avLst/>
          </a:prstGeom>
          <a:noFill/>
          <a:ln/>
        </p:spPr>
        <p:txBody>
          <a:bodyPr wrap="square" lIns="0" tIns="0" rIns="0" bIns="0" rtlCol="0" anchor="t"/>
          <a:lstStyle/>
          <a:p>
            <a:pPr indent="0" marL="0">
              <a:lnSpc>
                <a:spcPct val="113000"/>
              </a:lnSpc>
              <a:buNone/>
            </a:pPr>
            <a:r>
              <a:rPr lang="en-US" sz="1150" dirty="0">
                <a:solidFill>
                  <a:srgbClr val="3A423F"/>
                </a:solidFill>
                <a:latin typeface="Arial" pitchFamily="34" charset="0"/>
                <a:ea typeface="Arial" pitchFamily="34" charset="-122"/>
                <a:cs typeface="Arial" pitchFamily="34" charset="-120"/>
              </a:rPr>
              <a:t>Des terminaux à connecter et vérifier un par un avant chaque session.</a:t>
            </a:r>
            <a:endParaRPr lang="en-US" sz="1150" dirty="0"/>
          </a:p>
        </p:txBody>
      </p:sp>
      <p:sp>
        <p:nvSpPr>
          <p:cNvPr id="14" name="Text 11"/>
          <p:cNvSpPr/>
          <p:nvPr/>
        </p:nvSpPr>
        <p:spPr>
          <a:xfrm>
            <a:off x="5852160" y="3145536"/>
            <a:ext cx="4846320" cy="512064"/>
          </a:xfrm>
          <a:prstGeom prst="rect">
            <a:avLst/>
          </a:prstGeom>
          <a:noFill/>
          <a:ln/>
        </p:spPr>
        <p:txBody>
          <a:bodyPr wrap="square" lIns="0" tIns="0" rIns="0" bIns="0" rtlCol="0" anchor="t"/>
          <a:lstStyle/>
          <a:p>
            <a:pPr indent="0" marL="0">
              <a:lnSpc>
                <a:spcPct val="113000"/>
              </a:lnSpc>
              <a:buNone/>
            </a:pPr>
            <a:r>
              <a:rPr lang="en-US" sz="1150" dirty="0">
                <a:solidFill>
                  <a:srgbClr val="14181A"/>
                </a:solidFill>
                <a:latin typeface="Arial" pitchFamily="34" charset="0"/>
                <a:ea typeface="Arial" pitchFamily="34" charset="-122"/>
                <a:cs typeface="Arial" pitchFamily="34" charset="-120"/>
              </a:rPr>
              <a:t>Chacun rejoint l’inventaire depuis son téléphone, en quelques secondes.</a:t>
            </a:r>
            <a:endParaRPr lang="en-US" sz="1150" dirty="0"/>
          </a:p>
        </p:txBody>
      </p:sp>
      <p:sp>
        <p:nvSpPr>
          <p:cNvPr id="15" name="Shape 12"/>
          <p:cNvSpPr/>
          <p:nvPr/>
        </p:nvSpPr>
        <p:spPr>
          <a:xfrm>
            <a:off x="731520" y="3675888"/>
            <a:ext cx="10725912" cy="0"/>
          </a:xfrm>
          <a:prstGeom prst="line">
            <a:avLst/>
          </a:prstGeom>
          <a:noFill/>
          <a:ln w="9525">
            <a:solidFill>
              <a:srgbClr val="E2E5E1"/>
            </a:solidFill>
            <a:prstDash val="solid"/>
          </a:ln>
        </p:spPr>
      </p:sp>
      <p:sp>
        <p:nvSpPr>
          <p:cNvPr id="16" name="Text 13"/>
          <p:cNvSpPr/>
          <p:nvPr/>
        </p:nvSpPr>
        <p:spPr>
          <a:xfrm>
            <a:off x="731520" y="3767328"/>
            <a:ext cx="4846320" cy="512064"/>
          </a:xfrm>
          <a:prstGeom prst="rect">
            <a:avLst/>
          </a:prstGeom>
          <a:noFill/>
          <a:ln/>
        </p:spPr>
        <p:txBody>
          <a:bodyPr wrap="square" lIns="0" tIns="0" rIns="0" bIns="0" rtlCol="0" anchor="t"/>
          <a:lstStyle/>
          <a:p>
            <a:pPr indent="0" marL="0">
              <a:lnSpc>
                <a:spcPct val="113000"/>
              </a:lnSpc>
              <a:buNone/>
            </a:pPr>
            <a:r>
              <a:rPr lang="en-US" sz="1150" dirty="0">
                <a:solidFill>
                  <a:srgbClr val="3A423F"/>
                </a:solidFill>
                <a:latin typeface="Arial" pitchFamily="34" charset="0"/>
                <a:ea typeface="Arial" pitchFamily="34" charset="-122"/>
                <a:cs typeface="Arial" pitchFamily="34" charset="-120"/>
              </a:rPr>
              <a:t>Un briefing sur le maniement du matériel à chaque inventaire.</a:t>
            </a:r>
            <a:endParaRPr lang="en-US" sz="1150" dirty="0"/>
          </a:p>
        </p:txBody>
      </p:sp>
      <p:sp>
        <p:nvSpPr>
          <p:cNvPr id="17" name="Text 14"/>
          <p:cNvSpPr/>
          <p:nvPr/>
        </p:nvSpPr>
        <p:spPr>
          <a:xfrm>
            <a:off x="5852160" y="3767328"/>
            <a:ext cx="4846320" cy="512064"/>
          </a:xfrm>
          <a:prstGeom prst="rect">
            <a:avLst/>
          </a:prstGeom>
          <a:noFill/>
          <a:ln/>
        </p:spPr>
        <p:txBody>
          <a:bodyPr wrap="square" lIns="0" tIns="0" rIns="0" bIns="0" rtlCol="0" anchor="t"/>
          <a:lstStyle/>
          <a:p>
            <a:pPr indent="0" marL="0">
              <a:lnSpc>
                <a:spcPct val="113000"/>
              </a:lnSpc>
              <a:buNone/>
            </a:pPr>
            <a:r>
              <a:rPr lang="en-US" sz="1150" dirty="0">
                <a:solidFill>
                  <a:srgbClr val="14181A"/>
                </a:solidFill>
                <a:latin typeface="Arial" pitchFamily="34" charset="0"/>
                <a:ea typeface="Arial" pitchFamily="34" charset="-122"/>
                <a:cs typeface="Arial" pitchFamily="34" charset="-120"/>
              </a:rPr>
              <a:t>Le geste qu’ils connaissent déjà : ouvrir, scanner, scanner.</a:t>
            </a:r>
            <a:endParaRPr lang="en-US" sz="1150" dirty="0"/>
          </a:p>
        </p:txBody>
      </p:sp>
      <p:sp>
        <p:nvSpPr>
          <p:cNvPr id="18" name="Shape 15"/>
          <p:cNvSpPr/>
          <p:nvPr/>
        </p:nvSpPr>
        <p:spPr>
          <a:xfrm>
            <a:off x="731520" y="4297680"/>
            <a:ext cx="10725912" cy="0"/>
          </a:xfrm>
          <a:prstGeom prst="line">
            <a:avLst/>
          </a:prstGeom>
          <a:noFill/>
          <a:ln w="9525">
            <a:solidFill>
              <a:srgbClr val="E2E5E1"/>
            </a:solidFill>
            <a:prstDash val="solid"/>
          </a:ln>
        </p:spPr>
      </p:sp>
      <p:sp>
        <p:nvSpPr>
          <p:cNvPr id="19" name="Text 16"/>
          <p:cNvSpPr/>
          <p:nvPr/>
        </p:nvSpPr>
        <p:spPr>
          <a:xfrm>
            <a:off x="731520" y="4389120"/>
            <a:ext cx="4846320" cy="512064"/>
          </a:xfrm>
          <a:prstGeom prst="rect">
            <a:avLst/>
          </a:prstGeom>
          <a:noFill/>
          <a:ln/>
        </p:spPr>
        <p:txBody>
          <a:bodyPr wrap="square" lIns="0" tIns="0" rIns="0" bIns="0" rtlCol="0" anchor="t"/>
          <a:lstStyle/>
          <a:p>
            <a:pPr indent="0" marL="0">
              <a:lnSpc>
                <a:spcPct val="113000"/>
              </a:lnSpc>
              <a:buNone/>
            </a:pPr>
            <a:r>
              <a:rPr lang="en-US" sz="1150" dirty="0">
                <a:solidFill>
                  <a:srgbClr val="3A423F"/>
                </a:solidFill>
                <a:latin typeface="Arial" pitchFamily="34" charset="0"/>
                <a:ea typeface="Arial" pitchFamily="34" charset="-122"/>
                <a:cs typeface="Arial" pitchFamily="34" charset="-120"/>
              </a:rPr>
              <a:t>Un rapport de variance, à consolider ensuite avec le stock théorique.</a:t>
            </a:r>
            <a:endParaRPr lang="en-US" sz="1150" dirty="0"/>
          </a:p>
        </p:txBody>
      </p:sp>
      <p:sp>
        <p:nvSpPr>
          <p:cNvPr id="20" name="Text 17"/>
          <p:cNvSpPr/>
          <p:nvPr/>
        </p:nvSpPr>
        <p:spPr>
          <a:xfrm>
            <a:off x="5852160" y="4389120"/>
            <a:ext cx="4846320" cy="512064"/>
          </a:xfrm>
          <a:prstGeom prst="rect">
            <a:avLst/>
          </a:prstGeom>
          <a:noFill/>
          <a:ln/>
        </p:spPr>
        <p:txBody>
          <a:bodyPr wrap="square" lIns="0" tIns="0" rIns="0" bIns="0" rtlCol="0" anchor="t"/>
          <a:lstStyle/>
          <a:p>
            <a:pPr indent="0" marL="0">
              <a:lnSpc>
                <a:spcPct val="113000"/>
              </a:lnSpc>
              <a:buNone/>
            </a:pPr>
            <a:r>
              <a:rPr lang="en-US" sz="1150" dirty="0">
                <a:solidFill>
                  <a:srgbClr val="14181A"/>
                </a:solidFill>
                <a:latin typeface="Arial" pitchFamily="34" charset="0"/>
                <a:ea typeface="Arial" pitchFamily="34" charset="-122"/>
                <a:cs typeface="Arial" pitchFamily="34" charset="-120"/>
              </a:rPr>
              <a:t>Le croisement est déjà fait : l’attendu, le compté, le non-compté, l’écart en valeur.</a:t>
            </a:r>
            <a:endParaRPr lang="en-US" sz="1150" dirty="0"/>
          </a:p>
        </p:txBody>
      </p:sp>
      <p:sp>
        <p:nvSpPr>
          <p:cNvPr id="21" name="Shape 18"/>
          <p:cNvSpPr/>
          <p:nvPr/>
        </p:nvSpPr>
        <p:spPr>
          <a:xfrm>
            <a:off x="731520" y="4919472"/>
            <a:ext cx="10725912" cy="0"/>
          </a:xfrm>
          <a:prstGeom prst="line">
            <a:avLst/>
          </a:prstGeom>
          <a:noFill/>
          <a:ln w="9525">
            <a:solidFill>
              <a:srgbClr val="E2E5E1"/>
            </a:solidFill>
            <a:prstDash val="solid"/>
          </a:ln>
        </p:spPr>
      </p:sp>
      <p:sp>
        <p:nvSpPr>
          <p:cNvPr id="22" name="Text 19"/>
          <p:cNvSpPr/>
          <p:nvPr/>
        </p:nvSpPr>
        <p:spPr>
          <a:xfrm>
            <a:off x="731520" y="5010912"/>
            <a:ext cx="4846320" cy="512064"/>
          </a:xfrm>
          <a:prstGeom prst="rect">
            <a:avLst/>
          </a:prstGeom>
          <a:noFill/>
          <a:ln/>
        </p:spPr>
        <p:txBody>
          <a:bodyPr wrap="square" lIns="0" tIns="0" rIns="0" bIns="0" rtlCol="0" anchor="t"/>
          <a:lstStyle/>
          <a:p>
            <a:pPr indent="0" marL="0">
              <a:lnSpc>
                <a:spcPct val="113000"/>
              </a:lnSpc>
              <a:buNone/>
            </a:pPr>
            <a:r>
              <a:rPr lang="en-US" sz="1150" dirty="0">
                <a:solidFill>
                  <a:srgbClr val="3A423F"/>
                </a:solidFill>
                <a:latin typeface="Arial" pitchFamily="34" charset="0"/>
                <a:ea typeface="Arial" pitchFamily="34" charset="-122"/>
                <a:cs typeface="Arial" pitchFamily="34" charset="-120"/>
              </a:rPr>
              <a:t>Un prix sur devis, renégocié chaque année.</a:t>
            </a:r>
            <a:endParaRPr lang="en-US" sz="1150" dirty="0"/>
          </a:p>
        </p:txBody>
      </p:sp>
      <p:sp>
        <p:nvSpPr>
          <p:cNvPr id="23" name="Text 20"/>
          <p:cNvSpPr/>
          <p:nvPr/>
        </p:nvSpPr>
        <p:spPr>
          <a:xfrm>
            <a:off x="5852160" y="5010912"/>
            <a:ext cx="4846320" cy="512064"/>
          </a:xfrm>
          <a:prstGeom prst="rect">
            <a:avLst/>
          </a:prstGeom>
          <a:noFill/>
          <a:ln/>
        </p:spPr>
        <p:txBody>
          <a:bodyPr wrap="square" lIns="0" tIns="0" rIns="0" bIns="0" rtlCol="0" anchor="t"/>
          <a:lstStyle/>
          <a:p>
            <a:pPr indent="0" marL="0">
              <a:lnSpc>
                <a:spcPct val="113000"/>
              </a:lnSpc>
              <a:buNone/>
            </a:pPr>
            <a:r>
              <a:rPr lang="en-US" sz="1150" dirty="0">
                <a:solidFill>
                  <a:srgbClr val="14181A"/>
                </a:solidFill>
                <a:latin typeface="Arial" pitchFamily="34" charset="0"/>
                <a:ea typeface="Arial" pitchFamily="34" charset="-122"/>
                <a:cs typeface="Arial" pitchFamily="34" charset="-120"/>
              </a:rPr>
              <a:t>Un prix affiché, le même pour tout le monde, souscrit en ligne.</a:t>
            </a:r>
            <a:endParaRPr lang="en-US" sz="1150" dirty="0"/>
          </a:p>
        </p:txBody>
      </p:sp>
      <p:sp>
        <p:nvSpPr>
          <p:cNvPr id="24" name="Shape 21"/>
          <p:cNvSpPr/>
          <p:nvPr/>
        </p:nvSpPr>
        <p:spPr>
          <a:xfrm>
            <a:off x="731520" y="5541264"/>
            <a:ext cx="10725912" cy="0"/>
          </a:xfrm>
          <a:prstGeom prst="line">
            <a:avLst/>
          </a:prstGeom>
          <a:noFill/>
          <a:ln w="9525">
            <a:solidFill>
              <a:srgbClr val="E2E5E1"/>
            </a:solidFill>
            <a:prstDash val="solid"/>
          </a:ln>
        </p:spPr>
      </p:sp>
      <p:sp>
        <p:nvSpPr>
          <p:cNvPr id="25" name="Text 22"/>
          <p:cNvSpPr/>
          <p:nvPr/>
        </p:nvSpPr>
        <p:spPr>
          <a:xfrm>
            <a:off x="731520" y="5632704"/>
            <a:ext cx="4846320" cy="512064"/>
          </a:xfrm>
          <a:prstGeom prst="rect">
            <a:avLst/>
          </a:prstGeom>
          <a:noFill/>
          <a:ln/>
        </p:spPr>
        <p:txBody>
          <a:bodyPr wrap="square" lIns="0" tIns="0" rIns="0" bIns="0" rtlCol="0" anchor="t"/>
          <a:lstStyle/>
          <a:p>
            <a:pPr indent="0" marL="0">
              <a:lnSpc>
                <a:spcPct val="113000"/>
              </a:lnSpc>
              <a:buNone/>
            </a:pPr>
            <a:r>
              <a:rPr lang="en-US" sz="1150" dirty="0">
                <a:solidFill>
                  <a:srgbClr val="3A423F"/>
                </a:solidFill>
                <a:latin typeface="Arial" pitchFamily="34" charset="0"/>
                <a:ea typeface="Arial" pitchFamily="34" charset="-122"/>
                <a:cs typeface="Arial" pitchFamily="34" charset="-120"/>
              </a:rPr>
              <a:t>Un module au catalogue d’un géant du matériel.</a:t>
            </a:r>
            <a:endParaRPr lang="en-US" sz="1150" dirty="0"/>
          </a:p>
        </p:txBody>
      </p:sp>
      <p:sp>
        <p:nvSpPr>
          <p:cNvPr id="26" name="Text 23"/>
          <p:cNvSpPr/>
          <p:nvPr/>
        </p:nvSpPr>
        <p:spPr>
          <a:xfrm>
            <a:off x="5852160" y="5632704"/>
            <a:ext cx="4846320" cy="512064"/>
          </a:xfrm>
          <a:prstGeom prst="rect">
            <a:avLst/>
          </a:prstGeom>
          <a:noFill/>
          <a:ln/>
        </p:spPr>
        <p:txBody>
          <a:bodyPr wrap="square" lIns="0" tIns="0" rIns="0" bIns="0" rtlCol="0" anchor="t"/>
          <a:lstStyle/>
          <a:p>
            <a:pPr indent="0" marL="0">
              <a:lnSpc>
                <a:spcPct val="113000"/>
              </a:lnSpc>
              <a:buNone/>
            </a:pPr>
            <a:r>
              <a:rPr lang="en-US" sz="1150" dirty="0">
                <a:solidFill>
                  <a:srgbClr val="14181A"/>
                </a:solidFill>
                <a:latin typeface="Arial" pitchFamily="34" charset="0"/>
                <a:ea typeface="Arial" pitchFamily="34" charset="-122"/>
                <a:cs typeface="Arial" pitchFamily="34" charset="-120"/>
              </a:rPr>
              <a:t>Un outil qui ne fait qu’une chose, et son auteur répond lui-même.</a:t>
            </a:r>
            <a:endParaRPr lang="en-US" sz="1150" dirty="0"/>
          </a:p>
        </p:txBody>
      </p:sp>
      <p:sp>
        <p:nvSpPr>
          <p:cNvPr id="27" name="Shape 24"/>
          <p:cNvSpPr/>
          <p:nvPr/>
        </p:nvSpPr>
        <p:spPr>
          <a:xfrm>
            <a:off x="731520" y="6163056"/>
            <a:ext cx="10725912" cy="0"/>
          </a:xfrm>
          <a:prstGeom prst="line">
            <a:avLst/>
          </a:prstGeom>
          <a:noFill/>
          <a:ln w="9525">
            <a:solidFill>
              <a:srgbClr val="E2E5E1"/>
            </a:solidFill>
            <a:prstDash val="solid"/>
          </a:ln>
        </p:spPr>
      </p:sp>
      <p:sp>
        <p:nvSpPr>
          <p:cNvPr id="28" name="Text 25"/>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Arial" pitchFamily="34" charset="0"/>
                <a:ea typeface="Arial" pitchFamily="34" charset="-122"/>
                <a:cs typeface="Arial" pitchFamily="34" charset="-120"/>
              </a:rPr>
              <a:t>Quantinvo · l’essentiel</a:t>
            </a:r>
            <a:endParaRPr lang="en-US" sz="900" dirty="0"/>
          </a:p>
        </p:txBody>
      </p:sp>
      <p:sp>
        <p:nvSpPr>
          <p:cNvPr id="29" name="Text 26"/>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ial" pitchFamily="34" charset="0"/>
                <a:ea typeface="Arial" pitchFamily="34" charset="-122"/>
                <a:cs typeface="Arial"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Arial" pitchFamily="34" charset="0"/>
                <a:ea typeface="Arial" pitchFamily="34" charset="-122"/>
                <a:cs typeface="Arial" pitchFamily="34" charset="-120"/>
              </a:rPr>
              <a:t>Pendant le comptage</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280160"/>
            <a:ext cx="10725912" cy="822960"/>
          </a:xfrm>
          <a:prstGeom prst="rect">
            <a:avLst/>
          </a:prstGeom>
          <a:noFill/>
          <a:ln/>
        </p:spPr>
        <p:txBody>
          <a:bodyPr wrap="square" lIns="0" tIns="0" rIns="0" bIns="0" rtlCol="0" anchor="t"/>
          <a:lstStyle/>
          <a:p>
            <a:pPr indent="0" marL="0">
              <a:lnSpc>
                <a:spcPct val="105000"/>
              </a:lnSpc>
              <a:buNone/>
            </a:pPr>
            <a:r>
              <a:rPr lang="en-US" sz="2600" b="1" dirty="0">
                <a:solidFill>
                  <a:srgbClr val="14181A"/>
                </a:solidFill>
                <a:latin typeface="Arial" pitchFamily="34" charset="0"/>
                <a:ea typeface="Arial" pitchFamily="34" charset="-122"/>
                <a:cs typeface="Arial" pitchFamily="34" charset="-120"/>
              </a:rPr>
              <a:t>Personne n’est posté devant un écran pour surveiller.</a:t>
            </a:r>
            <a:endParaRPr lang="en-US" sz="2600" dirty="0"/>
          </a:p>
        </p:txBody>
      </p:sp>
      <p:sp>
        <p:nvSpPr>
          <p:cNvPr id="7" name="Text 4"/>
          <p:cNvSpPr/>
          <p:nvPr/>
        </p:nvSpPr>
        <p:spPr>
          <a:xfrm>
            <a:off x="731520" y="2057400"/>
            <a:ext cx="10725912" cy="731520"/>
          </a:xfrm>
          <a:prstGeom prst="rect">
            <a:avLst/>
          </a:prstGeom>
          <a:noFill/>
          <a:ln/>
        </p:spPr>
        <p:txBody>
          <a:bodyPr wrap="square" lIns="0" tIns="0" rIns="0" bIns="0" rtlCol="0" anchor="t"/>
          <a:lstStyle/>
          <a:p>
            <a:pPr algn="l" indent="0" marL="0">
              <a:lnSpc>
                <a:spcPct val="118000"/>
              </a:lnSpc>
              <a:buNone/>
            </a:pPr>
            <a:r>
              <a:rPr lang="en-US" sz="1250" dirty="0">
                <a:solidFill>
                  <a:srgbClr val="3A423F"/>
                </a:solidFill>
                <a:latin typeface="Arial" pitchFamily="34" charset="0"/>
                <a:ea typeface="Arial" pitchFamily="34" charset="-122"/>
                <a:cs typeface="Arial" pitchFamily="34" charset="-120"/>
              </a:rPr>
              <a:t>L'avancement zone par zone, les appareils en comptage et en audit, les derniers scans : le superviseur ouvre la page quand il veut, depuis le bureau ou depuis le rayon. Ce qu'on ne voit pas, et c'est voulu : qui fait quoi. Le suivi est agrégé — on pilote le travail, pas les personnes.</a:t>
            </a:r>
            <a:endParaRPr lang="en-US" sz="1250" dirty="0"/>
          </a:p>
        </p:txBody>
      </p:sp>
      <p:sp>
        <p:nvSpPr>
          <p:cNvPr id="8" name="Shape 5"/>
          <p:cNvSpPr/>
          <p:nvPr/>
        </p:nvSpPr>
        <p:spPr>
          <a:xfrm>
            <a:off x="2066046" y="2779776"/>
            <a:ext cx="8056860" cy="3127248"/>
          </a:xfrm>
          <a:prstGeom prst="roundRect">
            <a:avLst>
              <a:gd name="adj" fmla="val 1170"/>
            </a:avLst>
          </a:prstGeom>
          <a:solidFill>
            <a:srgbClr val="FFFFFF"/>
          </a:solidFill>
          <a:ln w="12700">
            <a:solidFill>
              <a:srgbClr val="E2E5E1"/>
            </a:solidFill>
            <a:prstDash val="solid"/>
          </a:ln>
        </p:spPr>
      </p:sp>
      <p:pic>
        <p:nvPicPr>
          <p:cNvPr id="9" name="Image 1" descr="preencoded.png">    </p:cNvPr>
          <p:cNvPicPr>
            <a:picLocks noChangeAspect="1"/>
          </p:cNvPicPr>
          <p:nvPr/>
        </p:nvPicPr>
        <p:blipFill>
          <a:blip r:embed="rId2"/>
          <a:stretch>
            <a:fillRect/>
          </a:stretch>
        </p:blipFill>
        <p:spPr>
          <a:xfrm>
            <a:off x="2120910" y="2834640"/>
            <a:ext cx="7947132" cy="3017520"/>
          </a:xfrm>
          <a:prstGeom prst="rect">
            <a:avLst/>
          </a:prstGeom>
        </p:spPr>
      </p:pic>
      <p:sp>
        <p:nvSpPr>
          <p:cNvPr id="10" name="Text 6"/>
          <p:cNvSpPr/>
          <p:nvPr/>
        </p:nvSpPr>
        <p:spPr>
          <a:xfrm>
            <a:off x="2120910" y="5980176"/>
            <a:ext cx="6062472" cy="365760"/>
          </a:xfrm>
          <a:prstGeom prst="rect">
            <a:avLst/>
          </a:prstGeom>
          <a:noFill/>
          <a:ln/>
        </p:spPr>
        <p:txBody>
          <a:bodyPr wrap="square" lIns="0" tIns="0" rIns="0" bIns="0" rtlCol="0" anchor="t"/>
          <a:lstStyle/>
          <a:p>
            <a:pPr indent="0" marL="0">
              <a:buNone/>
            </a:pPr>
            <a:r>
              <a:rPr lang="en-US" sz="1000" i="1" dirty="0">
                <a:solidFill>
                  <a:srgbClr val="575F5C"/>
                </a:solidFill>
                <a:latin typeface="Arial" pitchFamily="34" charset="0"/>
                <a:ea typeface="Arial" pitchFamily="34" charset="-122"/>
                <a:cs typeface="Arial" pitchFamily="34" charset="-120"/>
              </a:rPr>
              <a:t>Onglet Suivi, données d’essai.</a:t>
            </a:r>
            <a:endParaRPr lang="en-US" sz="1000" dirty="0"/>
          </a:p>
        </p:txBody>
      </p:sp>
      <p:sp>
        <p:nvSpPr>
          <p:cNvPr id="11" name="Text 7"/>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Arial" pitchFamily="34" charset="0"/>
                <a:ea typeface="Arial" pitchFamily="34" charset="-122"/>
                <a:cs typeface="Arial" pitchFamily="34" charset="-120"/>
              </a:rPr>
              <a:t>Quantinvo · l’essentiel</a:t>
            </a:r>
            <a:endParaRPr lang="en-US" sz="900" dirty="0"/>
          </a:p>
        </p:txBody>
      </p:sp>
      <p:sp>
        <p:nvSpPr>
          <p:cNvPr id="12" name="Text 8"/>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ial" pitchFamily="34" charset="0"/>
                <a:ea typeface="Arial" pitchFamily="34" charset="-122"/>
                <a:cs typeface="Arial"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Arial" pitchFamily="34" charset="0"/>
                <a:ea typeface="Arial" pitchFamily="34" charset="-122"/>
                <a:cs typeface="Arial" pitchFamily="34" charset="-120"/>
              </a:rPr>
              <a:t>Après le comptage</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325880"/>
            <a:ext cx="4206240" cy="1828800"/>
          </a:xfrm>
          <a:prstGeom prst="rect">
            <a:avLst/>
          </a:prstGeom>
          <a:noFill/>
          <a:ln/>
        </p:spPr>
        <p:txBody>
          <a:bodyPr wrap="square" lIns="0" tIns="0" rIns="0" bIns="0" rtlCol="0" anchor="t"/>
          <a:lstStyle/>
          <a:p>
            <a:pPr indent="0" marL="0">
              <a:lnSpc>
                <a:spcPct val="105000"/>
              </a:lnSpc>
              <a:buNone/>
            </a:pPr>
            <a:r>
              <a:rPr lang="en-US" sz="2300" b="1" dirty="0">
                <a:solidFill>
                  <a:srgbClr val="14181A"/>
                </a:solidFill>
                <a:latin typeface="Arial" pitchFamily="34" charset="0"/>
                <a:ea typeface="Arial" pitchFamily="34" charset="-122"/>
                <a:cs typeface="Arial" pitchFamily="34" charset="-120"/>
              </a:rPr>
              <a:t>Le rapport arrive déjà croisé avec votre stock théorique.</a:t>
            </a:r>
            <a:endParaRPr lang="en-US" sz="2300" dirty="0"/>
          </a:p>
        </p:txBody>
      </p:sp>
      <p:sp>
        <p:nvSpPr>
          <p:cNvPr id="7" name="Text 4"/>
          <p:cNvSpPr/>
          <p:nvPr/>
        </p:nvSpPr>
        <p:spPr>
          <a:xfrm>
            <a:off x="731520" y="3291840"/>
            <a:ext cx="4206240" cy="2377440"/>
          </a:xfrm>
          <a:prstGeom prst="rect">
            <a:avLst/>
          </a:prstGeom>
          <a:noFill/>
          <a:ln/>
        </p:spPr>
        <p:txBody>
          <a:bodyPr wrap="square" lIns="0" tIns="0" rIns="0" bIns="0" rtlCol="0" anchor="t"/>
          <a:lstStyle/>
          <a:p>
            <a:pPr indent="0" marL="0">
              <a:lnSpc>
                <a:spcPct val="118000"/>
              </a:lnSpc>
              <a:spcAft>
                <a:spcPts val="1200"/>
              </a:spcAft>
              <a:buNone/>
            </a:pPr>
            <a:r>
              <a:rPr lang="en-US" sz="1250" dirty="0">
                <a:solidFill>
                  <a:srgbClr val="3A423F"/>
                </a:solidFill>
                <a:latin typeface="Arial" pitchFamily="34" charset="0"/>
                <a:ea typeface="Arial" pitchFamily="34" charset="-122"/>
                <a:cs typeface="Arial" pitchFamily="34" charset="-120"/>
              </a:rPr>
              <a:t>Il part de l'attendu, pas seulement de ce qui a été scanné : un article attendu et jamais trouvé y figure, avec son manque. C'est la démarque que l'inventaire est censé révéler.</a:t>
            </a:r>
            <a:endParaRPr lang="en-US" sz="1250" dirty="0"/>
          </a:p>
          <a:p>
            <a:pPr indent="0" marL="0">
              <a:lnSpc>
                <a:spcPct val="118000"/>
              </a:lnSpc>
              <a:spcAft>
                <a:spcPts val="1200"/>
              </a:spcAft>
              <a:buNone/>
            </a:pPr>
            <a:r>
              <a:rPr lang="en-US" sz="1250" dirty="0">
                <a:solidFill>
                  <a:srgbClr val="3A423F"/>
                </a:solidFill>
                <a:latin typeface="Arial" pitchFamily="34" charset="0"/>
                <a:ea typeface="Arial" pitchFamily="34" charset="-122"/>
                <a:cs typeface="Arial" pitchFamily="34" charset="-120"/>
              </a:rPr>
              <a:t>Export Excel en un clic, prêt pour la correction du stock. Il ne reste que la validation et l'ajustement.</a:t>
            </a:r>
            <a:endParaRPr lang="en-US" sz="1250" dirty="0"/>
          </a:p>
        </p:txBody>
      </p:sp>
      <p:sp>
        <p:nvSpPr>
          <p:cNvPr id="8" name="Shape 5"/>
          <p:cNvSpPr/>
          <p:nvPr/>
        </p:nvSpPr>
        <p:spPr>
          <a:xfrm>
            <a:off x="5340096" y="1316736"/>
            <a:ext cx="6172200" cy="4260383"/>
          </a:xfrm>
          <a:prstGeom prst="roundRect">
            <a:avLst>
              <a:gd name="adj" fmla="val 859"/>
            </a:avLst>
          </a:prstGeom>
          <a:solidFill>
            <a:srgbClr val="FFFFFF"/>
          </a:solidFill>
          <a:ln w="12700">
            <a:solidFill>
              <a:srgbClr val="E2E5E1"/>
            </a:solidFill>
            <a:prstDash val="solid"/>
          </a:ln>
        </p:spPr>
      </p:sp>
      <p:pic>
        <p:nvPicPr>
          <p:cNvPr id="9" name="Image 1" descr="preencoded.png">    </p:cNvPr>
          <p:cNvPicPr>
            <a:picLocks noChangeAspect="1"/>
          </p:cNvPicPr>
          <p:nvPr/>
        </p:nvPicPr>
        <p:blipFill>
          <a:blip r:embed="rId2"/>
          <a:stretch>
            <a:fillRect/>
          </a:stretch>
        </p:blipFill>
        <p:spPr>
          <a:xfrm>
            <a:off x="5394960" y="1371600"/>
            <a:ext cx="6062472" cy="4150655"/>
          </a:xfrm>
          <a:prstGeom prst="rect">
            <a:avLst/>
          </a:prstGeom>
        </p:spPr>
      </p:pic>
      <p:sp>
        <p:nvSpPr>
          <p:cNvPr id="10" name="Text 6"/>
          <p:cNvSpPr/>
          <p:nvPr/>
        </p:nvSpPr>
        <p:spPr>
          <a:xfrm>
            <a:off x="5394960" y="5650271"/>
            <a:ext cx="6062472" cy="365760"/>
          </a:xfrm>
          <a:prstGeom prst="rect">
            <a:avLst/>
          </a:prstGeom>
          <a:noFill/>
          <a:ln/>
        </p:spPr>
        <p:txBody>
          <a:bodyPr wrap="square" lIns="0" tIns="0" rIns="0" bIns="0" rtlCol="0" anchor="t"/>
          <a:lstStyle/>
          <a:p>
            <a:pPr indent="0" marL="0">
              <a:buNone/>
            </a:pPr>
            <a:r>
              <a:rPr lang="en-US" sz="1000" i="1" dirty="0">
                <a:solidFill>
                  <a:srgbClr val="575F5C"/>
                </a:solidFill>
                <a:latin typeface="Arial" pitchFamily="34" charset="0"/>
                <a:ea typeface="Arial" pitchFamily="34" charset="-122"/>
                <a:cs typeface="Arial" pitchFamily="34" charset="-120"/>
              </a:rPr>
              <a:t>Onglet Rapport, données d’essai.</a:t>
            </a:r>
            <a:endParaRPr lang="en-US" sz="1000" dirty="0"/>
          </a:p>
        </p:txBody>
      </p:sp>
      <p:sp>
        <p:nvSpPr>
          <p:cNvPr id="11" name="Text 7"/>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Arial" pitchFamily="34" charset="0"/>
                <a:ea typeface="Arial" pitchFamily="34" charset="-122"/>
                <a:cs typeface="Arial" pitchFamily="34" charset="-120"/>
              </a:rPr>
              <a:t>Quantinvo · l’essentiel</a:t>
            </a:r>
            <a:endParaRPr lang="en-US" sz="900" dirty="0"/>
          </a:p>
        </p:txBody>
      </p:sp>
      <p:sp>
        <p:nvSpPr>
          <p:cNvPr id="12" name="Text 8"/>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ial" pitchFamily="34" charset="0"/>
                <a:ea typeface="Arial" pitchFamily="34" charset="-122"/>
                <a:cs typeface="Arial"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Arial" pitchFamily="34" charset="0"/>
                <a:ea typeface="Arial" pitchFamily="34" charset="-122"/>
                <a:cs typeface="Arial" pitchFamily="34" charset="-120"/>
              </a:rPr>
              <a:t>Le prix</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188720"/>
            <a:ext cx="10725912" cy="822960"/>
          </a:xfrm>
          <a:prstGeom prst="rect">
            <a:avLst/>
          </a:prstGeom>
          <a:noFill/>
          <a:ln/>
        </p:spPr>
        <p:txBody>
          <a:bodyPr wrap="square" lIns="0" tIns="0" rIns="0" bIns="0" rtlCol="0" anchor="t"/>
          <a:lstStyle/>
          <a:p>
            <a:pPr indent="0" marL="0">
              <a:lnSpc>
                <a:spcPct val="105000"/>
              </a:lnSpc>
              <a:buNone/>
            </a:pPr>
            <a:r>
              <a:rPr lang="en-US" sz="2500" b="1" dirty="0">
                <a:solidFill>
                  <a:srgbClr val="14181A"/>
                </a:solidFill>
                <a:latin typeface="Arial" pitchFamily="34" charset="0"/>
                <a:ea typeface="Arial" pitchFamily="34" charset="-122"/>
                <a:cs typeface="Arial" pitchFamily="34" charset="-120"/>
              </a:rPr>
              <a:t>Affiché, par magasin, sans déclaration de stock</a:t>
            </a:r>
            <a:endParaRPr lang="en-US" sz="2500" dirty="0"/>
          </a:p>
        </p:txBody>
      </p:sp>
      <p:sp>
        <p:nvSpPr>
          <p:cNvPr id="7" name="Text 4"/>
          <p:cNvSpPr/>
          <p:nvPr/>
        </p:nvSpPr>
        <p:spPr>
          <a:xfrm>
            <a:off x="731520" y="1783080"/>
            <a:ext cx="10725912" cy="457200"/>
          </a:xfrm>
          <a:prstGeom prst="rect">
            <a:avLst/>
          </a:prstGeom>
          <a:noFill/>
          <a:ln/>
        </p:spPr>
        <p:txBody>
          <a:bodyPr wrap="square" lIns="0" tIns="0" rIns="0" bIns="0" rtlCol="0" anchor="t"/>
          <a:lstStyle/>
          <a:p>
            <a:pPr algn="l" indent="0" marL="0">
              <a:lnSpc>
                <a:spcPct val="118000"/>
              </a:lnSpc>
              <a:buNone/>
            </a:pPr>
            <a:r>
              <a:rPr lang="en-US" sz="1150" dirty="0">
                <a:solidFill>
                  <a:srgbClr val="575F5C"/>
                </a:solidFill>
                <a:latin typeface="Arial" pitchFamily="34" charset="0"/>
                <a:ea typeface="Arial" pitchFamily="34" charset="-122"/>
                <a:cs typeface="Arial" pitchFamily="34" charset="-120"/>
              </a:rPr>
              <a:t>Le prix suit le nombre d'appareils qui comptent en même temps — la seule chose que vous puissiez vérifier vous-même. Ni le volume de votre stock, ni le nombre de comptes, ni le nombre d'inventaires dans l'année.</a:t>
            </a:r>
            <a:endParaRPr lang="en-US" sz="1150" dirty="0"/>
          </a:p>
        </p:txBody>
      </p:sp>
      <p:sp>
        <p:nvSpPr>
          <p:cNvPr id="8" name="Shape 5"/>
          <p:cNvSpPr/>
          <p:nvPr/>
        </p:nvSpPr>
        <p:spPr>
          <a:xfrm>
            <a:off x="731520" y="2331720"/>
            <a:ext cx="3404616" cy="2743200"/>
          </a:xfrm>
          <a:prstGeom prst="roundRect">
            <a:avLst>
              <a:gd name="adj" fmla="val 1333"/>
            </a:avLst>
          </a:prstGeom>
          <a:solidFill>
            <a:srgbClr val="F2F3F1"/>
          </a:solidFill>
          <a:ln w="12700">
            <a:solidFill>
              <a:srgbClr val="F2F3F1"/>
            </a:solidFill>
            <a:prstDash val="solid"/>
          </a:ln>
        </p:spPr>
      </p:sp>
      <p:sp>
        <p:nvSpPr>
          <p:cNvPr id="9" name="Text 6"/>
          <p:cNvSpPr/>
          <p:nvPr/>
        </p:nvSpPr>
        <p:spPr>
          <a:xfrm>
            <a:off x="987552" y="2825496"/>
            <a:ext cx="2892552" cy="347472"/>
          </a:xfrm>
          <a:prstGeom prst="rect">
            <a:avLst/>
          </a:prstGeom>
          <a:noFill/>
          <a:ln/>
        </p:spPr>
        <p:txBody>
          <a:bodyPr wrap="square" lIns="0" tIns="0" rIns="0" bIns="0" rtlCol="0" anchor="t"/>
          <a:lstStyle/>
          <a:p>
            <a:pPr indent="0" marL="0">
              <a:buNone/>
            </a:pPr>
            <a:r>
              <a:rPr lang="en-US" sz="1800" b="1" dirty="0">
                <a:solidFill>
                  <a:srgbClr val="14181A"/>
                </a:solidFill>
                <a:latin typeface="Arial" pitchFamily="34" charset="0"/>
                <a:ea typeface="Arial" pitchFamily="34" charset="-122"/>
                <a:cs typeface="Arial" pitchFamily="34" charset="-120"/>
              </a:rPr>
              <a:t>Essential</a:t>
            </a:r>
            <a:endParaRPr lang="en-US" sz="1800" dirty="0"/>
          </a:p>
        </p:txBody>
      </p:sp>
      <p:sp>
        <p:nvSpPr>
          <p:cNvPr id="10" name="Text 7"/>
          <p:cNvSpPr/>
          <p:nvPr/>
        </p:nvSpPr>
        <p:spPr>
          <a:xfrm>
            <a:off x="987552" y="3227832"/>
            <a:ext cx="2892552" cy="256032"/>
          </a:xfrm>
          <a:prstGeom prst="rect">
            <a:avLst/>
          </a:prstGeom>
          <a:noFill/>
          <a:ln/>
        </p:spPr>
        <p:txBody>
          <a:bodyPr wrap="square" lIns="0" tIns="0" rIns="0" bIns="0" rtlCol="0" anchor="t"/>
          <a:lstStyle/>
          <a:p>
            <a:pPr indent="0" marL="0">
              <a:buNone/>
            </a:pPr>
            <a:r>
              <a:rPr lang="en-US" sz="1100" b="1" dirty="0">
                <a:solidFill>
                  <a:srgbClr val="1E4D3B"/>
                </a:solidFill>
                <a:latin typeface="Arial" pitchFamily="34" charset="0"/>
                <a:ea typeface="Arial" pitchFamily="34" charset="-122"/>
                <a:cs typeface="Arial" pitchFamily="34" charset="-120"/>
              </a:rPr>
              <a:t>Jusqu’à 2 appareils</a:t>
            </a:r>
            <a:endParaRPr lang="en-US" sz="1100" dirty="0"/>
          </a:p>
        </p:txBody>
      </p:sp>
      <p:sp>
        <p:nvSpPr>
          <p:cNvPr id="11" name="Text 8"/>
          <p:cNvSpPr/>
          <p:nvPr/>
        </p:nvSpPr>
        <p:spPr>
          <a:xfrm>
            <a:off x="987552" y="3538728"/>
            <a:ext cx="2892552" cy="457200"/>
          </a:xfrm>
          <a:prstGeom prst="rect">
            <a:avLst/>
          </a:prstGeom>
          <a:noFill/>
          <a:ln/>
        </p:spPr>
        <p:txBody>
          <a:bodyPr wrap="square" lIns="0" tIns="0" rIns="0" bIns="0" rtlCol="0" anchor="t"/>
          <a:lstStyle/>
          <a:p>
            <a:pPr indent="0" marL="0">
              <a:lnSpc>
                <a:spcPct val="112000"/>
              </a:lnSpc>
              <a:buNone/>
            </a:pPr>
            <a:r>
              <a:rPr lang="en-US" sz="1000" dirty="0">
                <a:solidFill>
                  <a:srgbClr val="575F5C"/>
                </a:solidFill>
                <a:latin typeface="Arial" pitchFamily="34" charset="0"/>
                <a:ea typeface="Arial" pitchFamily="34" charset="-122"/>
                <a:cs typeface="Arial" pitchFamily="34" charset="-120"/>
              </a:rPr>
              <a:t>Vous comptez seul ou à deux, dans un magasin.</a:t>
            </a:r>
            <a:endParaRPr lang="en-US" sz="1000" dirty="0"/>
          </a:p>
        </p:txBody>
      </p:sp>
      <p:sp>
        <p:nvSpPr>
          <p:cNvPr id="12" name="Text 9"/>
          <p:cNvSpPr/>
          <p:nvPr/>
        </p:nvSpPr>
        <p:spPr>
          <a:xfrm>
            <a:off x="987552" y="4050792"/>
            <a:ext cx="2892552" cy="457200"/>
          </a:xfrm>
          <a:prstGeom prst="rect">
            <a:avLst/>
          </a:prstGeom>
          <a:noFill/>
          <a:ln/>
        </p:spPr>
        <p:txBody>
          <a:bodyPr wrap="square" lIns="0" tIns="0" rIns="0" bIns="0" rtlCol="0" anchor="b"/>
          <a:lstStyle/>
          <a:p>
            <a:pPr indent="0" marL="0">
              <a:buNone/>
            </a:pPr>
            <a:r>
              <a:rPr lang="en-US" sz="2600" b="1" dirty="0">
                <a:solidFill>
                  <a:srgbClr val="14181A"/>
                </a:solidFill>
                <a:latin typeface="Arial" pitchFamily="34" charset="0"/>
                <a:ea typeface="Arial" pitchFamily="34" charset="-122"/>
                <a:cs typeface="Arial" pitchFamily="34" charset="-120"/>
              </a:rPr>
              <a:t>89 €</a:t>
            </a:r>
            <a:pPr indent="0" marL="0">
              <a:buNone/>
            </a:pPr>
            <a:r>
              <a:rPr lang="en-US" sz="1050" dirty="0">
                <a:solidFill>
                  <a:srgbClr val="575F5C"/>
                </a:solidFill>
                <a:latin typeface="Arial" pitchFamily="34" charset="0"/>
                <a:ea typeface="Arial" pitchFamily="34" charset="-122"/>
                <a:cs typeface="Arial" pitchFamily="34" charset="-120"/>
              </a:rPr>
              <a:t>  HT / mois</a:t>
            </a:r>
            <a:endParaRPr lang="en-US" sz="2600" dirty="0"/>
          </a:p>
        </p:txBody>
      </p:sp>
      <p:sp>
        <p:nvSpPr>
          <p:cNvPr id="13" name="Text 10"/>
          <p:cNvSpPr/>
          <p:nvPr/>
        </p:nvSpPr>
        <p:spPr>
          <a:xfrm>
            <a:off x="987552" y="4507992"/>
            <a:ext cx="2892552" cy="274320"/>
          </a:xfrm>
          <a:prstGeom prst="rect">
            <a:avLst/>
          </a:prstGeom>
          <a:noFill/>
          <a:ln/>
        </p:spPr>
        <p:txBody>
          <a:bodyPr wrap="square" lIns="0" tIns="0" rIns="0" bIns="0" rtlCol="0" anchor="t"/>
          <a:lstStyle/>
          <a:p>
            <a:pPr indent="0" marL="0">
              <a:buNone/>
            </a:pPr>
            <a:r>
              <a:rPr lang="en-US" sz="950" dirty="0">
                <a:solidFill>
                  <a:srgbClr val="15704F"/>
                </a:solidFill>
                <a:latin typeface="Arial" pitchFamily="34" charset="0"/>
                <a:ea typeface="Arial" pitchFamily="34" charset="-122"/>
                <a:cs typeface="Arial" pitchFamily="34" charset="-120"/>
              </a:rPr>
              <a:t>ou 950 € à l’année — 118 € de moins</a:t>
            </a:r>
            <a:endParaRPr lang="en-US" sz="950" dirty="0"/>
          </a:p>
        </p:txBody>
      </p:sp>
      <p:sp>
        <p:nvSpPr>
          <p:cNvPr id="14" name="Shape 11"/>
          <p:cNvSpPr/>
          <p:nvPr/>
        </p:nvSpPr>
        <p:spPr>
          <a:xfrm>
            <a:off x="4392168" y="2331720"/>
            <a:ext cx="3404616" cy="2743200"/>
          </a:xfrm>
          <a:prstGeom prst="roundRect">
            <a:avLst>
              <a:gd name="adj" fmla="val 1333"/>
            </a:avLst>
          </a:prstGeom>
          <a:solidFill>
            <a:srgbClr val="E7EDE9"/>
          </a:solidFill>
          <a:ln w="15875">
            <a:solidFill>
              <a:srgbClr val="1E4D3B"/>
            </a:solidFill>
            <a:prstDash val="solid"/>
          </a:ln>
        </p:spPr>
      </p:sp>
      <p:sp>
        <p:nvSpPr>
          <p:cNvPr id="15" name="Text 12"/>
          <p:cNvSpPr/>
          <p:nvPr/>
        </p:nvSpPr>
        <p:spPr>
          <a:xfrm>
            <a:off x="4648200" y="2532888"/>
            <a:ext cx="2892552" cy="219456"/>
          </a:xfrm>
          <a:prstGeom prst="rect">
            <a:avLst/>
          </a:prstGeom>
          <a:noFill/>
          <a:ln/>
        </p:spPr>
        <p:txBody>
          <a:bodyPr wrap="square" lIns="0" tIns="0" rIns="0" bIns="0" rtlCol="0" anchor="t"/>
          <a:lstStyle/>
          <a:p>
            <a:pPr indent="0" marL="0">
              <a:buNone/>
            </a:pPr>
            <a:r>
              <a:rPr lang="en-US" sz="800" b="1" spc="60" kern="0" dirty="0">
                <a:solidFill>
                  <a:srgbClr val="1E4D3B"/>
                </a:solidFill>
                <a:latin typeface="Arial" pitchFamily="34" charset="0"/>
                <a:ea typeface="Arial" pitchFamily="34" charset="-122"/>
                <a:cs typeface="Arial" pitchFamily="34" charset="-120"/>
              </a:rPr>
              <a:t>LE PLUS COURANT</a:t>
            </a:r>
            <a:endParaRPr lang="en-US" sz="800" dirty="0"/>
          </a:p>
        </p:txBody>
      </p:sp>
      <p:sp>
        <p:nvSpPr>
          <p:cNvPr id="16" name="Text 13"/>
          <p:cNvSpPr/>
          <p:nvPr/>
        </p:nvSpPr>
        <p:spPr>
          <a:xfrm>
            <a:off x="4648200" y="2825496"/>
            <a:ext cx="2892552" cy="347472"/>
          </a:xfrm>
          <a:prstGeom prst="rect">
            <a:avLst/>
          </a:prstGeom>
          <a:noFill/>
          <a:ln/>
        </p:spPr>
        <p:txBody>
          <a:bodyPr wrap="square" lIns="0" tIns="0" rIns="0" bIns="0" rtlCol="0" anchor="t"/>
          <a:lstStyle/>
          <a:p>
            <a:pPr indent="0" marL="0">
              <a:buNone/>
            </a:pPr>
            <a:r>
              <a:rPr lang="en-US" sz="1800" b="1" dirty="0">
                <a:solidFill>
                  <a:srgbClr val="14181A"/>
                </a:solidFill>
                <a:latin typeface="Arial" pitchFamily="34" charset="0"/>
                <a:ea typeface="Arial" pitchFamily="34" charset="-122"/>
                <a:cs typeface="Arial" pitchFamily="34" charset="-120"/>
              </a:rPr>
              <a:t>Advanced</a:t>
            </a:r>
            <a:endParaRPr lang="en-US" sz="1800" dirty="0"/>
          </a:p>
        </p:txBody>
      </p:sp>
      <p:sp>
        <p:nvSpPr>
          <p:cNvPr id="17" name="Text 14"/>
          <p:cNvSpPr/>
          <p:nvPr/>
        </p:nvSpPr>
        <p:spPr>
          <a:xfrm>
            <a:off x="4648200" y="3227832"/>
            <a:ext cx="2892552" cy="256032"/>
          </a:xfrm>
          <a:prstGeom prst="rect">
            <a:avLst/>
          </a:prstGeom>
          <a:noFill/>
          <a:ln/>
        </p:spPr>
        <p:txBody>
          <a:bodyPr wrap="square" lIns="0" tIns="0" rIns="0" bIns="0" rtlCol="0" anchor="t"/>
          <a:lstStyle/>
          <a:p>
            <a:pPr indent="0" marL="0">
              <a:buNone/>
            </a:pPr>
            <a:r>
              <a:rPr lang="en-US" sz="1100" b="1" dirty="0">
                <a:solidFill>
                  <a:srgbClr val="1E4D3B"/>
                </a:solidFill>
                <a:latin typeface="Arial" pitchFamily="34" charset="0"/>
                <a:ea typeface="Arial" pitchFamily="34" charset="-122"/>
                <a:cs typeface="Arial" pitchFamily="34" charset="-120"/>
              </a:rPr>
              <a:t>Jusqu’à 20 appareils</a:t>
            </a:r>
            <a:endParaRPr lang="en-US" sz="1100" dirty="0"/>
          </a:p>
        </p:txBody>
      </p:sp>
      <p:sp>
        <p:nvSpPr>
          <p:cNvPr id="18" name="Text 15"/>
          <p:cNvSpPr/>
          <p:nvPr/>
        </p:nvSpPr>
        <p:spPr>
          <a:xfrm>
            <a:off x="4648200" y="3538728"/>
            <a:ext cx="2892552" cy="457200"/>
          </a:xfrm>
          <a:prstGeom prst="rect">
            <a:avLst/>
          </a:prstGeom>
          <a:noFill/>
          <a:ln/>
        </p:spPr>
        <p:txBody>
          <a:bodyPr wrap="square" lIns="0" tIns="0" rIns="0" bIns="0" rtlCol="0" anchor="t"/>
          <a:lstStyle/>
          <a:p>
            <a:pPr indent="0" marL="0">
              <a:lnSpc>
                <a:spcPct val="112000"/>
              </a:lnSpc>
              <a:buNone/>
            </a:pPr>
            <a:r>
              <a:rPr lang="en-US" sz="1000" dirty="0">
                <a:solidFill>
                  <a:srgbClr val="575F5C"/>
                </a:solidFill>
                <a:latin typeface="Arial" pitchFamily="34" charset="0"/>
                <a:ea typeface="Arial" pitchFamily="34" charset="-122"/>
                <a:cs typeface="Arial" pitchFamily="34" charset="-120"/>
              </a:rPr>
              <a:t>Vous montez une équipe le jour de l’inventaire.</a:t>
            </a:r>
            <a:endParaRPr lang="en-US" sz="1000" dirty="0"/>
          </a:p>
        </p:txBody>
      </p:sp>
      <p:sp>
        <p:nvSpPr>
          <p:cNvPr id="19" name="Text 16"/>
          <p:cNvSpPr/>
          <p:nvPr/>
        </p:nvSpPr>
        <p:spPr>
          <a:xfrm>
            <a:off x="4648200" y="4050792"/>
            <a:ext cx="2892552" cy="457200"/>
          </a:xfrm>
          <a:prstGeom prst="rect">
            <a:avLst/>
          </a:prstGeom>
          <a:noFill/>
          <a:ln/>
        </p:spPr>
        <p:txBody>
          <a:bodyPr wrap="square" lIns="0" tIns="0" rIns="0" bIns="0" rtlCol="0" anchor="b"/>
          <a:lstStyle/>
          <a:p>
            <a:pPr indent="0" marL="0">
              <a:buNone/>
            </a:pPr>
            <a:r>
              <a:rPr lang="en-US" sz="2600" b="1" dirty="0">
                <a:solidFill>
                  <a:srgbClr val="14181A"/>
                </a:solidFill>
                <a:latin typeface="Arial" pitchFamily="34" charset="0"/>
                <a:ea typeface="Arial" pitchFamily="34" charset="-122"/>
                <a:cs typeface="Arial" pitchFamily="34" charset="-120"/>
              </a:rPr>
              <a:t>310 €</a:t>
            </a:r>
            <a:pPr indent="0" marL="0">
              <a:buNone/>
            </a:pPr>
            <a:r>
              <a:rPr lang="en-US" sz="1050" dirty="0">
                <a:solidFill>
                  <a:srgbClr val="575F5C"/>
                </a:solidFill>
                <a:latin typeface="Arial" pitchFamily="34" charset="0"/>
                <a:ea typeface="Arial" pitchFamily="34" charset="-122"/>
                <a:cs typeface="Arial" pitchFamily="34" charset="-120"/>
              </a:rPr>
              <a:t>  HT / mois</a:t>
            </a:r>
            <a:endParaRPr lang="en-US" sz="2600" dirty="0"/>
          </a:p>
        </p:txBody>
      </p:sp>
      <p:sp>
        <p:nvSpPr>
          <p:cNvPr id="20" name="Text 17"/>
          <p:cNvSpPr/>
          <p:nvPr/>
        </p:nvSpPr>
        <p:spPr>
          <a:xfrm>
            <a:off x="4648200" y="4507992"/>
            <a:ext cx="2892552" cy="274320"/>
          </a:xfrm>
          <a:prstGeom prst="rect">
            <a:avLst/>
          </a:prstGeom>
          <a:noFill/>
          <a:ln/>
        </p:spPr>
        <p:txBody>
          <a:bodyPr wrap="square" lIns="0" tIns="0" rIns="0" bIns="0" rtlCol="0" anchor="t"/>
          <a:lstStyle/>
          <a:p>
            <a:pPr indent="0" marL="0">
              <a:buNone/>
            </a:pPr>
            <a:r>
              <a:rPr lang="en-US" sz="950" dirty="0">
                <a:solidFill>
                  <a:srgbClr val="15704F"/>
                </a:solidFill>
                <a:latin typeface="Arial" pitchFamily="34" charset="0"/>
                <a:ea typeface="Arial" pitchFamily="34" charset="-122"/>
                <a:cs typeface="Arial" pitchFamily="34" charset="-120"/>
              </a:rPr>
              <a:t>ou 3 300 € à l’année — 420 € de moins</a:t>
            </a:r>
            <a:endParaRPr lang="en-US" sz="950" dirty="0"/>
          </a:p>
        </p:txBody>
      </p:sp>
      <p:sp>
        <p:nvSpPr>
          <p:cNvPr id="21" name="Shape 18"/>
          <p:cNvSpPr/>
          <p:nvPr/>
        </p:nvSpPr>
        <p:spPr>
          <a:xfrm>
            <a:off x="8052816" y="2331720"/>
            <a:ext cx="3404616" cy="2743200"/>
          </a:xfrm>
          <a:prstGeom prst="roundRect">
            <a:avLst>
              <a:gd name="adj" fmla="val 1333"/>
            </a:avLst>
          </a:prstGeom>
          <a:solidFill>
            <a:srgbClr val="F2F3F1"/>
          </a:solidFill>
          <a:ln w="12700">
            <a:solidFill>
              <a:srgbClr val="F2F3F1"/>
            </a:solidFill>
            <a:prstDash val="solid"/>
          </a:ln>
        </p:spPr>
      </p:sp>
      <p:sp>
        <p:nvSpPr>
          <p:cNvPr id="22" name="Text 19"/>
          <p:cNvSpPr/>
          <p:nvPr/>
        </p:nvSpPr>
        <p:spPr>
          <a:xfrm>
            <a:off x="8308848" y="2825496"/>
            <a:ext cx="2892552" cy="347472"/>
          </a:xfrm>
          <a:prstGeom prst="rect">
            <a:avLst/>
          </a:prstGeom>
          <a:noFill/>
          <a:ln/>
        </p:spPr>
        <p:txBody>
          <a:bodyPr wrap="square" lIns="0" tIns="0" rIns="0" bIns="0" rtlCol="0" anchor="t"/>
          <a:lstStyle/>
          <a:p>
            <a:pPr indent="0" marL="0">
              <a:buNone/>
            </a:pPr>
            <a:r>
              <a:rPr lang="en-US" sz="1800" b="1" dirty="0">
                <a:solidFill>
                  <a:srgbClr val="14181A"/>
                </a:solidFill>
                <a:latin typeface="Arial" pitchFamily="34" charset="0"/>
                <a:ea typeface="Arial" pitchFamily="34" charset="-122"/>
                <a:cs typeface="Arial" pitchFamily="34" charset="-120"/>
              </a:rPr>
              <a:t>Enterprise</a:t>
            </a:r>
            <a:endParaRPr lang="en-US" sz="1800" dirty="0"/>
          </a:p>
        </p:txBody>
      </p:sp>
      <p:sp>
        <p:nvSpPr>
          <p:cNvPr id="23" name="Text 20"/>
          <p:cNvSpPr/>
          <p:nvPr/>
        </p:nvSpPr>
        <p:spPr>
          <a:xfrm>
            <a:off x="8308848" y="3227832"/>
            <a:ext cx="2892552" cy="256032"/>
          </a:xfrm>
          <a:prstGeom prst="rect">
            <a:avLst/>
          </a:prstGeom>
          <a:noFill/>
          <a:ln/>
        </p:spPr>
        <p:txBody>
          <a:bodyPr wrap="square" lIns="0" tIns="0" rIns="0" bIns="0" rtlCol="0" anchor="t"/>
          <a:lstStyle/>
          <a:p>
            <a:pPr indent="0" marL="0">
              <a:buNone/>
            </a:pPr>
            <a:r>
              <a:rPr lang="en-US" sz="1100" b="1" dirty="0">
                <a:solidFill>
                  <a:srgbClr val="1E4D3B"/>
                </a:solidFill>
                <a:latin typeface="Arial" pitchFamily="34" charset="0"/>
                <a:ea typeface="Arial" pitchFamily="34" charset="-122"/>
                <a:cs typeface="Arial" pitchFamily="34" charset="-120"/>
              </a:rPr>
              <a:t>Jusqu’à 100 appareils</a:t>
            </a:r>
            <a:endParaRPr lang="en-US" sz="1100" dirty="0"/>
          </a:p>
        </p:txBody>
      </p:sp>
      <p:sp>
        <p:nvSpPr>
          <p:cNvPr id="24" name="Text 21"/>
          <p:cNvSpPr/>
          <p:nvPr/>
        </p:nvSpPr>
        <p:spPr>
          <a:xfrm>
            <a:off x="8308848" y="3538728"/>
            <a:ext cx="2892552" cy="457200"/>
          </a:xfrm>
          <a:prstGeom prst="rect">
            <a:avLst/>
          </a:prstGeom>
          <a:noFill/>
          <a:ln/>
        </p:spPr>
        <p:txBody>
          <a:bodyPr wrap="square" lIns="0" tIns="0" rIns="0" bIns="0" rtlCol="0" anchor="t"/>
          <a:lstStyle/>
          <a:p>
            <a:pPr indent="0" marL="0">
              <a:lnSpc>
                <a:spcPct val="112000"/>
              </a:lnSpc>
              <a:buNone/>
            </a:pPr>
            <a:r>
              <a:rPr lang="en-US" sz="1000" dirty="0">
                <a:solidFill>
                  <a:srgbClr val="575F5C"/>
                </a:solidFill>
                <a:latin typeface="Arial" pitchFamily="34" charset="0"/>
                <a:ea typeface="Arial" pitchFamily="34" charset="-122"/>
                <a:cs typeface="Arial" pitchFamily="34" charset="-120"/>
              </a:rPr>
              <a:t>La grande surface, qui mobilise une équipe entière.</a:t>
            </a:r>
            <a:endParaRPr lang="en-US" sz="1000" dirty="0"/>
          </a:p>
        </p:txBody>
      </p:sp>
      <p:sp>
        <p:nvSpPr>
          <p:cNvPr id="25" name="Text 22"/>
          <p:cNvSpPr/>
          <p:nvPr/>
        </p:nvSpPr>
        <p:spPr>
          <a:xfrm>
            <a:off x="8308848" y="4050792"/>
            <a:ext cx="2892552" cy="457200"/>
          </a:xfrm>
          <a:prstGeom prst="rect">
            <a:avLst/>
          </a:prstGeom>
          <a:noFill/>
          <a:ln/>
        </p:spPr>
        <p:txBody>
          <a:bodyPr wrap="square" lIns="0" tIns="0" rIns="0" bIns="0" rtlCol="0" anchor="b"/>
          <a:lstStyle/>
          <a:p>
            <a:pPr indent="0" marL="0">
              <a:buNone/>
            </a:pPr>
            <a:r>
              <a:rPr lang="en-US" sz="2600" b="1" dirty="0">
                <a:solidFill>
                  <a:srgbClr val="14181A"/>
                </a:solidFill>
                <a:latin typeface="Arial" pitchFamily="34" charset="0"/>
                <a:ea typeface="Arial" pitchFamily="34" charset="-122"/>
                <a:cs typeface="Arial" pitchFamily="34" charset="-120"/>
              </a:rPr>
              <a:t>890 €</a:t>
            </a:r>
            <a:pPr indent="0" marL="0">
              <a:buNone/>
            </a:pPr>
            <a:r>
              <a:rPr lang="en-US" sz="1050" dirty="0">
                <a:solidFill>
                  <a:srgbClr val="575F5C"/>
                </a:solidFill>
                <a:latin typeface="Arial" pitchFamily="34" charset="0"/>
                <a:ea typeface="Arial" pitchFamily="34" charset="-122"/>
                <a:cs typeface="Arial" pitchFamily="34" charset="-120"/>
              </a:rPr>
              <a:t>  HT / mois</a:t>
            </a:r>
            <a:endParaRPr lang="en-US" sz="2600" dirty="0"/>
          </a:p>
        </p:txBody>
      </p:sp>
      <p:sp>
        <p:nvSpPr>
          <p:cNvPr id="26" name="Text 23"/>
          <p:cNvSpPr/>
          <p:nvPr/>
        </p:nvSpPr>
        <p:spPr>
          <a:xfrm>
            <a:off x="8308848" y="4507992"/>
            <a:ext cx="2892552" cy="274320"/>
          </a:xfrm>
          <a:prstGeom prst="rect">
            <a:avLst/>
          </a:prstGeom>
          <a:noFill/>
          <a:ln/>
        </p:spPr>
        <p:txBody>
          <a:bodyPr wrap="square" lIns="0" tIns="0" rIns="0" bIns="0" rtlCol="0" anchor="t"/>
          <a:lstStyle/>
          <a:p>
            <a:pPr indent="0" marL="0">
              <a:buNone/>
            </a:pPr>
            <a:r>
              <a:rPr lang="en-US" sz="950" dirty="0">
                <a:solidFill>
                  <a:srgbClr val="15704F"/>
                </a:solidFill>
                <a:latin typeface="Arial" pitchFamily="34" charset="0"/>
                <a:ea typeface="Arial" pitchFamily="34" charset="-122"/>
                <a:cs typeface="Arial" pitchFamily="34" charset="-120"/>
              </a:rPr>
              <a:t>ou 9 450 € à l’année — 1 230 € de moins</a:t>
            </a:r>
            <a:endParaRPr lang="en-US" sz="950" dirty="0"/>
          </a:p>
        </p:txBody>
      </p:sp>
      <p:sp>
        <p:nvSpPr>
          <p:cNvPr id="27" name="Shape 24"/>
          <p:cNvSpPr/>
          <p:nvPr/>
        </p:nvSpPr>
        <p:spPr>
          <a:xfrm>
            <a:off x="731520" y="5257800"/>
            <a:ext cx="10725912" cy="868680"/>
          </a:xfrm>
          <a:prstGeom prst="roundRect">
            <a:avLst>
              <a:gd name="adj" fmla="val 4211"/>
            </a:avLst>
          </a:prstGeom>
          <a:solidFill>
            <a:srgbClr val="F2F3F1"/>
          </a:solidFill>
          <a:ln w="12700">
            <a:solidFill>
              <a:srgbClr val="F2F3F1"/>
            </a:solidFill>
            <a:prstDash val="solid"/>
          </a:ln>
        </p:spPr>
      </p:sp>
      <p:sp>
        <p:nvSpPr>
          <p:cNvPr id="28" name="Text 25"/>
          <p:cNvSpPr/>
          <p:nvPr/>
        </p:nvSpPr>
        <p:spPr>
          <a:xfrm>
            <a:off x="1005840" y="5422392"/>
            <a:ext cx="10177272" cy="228600"/>
          </a:xfrm>
          <a:prstGeom prst="rect">
            <a:avLst/>
          </a:prstGeom>
          <a:noFill/>
          <a:ln/>
        </p:spPr>
        <p:txBody>
          <a:bodyPr wrap="square" lIns="0" tIns="0" rIns="0" bIns="0" rtlCol="0" anchor="t"/>
          <a:lstStyle/>
          <a:p>
            <a:pPr indent="0" marL="0">
              <a:buNone/>
            </a:pPr>
            <a:r>
              <a:rPr lang="en-US" sz="950" b="1" dirty="0">
                <a:solidFill>
                  <a:srgbClr val="575F5C"/>
                </a:solidFill>
                <a:latin typeface="Arial" pitchFamily="34" charset="0"/>
                <a:ea typeface="Arial" pitchFamily="34" charset="-122"/>
                <a:cs typeface="Arial" pitchFamily="34" charset="-120"/>
              </a:rPr>
              <a:t>Ce qui n’est pas dans ce prix, parce que ça n’existe pas</a:t>
            </a:r>
            <a:endParaRPr lang="en-US" sz="950" dirty="0"/>
          </a:p>
        </p:txBody>
      </p:sp>
      <p:sp>
        <p:nvSpPr>
          <p:cNvPr id="29" name="Text 26"/>
          <p:cNvSpPr/>
          <p:nvPr/>
        </p:nvSpPr>
        <p:spPr>
          <a:xfrm>
            <a:off x="1005840" y="5678424"/>
            <a:ext cx="10177272" cy="320040"/>
          </a:xfrm>
          <a:prstGeom prst="rect">
            <a:avLst/>
          </a:prstGeom>
          <a:noFill/>
          <a:ln/>
        </p:spPr>
        <p:txBody>
          <a:bodyPr wrap="square" lIns="0" tIns="0" rIns="0" bIns="0" rtlCol="0" anchor="t"/>
          <a:lstStyle/>
          <a:p>
            <a:pPr indent="0" marL="0">
              <a:lnSpc>
                <a:spcPct val="115000"/>
              </a:lnSpc>
              <a:buNone/>
            </a:pPr>
            <a:r>
              <a:rPr lang="en-US" sz="1150" i="1" dirty="0">
                <a:solidFill>
                  <a:srgbClr val="3A423F"/>
                </a:solidFill>
                <a:latin typeface="Arial" pitchFamily="34" charset="0"/>
                <a:ea typeface="Arial" pitchFamily="34" charset="-122"/>
                <a:cs typeface="Arial" pitchFamily="34" charset="-120"/>
              </a:rPr>
              <a:t>Aucun terminal, aucune installation, aucun serveur, aucun coût de mise en service. Vous souscrivez en ligne et vous comptez le jour même.</a:t>
            </a:r>
            <a:endParaRPr lang="en-US" sz="1150" dirty="0"/>
          </a:p>
        </p:txBody>
      </p:sp>
      <p:sp>
        <p:nvSpPr>
          <p:cNvPr id="30" name="Text 27"/>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Arial" pitchFamily="34" charset="0"/>
                <a:ea typeface="Arial" pitchFamily="34" charset="-122"/>
                <a:cs typeface="Arial" pitchFamily="34" charset="-120"/>
              </a:rPr>
              <a:t>Quantinvo · l’essentiel</a:t>
            </a:r>
            <a:endParaRPr lang="en-US" sz="900" dirty="0"/>
          </a:p>
        </p:txBody>
      </p:sp>
      <p:sp>
        <p:nvSpPr>
          <p:cNvPr id="31" name="Text 28"/>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Arial" pitchFamily="34" charset="0"/>
                <a:ea typeface="Arial" pitchFamily="34" charset="-122"/>
                <a:cs typeface="Arial"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ial" pitchFamily="34" charset="0"/>
                <a:ea typeface="Arial" pitchFamily="34" charset="-122"/>
                <a:cs typeface="Arial"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Arial" pitchFamily="34" charset="0"/>
                <a:ea typeface="Arial" pitchFamily="34" charset="-122"/>
                <a:cs typeface="Arial" pitchFamily="34" charset="-120"/>
              </a:rPr>
              <a:t>Pour être honnête</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325880"/>
            <a:ext cx="4206240" cy="2011680"/>
          </a:xfrm>
          <a:prstGeom prst="rect">
            <a:avLst/>
          </a:prstGeom>
          <a:noFill/>
          <a:ln/>
        </p:spPr>
        <p:txBody>
          <a:bodyPr wrap="square" lIns="0" tIns="0" rIns="0" bIns="0" rtlCol="0" anchor="t"/>
          <a:lstStyle/>
          <a:p>
            <a:pPr indent="0" marL="0">
              <a:lnSpc>
                <a:spcPct val="105000"/>
              </a:lnSpc>
              <a:buNone/>
            </a:pPr>
            <a:r>
              <a:rPr lang="en-US" sz="2600" b="1" dirty="0">
                <a:solidFill>
                  <a:srgbClr val="14181A"/>
                </a:solidFill>
                <a:latin typeface="Arial" pitchFamily="34" charset="0"/>
                <a:ea typeface="Arial" pitchFamily="34" charset="-122"/>
                <a:cs typeface="Arial" pitchFamily="34" charset="-120"/>
              </a:rPr>
              <a:t>Ce qu’un terminal durci fait mieux qu’un téléphone.</a:t>
            </a:r>
            <a:endParaRPr lang="en-US" sz="2600" dirty="0"/>
          </a:p>
        </p:txBody>
      </p:sp>
      <p:sp>
        <p:nvSpPr>
          <p:cNvPr id="7" name="Text 4"/>
          <p:cNvSpPr/>
          <p:nvPr/>
        </p:nvSpPr>
        <p:spPr>
          <a:xfrm>
            <a:off x="731520" y="3566160"/>
            <a:ext cx="4206240" cy="822960"/>
          </a:xfrm>
          <a:prstGeom prst="rect">
            <a:avLst/>
          </a:prstGeom>
          <a:noFill/>
          <a:ln/>
        </p:spPr>
        <p:txBody>
          <a:bodyPr wrap="square" lIns="0" tIns="0" rIns="0" bIns="0" rtlCol="0" anchor="t"/>
          <a:lstStyle/>
          <a:p>
            <a:pPr algn="l" indent="0" marL="0">
              <a:lnSpc>
                <a:spcPct val="118000"/>
              </a:lnSpc>
              <a:buNone/>
            </a:pPr>
            <a:r>
              <a:rPr lang="en-US" sz="1250" i="1" dirty="0">
                <a:solidFill>
                  <a:srgbClr val="575F5C"/>
                </a:solidFill>
                <a:latin typeface="Arial" pitchFamily="34" charset="0"/>
                <a:ea typeface="Arial" pitchFamily="34" charset="-122"/>
                <a:cs typeface="Arial" pitchFamily="34" charset="-120"/>
              </a:rPr>
              <a:t>Si on ne le dit pas nous-mêmes, quelqu'un le dira à notre place — et moins bien.</a:t>
            </a:r>
            <a:endParaRPr lang="en-US" sz="1250" dirty="0"/>
          </a:p>
        </p:txBody>
      </p:sp>
      <p:sp>
        <p:nvSpPr>
          <p:cNvPr id="8" name="Text 5"/>
          <p:cNvSpPr/>
          <p:nvPr/>
        </p:nvSpPr>
        <p:spPr>
          <a:xfrm>
            <a:off x="5394960" y="1371600"/>
            <a:ext cx="6062472" cy="4023360"/>
          </a:xfrm>
          <a:prstGeom prst="rect">
            <a:avLst/>
          </a:prstGeom>
          <a:noFill/>
          <a:ln/>
        </p:spPr>
        <p:txBody>
          <a:bodyPr wrap="square" lIns="0" tIns="0" rIns="0" bIns="0" rtlCol="0" anchor="t"/>
          <a:lstStyle/>
          <a:p>
            <a:pPr indent="0" marL="0">
              <a:lnSpc>
                <a:spcPct val="118000"/>
              </a:lnSpc>
              <a:spcAft>
                <a:spcPts val="1400"/>
              </a:spcAft>
              <a:buNone/>
            </a:pPr>
            <a:r>
              <a:rPr lang="en-US" sz="1300" b="1" dirty="0">
                <a:solidFill>
                  <a:srgbClr val="14181A"/>
                </a:solidFill>
                <a:latin typeface="Arial" pitchFamily="34" charset="0"/>
                <a:ea typeface="Arial" pitchFamily="34" charset="-122"/>
                <a:cs typeface="Arial" pitchFamily="34" charset="-120"/>
              </a:rPr>
              <a:t>Il encaisse les chocs. </a:t>
            </a:r>
            <a:pPr indent="0" marL="0">
              <a:lnSpc>
                <a:spcPct val="118000"/>
              </a:lnSpc>
              <a:spcAft>
                <a:spcPts val="1400"/>
              </a:spcAft>
              <a:buNone/>
            </a:pPr>
            <a:r>
              <a:rPr lang="en-US" sz="1300" dirty="0">
                <a:solidFill>
                  <a:srgbClr val="3A423F"/>
                </a:solidFill>
                <a:latin typeface="Arial" pitchFamily="34" charset="0"/>
                <a:ea typeface="Arial" pitchFamily="34" charset="-122"/>
                <a:cs typeface="Arial" pitchFamily="34" charset="-120"/>
              </a:rPr>
              <a:t>Une chute de deux mètres sur un sol de réserve, un écran gelé à −20 °C : un terminal durci est fait pour ça, un téléphone non. Dans une chambre froide ou sur un quai, l'argument est réel.</a:t>
            </a:r>
            <a:endParaRPr lang="en-US" sz="1300" dirty="0"/>
          </a:p>
          <a:p>
            <a:pPr indent="0" marL="0">
              <a:lnSpc>
                <a:spcPct val="118000"/>
              </a:lnSpc>
              <a:spcAft>
                <a:spcPts val="1400"/>
              </a:spcAft>
              <a:buNone/>
            </a:pPr>
            <a:r>
              <a:rPr lang="en-US" sz="1300" b="1" dirty="0">
                <a:solidFill>
                  <a:srgbClr val="14181A"/>
                </a:solidFill>
                <a:latin typeface="Arial" pitchFamily="34" charset="0"/>
                <a:ea typeface="Arial" pitchFamily="34" charset="-122"/>
                <a:cs typeface="Arial" pitchFamily="34" charset="-120"/>
              </a:rPr>
              <a:t>La batterie tient la journée entière. </a:t>
            </a:r>
            <a:pPr indent="0" marL="0">
              <a:lnSpc>
                <a:spcPct val="118000"/>
              </a:lnSpc>
              <a:spcAft>
                <a:spcPts val="1400"/>
              </a:spcAft>
              <a:buNone/>
            </a:pPr>
            <a:r>
              <a:rPr lang="en-US" sz="1300" dirty="0">
                <a:solidFill>
                  <a:srgbClr val="3A423F"/>
                </a:solidFill>
                <a:latin typeface="Arial" pitchFamily="34" charset="0"/>
                <a:ea typeface="Arial" pitchFamily="34" charset="-122"/>
                <a:cs typeface="Arial" pitchFamily="34" charset="-120"/>
              </a:rPr>
              <a:t>Un comptage de huit heures caméra allumée vide un téléphone. On compte par sessions, ou on prévoit des batteries externes — ce n'est pas gratuit, c'est juste beaucoup moins cher qu'une flotte.</a:t>
            </a:r>
            <a:endParaRPr lang="en-US" sz="1300" dirty="0"/>
          </a:p>
          <a:p>
            <a:pPr indent="0" marL="0">
              <a:lnSpc>
                <a:spcPct val="118000"/>
              </a:lnSpc>
              <a:spcAft>
                <a:spcPts val="1400"/>
              </a:spcAft>
              <a:buNone/>
            </a:pPr>
            <a:r>
              <a:rPr lang="en-US" sz="1300" b="1" dirty="0">
                <a:solidFill>
                  <a:srgbClr val="14181A"/>
                </a:solidFill>
                <a:latin typeface="Arial" pitchFamily="34" charset="0"/>
                <a:ea typeface="Arial" pitchFamily="34" charset="-122"/>
                <a:cs typeface="Arial" pitchFamily="34" charset="-120"/>
              </a:rPr>
              <a:t>Une flotte déjà amortie ne coûte plus rien. </a:t>
            </a:r>
            <a:pPr indent="0" marL="0">
              <a:lnSpc>
                <a:spcPct val="118000"/>
              </a:lnSpc>
              <a:spcAft>
                <a:spcPts val="1400"/>
              </a:spcAft>
              <a:buNone/>
            </a:pPr>
            <a:r>
              <a:rPr lang="en-US" sz="1300" dirty="0">
                <a:solidFill>
                  <a:srgbClr val="3A423F"/>
                </a:solidFill>
                <a:latin typeface="Arial" pitchFamily="34" charset="0"/>
                <a:ea typeface="Arial" pitchFamily="34" charset="-122"/>
                <a:cs typeface="Arial" pitchFamily="34" charset="-120"/>
              </a:rPr>
              <a:t>Si vos terminaux sont payés et fonctionnent, l'économie de matériel ne joue pas. Les autres arguments restent : la prise en main sans briefing, les comptages illimités, la réconciliation qui disparaît.</a:t>
            </a:r>
            <a:endParaRPr lang="en-US" sz="1300" dirty="0"/>
          </a:p>
        </p:txBody>
      </p:sp>
      <p:sp>
        <p:nvSpPr>
          <p:cNvPr id="9" name="Shape 6"/>
          <p:cNvSpPr/>
          <p:nvPr/>
        </p:nvSpPr>
        <p:spPr>
          <a:xfrm>
            <a:off x="5394960" y="5120640"/>
            <a:ext cx="6062472" cy="1005840"/>
          </a:xfrm>
          <a:prstGeom prst="roundRect">
            <a:avLst>
              <a:gd name="adj" fmla="val 3636"/>
            </a:avLst>
          </a:prstGeom>
          <a:solidFill>
            <a:srgbClr val="E7EDE9"/>
          </a:solidFill>
          <a:ln w="12700">
            <a:solidFill>
              <a:srgbClr val="E7EDE9"/>
            </a:solidFill>
            <a:prstDash val="solid"/>
          </a:ln>
        </p:spPr>
      </p:sp>
      <p:sp>
        <p:nvSpPr>
          <p:cNvPr id="10" name="Text 7"/>
          <p:cNvSpPr/>
          <p:nvPr/>
        </p:nvSpPr>
        <p:spPr>
          <a:xfrm>
            <a:off x="5669280" y="5285232"/>
            <a:ext cx="5513832" cy="228600"/>
          </a:xfrm>
          <a:prstGeom prst="rect">
            <a:avLst/>
          </a:prstGeom>
          <a:noFill/>
          <a:ln/>
        </p:spPr>
        <p:txBody>
          <a:bodyPr wrap="square" lIns="0" tIns="0" rIns="0" bIns="0" rtlCol="0" anchor="t"/>
          <a:lstStyle/>
          <a:p>
            <a:pPr indent="0" marL="0">
              <a:buNone/>
            </a:pPr>
            <a:r>
              <a:rPr lang="en-US" sz="950" b="1" dirty="0">
                <a:solidFill>
                  <a:srgbClr val="575F5C"/>
                </a:solidFill>
                <a:latin typeface="Arial" pitchFamily="34" charset="0"/>
                <a:ea typeface="Arial" pitchFamily="34" charset="-122"/>
                <a:cs typeface="Arial" pitchFamily="34" charset="-120"/>
              </a:rPr>
              <a:t>Ce qui ne bouge pas</a:t>
            </a:r>
            <a:endParaRPr lang="en-US" sz="950" dirty="0"/>
          </a:p>
        </p:txBody>
      </p:sp>
      <p:sp>
        <p:nvSpPr>
          <p:cNvPr id="11" name="Text 8"/>
          <p:cNvSpPr/>
          <p:nvPr/>
        </p:nvSpPr>
        <p:spPr>
          <a:xfrm>
            <a:off x="5669280" y="5541264"/>
            <a:ext cx="5513832" cy="457200"/>
          </a:xfrm>
          <a:prstGeom prst="rect">
            <a:avLst/>
          </a:prstGeom>
          <a:noFill/>
          <a:ln/>
        </p:spPr>
        <p:txBody>
          <a:bodyPr wrap="square" lIns="0" tIns="0" rIns="0" bIns="0" rtlCol="0" anchor="t"/>
          <a:lstStyle/>
          <a:p>
            <a:pPr indent="0" marL="0">
              <a:lnSpc>
                <a:spcPct val="115000"/>
              </a:lnSpc>
              <a:buNone/>
            </a:pPr>
            <a:r>
              <a:rPr lang="en-US" sz="1150" i="1" dirty="0">
                <a:solidFill>
                  <a:srgbClr val="3A423F"/>
                </a:solidFill>
                <a:latin typeface="Arial" pitchFamily="34" charset="0"/>
                <a:ea typeface="Arial" pitchFamily="34" charset="-122"/>
                <a:cs typeface="Arial" pitchFamily="34" charset="-120"/>
              </a:rPr>
              <a:t>Un outil expert suppose un service expert pour le servir. C'est ce qui empêche de confier l'inventaire aux équipes de vente — et c'est précisément ce que nous rendons possible.</a:t>
            </a:r>
            <a:endParaRPr lang="en-US" sz="1150" dirty="0"/>
          </a:p>
        </p:txBody>
      </p:sp>
      <p:sp>
        <p:nvSpPr>
          <p:cNvPr id="12" name="Text 9"/>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Arial" pitchFamily="34" charset="0"/>
                <a:ea typeface="Arial" pitchFamily="34" charset="-122"/>
                <a:cs typeface="Arial" pitchFamily="34" charset="-120"/>
              </a:rPr>
              <a:t>Quantinvo · l’essentiel</a:t>
            </a:r>
            <a:endParaRPr lang="en-US" sz="900" dirty="0"/>
          </a:p>
        </p:txBody>
      </p:sp>
      <p:sp>
        <p:nvSpPr>
          <p:cNvPr id="13" name="Text 10"/>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Arial" pitchFamily="34" charset="0"/>
                <a:ea typeface="Arial" pitchFamily="34" charset="-122"/>
                <a:cs typeface="Arial"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ial" pitchFamily="34" charset="0"/>
                <a:ea typeface="Arial" pitchFamily="34" charset="-122"/>
                <a:cs typeface="Arial"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Arial" pitchFamily="34" charset="0"/>
                <a:ea typeface="Arial" pitchFamily="34" charset="-122"/>
                <a:cs typeface="Arial" pitchFamily="34" charset="-120"/>
              </a:rPr>
              <a:t>Pour être clair</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325880"/>
            <a:ext cx="4206240" cy="2011680"/>
          </a:xfrm>
          <a:prstGeom prst="rect">
            <a:avLst/>
          </a:prstGeom>
          <a:noFill/>
          <a:ln/>
        </p:spPr>
        <p:txBody>
          <a:bodyPr wrap="square" lIns="0" tIns="0" rIns="0" bIns="0" rtlCol="0" anchor="t"/>
          <a:lstStyle/>
          <a:p>
            <a:pPr indent="0" marL="0">
              <a:lnSpc>
                <a:spcPct val="105000"/>
              </a:lnSpc>
              <a:buNone/>
            </a:pPr>
            <a:r>
              <a:rPr lang="en-US" sz="2600" b="1" dirty="0">
                <a:solidFill>
                  <a:srgbClr val="14181A"/>
                </a:solidFill>
                <a:latin typeface="Arial" pitchFamily="34" charset="0"/>
                <a:ea typeface="Arial" pitchFamily="34" charset="-122"/>
                <a:cs typeface="Arial" pitchFamily="34" charset="-120"/>
              </a:rPr>
              <a:t>Ce qu’on ne vous promet pas.</a:t>
            </a:r>
            <a:endParaRPr lang="en-US" sz="2600" dirty="0"/>
          </a:p>
        </p:txBody>
      </p:sp>
      <p:sp>
        <p:nvSpPr>
          <p:cNvPr id="7" name="Text 4"/>
          <p:cNvSpPr/>
          <p:nvPr/>
        </p:nvSpPr>
        <p:spPr>
          <a:xfrm>
            <a:off x="731520" y="3291840"/>
            <a:ext cx="4206240" cy="548640"/>
          </a:xfrm>
          <a:prstGeom prst="rect">
            <a:avLst/>
          </a:prstGeom>
          <a:noFill/>
          <a:ln/>
        </p:spPr>
        <p:txBody>
          <a:bodyPr wrap="square" lIns="0" tIns="0" rIns="0" bIns="0" rtlCol="0" anchor="t"/>
          <a:lstStyle/>
          <a:p>
            <a:pPr algn="l" indent="0" marL="0">
              <a:lnSpc>
                <a:spcPct val="118000"/>
              </a:lnSpc>
              <a:buNone/>
            </a:pPr>
            <a:r>
              <a:rPr lang="en-US" sz="1250" i="1" dirty="0">
                <a:solidFill>
                  <a:srgbClr val="575F5C"/>
                </a:solidFill>
                <a:latin typeface="Arial" pitchFamily="34" charset="0"/>
                <a:ea typeface="Arial" pitchFamily="34" charset="-122"/>
                <a:cs typeface="Arial" pitchFamily="34" charset="-120"/>
              </a:rPr>
              <a:t>Autant le dire avant la démonstration qu’après.</a:t>
            </a:r>
            <a:endParaRPr lang="en-US" sz="1250" dirty="0"/>
          </a:p>
        </p:txBody>
      </p:sp>
      <p:sp>
        <p:nvSpPr>
          <p:cNvPr id="8" name="Text 5"/>
          <p:cNvSpPr/>
          <p:nvPr/>
        </p:nvSpPr>
        <p:spPr>
          <a:xfrm>
            <a:off x="5394960" y="1371600"/>
            <a:ext cx="6062472" cy="4389120"/>
          </a:xfrm>
          <a:prstGeom prst="rect">
            <a:avLst/>
          </a:prstGeom>
          <a:noFill/>
          <a:ln/>
        </p:spPr>
        <p:txBody>
          <a:bodyPr wrap="square" lIns="0" tIns="0" rIns="0" bIns="0" rtlCol="0" anchor="t"/>
          <a:lstStyle/>
          <a:p>
            <a:pPr indent="0" marL="0">
              <a:lnSpc>
                <a:spcPct val="118000"/>
              </a:lnSpc>
              <a:spcAft>
                <a:spcPts val="1300"/>
              </a:spcAft>
              <a:buNone/>
            </a:pPr>
            <a:r>
              <a:rPr lang="en-US" sz="1300" b="1" dirty="0">
                <a:solidFill>
                  <a:srgbClr val="14181A"/>
                </a:solidFill>
                <a:latin typeface="Arial" pitchFamily="34" charset="0"/>
                <a:ea typeface="Arial" pitchFamily="34" charset="-122"/>
                <a:cs typeface="Arial" pitchFamily="34" charset="-120"/>
              </a:rPr>
              <a:t>L'inventaire fiscal certifié. </a:t>
            </a:r>
            <a:pPr indent="0" marL="0">
              <a:lnSpc>
                <a:spcPct val="118000"/>
              </a:lnSpc>
              <a:spcAft>
                <a:spcPts val="1300"/>
              </a:spcAft>
              <a:buNone/>
            </a:pPr>
            <a:r>
              <a:rPr lang="en-US" sz="1300" dirty="0">
                <a:solidFill>
                  <a:srgbClr val="3A423F"/>
                </a:solidFill>
                <a:latin typeface="Arial" pitchFamily="34" charset="0"/>
                <a:ea typeface="Arial" pitchFamily="34" charset="-122"/>
                <a:cs typeface="Arial" pitchFamily="34" charset="-120"/>
              </a:rPr>
              <a:t>Si votre commissaire aux comptes exige un comptage par un tiers, ce comptage reste. Quantinvo fait tout le reste de l'année, et il le prépare.</a:t>
            </a:r>
            <a:endParaRPr lang="en-US" sz="1300" dirty="0"/>
          </a:p>
          <a:p>
            <a:pPr indent="0" marL="0">
              <a:lnSpc>
                <a:spcPct val="118000"/>
              </a:lnSpc>
              <a:spcAft>
                <a:spcPts val="1300"/>
              </a:spcAft>
              <a:buNone/>
            </a:pPr>
            <a:r>
              <a:rPr lang="en-US" sz="1300" b="1" dirty="0">
                <a:solidFill>
                  <a:srgbClr val="14181A"/>
                </a:solidFill>
                <a:latin typeface="Arial" pitchFamily="34" charset="0"/>
                <a:ea typeface="Arial" pitchFamily="34" charset="-122"/>
                <a:cs typeface="Arial" pitchFamily="34" charset="-120"/>
              </a:rPr>
              <a:t>Une connexion à votre ERP. </a:t>
            </a:r>
            <a:pPr indent="0" marL="0">
              <a:lnSpc>
                <a:spcPct val="118000"/>
              </a:lnSpc>
              <a:spcAft>
                <a:spcPts val="1300"/>
              </a:spcAft>
              <a:buNone/>
            </a:pPr>
            <a:r>
              <a:rPr lang="en-US" sz="1300" dirty="0">
                <a:solidFill>
                  <a:srgbClr val="3A423F"/>
                </a:solidFill>
                <a:latin typeface="Arial" pitchFamily="34" charset="0"/>
                <a:ea typeface="Arial" pitchFamily="34" charset="-122"/>
                <a:cs typeface="Arial" pitchFamily="34" charset="-120"/>
              </a:rPr>
              <a:t>Pas encore. Quantinvo importe vos fichiers et rend un Excel. C'est ce qui permet de démarrer en une journée, sans projet informatique.</a:t>
            </a:r>
            <a:endParaRPr lang="en-US" sz="1300" dirty="0"/>
          </a:p>
          <a:p>
            <a:pPr indent="0" marL="0">
              <a:lnSpc>
                <a:spcPct val="118000"/>
              </a:lnSpc>
              <a:spcAft>
                <a:spcPts val="1300"/>
              </a:spcAft>
              <a:buNone/>
            </a:pPr>
            <a:r>
              <a:rPr lang="en-US" sz="1300" b="1" dirty="0">
                <a:solidFill>
                  <a:srgbClr val="14181A"/>
                </a:solidFill>
                <a:latin typeface="Arial" pitchFamily="34" charset="0"/>
                <a:ea typeface="Arial" pitchFamily="34" charset="-122"/>
                <a:cs typeface="Arial" pitchFamily="34" charset="-120"/>
              </a:rPr>
              <a:t>Android sur les boutiques. </a:t>
            </a:r>
            <a:pPr indent="0" marL="0">
              <a:lnSpc>
                <a:spcPct val="118000"/>
              </a:lnSpc>
              <a:spcAft>
                <a:spcPts val="1300"/>
              </a:spcAft>
              <a:buNone/>
            </a:pPr>
            <a:r>
              <a:rPr lang="en-US" sz="1300" dirty="0">
                <a:solidFill>
                  <a:srgbClr val="3A423F"/>
                </a:solidFill>
                <a:latin typeface="Arial" pitchFamily="34" charset="0"/>
                <a:ea typeface="Arial" pitchFamily="34" charset="-122"/>
                <a:cs typeface="Arial" pitchFamily="34" charset="-120"/>
              </a:rPr>
              <a:t>L'application tourne sur Android, et elle est disponible sur iPhone. La mise en ligne sur Google Play est en cours ; d'ici là, l'installation passe par votre catalogue d'entreprise.</a:t>
            </a:r>
            <a:endParaRPr lang="en-US" sz="1300" dirty="0"/>
          </a:p>
          <a:p>
            <a:pPr indent="0" marL="0">
              <a:lnSpc>
                <a:spcPct val="118000"/>
              </a:lnSpc>
              <a:spcAft>
                <a:spcPts val="1300"/>
              </a:spcAft>
              <a:buNone/>
            </a:pPr>
            <a:r>
              <a:rPr lang="en-US" sz="1300" b="1" dirty="0">
                <a:solidFill>
                  <a:srgbClr val="14181A"/>
                </a:solidFill>
                <a:latin typeface="Arial" pitchFamily="34" charset="0"/>
                <a:ea typeface="Arial" pitchFamily="34" charset="-122"/>
                <a:cs typeface="Arial" pitchFamily="34" charset="-120"/>
              </a:rPr>
              <a:t>La connexion par votre annuaire. </a:t>
            </a:r>
            <a:pPr indent="0" marL="0">
              <a:lnSpc>
                <a:spcPct val="118000"/>
              </a:lnSpc>
              <a:spcAft>
                <a:spcPts val="1300"/>
              </a:spcAft>
              <a:buNone/>
            </a:pPr>
            <a:r>
              <a:rPr lang="en-US" sz="1300" dirty="0">
                <a:solidFill>
                  <a:srgbClr val="3A423F"/>
                </a:solidFill>
                <a:latin typeface="Arial" pitchFamily="34" charset="0"/>
                <a:ea typeface="Arial" pitchFamily="34" charset="-122"/>
                <a:cs typeface="Arial" pitchFamily="34" charset="-120"/>
              </a:rPr>
              <a:t>Les comptes sont nominatifs, créés par invitation. Pas de SAML ni d'Entra ID pour l'instant ; dites-nous si c'est une exigence.</a:t>
            </a:r>
            <a:endParaRPr lang="en-US" sz="1300" dirty="0"/>
          </a:p>
        </p:txBody>
      </p:sp>
      <p:sp>
        <p:nvSpPr>
          <p:cNvPr id="9" name="Text 6"/>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Arial" pitchFamily="34" charset="0"/>
                <a:ea typeface="Arial" pitchFamily="34" charset="-122"/>
                <a:cs typeface="Arial" pitchFamily="34" charset="-120"/>
              </a:rPr>
              <a:t>Quantinvo · l’essentiel</a:t>
            </a:r>
            <a:endParaRPr lang="en-US" sz="900" dirty="0"/>
          </a:p>
        </p:txBody>
      </p:sp>
      <p:sp>
        <p:nvSpPr>
          <p:cNvPr id="10" name="Text 7"/>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Arial" pitchFamily="34" charset="0"/>
                <a:ea typeface="Arial" pitchFamily="34" charset="-122"/>
                <a:cs typeface="Arial"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685800"/>
            <a:ext cx="566928" cy="566928"/>
          </a:xfrm>
          <a:prstGeom prst="rect">
            <a:avLst/>
          </a:prstGeom>
        </p:spPr>
      </p:pic>
      <p:sp>
        <p:nvSpPr>
          <p:cNvPr id="3" name="Text 0"/>
          <p:cNvSpPr/>
          <p:nvPr/>
        </p:nvSpPr>
        <p:spPr>
          <a:xfrm>
            <a:off x="1444752" y="658368"/>
            <a:ext cx="4572000" cy="621792"/>
          </a:xfrm>
          <a:prstGeom prst="rect">
            <a:avLst/>
          </a:prstGeom>
          <a:noFill/>
          <a:ln/>
        </p:spPr>
        <p:txBody>
          <a:bodyPr wrap="square" lIns="0" tIns="0" rIns="0" bIns="0" rtlCol="0" anchor="ctr"/>
          <a:lstStyle/>
          <a:p>
            <a:pPr indent="0" marL="0">
              <a:buNone/>
            </a:pPr>
            <a:r>
              <a:rPr lang="en-US" sz="2400" b="1" dirty="0">
                <a:solidFill>
                  <a:srgbClr val="14181A"/>
                </a:solidFill>
                <a:latin typeface="Arial" pitchFamily="34" charset="0"/>
                <a:ea typeface="Arial" pitchFamily="34" charset="-122"/>
                <a:cs typeface="Arial" pitchFamily="34" charset="-120"/>
              </a:rPr>
              <a:t>Quantinvo</a:t>
            </a:r>
            <a:endParaRPr lang="en-US" sz="2400" dirty="0"/>
          </a:p>
        </p:txBody>
      </p:sp>
      <p:sp>
        <p:nvSpPr>
          <p:cNvPr id="4" name="Shape 1"/>
          <p:cNvSpPr/>
          <p:nvPr/>
        </p:nvSpPr>
        <p:spPr>
          <a:xfrm>
            <a:off x="731520" y="1481328"/>
            <a:ext cx="2011680" cy="20117"/>
          </a:xfrm>
          <a:prstGeom prst="rect">
            <a:avLst/>
          </a:prstGeom>
          <a:solidFill>
            <a:srgbClr val="14181A"/>
          </a:solidFill>
          <a:ln w="12700">
            <a:solidFill>
              <a:srgbClr val="14181A"/>
            </a:solidFill>
            <a:prstDash val="solid"/>
          </a:ln>
        </p:spPr>
      </p:sp>
      <p:sp>
        <p:nvSpPr>
          <p:cNvPr id="5" name="Text 2"/>
          <p:cNvSpPr/>
          <p:nvPr/>
        </p:nvSpPr>
        <p:spPr>
          <a:xfrm>
            <a:off x="731520" y="2377440"/>
            <a:ext cx="8686800" cy="1188720"/>
          </a:xfrm>
          <a:prstGeom prst="rect">
            <a:avLst/>
          </a:prstGeom>
          <a:noFill/>
          <a:ln/>
        </p:spPr>
        <p:txBody>
          <a:bodyPr wrap="square" lIns="0" tIns="0" rIns="0" bIns="0" rtlCol="0" anchor="t"/>
          <a:lstStyle/>
          <a:p>
            <a:pPr indent="0" marL="0">
              <a:lnSpc>
                <a:spcPct val="105000"/>
              </a:lnSpc>
              <a:buNone/>
            </a:pPr>
            <a:r>
              <a:rPr lang="en-US" sz="3600" b="1" dirty="0">
                <a:solidFill>
                  <a:srgbClr val="14181A"/>
                </a:solidFill>
                <a:latin typeface="Arial" pitchFamily="34" charset="0"/>
                <a:ea typeface="Arial" pitchFamily="34" charset="-122"/>
                <a:cs typeface="Arial" pitchFamily="34" charset="-120"/>
              </a:rPr>
              <a:t>Un rayon, un mardi matin.</a:t>
            </a:r>
            <a:endParaRPr lang="en-US" sz="3600" dirty="0"/>
          </a:p>
        </p:txBody>
      </p:sp>
      <p:sp>
        <p:nvSpPr>
          <p:cNvPr id="6" name="Text 3"/>
          <p:cNvSpPr/>
          <p:nvPr/>
        </p:nvSpPr>
        <p:spPr>
          <a:xfrm>
            <a:off x="731520" y="3657600"/>
            <a:ext cx="7315200" cy="1188720"/>
          </a:xfrm>
          <a:prstGeom prst="rect">
            <a:avLst/>
          </a:prstGeom>
          <a:noFill/>
          <a:ln/>
        </p:spPr>
        <p:txBody>
          <a:bodyPr wrap="square" lIns="0" tIns="0" rIns="0" bIns="0" rtlCol="0" anchor="t"/>
          <a:lstStyle/>
          <a:p>
            <a:pPr indent="0" marL="0">
              <a:lnSpc>
                <a:spcPct val="120000"/>
              </a:lnSpc>
              <a:buNone/>
            </a:pPr>
            <a:r>
              <a:rPr lang="en-US" sz="1450" dirty="0">
                <a:solidFill>
                  <a:srgbClr val="3A423F"/>
                </a:solidFill>
                <a:latin typeface="Arial" pitchFamily="34" charset="0"/>
                <a:ea typeface="Arial" pitchFamily="34" charset="-122"/>
                <a:cs typeface="Arial" pitchFamily="34" charset="-120"/>
              </a:rPr>
              <a:t>Venez avec votre stock théorique : vous l'importez, deux personnes de votre équipe balisent un rayon et le comptent, et vous repartez avec le rapport. Trente minutes, sur vos données, sans rien installer.</a:t>
            </a:r>
            <a:endParaRPr lang="en-US" sz="1450" dirty="0"/>
          </a:p>
        </p:txBody>
      </p:sp>
      <p:sp>
        <p:nvSpPr>
          <p:cNvPr id="7" name="Text 4"/>
          <p:cNvSpPr/>
          <p:nvPr/>
        </p:nvSpPr>
        <p:spPr>
          <a:xfrm>
            <a:off x="731520" y="5029200"/>
            <a:ext cx="8229600" cy="411480"/>
          </a:xfrm>
          <a:prstGeom prst="rect">
            <a:avLst/>
          </a:prstGeom>
          <a:noFill/>
          <a:ln/>
        </p:spPr>
        <p:txBody>
          <a:bodyPr wrap="square" lIns="0" tIns="0" rIns="0" bIns="0" rtlCol="0" anchor="t"/>
          <a:lstStyle/>
          <a:p>
            <a:pPr indent="0" marL="0">
              <a:buNone/>
            </a:pPr>
            <a:r>
              <a:rPr lang="en-US" sz="1500" b="1" dirty="0">
                <a:solidFill>
                  <a:srgbClr val="14181A"/>
                </a:solidFill>
                <a:latin typeface="Arial" pitchFamily="34" charset="0"/>
                <a:ea typeface="Arial" pitchFamily="34" charset="-122"/>
                <a:cs typeface="Arial" pitchFamily="34" charset="-120"/>
              </a:rPr>
              <a:t>contact@quantinvo.com   ·   www.quantinvo.com</a:t>
            </a:r>
            <a:endParaRPr lang="en-US" sz="1500" dirty="0"/>
          </a:p>
        </p:txBody>
      </p:sp>
      <p:sp>
        <p:nvSpPr>
          <p:cNvPr id="8" name="Text 5"/>
          <p:cNvSpPr/>
          <p:nvPr/>
        </p:nvSpPr>
        <p:spPr>
          <a:xfrm>
            <a:off x="731520" y="6080760"/>
            <a:ext cx="9144000" cy="320040"/>
          </a:xfrm>
          <a:prstGeom prst="rect">
            <a:avLst/>
          </a:prstGeom>
          <a:noFill/>
          <a:ln/>
        </p:spPr>
        <p:txBody>
          <a:bodyPr wrap="square" lIns="0" tIns="0" rIns="0" bIns="0" rtlCol="0" anchor="t"/>
          <a:lstStyle/>
          <a:p>
            <a:pPr indent="0" marL="0">
              <a:buNone/>
            </a:pPr>
            <a:r>
              <a:rPr lang="en-US" sz="1050" dirty="0">
                <a:solidFill>
                  <a:srgbClr val="575F5C"/>
                </a:solidFill>
                <a:latin typeface="Arial" pitchFamily="34" charset="0"/>
                <a:ea typeface="Arial" pitchFamily="34" charset="-122"/>
                <a:cs typeface="Arial" pitchFamily="34" charset="-120"/>
              </a:rPr>
              <a:t>Quantinvo, par Devkaylab. L’outil d’inventaire pour le commerce.</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Devkaylab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Quantinvo — l’essentiel</dc:title>
  <dc:subject>PptxGenJS Presentation</dc:subject>
  <dc:creator>Devkaylab</dc:creator>
  <cp:lastModifiedBy>Devkaylab</cp:lastModifiedBy>
  <cp:revision>1</cp:revision>
  <dcterms:created xsi:type="dcterms:W3CDTF">2026-09-11T14:01:55Z</dcterms:created>
  <dcterms:modified xsi:type="dcterms:W3CDTF">2026-09-11T14:01:55Z</dcterms:modified>
</cp:coreProperties>
</file>