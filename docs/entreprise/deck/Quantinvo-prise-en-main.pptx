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guide se remet au client après la signature, avec le plan de déploiement. La partie compteur tient en trois pages : c'est voulu, elle peut être imprimée seule.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administrateur d'entreprise est aussi superviseur de tous les magasins. Dans une petite structure, c'est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de mot de passe est celle du serveur : inutile de la contourner, la saisie est refusée. Le dépannage d'un second facteur perdu passe par nous, via l'administrateur.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planche se dessine sur le téléphone ou l'ordinateur et part à l'impression : rien n'est enregistré côté serveur. Si on change de téléphone, on réimprime, les balises collées restent valables.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la création, l'écran enchaîne sur Set up : zones, puis fichiers. C'est la page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clé : on n'a pas à retravailler ses fichiers. Le second : le stock théorique est ce qui fait foi pour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suivi est agrégé par construction. Si un compteur demande « est-ce qu'on me voit ? », la réponse est : on voit qu'un appareil compte, pas lequel.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comparaison n'a lieu que dans une balise dont l'audit est terminé : sinon tout article pas encore repassé ressortirait à tort en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Tant qu'un écart n'est pas arbitré, le rapport l'annonce en bandeau : c'est la quantité de l'auditeur qui part. Trancher avant d'exporter.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numéro et le code sont affichés sur l'écran de l'inventaire du superviseur, avec un bouton « Partager les identifiants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geste qu'on oublie le plus : clôturer la balise. Sans lui, la zone reste « en cours » sur le tableau de bord et l'audit ne peut pas se comparer.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Hors ligne, l'ajout d'une balise inconnue n'est pas proposé : l'échec se découvre à la synchronisation. À connaître si le cas se présente.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liste à lire à voix haute la veille. Si un point manque, c'est celui-là qui fera perdre une heure le lendemain.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Guide de prise en main</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Compter avec Quantinvo. Une demi-heure de lecture, puis on y va.</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Pour les superviseurs, qui préparent et pilotent. Pour les compteurs, qui scannent. Chacun sa partie, et une page d'avance pour savoir ce que fait l'autre.</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août 2026  ·  contact@quantinvo.com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Avant de commencer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Trois rôles. Chacun voit ce qui le concerne, et rien d’autre.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Le rôle est fixé à l'invitation. Un compteur n'a pas accès au site ; un superviseur a les deux.</a:t>
            </a:r>
            <a:endParaRPr lang="en-US" sz="1200" dirty="0"/>
          </a:p>
        </p:txBody>
      </p:sp>
      <p:sp>
        <p:nvSpPr>
          <p:cNvPr id="8" name="Text 5"/>
          <p:cNvSpPr/>
          <p:nvPr/>
        </p:nvSpPr>
        <p:spPr>
          <a:xfrm>
            <a:off x="5394960" y="137160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Arial" pitchFamily="34" charset="0"/>
                <a:ea typeface="Arial" pitchFamily="34" charset="-122"/>
                <a:cs typeface="Arial" pitchFamily="34" charset="-120"/>
              </a:rPr>
              <a:t>Administrateur d'entreprise</a:t>
            </a:r>
            <a:endParaRPr lang="en-US" sz="1400" dirty="0"/>
          </a:p>
        </p:txBody>
      </p:sp>
      <p:sp>
        <p:nvSpPr>
          <p:cNvPr id="9" name="Text 6"/>
          <p:cNvSpPr/>
          <p:nvPr/>
        </p:nvSpPr>
        <p:spPr>
          <a:xfrm>
            <a:off x="9052560" y="140817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Arial" pitchFamily="34" charset="0"/>
                <a:ea typeface="Arial" pitchFamily="34" charset="-122"/>
                <a:cs typeface="Arial" pitchFamily="34" charset="-120"/>
              </a:rPr>
              <a:t>Sur le site</a:t>
            </a:r>
            <a:endParaRPr lang="en-US" sz="1050" dirty="0"/>
          </a:p>
        </p:txBody>
      </p:sp>
      <p:sp>
        <p:nvSpPr>
          <p:cNvPr id="10" name="Text 7"/>
          <p:cNvSpPr/>
          <p:nvPr/>
        </p:nvSpPr>
        <p:spPr>
          <a:xfrm>
            <a:off x="5394960" y="173736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Arial" pitchFamily="34" charset="0"/>
                <a:ea typeface="Arial" pitchFamily="34" charset="-122"/>
                <a:cs typeface="Arial" pitchFamily="34" charset="-120"/>
              </a:rPr>
              <a:t>Il voit tous les magasins, toutes les personnes et tous les inventaires de son entreprise. Il invite les superviseurs, ajoute et retire des comptes, lit le journal. C'est lui qu'on appelle quand quelqu'un arrive ou part.</a:t>
            </a:r>
            <a:endParaRPr lang="en-US" sz="1200" dirty="0"/>
          </a:p>
        </p:txBody>
      </p:sp>
      <p:sp>
        <p:nvSpPr>
          <p:cNvPr id="11" name="Shape 8"/>
          <p:cNvSpPr/>
          <p:nvPr/>
        </p:nvSpPr>
        <p:spPr>
          <a:xfrm>
            <a:off x="5394960" y="2624328"/>
            <a:ext cx="6062472" cy="0"/>
          </a:xfrm>
          <a:prstGeom prst="line">
            <a:avLst/>
          </a:prstGeom>
          <a:noFill/>
          <a:ln w="9525">
            <a:solidFill>
              <a:srgbClr val="E3E6EE"/>
            </a:solidFill>
            <a:prstDash val="solid"/>
          </a:ln>
        </p:spPr>
      </p:sp>
      <p:sp>
        <p:nvSpPr>
          <p:cNvPr id="12" name="Text 9"/>
          <p:cNvSpPr/>
          <p:nvPr/>
        </p:nvSpPr>
        <p:spPr>
          <a:xfrm>
            <a:off x="5394960" y="278892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Arial" pitchFamily="34" charset="0"/>
                <a:ea typeface="Arial" pitchFamily="34" charset="-122"/>
                <a:cs typeface="Arial" pitchFamily="34" charset="-120"/>
              </a:rPr>
              <a:t>Superviseur</a:t>
            </a:r>
            <a:endParaRPr lang="en-US" sz="1400" dirty="0"/>
          </a:p>
        </p:txBody>
      </p:sp>
      <p:sp>
        <p:nvSpPr>
          <p:cNvPr id="13" name="Text 10"/>
          <p:cNvSpPr/>
          <p:nvPr/>
        </p:nvSpPr>
        <p:spPr>
          <a:xfrm>
            <a:off x="9052560" y="282549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Arial" pitchFamily="34" charset="0"/>
                <a:ea typeface="Arial" pitchFamily="34" charset="-122"/>
                <a:cs typeface="Arial" pitchFamily="34" charset="-120"/>
              </a:rPr>
              <a:t>Sur le site et dans l'application</a:t>
            </a:r>
            <a:endParaRPr lang="en-US" sz="1050" dirty="0"/>
          </a:p>
        </p:txBody>
      </p:sp>
      <p:sp>
        <p:nvSpPr>
          <p:cNvPr id="14" name="Text 11"/>
          <p:cNvSpPr/>
          <p:nvPr/>
        </p:nvSpPr>
        <p:spPr>
          <a:xfrm>
            <a:off x="5394960" y="315468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Arial" pitchFamily="34" charset="0"/>
                <a:ea typeface="Arial" pitchFamily="34" charset="-122"/>
                <a:cs typeface="Arial" pitchFamily="34" charset="-120"/>
              </a:rPr>
              <a:t>Il prépare l'inventaire (balises, fichiers, équipe), le suit pendant qu'il se déroule, arbitre les écarts et clôture. Il peut compter lui-même. Ce guide lui consacre six pages.</a:t>
            </a:r>
            <a:endParaRPr lang="en-US" sz="1200" dirty="0"/>
          </a:p>
        </p:txBody>
      </p:sp>
      <p:sp>
        <p:nvSpPr>
          <p:cNvPr id="15" name="Shape 12"/>
          <p:cNvSpPr/>
          <p:nvPr/>
        </p:nvSpPr>
        <p:spPr>
          <a:xfrm>
            <a:off x="5394960" y="4041648"/>
            <a:ext cx="6062472" cy="0"/>
          </a:xfrm>
          <a:prstGeom prst="line">
            <a:avLst/>
          </a:prstGeom>
          <a:noFill/>
          <a:ln w="9525">
            <a:solidFill>
              <a:srgbClr val="E3E6EE"/>
            </a:solidFill>
            <a:prstDash val="solid"/>
          </a:ln>
        </p:spPr>
      </p:sp>
      <p:sp>
        <p:nvSpPr>
          <p:cNvPr id="16" name="Text 13"/>
          <p:cNvSpPr/>
          <p:nvPr/>
        </p:nvSpPr>
        <p:spPr>
          <a:xfrm>
            <a:off x="5394960" y="420624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Arial" pitchFamily="34" charset="0"/>
                <a:ea typeface="Arial" pitchFamily="34" charset="-122"/>
                <a:cs typeface="Arial" pitchFamily="34" charset="-120"/>
              </a:rPr>
              <a:t>Compteur</a:t>
            </a:r>
            <a:endParaRPr lang="en-US" sz="1400" dirty="0"/>
          </a:p>
        </p:txBody>
      </p:sp>
      <p:sp>
        <p:nvSpPr>
          <p:cNvPr id="17" name="Text 14"/>
          <p:cNvSpPr/>
          <p:nvPr/>
        </p:nvSpPr>
        <p:spPr>
          <a:xfrm>
            <a:off x="9052560" y="424281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Arial" pitchFamily="34" charset="0"/>
                <a:ea typeface="Arial" pitchFamily="34" charset="-122"/>
                <a:cs typeface="Arial" pitchFamily="34" charset="-120"/>
              </a:rPr>
              <a:t>Dans l'application seulement</a:t>
            </a:r>
            <a:endParaRPr lang="en-US" sz="1050" dirty="0"/>
          </a:p>
        </p:txBody>
      </p:sp>
      <p:sp>
        <p:nvSpPr>
          <p:cNvPr id="18" name="Text 15"/>
          <p:cNvSpPr/>
          <p:nvPr/>
        </p:nvSpPr>
        <p:spPr>
          <a:xfrm>
            <a:off x="5394960" y="457200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Arial" pitchFamily="34" charset="0"/>
                <a:ea typeface="Arial" pitchFamily="34" charset="-122"/>
                <a:cs typeface="Arial" pitchFamily="34" charset="-120"/>
              </a:rPr>
              <a:t>Il ouvre l'inventaire sur son téléphone, scanne la balise du rayon, puis les articles. Il peut aussi auditer, c'est-à-dire recompter une zone déjà comptée par quelqu'un d'autre. Trois pages lui suffisent.</a:t>
            </a:r>
            <a:endParaRPr lang="en-US" sz="1200" dirty="0"/>
          </a:p>
        </p:txBody>
      </p:sp>
      <p:sp>
        <p:nvSpPr>
          <p:cNvPr id="19" name="Shape 16"/>
          <p:cNvSpPr/>
          <p:nvPr/>
        </p:nvSpPr>
        <p:spPr>
          <a:xfrm>
            <a:off x="5394960" y="5458968"/>
            <a:ext cx="6062472" cy="0"/>
          </a:xfrm>
          <a:prstGeom prst="line">
            <a:avLst/>
          </a:prstGeom>
          <a:noFill/>
          <a:ln w="9525">
            <a:solidFill>
              <a:srgbClr val="E3E6EE"/>
            </a:solidFill>
            <a:prstDash val="solid"/>
          </a:ln>
        </p:spPr>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Avant de commencer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Votre premier accès. Personne ne s’inscrit : on vous invite.</a:t>
            </a:r>
            <a:endParaRPr lang="en-US" sz="2600" dirty="0"/>
          </a:p>
        </p:txBody>
      </p:sp>
      <p:sp>
        <p:nvSpPr>
          <p:cNvPr id="7" name="Text 4"/>
          <p:cNvSpPr/>
          <p:nvPr/>
        </p:nvSpPr>
        <p:spPr>
          <a:xfrm>
            <a:off x="731520" y="3474720"/>
            <a:ext cx="4206240" cy="128016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Si vous n'avez pas reçu d'e-mail, regardez dans les indésirables, puis demandez à la personne qui vous a ajouté : elle voit sur son écran si l'invitation est partie.</a:t>
            </a:r>
            <a:endParaRPr lang="en-US" sz="1200" dirty="0"/>
          </a:p>
        </p:txBody>
      </p:sp>
      <p:sp>
        <p:nvSpPr>
          <p:cNvPr id="8" name="Text 5"/>
          <p:cNvSpPr/>
          <p:nvPr/>
        </p:nvSpPr>
        <p:spPr>
          <a:xfrm>
            <a:off x="5394960" y="138988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Text 6"/>
          <p:cNvSpPr/>
          <p:nvPr/>
        </p:nvSpPr>
        <p:spPr>
          <a:xfrm>
            <a:off x="5897880" y="137160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L'e-mail d'invitation</a:t>
            </a:r>
            <a:endParaRPr lang="en-US" sz="1300" dirty="0"/>
          </a:p>
        </p:txBody>
      </p:sp>
      <p:sp>
        <p:nvSpPr>
          <p:cNvPr id="10" name="Text 7"/>
          <p:cNvSpPr/>
          <p:nvPr/>
        </p:nvSpPr>
        <p:spPr>
          <a:xfrm>
            <a:off x="5897880" y="1700784"/>
            <a:ext cx="5559552" cy="73152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Il vient de Quantinvo et vous dit qui vous a ajouté. Le lien est personnel : ne le transférez pas.</a:t>
            </a:r>
            <a:endParaRPr lang="en-US" sz="1150" dirty="0"/>
          </a:p>
        </p:txBody>
      </p:sp>
      <p:sp>
        <p:nvSpPr>
          <p:cNvPr id="11" name="Text 8"/>
          <p:cNvSpPr/>
          <p:nvPr/>
        </p:nvSpPr>
        <p:spPr>
          <a:xfrm>
            <a:off x="5394960" y="248716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2" name="Text 9"/>
          <p:cNvSpPr/>
          <p:nvPr/>
        </p:nvSpPr>
        <p:spPr>
          <a:xfrm>
            <a:off x="5897880" y="246888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La page « Bienvenue »</a:t>
            </a:r>
            <a:endParaRPr lang="en-US" sz="1300" dirty="0"/>
          </a:p>
        </p:txBody>
      </p:sp>
      <p:sp>
        <p:nvSpPr>
          <p:cNvPr id="13" name="Text 10"/>
          <p:cNvSpPr/>
          <p:nvPr/>
        </p:nvSpPr>
        <p:spPr>
          <a:xfrm>
            <a:off x="5897880" y="2798064"/>
            <a:ext cx="5559552" cy="73152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Vérifiez votre prénom et votre nom, puis choisissez un mot de passe : douze caractères au moins, avec une majuscule, une minuscule, un chiffre et un symbole. Un mot de passe connu des fuites publiques est refusé.</a:t>
            </a:r>
            <a:endParaRPr lang="en-US" sz="1150" dirty="0"/>
          </a:p>
        </p:txBody>
      </p:sp>
      <p:sp>
        <p:nvSpPr>
          <p:cNvPr id="14" name="Text 11"/>
          <p:cNvSpPr/>
          <p:nvPr/>
        </p:nvSpPr>
        <p:spPr>
          <a:xfrm>
            <a:off x="5394960" y="358444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Text 12"/>
          <p:cNvSpPr/>
          <p:nvPr/>
        </p:nvSpPr>
        <p:spPr>
          <a:xfrm>
            <a:off x="5897880" y="356616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L'application</a:t>
            </a:r>
            <a:endParaRPr lang="en-US" sz="1300" dirty="0"/>
          </a:p>
        </p:txBody>
      </p:sp>
      <p:sp>
        <p:nvSpPr>
          <p:cNvPr id="16" name="Text 13"/>
          <p:cNvSpPr/>
          <p:nvPr/>
        </p:nvSpPr>
        <p:spPr>
          <a:xfrm>
            <a:off x="5897880" y="3895344"/>
            <a:ext cx="5559552" cy="73152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Elle arrive par le catalogue d'applications de votre entreprise, ou par l'App Store si votre entreprise n'en a pas. Connectez-vous avec votre adresse e-mail et votre mot de passe.</a:t>
            </a:r>
            <a:endParaRPr lang="en-US" sz="1150" dirty="0"/>
          </a:p>
        </p:txBody>
      </p:sp>
      <p:sp>
        <p:nvSpPr>
          <p:cNvPr id="17" name="Text 14"/>
          <p:cNvSpPr/>
          <p:nvPr/>
        </p:nvSpPr>
        <p:spPr>
          <a:xfrm>
            <a:off x="5394960" y="468172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8" name="Text 15"/>
          <p:cNvSpPr/>
          <p:nvPr/>
        </p:nvSpPr>
        <p:spPr>
          <a:xfrm>
            <a:off x="5897880" y="466344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Si vous voulez, la double authentification</a:t>
            </a:r>
            <a:endParaRPr lang="en-US" sz="1300" dirty="0"/>
          </a:p>
        </p:txBody>
      </p:sp>
      <p:sp>
        <p:nvSpPr>
          <p:cNvPr id="19" name="Text 16"/>
          <p:cNvSpPr/>
          <p:nvPr/>
        </p:nvSpPr>
        <p:spPr>
          <a:xfrm>
            <a:off x="5897880" y="4992624"/>
            <a:ext cx="5559552" cy="73152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Depuis « Mon compte », dans l'application ou sur le site. Un code à usage unique vous sera demandé à chaque connexion. Notez bien : il n'y a pas de code de secours, un téléphone perdu se dépanne auprès de votre administrateur.</a:t>
            </a:r>
            <a:endParaRPr lang="en-US" sz="1150" dirty="0"/>
          </a:p>
        </p:txBody>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2011680"/>
            <a:ext cx="2743200" cy="1097280"/>
          </a:xfrm>
          <a:prstGeom prst="rect">
            <a:avLst/>
          </a:prstGeom>
          <a:noFill/>
          <a:ln/>
        </p:spPr>
        <p:txBody>
          <a:bodyPr wrap="square" lIns="0" tIns="0" rIns="0" bIns="0" rtlCol="0" anchor="t"/>
          <a:lstStyle/>
          <a:p>
            <a:pPr indent="0" marL="0">
              <a:buNone/>
            </a:pPr>
            <a:r>
              <a:rPr lang="en-US" sz="7200" b="1" dirty="0">
                <a:solidFill>
                  <a:srgbClr val="EEEEFC"/>
                </a:solidFill>
                <a:latin typeface="Arial" pitchFamily="34" charset="0"/>
                <a:ea typeface="Arial" pitchFamily="34" charset="-122"/>
                <a:cs typeface="Arial" pitchFamily="34" charset="-120"/>
              </a:rPr>
              <a:t>1</a:t>
            </a:r>
            <a:endParaRPr lang="en-US" sz="7200" dirty="0"/>
          </a:p>
        </p:txBody>
      </p:sp>
      <p:sp>
        <p:nvSpPr>
          <p:cNvPr id="7" name="Text 4"/>
          <p:cNvSpPr/>
          <p:nvPr/>
        </p:nvSpPr>
        <p:spPr>
          <a:xfrm>
            <a:off x="731520" y="3063240"/>
            <a:ext cx="8229600" cy="822960"/>
          </a:xfrm>
          <a:prstGeom prst="rect">
            <a:avLst/>
          </a:prstGeom>
          <a:noFill/>
          <a:ln/>
        </p:spPr>
        <p:txBody>
          <a:bodyPr wrap="square" lIns="0" tIns="0" rIns="0" bIns="0" rtlCol="0" anchor="t"/>
          <a:lstStyle/>
          <a:p>
            <a:pPr indent="0" marL="0">
              <a:buNone/>
            </a:pPr>
            <a:r>
              <a:rPr lang="en-US" sz="3400" b="1" dirty="0">
                <a:solidFill>
                  <a:srgbClr val="4636B0"/>
                </a:solidFill>
                <a:latin typeface="Arial" pitchFamily="34" charset="0"/>
                <a:ea typeface="Arial" pitchFamily="34" charset="-122"/>
                <a:cs typeface="Arial" pitchFamily="34" charset="-120"/>
              </a:rPr>
              <a:t>Préparer et piloter</a:t>
            </a:r>
            <a:endParaRPr lang="en-US" sz="3400" dirty="0"/>
          </a:p>
        </p:txBody>
      </p:sp>
      <p:sp>
        <p:nvSpPr>
          <p:cNvPr id="8" name="Text 5"/>
          <p:cNvSpPr/>
          <p:nvPr/>
        </p:nvSpPr>
        <p:spPr>
          <a:xfrm>
            <a:off x="731520" y="3977640"/>
            <a:ext cx="7772400" cy="1280160"/>
          </a:xfrm>
          <a:prstGeom prst="rect">
            <a:avLst/>
          </a:prstGeom>
          <a:noFill/>
          <a:ln/>
        </p:spPr>
        <p:txBody>
          <a:bodyPr wrap="square" lIns="0" tIns="0" rIns="0" bIns="0" rtlCol="0" anchor="t"/>
          <a:lstStyle/>
          <a:p>
            <a:pPr indent="0" marL="0">
              <a:lnSpc>
                <a:spcPct val="120000"/>
              </a:lnSpc>
              <a:buNone/>
            </a:pPr>
            <a:r>
              <a:rPr lang="en-US" sz="1400" dirty="0">
                <a:solidFill>
                  <a:srgbClr val="3D4556"/>
                </a:solidFill>
                <a:latin typeface="Arial" pitchFamily="34" charset="0"/>
                <a:ea typeface="Arial" pitchFamily="34" charset="-122"/>
                <a:cs typeface="Arial" pitchFamily="34" charset="-120"/>
              </a:rPr>
              <a:t>La partie du superviseur. Une fois pour toutes : les balises et l'équipe. Puis, à chaque inventaire : le créer, importer les fichiers, suivre, arbitrer, clôturer.</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une fois pour toutes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Deux choses à faire une seule fois : les balises, l’équipe.</a:t>
            </a:r>
            <a:endParaRPr lang="en-US" sz="2600" dirty="0"/>
          </a:p>
        </p:txBody>
      </p:sp>
      <p:sp>
        <p:nvSpPr>
          <p:cNvPr id="7" name="Text 4"/>
          <p:cNvSpPr/>
          <p:nvPr/>
        </p:nvSpPr>
        <p:spPr>
          <a:xfrm>
            <a:off x="731520" y="3474720"/>
            <a:ext cx="4206240" cy="164592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Une balise, c'est une étiquette avec un code QR et un numéro, collée à l'entrée d'un rayon ou d'une travée. Le compteur la scanne pour dire « je compte ici ». Une fois collées, elles servent à tous les inventaires suivants.</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Imprimer les balises.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Boîte à outils, « Créer et imprimer des balises ». Choisissez une numérotation (1, 2, 3… ou à quatre chiffres), un premier numéro, un nombre. Vous obtenez un PDF sur planche d'étiquettes standard (Avery L7160, 21 par page), à imprimer sur une imprimante ordinaire.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Les coller.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Une par rayon, à hauteur d'yeux, au début du linéaire. Dans une réserve, une par travée ou par étagère. Trop de balises vaut mieux que pas assez : une zone trop grande se compte mal à deux.</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Constituer son équipe.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Mon équipe, « Ajouter un compteur » : prénom, nom, adresse e-mail, et le ou les magasins. La personne reçoit son invitation tout de suite et apparaît dans la liste avec la mention « Mot de passe à créer » tant qu'elle n'a pas ouvert l'application.</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à chaque inventaire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37160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Créer un inventaire prend une minute. Le préparer, dix.</a:t>
            </a:r>
            <a:endParaRPr lang="en-US" sz="2400" dirty="0"/>
          </a:p>
        </p:txBody>
      </p:sp>
      <p:sp>
        <p:nvSpPr>
          <p:cNvPr id="7" name="Text 4"/>
          <p:cNvSpPr/>
          <p:nvPr/>
        </p:nvSpPr>
        <p:spPr>
          <a:xfrm>
            <a:off x="731520" y="2834640"/>
            <a:ext cx="4206240" cy="3108960"/>
          </a:xfrm>
          <a:prstGeom prst="rect">
            <a:avLst/>
          </a:prstGeom>
          <a:noFill/>
          <a:ln/>
        </p:spPr>
        <p:txBody>
          <a:bodyPr wrap="square" lIns="0" tIns="0" rIns="0" bIns="0" rtlCol="0" anchor="t"/>
          <a:lstStyle/>
          <a:p>
            <a:pPr indent="0" marL="0">
              <a:lnSpc>
                <a:spcPct val="118000"/>
              </a:lnSpc>
              <a:spcAft>
                <a:spcPts val="800"/>
              </a:spcAft>
              <a:buNone/>
            </a:pPr>
            <a:r>
              <a:rPr lang="en-US" sz="1150" b="1" dirty="0">
                <a:solidFill>
                  <a:srgbClr val="0B0F19"/>
                </a:solidFill>
                <a:latin typeface="Arial" pitchFamily="34" charset="0"/>
                <a:ea typeface="Arial" pitchFamily="34" charset="-122"/>
                <a:cs typeface="Arial" pitchFamily="34" charset="-120"/>
              </a:rPr>
              <a:t>Un nom </a:t>
            </a:r>
            <a:pPr indent="0" marL="0">
              <a:lnSpc>
                <a:spcPct val="118000"/>
              </a:lnSpc>
              <a:spcAft>
                <a:spcPts val="800"/>
              </a:spcAft>
              <a:buNone/>
            </a:pPr>
            <a:r>
              <a:rPr lang="en-US" sz="1150" dirty="0">
                <a:solidFill>
                  <a:srgbClr val="3D4556"/>
                </a:solidFill>
                <a:latin typeface="Arial" pitchFamily="34" charset="0"/>
                <a:ea typeface="Arial" pitchFamily="34" charset="-122"/>
                <a:cs typeface="Arial" pitchFamily="34" charset="-120"/>
              </a:rPr>
              <a:t>pour le reconnaître dans la liste. Le numéro (INV-…) est généré tout seul.</a:t>
            </a:r>
            <a:endParaRPr lang="en-US" sz="1150" dirty="0"/>
          </a:p>
          <a:p>
            <a:pPr indent="0" marL="0">
              <a:lnSpc>
                <a:spcPct val="118000"/>
              </a:lnSpc>
              <a:spcAft>
                <a:spcPts val="800"/>
              </a:spcAft>
              <a:buNone/>
            </a:pPr>
            <a:r>
              <a:rPr lang="en-US" sz="1150" b="1" dirty="0">
                <a:solidFill>
                  <a:srgbClr val="0B0F19"/>
                </a:solidFill>
                <a:latin typeface="Arial" pitchFamily="34" charset="0"/>
                <a:ea typeface="Arial" pitchFamily="34" charset="-122"/>
                <a:cs typeface="Arial" pitchFamily="34" charset="-120"/>
              </a:rPr>
              <a:t>Un magasin </a:t>
            </a:r>
            <a:pPr indent="0" marL="0">
              <a:lnSpc>
                <a:spcPct val="118000"/>
              </a:lnSpc>
              <a:spcAft>
                <a:spcPts val="800"/>
              </a:spcAft>
              <a:buNone/>
            </a:pPr>
            <a:r>
              <a:rPr lang="en-US" sz="1150" dirty="0">
                <a:solidFill>
                  <a:srgbClr val="3D4556"/>
                </a:solidFill>
                <a:latin typeface="Arial" pitchFamily="34" charset="0"/>
                <a:ea typeface="Arial" pitchFamily="34" charset="-122"/>
                <a:cs typeface="Arial" pitchFamily="34" charset="-120"/>
              </a:rPr>
              <a:t>parmi les vôtres.</a:t>
            </a:r>
            <a:endParaRPr lang="en-US" sz="1150" dirty="0"/>
          </a:p>
          <a:p>
            <a:pPr indent="0" marL="0">
              <a:lnSpc>
                <a:spcPct val="118000"/>
              </a:lnSpc>
              <a:spcAft>
                <a:spcPts val="800"/>
              </a:spcAft>
              <a:buNone/>
            </a:pPr>
            <a:r>
              <a:rPr lang="en-US" sz="1150" b="1" dirty="0">
                <a:solidFill>
                  <a:srgbClr val="0B0F19"/>
                </a:solidFill>
                <a:latin typeface="Arial" pitchFamily="34" charset="0"/>
                <a:ea typeface="Arial" pitchFamily="34" charset="-122"/>
                <a:cs typeface="Arial" pitchFamily="34" charset="-120"/>
              </a:rPr>
              <a:t>Un code d'accès </a:t>
            </a:r>
            <a:pPr indent="0" marL="0">
              <a:lnSpc>
                <a:spcPct val="118000"/>
              </a:lnSpc>
              <a:spcAft>
                <a:spcPts val="800"/>
              </a:spcAft>
              <a:buNone/>
            </a:pPr>
            <a:r>
              <a:rPr lang="en-US" sz="1150" dirty="0">
                <a:solidFill>
                  <a:srgbClr val="3D4556"/>
                </a:solidFill>
                <a:latin typeface="Arial" pitchFamily="34" charset="0"/>
                <a:ea typeface="Arial" pitchFamily="34" charset="-122"/>
                <a:cs typeface="Arial" pitchFamily="34" charset="-120"/>
              </a:rPr>
              <a:t>de quatre caractères au moins. Avec le numéro, il permet à un compteur de rejoindre l'inventaire sans avoir été invité nommément.</a:t>
            </a:r>
            <a:endParaRPr lang="en-US" sz="1150" dirty="0"/>
          </a:p>
          <a:p>
            <a:pPr indent="0" marL="0">
              <a:lnSpc>
                <a:spcPct val="118000"/>
              </a:lnSpc>
              <a:spcAft>
                <a:spcPts val="800"/>
              </a:spcAft>
              <a:buNone/>
            </a:pPr>
            <a:r>
              <a:rPr lang="en-US" sz="1150" b="1" dirty="0">
                <a:solidFill>
                  <a:srgbClr val="0B0F19"/>
                </a:solidFill>
                <a:latin typeface="Arial" pitchFamily="34" charset="0"/>
                <a:ea typeface="Arial" pitchFamily="34" charset="-122"/>
                <a:cs typeface="Arial" pitchFamily="34" charset="-120"/>
              </a:rPr>
              <a:t>Zones et balises </a:t>
            </a:r>
            <a:pPr indent="0" marL="0">
              <a:lnSpc>
                <a:spcPct val="118000"/>
              </a:lnSpc>
              <a:spcAft>
                <a:spcPts val="800"/>
              </a:spcAft>
              <a:buNone/>
            </a:pPr>
            <a:r>
              <a:rPr lang="en-US" sz="1150" dirty="0">
                <a:solidFill>
                  <a:srgbClr val="3D4556"/>
                </a:solidFill>
                <a:latin typeface="Arial" pitchFamily="34" charset="0"/>
                <a:ea typeface="Arial" pitchFamily="34" charset="-122"/>
                <a:cs typeface="Arial" pitchFamily="34" charset="-120"/>
              </a:rPr>
              <a:t>recommandé. Sans balises, tout le monde compte dans une seule zone et l'audit se compare article par article.</a:t>
            </a:r>
            <a:endParaRPr lang="en-US" sz="1150" dirty="0"/>
          </a:p>
        </p:txBody>
      </p:sp>
      <p:sp>
        <p:nvSpPr>
          <p:cNvPr id="8" name="Shape 5"/>
          <p:cNvSpPr/>
          <p:nvPr/>
        </p:nvSpPr>
        <p:spPr>
          <a:xfrm>
            <a:off x="5888736" y="1316736"/>
            <a:ext cx="5021533" cy="4590288"/>
          </a:xfrm>
          <a:prstGeom prst="roundRect">
            <a:avLst>
              <a:gd name="adj" fmla="val 1594"/>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5943600" y="1371600"/>
            <a:ext cx="4911805" cy="4480560"/>
          </a:xfrm>
          <a:prstGeom prst="rect">
            <a:avLst/>
          </a:prstGeom>
        </p:spPr>
      </p:pic>
      <p:sp>
        <p:nvSpPr>
          <p:cNvPr id="10" name="Text 6"/>
          <p:cNvSpPr/>
          <p:nvPr/>
        </p:nvSpPr>
        <p:spPr>
          <a:xfrm>
            <a:off x="5943600" y="5989320"/>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Site, « Nouvel inventaire ». Le même formulaire existe dans l'application.</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à chaque inventaire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Set up : dire où on compte, et ce qu’on attend.</a:t>
            </a:r>
            <a:endParaRPr lang="en-US" sz="2600" dirty="0"/>
          </a:p>
        </p:txBody>
      </p:sp>
      <p:sp>
        <p:nvSpPr>
          <p:cNvPr id="7" name="Text 4"/>
          <p:cNvSpPr/>
          <p:nvPr/>
        </p:nvSpPr>
        <p:spPr>
          <a:xfrm>
            <a:off x="731520" y="3474720"/>
            <a:ext cx="4206240" cy="164592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Les deux volets de l'onglet Set up. Leur en-tête dit où vous en êtes (« 3 emplacements · 40 balises affectées », « 135 références · aucun stock théorique ») : vous n'avez pas à les ouvrir pour le savoir.</a:t>
            </a:r>
            <a:endParaRPr lang="en-US" sz="1200" dirty="0"/>
          </a:p>
        </p:txBody>
      </p:sp>
      <p:sp>
        <p:nvSpPr>
          <p:cNvPr id="8" name="Text 5"/>
          <p:cNvSpPr/>
          <p:nvPr/>
        </p:nvSpPr>
        <p:spPr>
          <a:xfrm>
            <a:off x="5394960" y="1371600"/>
            <a:ext cx="6062472" cy="384048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Zone de comptage.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Affectez une plage de balises à un emplacement : « Textile, balises 1 à 20 », « Réserve, 21 à 35 ». Une balise scannée qui n'est dans aucune plage sera proposée à l'ajout par le compteur ; vous la nommerez ensuite.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Données d'inventaire.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Deux fichiers, en CSV ou en Excel, tels qu'ils sortent de votre système. Le référentiel articles (code, libellé, prix d'achat) permet de reconnaître ce qu'on scanne. Le stock théorique (code, quantité attendue) permet de calculer les écarts.</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Ce que le stock théorique change.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Avec lui, le rapport part de ce qui est attendu : un article jamais scanné apparaît « Non compté », avec son manque. Sans lui, le rapport ne montre que ce qui a été compté. Pour révéler la démarque, il le faut.</a:t>
            </a:r>
            <a:endParaRPr lang="en-US" sz="1200" dirty="0"/>
          </a:p>
        </p:txBody>
      </p:sp>
      <p:sp>
        <p:nvSpPr>
          <p:cNvPr id="9" name="Shape 6"/>
          <p:cNvSpPr/>
          <p:nvPr/>
        </p:nvSpPr>
        <p:spPr>
          <a:xfrm>
            <a:off x="5394960" y="5074920"/>
            <a:ext cx="6062472" cy="1051560"/>
          </a:xfrm>
          <a:prstGeom prst="roundRect">
            <a:avLst>
              <a:gd name="adj" fmla="val 6957"/>
            </a:avLst>
          </a:prstGeom>
          <a:solidFill>
            <a:srgbClr val="F4F5F9"/>
          </a:solidFill>
          <a:ln w="12700">
            <a:solidFill>
              <a:srgbClr val="F4F5F9"/>
            </a:solidFill>
            <a:prstDash val="solid"/>
          </a:ln>
        </p:spPr>
      </p:sp>
      <p:sp>
        <p:nvSpPr>
          <p:cNvPr id="10" name="Text 7"/>
          <p:cNvSpPr/>
          <p:nvPr/>
        </p:nvSpPr>
        <p:spPr>
          <a:xfrm>
            <a:off x="5669280" y="5239512"/>
            <a:ext cx="551383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Vos colonnes sont reconnues</a:t>
            </a:r>
            <a:endParaRPr lang="en-US" sz="950" dirty="0"/>
          </a:p>
        </p:txBody>
      </p:sp>
      <p:sp>
        <p:nvSpPr>
          <p:cNvPr id="11" name="Text 8"/>
          <p:cNvSpPr/>
          <p:nvPr/>
        </p:nvSpPr>
        <p:spPr>
          <a:xfrm>
            <a:off x="5669280" y="5495544"/>
            <a:ext cx="5513832" cy="50292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SKU, Code article, Référence · EAN, Code-barres, GTIN, Gencod · Quantité, Qté, Stock. Majuscules, accents et séparateurs n'ont pas d'importance. Si une colonne n'est pas trouvée, l'écran le dit avant d'importer.</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pendant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Pendant l’inventaire : l’onglet Suivi, et deux gestes à connaître.</a:t>
            </a:r>
            <a:endParaRPr lang="en-US" sz="2600" dirty="0"/>
          </a:p>
        </p:txBody>
      </p:sp>
      <p:sp>
        <p:nvSpPr>
          <p:cNvPr id="7" name="Text 4"/>
          <p:cNvSpPr/>
          <p:nvPr/>
        </p:nvSpPr>
        <p:spPr>
          <a:xfrm>
            <a:off x="731520" y="210312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Appareils connectés, en comptage, en audit ; avancement par zone ; derniers scans. La page se met à jour toute seule. Si un compteur est parti en laissant sa balise ouverte, Set up permet de la clôturer à sa place ; l'inverse aussi, pour la rouvrir.</a:t>
            </a:r>
            <a:endParaRPr lang="en-US" sz="1250" dirty="0"/>
          </a:p>
        </p:txBody>
      </p:sp>
      <p:sp>
        <p:nvSpPr>
          <p:cNvPr id="8" name="Shape 5"/>
          <p:cNvSpPr/>
          <p:nvPr/>
        </p:nvSpPr>
        <p:spPr>
          <a:xfrm>
            <a:off x="1556182" y="2825496"/>
            <a:ext cx="9076589" cy="3355848"/>
          </a:xfrm>
          <a:prstGeom prst="roundRect">
            <a:avLst>
              <a:gd name="adj" fmla="val 2180"/>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1611046" y="2880360"/>
            <a:ext cx="8966861" cy="3246120"/>
          </a:xfrm>
          <a:prstGeom prst="rect">
            <a:avLst/>
          </a:prstGeom>
        </p:spPr>
      </p:pic>
      <p:sp>
        <p:nvSpPr>
          <p:cNvPr id="10" name="Text 6"/>
          <p:cNvSpPr/>
          <p:nvPr/>
        </p:nvSpPr>
        <p:spPr>
          <a:xfrm>
            <a:off x="1611046" y="6263640"/>
            <a:ext cx="78912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Suivi, données d'essai. Les compteurs d'appareils ne disent jamais qui : seulement combien.</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pendant et après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Auditer, puis arbitrer. L'écart se lit du point de vue de l'auditeur.</a:t>
            </a:r>
            <a:endParaRPr lang="en-US" sz="2600" dirty="0"/>
          </a:p>
        </p:txBody>
      </p:sp>
      <p:sp>
        <p:nvSpPr>
          <p:cNvPr id="7" name="Text 4"/>
          <p:cNvSpPr/>
          <p:nvPr/>
        </p:nvSpPr>
        <p:spPr>
          <a:xfrm>
            <a:off x="731520" y="210312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L'audit est un second comptage d'une zone déjà comptée, par une autre personne, en mode « Auditer ». Quand la balise auditée est terminée, chaque article dont les deux quantités diffèrent apparaît ici. Vous retenez la quantité du compteur, celle de l'auditeur, ou une autre que vous avez vérifiée vous-même.</a:t>
            </a:r>
            <a:endParaRPr lang="en-US" sz="1250" dirty="0"/>
          </a:p>
        </p:txBody>
      </p:sp>
      <p:sp>
        <p:nvSpPr>
          <p:cNvPr id="8" name="Shape 5"/>
          <p:cNvSpPr/>
          <p:nvPr/>
        </p:nvSpPr>
        <p:spPr>
          <a:xfrm>
            <a:off x="2139696" y="2916936"/>
            <a:ext cx="7909560" cy="3082758"/>
          </a:xfrm>
          <a:prstGeom prst="roundRect">
            <a:avLst>
              <a:gd name="adj" fmla="val 2373"/>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94560" y="2971800"/>
            <a:ext cx="7799832" cy="2973030"/>
          </a:xfrm>
          <a:prstGeom prst="rect">
            <a:avLst/>
          </a:prstGeom>
        </p:spPr>
      </p:pic>
      <p:sp>
        <p:nvSpPr>
          <p:cNvPr id="10" name="Text 6"/>
          <p:cNvSpPr/>
          <p:nvPr/>
        </p:nvSpPr>
        <p:spPr>
          <a:xfrm>
            <a:off x="2194560" y="6081990"/>
            <a:ext cx="78912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Écarts d'audit, données d'essai. Un article trouvé à l'audit mais jamais compté est signalé à part.</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après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09728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Le rapport, puis la clôture.</a:t>
            </a:r>
            <a:endParaRPr lang="en-US" sz="2400" dirty="0"/>
          </a:p>
        </p:txBody>
      </p:sp>
      <p:sp>
        <p:nvSpPr>
          <p:cNvPr id="7" name="Text 4"/>
          <p:cNvSpPr/>
          <p:nvPr/>
        </p:nvSpPr>
        <p:spPr>
          <a:xfrm>
            <a:off x="731520" y="2514600"/>
            <a:ext cx="4206240" cy="3474720"/>
          </a:xfrm>
          <a:prstGeom prst="rect">
            <a:avLst/>
          </a:prstGeom>
          <a:noFill/>
          <a:ln/>
        </p:spPr>
        <p:txBody>
          <a:bodyPr wrap="square" lIns="0" tIns="0" rIns="0" bIns="0" rtlCol="0" anchor="t"/>
          <a:lstStyle/>
          <a:p>
            <a:pPr indent="0" marL="0">
              <a:lnSpc>
                <a:spcPct val="118000"/>
              </a:lnSpc>
              <a:spcAft>
                <a:spcPts val="800"/>
              </a:spcAft>
              <a:buNone/>
            </a:pPr>
            <a:r>
              <a:rPr lang="en-US" sz="1150" b="1" dirty="0">
                <a:solidFill>
                  <a:srgbClr val="0B0F19"/>
                </a:solidFill>
                <a:latin typeface="Arial" pitchFamily="34" charset="0"/>
                <a:ea typeface="Arial" pitchFamily="34" charset="-122"/>
                <a:cs typeface="Arial" pitchFamily="34" charset="-120"/>
              </a:rPr>
              <a:t>Télécharger. </a:t>
            </a:r>
            <a:pPr indent="0" marL="0">
              <a:lnSpc>
                <a:spcPct val="118000"/>
              </a:lnSpc>
              <a:spcAft>
                <a:spcPts val="800"/>
              </a:spcAft>
              <a:buNone/>
            </a:pPr>
            <a:r>
              <a:rPr lang="en-US" sz="1150" dirty="0">
                <a:solidFill>
                  <a:srgbClr val="3D4556"/>
                </a:solidFill>
                <a:latin typeface="Arial" pitchFamily="34" charset="0"/>
                <a:ea typeface="Arial" pitchFamily="34" charset="-122"/>
                <a:cs typeface="Arial" pitchFamily="34" charset="-120"/>
              </a:rPr>
              <a:t>Un fichier Excel : résultats par article, écarts en pièces et en valeur d'achat, détail par zone. La quantité retenue suit une règle simple : l'arbitrage, sinon l'auditeur, sinon le compteur.</a:t>
            </a:r>
            <a:endParaRPr lang="en-US" sz="1150" dirty="0"/>
          </a:p>
          <a:p>
            <a:pPr indent="0" marL="0">
              <a:lnSpc>
                <a:spcPct val="118000"/>
              </a:lnSpc>
              <a:spcAft>
                <a:spcPts val="800"/>
              </a:spcAft>
              <a:buNone/>
            </a:pPr>
            <a:r>
              <a:rPr lang="en-US" sz="1150" b="1" dirty="0">
                <a:solidFill>
                  <a:srgbClr val="0B0F19"/>
                </a:solidFill>
                <a:latin typeface="Arial" pitchFamily="34" charset="0"/>
                <a:ea typeface="Arial" pitchFamily="34" charset="-122"/>
                <a:cs typeface="Arial" pitchFamily="34" charset="-120"/>
              </a:rPr>
              <a:t>« Non compté ». </a:t>
            </a:r>
            <a:pPr indent="0" marL="0">
              <a:lnSpc>
                <a:spcPct val="118000"/>
              </a:lnSpc>
              <a:spcAft>
                <a:spcPts val="800"/>
              </a:spcAft>
              <a:buNone/>
            </a:pPr>
            <a:r>
              <a:rPr lang="en-US" sz="1150" dirty="0">
                <a:solidFill>
                  <a:srgbClr val="3D4556"/>
                </a:solidFill>
                <a:latin typeface="Arial" pitchFamily="34" charset="0"/>
                <a:ea typeface="Arial" pitchFamily="34" charset="-122"/>
                <a:cs typeface="Arial" pitchFamily="34" charset="-120"/>
              </a:rPr>
              <a:t>Les articles du stock théorique jamais scannés. C'est la ligne à regarder en premier.</a:t>
            </a:r>
            <a:endParaRPr lang="en-US" sz="1150" dirty="0"/>
          </a:p>
          <a:p>
            <a:pPr indent="0" marL="0">
              <a:lnSpc>
                <a:spcPct val="118000"/>
              </a:lnSpc>
              <a:spcAft>
                <a:spcPts val="800"/>
              </a:spcAft>
              <a:buNone/>
            </a:pPr>
            <a:r>
              <a:rPr lang="en-US" sz="1150" b="1" dirty="0">
                <a:solidFill>
                  <a:srgbClr val="0B0F19"/>
                </a:solidFill>
                <a:latin typeface="Arial" pitchFamily="34" charset="0"/>
                <a:ea typeface="Arial" pitchFamily="34" charset="-122"/>
                <a:cs typeface="Arial" pitchFamily="34" charset="-120"/>
              </a:rPr>
              <a:t>Clôturer. </a:t>
            </a:r>
            <a:pPr indent="0" marL="0">
              <a:lnSpc>
                <a:spcPct val="118000"/>
              </a:lnSpc>
              <a:spcAft>
                <a:spcPts val="800"/>
              </a:spcAft>
              <a:buNone/>
            </a:pPr>
            <a:r>
              <a:rPr lang="en-US" sz="1150" dirty="0">
                <a:solidFill>
                  <a:srgbClr val="3D4556"/>
                </a:solidFill>
                <a:latin typeface="Arial" pitchFamily="34" charset="0"/>
                <a:ea typeface="Arial" pitchFamily="34" charset="-122"/>
                <a:cs typeface="Arial" pitchFamily="34" charset="-120"/>
              </a:rPr>
              <a:t>Depuis l'onglet Équipe. Plus aucun scan n'est accepté, le rapport ne bouge plus. Tout superviseur de l'inventaire peut clôturer ; seul celui qui l'a créé, ou l'administrateur d'entreprise, peut rouvrir ou supprimer.</a:t>
            </a:r>
            <a:endParaRPr lang="en-US" sz="1150" dirty="0"/>
          </a:p>
          <a:p>
            <a:pPr indent="0" marL="0">
              <a:lnSpc>
                <a:spcPct val="118000"/>
              </a:lnSpc>
              <a:spcAft>
                <a:spcPts val="800"/>
              </a:spcAft>
              <a:buNone/>
            </a:pPr>
            <a:r>
              <a:rPr lang="en-US" sz="1150" b="1" dirty="0">
                <a:solidFill>
                  <a:srgbClr val="0B0F19"/>
                </a:solidFill>
                <a:latin typeface="Arial" pitchFamily="34" charset="0"/>
                <a:ea typeface="Arial" pitchFamily="34" charset="-122"/>
                <a:cs typeface="Arial" pitchFamily="34" charset="-120"/>
              </a:rPr>
              <a:t>Supprimer. </a:t>
            </a:r>
            <a:pPr indent="0" marL="0">
              <a:lnSpc>
                <a:spcPct val="118000"/>
              </a:lnSpc>
              <a:spcAft>
                <a:spcPts val="800"/>
              </a:spcAft>
              <a:buNone/>
            </a:pPr>
            <a:r>
              <a:rPr lang="en-US" sz="1150" dirty="0">
                <a:solidFill>
                  <a:srgbClr val="3D4556"/>
                </a:solidFill>
                <a:latin typeface="Arial" pitchFamily="34" charset="0"/>
                <a:ea typeface="Arial" pitchFamily="34" charset="-122"/>
                <a:cs typeface="Arial" pitchFamily="34" charset="-120"/>
              </a:rPr>
              <a:t>Efface comptages, fichiers, audits et membres. La confirmation nomme l'inventaire ; lisez-la.</a:t>
            </a:r>
            <a:endParaRPr lang="en-US" sz="1150" dirty="0"/>
          </a:p>
        </p:txBody>
      </p:sp>
      <p:sp>
        <p:nvSpPr>
          <p:cNvPr id="8" name="Shape 5"/>
          <p:cNvSpPr/>
          <p:nvPr/>
        </p:nvSpPr>
        <p:spPr>
          <a:xfrm>
            <a:off x="5340096" y="1316736"/>
            <a:ext cx="6172200" cy="4187624"/>
          </a:xfrm>
          <a:prstGeom prst="roundRect">
            <a:avLst>
              <a:gd name="adj" fmla="val 1747"/>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4077896"/>
          </a:xfrm>
          <a:prstGeom prst="rect">
            <a:avLst/>
          </a:prstGeom>
        </p:spPr>
      </p:pic>
      <p:sp>
        <p:nvSpPr>
          <p:cNvPr id="10" name="Text 6"/>
          <p:cNvSpPr/>
          <p:nvPr/>
        </p:nvSpPr>
        <p:spPr>
          <a:xfrm>
            <a:off x="5394960" y="558665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Rapport,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2011680"/>
            <a:ext cx="2743200" cy="1097280"/>
          </a:xfrm>
          <a:prstGeom prst="rect">
            <a:avLst/>
          </a:prstGeom>
          <a:noFill/>
          <a:ln/>
        </p:spPr>
        <p:txBody>
          <a:bodyPr wrap="square" lIns="0" tIns="0" rIns="0" bIns="0" rtlCol="0" anchor="t"/>
          <a:lstStyle/>
          <a:p>
            <a:pPr indent="0" marL="0">
              <a:buNone/>
            </a:pPr>
            <a:r>
              <a:rPr lang="en-US" sz="7200" b="1" dirty="0">
                <a:solidFill>
                  <a:srgbClr val="EEEEFC"/>
                </a:solidFill>
                <a:latin typeface="Arial" pitchFamily="34" charset="0"/>
                <a:ea typeface="Arial" pitchFamily="34" charset="-122"/>
                <a:cs typeface="Arial" pitchFamily="34" charset="-120"/>
              </a:rPr>
              <a:t>2</a:t>
            </a:r>
            <a:endParaRPr lang="en-US" sz="7200" dirty="0"/>
          </a:p>
        </p:txBody>
      </p:sp>
      <p:sp>
        <p:nvSpPr>
          <p:cNvPr id="7" name="Text 4"/>
          <p:cNvSpPr/>
          <p:nvPr/>
        </p:nvSpPr>
        <p:spPr>
          <a:xfrm>
            <a:off x="731520" y="3063240"/>
            <a:ext cx="8229600" cy="822960"/>
          </a:xfrm>
          <a:prstGeom prst="rect">
            <a:avLst/>
          </a:prstGeom>
          <a:noFill/>
          <a:ln/>
        </p:spPr>
        <p:txBody>
          <a:bodyPr wrap="square" lIns="0" tIns="0" rIns="0" bIns="0" rtlCol="0" anchor="t"/>
          <a:lstStyle/>
          <a:p>
            <a:pPr indent="0" marL="0">
              <a:buNone/>
            </a:pPr>
            <a:r>
              <a:rPr lang="en-US" sz="3400" b="1" dirty="0">
                <a:solidFill>
                  <a:srgbClr val="4636B0"/>
                </a:solidFill>
                <a:latin typeface="Arial" pitchFamily="34" charset="0"/>
                <a:ea typeface="Arial" pitchFamily="34" charset="-122"/>
                <a:cs typeface="Arial" pitchFamily="34" charset="-120"/>
              </a:rPr>
              <a:t>Compter</a:t>
            </a:r>
            <a:endParaRPr lang="en-US" sz="3400" dirty="0"/>
          </a:p>
        </p:txBody>
      </p:sp>
      <p:sp>
        <p:nvSpPr>
          <p:cNvPr id="8" name="Text 5"/>
          <p:cNvSpPr/>
          <p:nvPr/>
        </p:nvSpPr>
        <p:spPr>
          <a:xfrm>
            <a:off x="731520" y="3977640"/>
            <a:ext cx="7772400" cy="1280160"/>
          </a:xfrm>
          <a:prstGeom prst="rect">
            <a:avLst/>
          </a:prstGeom>
          <a:noFill/>
          <a:ln/>
        </p:spPr>
        <p:txBody>
          <a:bodyPr wrap="square" lIns="0" tIns="0" rIns="0" bIns="0" rtlCol="0" anchor="t"/>
          <a:lstStyle/>
          <a:p>
            <a:pPr indent="0" marL="0">
              <a:lnSpc>
                <a:spcPct val="120000"/>
              </a:lnSpc>
              <a:buNone/>
            </a:pPr>
            <a:r>
              <a:rPr lang="en-US" sz="1400" dirty="0">
                <a:solidFill>
                  <a:srgbClr val="3D4556"/>
                </a:solidFill>
                <a:latin typeface="Arial" pitchFamily="34" charset="0"/>
                <a:ea typeface="Arial" pitchFamily="34" charset="-122"/>
                <a:cs typeface="Arial" pitchFamily="34" charset="-120"/>
              </a:rPr>
              <a:t>La partie du compteur. Trois pages, à imprimer si on veut : rejoindre, compter en trois gestes, et quoi faire quand quelque chose ne se passe pas comme prévu.</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Rejoindre un inventaire. Deux façons, la première suffit presque toujours.</a:t>
            </a:r>
            <a:endParaRPr lang="en-US" sz="2600" dirty="0"/>
          </a:p>
        </p:txBody>
      </p:sp>
      <p:sp>
        <p:nvSpPr>
          <p:cNvPr id="7" name="Text 4"/>
          <p:cNvSpPr/>
          <p:nvPr/>
        </p:nvSpPr>
        <p:spPr>
          <a:xfrm>
            <a:off x="731520" y="3429000"/>
            <a:ext cx="5303520" cy="2743200"/>
          </a:xfrm>
          <a:prstGeom prst="rect">
            <a:avLst/>
          </a:prstGeom>
          <a:noFill/>
          <a:ln/>
        </p:spPr>
        <p:txBody>
          <a:bodyPr wrap="square" lIns="0" tIns="0" rIns="0" bIns="0" rtlCol="0" anchor="t"/>
          <a:lstStyle/>
          <a:p>
            <a:pPr indent="0" marL="0">
              <a:lnSpc>
                <a:spcPct val="118000"/>
              </a:lnSpc>
              <a:spcAft>
                <a:spcPts val="900"/>
              </a:spcAft>
              <a:buNone/>
            </a:pPr>
            <a:r>
              <a:rPr lang="en-US" sz="1150" b="1" dirty="0">
                <a:solidFill>
                  <a:srgbClr val="0B0F19"/>
                </a:solidFill>
                <a:latin typeface="Arial" pitchFamily="34" charset="0"/>
                <a:ea typeface="Arial" pitchFamily="34" charset="-122"/>
                <a:cs typeface="Arial" pitchFamily="34" charset="-120"/>
              </a:rPr>
              <a:t>On vous a ajouté. </a:t>
            </a:r>
            <a:pPr indent="0" marL="0">
              <a:lnSpc>
                <a:spcPct val="118000"/>
              </a:lnSpc>
              <a:spcAft>
                <a:spcPts val="900"/>
              </a:spcAft>
              <a:buNone/>
            </a:pPr>
            <a:r>
              <a:rPr lang="en-US" sz="1150" dirty="0">
                <a:solidFill>
                  <a:srgbClr val="3D4556"/>
                </a:solidFill>
                <a:latin typeface="Arial" pitchFamily="34" charset="0"/>
                <a:ea typeface="Arial" pitchFamily="34" charset="-122"/>
                <a:cs typeface="Arial" pitchFamily="34" charset="-120"/>
              </a:rPr>
              <a:t>L'inventaire est dans « Mes inventaires » dès que vous ouvrez l'application, et vous avez reçu une notification. Touchez-le.</a:t>
            </a:r>
            <a:endParaRPr lang="en-US" sz="1150" dirty="0"/>
          </a:p>
          <a:p>
            <a:pPr indent="0" marL="0">
              <a:lnSpc>
                <a:spcPct val="118000"/>
              </a:lnSpc>
              <a:spcAft>
                <a:spcPts val="900"/>
              </a:spcAft>
              <a:buNone/>
            </a:pPr>
            <a:r>
              <a:rPr lang="en-US" sz="1150" b="1" dirty="0">
                <a:solidFill>
                  <a:srgbClr val="0B0F19"/>
                </a:solidFill>
                <a:latin typeface="Arial" pitchFamily="34" charset="0"/>
                <a:ea typeface="Arial" pitchFamily="34" charset="-122"/>
                <a:cs typeface="Arial" pitchFamily="34" charset="-120"/>
              </a:rPr>
              <a:t>On vous a donné un numéro et un code. </a:t>
            </a:r>
            <a:pPr indent="0" marL="0">
              <a:lnSpc>
                <a:spcPct val="118000"/>
              </a:lnSpc>
              <a:spcAft>
                <a:spcPts val="900"/>
              </a:spcAft>
              <a:buNone/>
            </a:pPr>
            <a:r>
              <a:rPr lang="en-US" sz="1150" dirty="0">
                <a:solidFill>
                  <a:srgbClr val="3D4556"/>
                </a:solidFill>
                <a:latin typeface="Arial" pitchFamily="34" charset="0"/>
                <a:ea typeface="Arial" pitchFamily="34" charset="-122"/>
                <a:cs typeface="Arial" pitchFamily="34" charset="-120"/>
              </a:rPr>
              <a:t>« Rejoindre un inventaire », en bas de l'écran : le numéro (INV-…), le code. C'est le cas d'un renfort de dernière minute.</a:t>
            </a:r>
            <a:endParaRPr lang="en-US" sz="1150" dirty="0"/>
          </a:p>
          <a:p>
            <a:pPr indent="0" marL="0">
              <a:lnSpc>
                <a:spcPct val="118000"/>
              </a:lnSpc>
              <a:spcAft>
                <a:spcPts val="900"/>
              </a:spcAft>
              <a:buNone/>
            </a:pPr>
            <a:r>
              <a:rPr lang="en-US" sz="1150" b="1" dirty="0">
                <a:solidFill>
                  <a:srgbClr val="0B0F19"/>
                </a:solidFill>
                <a:latin typeface="Arial" pitchFamily="34" charset="0"/>
                <a:ea typeface="Arial" pitchFamily="34" charset="-122"/>
                <a:cs typeface="Arial" pitchFamily="34" charset="-120"/>
              </a:rPr>
              <a:t>Ensuite. </a:t>
            </a:r>
            <a:pPr indent="0" marL="0">
              <a:lnSpc>
                <a:spcPct val="118000"/>
              </a:lnSpc>
              <a:spcAft>
                <a:spcPts val="900"/>
              </a:spcAft>
              <a:buNone/>
            </a:pPr>
            <a:r>
              <a:rPr lang="en-US" sz="1150" dirty="0">
                <a:solidFill>
                  <a:srgbClr val="3D4556"/>
                </a:solidFill>
                <a:latin typeface="Arial" pitchFamily="34" charset="0"/>
                <a:ea typeface="Arial" pitchFamily="34" charset="-122"/>
                <a:cs typeface="Arial" pitchFamily="34" charset="-120"/>
              </a:rPr>
              <a:t>L'écran de l'inventaire propose « Compter des articles », « Auditer des articles », et « Quitter l'inventaire ». Quitter ne supprime rien de ce que vous avez compté.</a:t>
            </a:r>
            <a:endParaRPr lang="en-US" sz="1150" dirty="0"/>
          </a:p>
        </p:txBody>
      </p:sp>
      <p:sp>
        <p:nvSpPr>
          <p:cNvPr id="8" name="Shape 5"/>
          <p:cNvSpPr/>
          <p:nvPr/>
        </p:nvSpPr>
        <p:spPr>
          <a:xfrm>
            <a:off x="7498080" y="1325880"/>
            <a:ext cx="2194560" cy="4498848"/>
          </a:xfrm>
          <a:prstGeom prst="roundRect">
            <a:avLst>
              <a:gd name="adj" fmla="val 11667"/>
            </a:avLst>
          </a:prstGeom>
          <a:solidFill>
            <a:srgbClr val="FFFFFF"/>
          </a:solidFill>
          <a:ln w="19050">
            <a:solidFill>
              <a:srgbClr val="0B0F19"/>
            </a:solidFill>
            <a:prstDash val="solid"/>
          </a:ln>
        </p:spPr>
      </p:sp>
      <p:sp>
        <p:nvSpPr>
          <p:cNvPr id="9" name="Shape 6"/>
          <p:cNvSpPr/>
          <p:nvPr/>
        </p:nvSpPr>
        <p:spPr>
          <a:xfrm>
            <a:off x="8275320" y="1472184"/>
            <a:ext cx="640080" cy="91440"/>
          </a:xfrm>
          <a:prstGeom prst="roundRect">
            <a:avLst>
              <a:gd name="adj" fmla="val 50000"/>
            </a:avLst>
          </a:prstGeom>
          <a:solidFill>
            <a:srgbClr val="0B0F19"/>
          </a:solidFill>
          <a:ln w="12700">
            <a:solidFill>
              <a:srgbClr val="0B0F19"/>
            </a:solidFill>
            <a:prstDash val="solid"/>
          </a:ln>
        </p:spPr>
      </p:sp>
      <p:sp>
        <p:nvSpPr>
          <p:cNvPr id="10" name="Text 7"/>
          <p:cNvSpPr/>
          <p:nvPr/>
        </p:nvSpPr>
        <p:spPr>
          <a:xfrm>
            <a:off x="7699248" y="1783080"/>
            <a:ext cx="1792224" cy="457200"/>
          </a:xfrm>
          <a:prstGeom prst="rect">
            <a:avLst/>
          </a:prstGeom>
          <a:noFill/>
          <a:ln/>
        </p:spPr>
        <p:txBody>
          <a:bodyPr wrap="square" lIns="0" tIns="0" rIns="0" bIns="0" rtlCol="0" anchor="t"/>
          <a:lstStyle/>
          <a:p>
            <a:pPr indent="0" marL="0">
              <a:lnSpc>
                <a:spcPct val="112000"/>
              </a:lnSpc>
              <a:buNone/>
            </a:pPr>
            <a:r>
              <a:rPr lang="en-US" sz="1050" dirty="0">
                <a:solidFill>
                  <a:srgbClr val="0B0F19"/>
                </a:solidFill>
                <a:latin typeface="Arial" pitchFamily="34" charset="0"/>
                <a:ea typeface="Arial" pitchFamily="34" charset="-122"/>
                <a:cs typeface="Arial" pitchFamily="34" charset="-120"/>
              </a:rPr>
              <a:t>Bonjour, Camille</a:t>
            </a:r>
            <a:endParaRPr lang="en-US" sz="1050" dirty="0"/>
          </a:p>
        </p:txBody>
      </p:sp>
      <p:sp>
        <p:nvSpPr>
          <p:cNvPr id="11" name="Text 8"/>
          <p:cNvSpPr/>
          <p:nvPr/>
        </p:nvSpPr>
        <p:spPr>
          <a:xfrm>
            <a:off x="7699248" y="2148840"/>
            <a:ext cx="1792224" cy="256032"/>
          </a:xfrm>
          <a:prstGeom prst="rect">
            <a:avLst/>
          </a:prstGeom>
          <a:noFill/>
          <a:ln/>
        </p:spPr>
        <p:txBody>
          <a:bodyPr wrap="square" lIns="0" tIns="0" rIns="0" bIns="0" rtlCol="0" anchor="t"/>
          <a:lstStyle/>
          <a:p>
            <a:pPr indent="0" marL="0">
              <a:buNone/>
            </a:pPr>
            <a:r>
              <a:rPr lang="en-US" sz="900" b="1" dirty="0">
                <a:solidFill>
                  <a:srgbClr val="5B6475"/>
                </a:solidFill>
                <a:latin typeface="Arial" pitchFamily="34" charset="0"/>
                <a:ea typeface="Arial" pitchFamily="34" charset="-122"/>
                <a:cs typeface="Arial" pitchFamily="34" charset="-120"/>
              </a:rPr>
              <a:t>MES INVENTAIRES</a:t>
            </a:r>
            <a:endParaRPr lang="en-US" sz="900" dirty="0"/>
          </a:p>
        </p:txBody>
      </p:sp>
      <p:sp>
        <p:nvSpPr>
          <p:cNvPr id="12" name="Text 9"/>
          <p:cNvSpPr/>
          <p:nvPr/>
        </p:nvSpPr>
        <p:spPr>
          <a:xfrm>
            <a:off x="7699248" y="2441448"/>
            <a:ext cx="1792224" cy="457200"/>
          </a:xfrm>
          <a:prstGeom prst="rect">
            <a:avLst/>
          </a:prstGeom>
          <a:noFill/>
          <a:ln/>
        </p:spPr>
        <p:txBody>
          <a:bodyPr wrap="square" lIns="0" tIns="0" rIns="0" bIns="0" rtlCol="0" anchor="t"/>
          <a:lstStyle/>
          <a:p>
            <a:pPr indent="0" marL="0">
              <a:lnSpc>
                <a:spcPct val="112000"/>
              </a:lnSpc>
              <a:buNone/>
            </a:pPr>
            <a:r>
              <a:rPr lang="en-US" sz="1050" dirty="0">
                <a:solidFill>
                  <a:srgbClr val="0B0F19"/>
                </a:solidFill>
                <a:latin typeface="Arial" pitchFamily="34" charset="0"/>
                <a:ea typeface="Arial" pitchFamily="34" charset="-122"/>
                <a:cs typeface="Arial" pitchFamily="34" charset="-120"/>
              </a:rPr>
              <a:t>Rayon textile · En cours</a:t>
            </a:r>
            <a:endParaRPr lang="en-US" sz="1050" dirty="0"/>
          </a:p>
          <a:p>
            <a:pPr indent="0" marL="0">
              <a:lnSpc>
                <a:spcPct val="112000"/>
              </a:lnSpc>
              <a:buNone/>
            </a:pPr>
            <a:r>
              <a:rPr lang="en-US" sz="1050" dirty="0">
                <a:solidFill>
                  <a:srgbClr val="0B0F19"/>
                </a:solidFill>
                <a:latin typeface="Arial" pitchFamily="34" charset="0"/>
                <a:ea typeface="Arial" pitchFamily="34" charset="-122"/>
                <a:cs typeface="Arial" pitchFamily="34" charset="-120"/>
              </a:rPr>
              <a:t>INV-20260901-A3F2</a:t>
            </a:r>
            <a:endParaRPr lang="en-US" sz="1050" dirty="0"/>
          </a:p>
        </p:txBody>
      </p:sp>
      <p:sp>
        <p:nvSpPr>
          <p:cNvPr id="13" name="Text 10"/>
          <p:cNvSpPr/>
          <p:nvPr/>
        </p:nvSpPr>
        <p:spPr>
          <a:xfrm>
            <a:off x="7699248" y="2990088"/>
            <a:ext cx="1792224" cy="457200"/>
          </a:xfrm>
          <a:prstGeom prst="rect">
            <a:avLst/>
          </a:prstGeom>
          <a:noFill/>
          <a:ln/>
        </p:spPr>
        <p:txBody>
          <a:bodyPr wrap="square" lIns="0" tIns="0" rIns="0" bIns="0" rtlCol="0" anchor="t"/>
          <a:lstStyle/>
          <a:p>
            <a:pPr indent="0" marL="0">
              <a:lnSpc>
                <a:spcPct val="112000"/>
              </a:lnSpc>
              <a:buNone/>
            </a:pPr>
            <a:r>
              <a:rPr lang="en-US" sz="1050" dirty="0">
                <a:solidFill>
                  <a:srgbClr val="0B0F19"/>
                </a:solidFill>
                <a:latin typeface="Arial" pitchFamily="34" charset="0"/>
                <a:ea typeface="Arial" pitchFamily="34" charset="-122"/>
                <a:cs typeface="Arial" pitchFamily="34" charset="-120"/>
              </a:rPr>
              <a:t>Réserve · Préparation</a:t>
            </a:r>
            <a:endParaRPr lang="en-US" sz="1050" dirty="0"/>
          </a:p>
          <a:p>
            <a:pPr indent="0" marL="0">
              <a:lnSpc>
                <a:spcPct val="112000"/>
              </a:lnSpc>
              <a:buNone/>
            </a:pPr>
            <a:r>
              <a:rPr lang="en-US" sz="1050" dirty="0">
                <a:solidFill>
                  <a:srgbClr val="0B0F19"/>
                </a:solidFill>
                <a:latin typeface="Arial" pitchFamily="34" charset="0"/>
                <a:ea typeface="Arial" pitchFamily="34" charset="-122"/>
                <a:cs typeface="Arial" pitchFamily="34" charset="-120"/>
              </a:rPr>
              <a:t>INV-20260828-C9B1</a:t>
            </a:r>
            <a:endParaRPr lang="en-US" sz="1050" dirty="0"/>
          </a:p>
        </p:txBody>
      </p:sp>
      <p:sp>
        <p:nvSpPr>
          <p:cNvPr id="14" name="Shape 11"/>
          <p:cNvSpPr/>
          <p:nvPr/>
        </p:nvSpPr>
        <p:spPr>
          <a:xfrm>
            <a:off x="7699248" y="3675888"/>
            <a:ext cx="1792224" cy="402336"/>
          </a:xfrm>
          <a:prstGeom prst="roundRect">
            <a:avLst>
              <a:gd name="adj" fmla="val 22727"/>
            </a:avLst>
          </a:prstGeom>
          <a:solidFill>
            <a:srgbClr val="F4F5F9"/>
          </a:solidFill>
          <a:ln w="12700">
            <a:solidFill>
              <a:srgbClr val="F4F5F9"/>
            </a:solidFill>
            <a:prstDash val="solid"/>
          </a:ln>
        </p:spPr>
      </p:sp>
      <p:sp>
        <p:nvSpPr>
          <p:cNvPr id="15" name="Text 12"/>
          <p:cNvSpPr/>
          <p:nvPr/>
        </p:nvSpPr>
        <p:spPr>
          <a:xfrm>
            <a:off x="7699248" y="3675888"/>
            <a:ext cx="1792224" cy="402336"/>
          </a:xfrm>
          <a:prstGeom prst="rect">
            <a:avLst/>
          </a:prstGeom>
          <a:noFill/>
          <a:ln/>
        </p:spPr>
        <p:txBody>
          <a:bodyPr wrap="square" lIns="0" tIns="0" rIns="0" bIns="0" rtlCol="0" anchor="ctr"/>
          <a:lstStyle/>
          <a:p>
            <a:pPr algn="ctr" indent="0" marL="0">
              <a:buNone/>
            </a:pPr>
            <a:r>
              <a:rPr lang="en-US" sz="1050" b="1" dirty="0">
                <a:solidFill>
                  <a:srgbClr val="0B0F19"/>
                </a:solidFill>
                <a:latin typeface="Arial" pitchFamily="34" charset="0"/>
                <a:ea typeface="Arial" pitchFamily="34" charset="-122"/>
                <a:cs typeface="Arial" pitchFamily="34" charset="-120"/>
              </a:rPr>
              <a:t>Rejoindre un autre inventaire</a:t>
            </a:r>
            <a:endParaRPr lang="en-US" sz="1050" dirty="0"/>
          </a:p>
        </p:txBody>
      </p:sp>
      <p:sp>
        <p:nvSpPr>
          <p:cNvPr id="16" name="Shape 13"/>
          <p:cNvSpPr/>
          <p:nvPr/>
        </p:nvSpPr>
        <p:spPr>
          <a:xfrm>
            <a:off x="7699248" y="4187952"/>
            <a:ext cx="1792224" cy="365760"/>
          </a:xfrm>
          <a:prstGeom prst="roundRect">
            <a:avLst>
              <a:gd name="adj" fmla="val 20000"/>
            </a:avLst>
          </a:prstGeom>
          <a:solidFill>
            <a:srgbClr val="FFFFFF"/>
          </a:solidFill>
          <a:ln w="12700">
            <a:solidFill>
              <a:srgbClr val="E3E6EE"/>
            </a:solidFill>
            <a:prstDash val="solid"/>
          </a:ln>
        </p:spPr>
      </p:sp>
      <p:sp>
        <p:nvSpPr>
          <p:cNvPr id="17" name="Text 14"/>
          <p:cNvSpPr/>
          <p:nvPr/>
        </p:nvSpPr>
        <p:spPr>
          <a:xfrm>
            <a:off x="7808976" y="4187952"/>
            <a:ext cx="1572768" cy="365760"/>
          </a:xfrm>
          <a:prstGeom prst="rect">
            <a:avLst/>
          </a:prstGeom>
          <a:noFill/>
          <a:ln/>
        </p:spPr>
        <p:txBody>
          <a:bodyPr wrap="square" lIns="0" tIns="0" rIns="0" bIns="0" rtlCol="0" anchor="ctr"/>
          <a:lstStyle/>
          <a:p>
            <a:pPr indent="0" marL="0">
              <a:buNone/>
            </a:pPr>
            <a:r>
              <a:rPr lang="en-US" sz="1000" dirty="0">
                <a:solidFill>
                  <a:srgbClr val="5B6475"/>
                </a:solidFill>
                <a:latin typeface="Arial" pitchFamily="34" charset="0"/>
                <a:ea typeface="Arial" pitchFamily="34" charset="-122"/>
                <a:cs typeface="Arial" pitchFamily="34" charset="-120"/>
              </a:rPr>
              <a:t>N° d'inventaire</a:t>
            </a:r>
            <a:endParaRPr lang="en-US" sz="1000" dirty="0"/>
          </a:p>
        </p:txBody>
      </p:sp>
      <p:sp>
        <p:nvSpPr>
          <p:cNvPr id="18" name="Shape 15"/>
          <p:cNvSpPr/>
          <p:nvPr/>
        </p:nvSpPr>
        <p:spPr>
          <a:xfrm>
            <a:off x="7699248" y="4645152"/>
            <a:ext cx="1792224" cy="365760"/>
          </a:xfrm>
          <a:prstGeom prst="roundRect">
            <a:avLst>
              <a:gd name="adj" fmla="val 20000"/>
            </a:avLst>
          </a:prstGeom>
          <a:solidFill>
            <a:srgbClr val="FFFFFF"/>
          </a:solidFill>
          <a:ln w="12700">
            <a:solidFill>
              <a:srgbClr val="E3E6EE"/>
            </a:solidFill>
            <a:prstDash val="solid"/>
          </a:ln>
        </p:spPr>
      </p:sp>
      <p:sp>
        <p:nvSpPr>
          <p:cNvPr id="19" name="Text 16"/>
          <p:cNvSpPr/>
          <p:nvPr/>
        </p:nvSpPr>
        <p:spPr>
          <a:xfrm>
            <a:off x="7808976" y="4645152"/>
            <a:ext cx="1572768" cy="365760"/>
          </a:xfrm>
          <a:prstGeom prst="rect">
            <a:avLst/>
          </a:prstGeom>
          <a:noFill/>
          <a:ln/>
        </p:spPr>
        <p:txBody>
          <a:bodyPr wrap="square" lIns="0" tIns="0" rIns="0" bIns="0" rtlCol="0" anchor="ctr"/>
          <a:lstStyle/>
          <a:p>
            <a:pPr indent="0" marL="0">
              <a:buNone/>
            </a:pPr>
            <a:r>
              <a:rPr lang="en-US" sz="1000" dirty="0">
                <a:solidFill>
                  <a:srgbClr val="5B6475"/>
                </a:solidFill>
                <a:latin typeface="Arial" pitchFamily="34" charset="0"/>
                <a:ea typeface="Arial" pitchFamily="34" charset="-122"/>
                <a:cs typeface="Arial" pitchFamily="34" charset="-120"/>
              </a:rPr>
              <a:t>Code inventaire</a:t>
            </a:r>
            <a:endParaRPr lang="en-US" sz="1000" dirty="0"/>
          </a:p>
        </p:txBody>
      </p:sp>
      <p:sp>
        <p:nvSpPr>
          <p:cNvPr id="20" name="Shape 17"/>
          <p:cNvSpPr/>
          <p:nvPr/>
        </p:nvSpPr>
        <p:spPr>
          <a:xfrm>
            <a:off x="7699248" y="5102352"/>
            <a:ext cx="1792224" cy="402336"/>
          </a:xfrm>
          <a:prstGeom prst="roundRect">
            <a:avLst>
              <a:gd name="adj" fmla="val 22727"/>
            </a:avLst>
          </a:prstGeom>
          <a:solidFill>
            <a:srgbClr val="6366F1"/>
          </a:solidFill>
          <a:ln w="12700">
            <a:solidFill>
              <a:srgbClr val="6366F1"/>
            </a:solidFill>
            <a:prstDash val="solid"/>
          </a:ln>
        </p:spPr>
      </p:sp>
      <p:sp>
        <p:nvSpPr>
          <p:cNvPr id="21" name="Text 18"/>
          <p:cNvSpPr/>
          <p:nvPr/>
        </p:nvSpPr>
        <p:spPr>
          <a:xfrm>
            <a:off x="7699248" y="5102352"/>
            <a:ext cx="1792224" cy="40233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Rejoindre</a:t>
            </a:r>
            <a:endParaRPr lang="en-US" sz="1050" dirty="0"/>
          </a:p>
        </p:txBody>
      </p:sp>
      <p:sp>
        <p:nvSpPr>
          <p:cNvPr id="22" name="Text 19"/>
          <p:cNvSpPr/>
          <p:nvPr/>
        </p:nvSpPr>
        <p:spPr>
          <a:xfrm>
            <a:off x="7040880" y="5916168"/>
            <a:ext cx="3108960"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Schéma de l'écran d'accueil du compteur.</a:t>
            </a:r>
            <a:endParaRPr lang="en-US" sz="100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Compter, en trois gestes. Puis la balise suivante.</a:t>
            </a:r>
            <a:endParaRPr lang="en-US" sz="2600" dirty="0"/>
          </a:p>
        </p:txBody>
      </p:sp>
      <p:sp>
        <p:nvSpPr>
          <p:cNvPr id="7" name="Text 4"/>
          <p:cNvSpPr/>
          <p:nvPr/>
        </p:nvSpPr>
        <p:spPr>
          <a:xfrm>
            <a:off x="731520" y="2377440"/>
            <a:ext cx="457200" cy="45720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5"/>
          <p:cNvSpPr/>
          <p:nvPr/>
        </p:nvSpPr>
        <p:spPr>
          <a:xfrm>
            <a:off x="731520" y="2971800"/>
            <a:ext cx="3270504" cy="41148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Scannez la balise du rayon</a:t>
            </a:r>
            <a:endParaRPr lang="en-US" sz="1600" dirty="0"/>
          </a:p>
        </p:txBody>
      </p:sp>
      <p:sp>
        <p:nvSpPr>
          <p:cNvPr id="9" name="Text 6"/>
          <p:cNvSpPr/>
          <p:nvPr/>
        </p:nvSpPr>
        <p:spPr>
          <a:xfrm>
            <a:off x="731520" y="3429000"/>
            <a:ext cx="3270504" cy="173736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Elle ouvre la zone. Tant qu'elle est ouverte, tout ce que vous scannez compte ici. L'application vous le rappelle si vous essayez de scanner un article sans balise.</a:t>
            </a:r>
            <a:endParaRPr lang="en-US" sz="1200" dirty="0"/>
          </a:p>
        </p:txBody>
      </p:sp>
      <p:sp>
        <p:nvSpPr>
          <p:cNvPr id="10" name="Text 7"/>
          <p:cNvSpPr/>
          <p:nvPr/>
        </p:nvSpPr>
        <p:spPr>
          <a:xfrm>
            <a:off x="4459224" y="2377440"/>
            <a:ext cx="457200" cy="45720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1" name="Text 8"/>
          <p:cNvSpPr/>
          <p:nvPr/>
        </p:nvSpPr>
        <p:spPr>
          <a:xfrm>
            <a:off x="4459224" y="2971800"/>
            <a:ext cx="3270504" cy="41148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Scannez les articles</a:t>
            </a:r>
            <a:endParaRPr lang="en-US" sz="1600" dirty="0"/>
          </a:p>
        </p:txBody>
      </p:sp>
      <p:sp>
        <p:nvSpPr>
          <p:cNvPr id="12" name="Text 9"/>
          <p:cNvSpPr/>
          <p:nvPr/>
        </p:nvSpPr>
        <p:spPr>
          <a:xfrm>
            <a:off x="4459224" y="3429000"/>
            <a:ext cx="3270504" cy="173736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Pointez la caméra vers le code-barres : le scan est automatique. Un article scanné trois fois compte trois. Pour une pile, scannez une fois puis ajustez la quantité avec + et − dans la liste. Pas de code-barres lisible ? Tapez le code (EAN ou SKU) dans le champ.</a:t>
            </a:r>
            <a:endParaRPr lang="en-US" sz="1200" dirty="0"/>
          </a:p>
        </p:txBody>
      </p:sp>
      <p:sp>
        <p:nvSpPr>
          <p:cNvPr id="13" name="Text 10"/>
          <p:cNvSpPr/>
          <p:nvPr/>
        </p:nvSpPr>
        <p:spPr>
          <a:xfrm>
            <a:off x="8186928" y="2377440"/>
            <a:ext cx="457200" cy="45720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4" name="Text 11"/>
          <p:cNvSpPr/>
          <p:nvPr/>
        </p:nvSpPr>
        <p:spPr>
          <a:xfrm>
            <a:off x="8186928" y="2971800"/>
            <a:ext cx="3270504" cy="41148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Clôturez la balise</a:t>
            </a:r>
            <a:endParaRPr lang="en-US" sz="1600" dirty="0"/>
          </a:p>
        </p:txBody>
      </p:sp>
      <p:sp>
        <p:nvSpPr>
          <p:cNvPr id="15" name="Text 12"/>
          <p:cNvSpPr/>
          <p:nvPr/>
        </p:nvSpPr>
        <p:spPr>
          <a:xfrm>
            <a:off x="8186928" y="3429000"/>
            <a:ext cx="3270504" cy="173736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 Clôturer la balise » dit « j'ai fini ici ». Le superviseur voit la zone passer en comptée. Passez à la balise suivante. « Revenir sur une balise » la rouvre si vous avez oublié un rayonnage.</a:t>
            </a:r>
            <a:endParaRPr lang="en-US" sz="1200" dirty="0"/>
          </a:p>
        </p:txBody>
      </p:sp>
      <p:sp>
        <p:nvSpPr>
          <p:cNvPr id="16" name="Shape 13"/>
          <p:cNvSpPr/>
          <p:nvPr/>
        </p:nvSpPr>
        <p:spPr>
          <a:xfrm>
            <a:off x="731520" y="5303520"/>
            <a:ext cx="10725912" cy="914400"/>
          </a:xfrm>
          <a:prstGeom prst="roundRect">
            <a:avLst>
              <a:gd name="adj" fmla="val 8000"/>
            </a:avLst>
          </a:prstGeom>
          <a:solidFill>
            <a:srgbClr val="F4F5F9"/>
          </a:solidFill>
          <a:ln w="12700">
            <a:solidFill>
              <a:srgbClr val="F4F5F9"/>
            </a:solidFill>
            <a:prstDash val="solid"/>
          </a:ln>
        </p:spPr>
      </p:sp>
      <p:sp>
        <p:nvSpPr>
          <p:cNvPr id="17" name="Text 14"/>
          <p:cNvSpPr/>
          <p:nvPr/>
        </p:nvSpPr>
        <p:spPr>
          <a:xfrm>
            <a:off x="1005840" y="546811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Se corriger</a:t>
            </a:r>
            <a:endParaRPr lang="en-US" sz="950" dirty="0"/>
          </a:p>
        </p:txBody>
      </p:sp>
      <p:sp>
        <p:nvSpPr>
          <p:cNvPr id="18" name="Text 15"/>
          <p:cNvSpPr/>
          <p:nvPr/>
        </p:nvSpPr>
        <p:spPr>
          <a:xfrm>
            <a:off x="1005840" y="572414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Une ligne de trop se supprime, une quantité se modifie, depuis la liste sous le scanner. Rien n'est définitif avant la clôture par le superviseur. Et si vous quittez l'application, vos comptages restent.</a:t>
            </a:r>
            <a:endParaRPr lang="en-US" sz="1150" dirty="0"/>
          </a:p>
        </p:txBody>
      </p:sp>
      <p:sp>
        <p:nvSpPr>
          <p:cNvPr id="19" name="Text 1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Quand ça ne se passe pas comme prévu</a:t>
            </a:r>
            <a:endParaRPr lang="en-US" sz="2600" dirty="0"/>
          </a:p>
        </p:txBody>
      </p:sp>
      <p:sp>
        <p:nvSpPr>
          <p:cNvPr id="7" name="Text 4"/>
          <p:cNvSpPr/>
          <p:nvPr/>
        </p:nvSpPr>
        <p:spPr>
          <a:xfrm>
            <a:off x="731520" y="2103120"/>
            <a:ext cx="3657600" cy="274320"/>
          </a:xfrm>
          <a:prstGeom prst="rect">
            <a:avLst/>
          </a:prstGeom>
          <a:noFill/>
          <a:ln/>
        </p:spPr>
        <p:txBody>
          <a:bodyPr wrap="square" lIns="0" tIns="0" rIns="0" bIns="0" rtlCol="0" anchor="t"/>
          <a:lstStyle/>
          <a:p>
            <a:pPr indent="0" marL="0">
              <a:buNone/>
            </a:pPr>
            <a:r>
              <a:rPr lang="en-US" sz="1050" b="1" dirty="0">
                <a:solidFill>
                  <a:srgbClr val="5B6475"/>
                </a:solidFill>
                <a:latin typeface="Arial" pitchFamily="34" charset="0"/>
                <a:ea typeface="Arial" pitchFamily="34" charset="-122"/>
                <a:cs typeface="Arial" pitchFamily="34" charset="-120"/>
              </a:rPr>
              <a:t>Ce qui arrive</a:t>
            </a:r>
            <a:endParaRPr lang="en-US" sz="1050" dirty="0"/>
          </a:p>
        </p:txBody>
      </p:sp>
      <p:sp>
        <p:nvSpPr>
          <p:cNvPr id="8" name="Text 5"/>
          <p:cNvSpPr/>
          <p:nvPr/>
        </p:nvSpPr>
        <p:spPr>
          <a:xfrm>
            <a:off x="4663440" y="2103120"/>
            <a:ext cx="6793992" cy="274320"/>
          </a:xfrm>
          <a:prstGeom prst="rect">
            <a:avLst/>
          </a:prstGeom>
          <a:noFill/>
          <a:ln/>
        </p:spPr>
        <p:txBody>
          <a:bodyPr wrap="square" lIns="0" tIns="0" rIns="0" bIns="0" rtlCol="0" anchor="t"/>
          <a:lstStyle/>
          <a:p>
            <a:pPr indent="0" marL="0">
              <a:buNone/>
            </a:pPr>
            <a:r>
              <a:rPr lang="en-US" sz="1050" b="1" dirty="0">
                <a:solidFill>
                  <a:srgbClr val="4636B0"/>
                </a:solidFill>
                <a:latin typeface="Arial" pitchFamily="34" charset="0"/>
                <a:ea typeface="Arial" pitchFamily="34" charset="-122"/>
                <a:cs typeface="Arial" pitchFamily="34" charset="-120"/>
              </a:rPr>
              <a:t>Ce que vous faites</a:t>
            </a:r>
            <a:endParaRPr lang="en-US" sz="1050" dirty="0"/>
          </a:p>
        </p:txBody>
      </p:sp>
      <p:sp>
        <p:nvSpPr>
          <p:cNvPr id="9" name="Shape 6"/>
          <p:cNvSpPr/>
          <p:nvPr/>
        </p:nvSpPr>
        <p:spPr>
          <a:xfrm>
            <a:off x="731520" y="2468880"/>
            <a:ext cx="10725912" cy="0"/>
          </a:xfrm>
          <a:prstGeom prst="line">
            <a:avLst/>
          </a:prstGeom>
          <a:noFill/>
          <a:ln w="9525">
            <a:solidFill>
              <a:srgbClr val="E3E6EE"/>
            </a:solidFill>
            <a:prstDash val="solid"/>
          </a:ln>
        </p:spPr>
      </p:sp>
      <p:sp>
        <p:nvSpPr>
          <p:cNvPr id="10" name="Text 7"/>
          <p:cNvSpPr/>
          <p:nvPr/>
        </p:nvSpPr>
        <p:spPr>
          <a:xfrm>
            <a:off x="731520" y="2560320"/>
            <a:ext cx="3657600" cy="54864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 Balise non définie »</a:t>
            </a:r>
            <a:endParaRPr lang="en-US" sz="1250" dirty="0"/>
          </a:p>
        </p:txBody>
      </p:sp>
      <p:sp>
        <p:nvSpPr>
          <p:cNvPr id="11" name="Text 8"/>
          <p:cNvSpPr/>
          <p:nvPr/>
        </p:nvSpPr>
        <p:spPr>
          <a:xfrm>
            <a:off x="4663440" y="2560320"/>
            <a:ext cx="6793992" cy="59436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Le numéro n'est dans aucune plage. Si l'étiquette est bien collée dans ce magasin, touchez « Ajouter » : la zone est créée, le superviseur la nommera. Sinon, vérifiez le numéro.</a:t>
            </a:r>
            <a:endParaRPr lang="en-US" sz="1150" dirty="0"/>
          </a:p>
        </p:txBody>
      </p:sp>
      <p:sp>
        <p:nvSpPr>
          <p:cNvPr id="12" name="Shape 9"/>
          <p:cNvSpPr/>
          <p:nvPr/>
        </p:nvSpPr>
        <p:spPr>
          <a:xfrm>
            <a:off x="731520" y="3182112"/>
            <a:ext cx="10725912" cy="0"/>
          </a:xfrm>
          <a:prstGeom prst="line">
            <a:avLst/>
          </a:prstGeom>
          <a:noFill/>
          <a:ln w="9525">
            <a:solidFill>
              <a:srgbClr val="E3E6EE"/>
            </a:solidFill>
            <a:prstDash val="solid"/>
          </a:ln>
        </p:spPr>
      </p:sp>
      <p:sp>
        <p:nvSpPr>
          <p:cNvPr id="13" name="Text 10"/>
          <p:cNvSpPr/>
          <p:nvPr/>
        </p:nvSpPr>
        <p:spPr>
          <a:xfrm>
            <a:off x="731520" y="3273552"/>
            <a:ext cx="3657600" cy="54864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Article inconnu</a:t>
            </a:r>
            <a:endParaRPr lang="en-US" sz="1250" dirty="0"/>
          </a:p>
        </p:txBody>
      </p:sp>
      <p:sp>
        <p:nvSpPr>
          <p:cNvPr id="14" name="Text 11"/>
          <p:cNvSpPr/>
          <p:nvPr/>
        </p:nvSpPr>
        <p:spPr>
          <a:xfrm>
            <a:off x="4663440" y="3273552"/>
            <a:ext cx="6793992" cy="59436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Il n'est pas dans le référentiel. Vous pouvez l'ajouter avec un libellé ; il entrera dans le rapport avec un prix d'achat à zéro, que le superviseur complétera.</a:t>
            </a:r>
            <a:endParaRPr lang="en-US" sz="1150" dirty="0"/>
          </a:p>
        </p:txBody>
      </p:sp>
      <p:sp>
        <p:nvSpPr>
          <p:cNvPr id="15" name="Shape 12"/>
          <p:cNvSpPr/>
          <p:nvPr/>
        </p:nvSpPr>
        <p:spPr>
          <a:xfrm>
            <a:off x="731520" y="3895344"/>
            <a:ext cx="10725912" cy="0"/>
          </a:xfrm>
          <a:prstGeom prst="line">
            <a:avLst/>
          </a:prstGeom>
          <a:noFill/>
          <a:ln w="9525">
            <a:solidFill>
              <a:srgbClr val="E3E6EE"/>
            </a:solidFill>
            <a:prstDash val="solid"/>
          </a:ln>
        </p:spPr>
      </p:sp>
      <p:sp>
        <p:nvSpPr>
          <p:cNvPr id="16" name="Text 13"/>
          <p:cNvSpPr/>
          <p:nvPr/>
        </p:nvSpPr>
        <p:spPr>
          <a:xfrm>
            <a:off x="731520" y="3986784"/>
            <a:ext cx="3657600" cy="54864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Plus de réseau</a:t>
            </a:r>
            <a:endParaRPr lang="en-US" sz="1250" dirty="0"/>
          </a:p>
        </p:txBody>
      </p:sp>
      <p:sp>
        <p:nvSpPr>
          <p:cNvPr id="17" name="Text 14"/>
          <p:cNvSpPr/>
          <p:nvPr/>
        </p:nvSpPr>
        <p:spPr>
          <a:xfrm>
            <a:off x="4663440" y="3986784"/>
            <a:ext cx="6793992" cy="59436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Continuez à compter. L'écran indique ce qui attend ; tout part au retour du réseau. Ne désinstallez pas l'application et ne laissez personne effacer le téléphone avant que ce soit parti.</a:t>
            </a:r>
            <a:endParaRPr lang="en-US" sz="1150" dirty="0"/>
          </a:p>
        </p:txBody>
      </p:sp>
      <p:sp>
        <p:nvSpPr>
          <p:cNvPr id="18" name="Shape 15"/>
          <p:cNvSpPr/>
          <p:nvPr/>
        </p:nvSpPr>
        <p:spPr>
          <a:xfrm>
            <a:off x="731520" y="4608576"/>
            <a:ext cx="10725912" cy="0"/>
          </a:xfrm>
          <a:prstGeom prst="line">
            <a:avLst/>
          </a:prstGeom>
          <a:noFill/>
          <a:ln w="9525">
            <a:solidFill>
              <a:srgbClr val="E3E6EE"/>
            </a:solidFill>
            <a:prstDash val="solid"/>
          </a:ln>
        </p:spPr>
      </p:sp>
      <p:sp>
        <p:nvSpPr>
          <p:cNvPr id="19" name="Text 16"/>
          <p:cNvSpPr/>
          <p:nvPr/>
        </p:nvSpPr>
        <p:spPr>
          <a:xfrm>
            <a:off x="731520" y="4700016"/>
            <a:ext cx="3657600" cy="54864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On vous demande d'auditer</a:t>
            </a:r>
            <a:endParaRPr lang="en-US" sz="1250" dirty="0"/>
          </a:p>
        </p:txBody>
      </p:sp>
      <p:sp>
        <p:nvSpPr>
          <p:cNvPr id="20" name="Text 17"/>
          <p:cNvSpPr/>
          <p:nvPr/>
        </p:nvSpPr>
        <p:spPr>
          <a:xfrm>
            <a:off x="4663440" y="4700016"/>
            <a:ext cx="6793992" cy="59436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Mêmes gestes, bouton « Auditer des articles » à la place de « Compter ». Vous recomptez une zone que quelqu'un d'autre a déjà comptée ; l'écart se réglera sur le tableau de bord.</a:t>
            </a:r>
            <a:endParaRPr lang="en-US" sz="1150" dirty="0"/>
          </a:p>
        </p:txBody>
      </p:sp>
      <p:sp>
        <p:nvSpPr>
          <p:cNvPr id="21" name="Shape 18"/>
          <p:cNvSpPr/>
          <p:nvPr/>
        </p:nvSpPr>
        <p:spPr>
          <a:xfrm>
            <a:off x="731520" y="5321808"/>
            <a:ext cx="10725912" cy="0"/>
          </a:xfrm>
          <a:prstGeom prst="line">
            <a:avLst/>
          </a:prstGeom>
          <a:noFill/>
          <a:ln w="9525">
            <a:solidFill>
              <a:srgbClr val="E3E6EE"/>
            </a:solidFill>
            <a:prstDash val="solid"/>
          </a:ln>
        </p:spPr>
      </p:sp>
      <p:sp>
        <p:nvSpPr>
          <p:cNvPr id="22" name="Text 19"/>
          <p:cNvSpPr/>
          <p:nvPr/>
        </p:nvSpPr>
        <p:spPr>
          <a:xfrm>
            <a:off x="731520" y="5413248"/>
            <a:ext cx="3657600" cy="54864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Vous changez de téléphone en cours</a:t>
            </a:r>
            <a:endParaRPr lang="en-US" sz="1250" dirty="0"/>
          </a:p>
        </p:txBody>
      </p:sp>
      <p:sp>
        <p:nvSpPr>
          <p:cNvPr id="23" name="Text 20"/>
          <p:cNvSpPr/>
          <p:nvPr/>
        </p:nvSpPr>
        <p:spPr>
          <a:xfrm>
            <a:off x="4663440" y="5413248"/>
            <a:ext cx="6793992" cy="59436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Reconnectez-vous : les comptages déjà envoyés sont sur le serveur. Ceux qui attendaient sur l'ancien téléphone partiront quand il retrouvera le réseau.</a:t>
            </a:r>
            <a:endParaRPr lang="en-US" sz="1150" dirty="0"/>
          </a:p>
        </p:txBody>
      </p:sp>
      <p:sp>
        <p:nvSpPr>
          <p:cNvPr id="24" name="Shape 21"/>
          <p:cNvSpPr/>
          <p:nvPr/>
        </p:nvSpPr>
        <p:spPr>
          <a:xfrm>
            <a:off x="731520" y="6035040"/>
            <a:ext cx="10725912" cy="0"/>
          </a:xfrm>
          <a:prstGeom prst="line">
            <a:avLst/>
          </a:prstGeom>
          <a:noFill/>
          <a:ln w="9525">
            <a:solidFill>
              <a:srgbClr val="E3E6EE"/>
            </a:solidFill>
            <a:prstDash val="solid"/>
          </a:ln>
        </p:spPr>
      </p:sp>
      <p:sp>
        <p:nvSpPr>
          <p:cNvPr id="25" name="Text 2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6" name="Text 2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Le matin de l'inventaire.</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Les balises sont collées. Les deux fichiers sont importés et l'en-tête de Set up dit « Prêt ». L'équipe est invitée et chacun s'est connecté une fois. Les téléphones sont chargés, le réseau a été essayé en réserve. Le superviseur a le tableau de bord ouvert. On peut compter.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Une question : contact@quantinvo.com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prise en main</dc:title>
  <dc:subject>PptxGenJS Presentation</dc:subject>
  <dc:creator>Devkaylab</dc:creator>
  <cp:lastModifiedBy>Devkaylab</cp:lastModifiedBy>
  <cp:revision>1</cp:revision>
  <dcterms:created xsi:type="dcterms:W3CDTF">2026-08-23T18:02:27Z</dcterms:created>
  <dcterms:modified xsi:type="dcterms:W3CDTF">2026-08-23T18:02:27Z</dcterms:modified>
</cp:coreProperties>
</file>