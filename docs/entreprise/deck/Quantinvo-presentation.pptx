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Le volume se lit dans le fichier de stock du prospect ; il le déclare au devis. Un grand magasin dépasse 200 000 pièces : c'est la borne qui parle dans le métier. Tarifs confirmés au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grand inventaire.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prestataire.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chiffre.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papier.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Son auteur fait du contrôle des stocks en magasin. Les irritants, il les a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Quantinvo est la réponse à ces irritants.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que ça compte, vous voyez où ça en est.</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1556182" y="2825496"/>
            <a:ext cx="9076589" cy="3355848"/>
          </a:xfrm>
          <a:prstGeom prst="roundRect">
            <a:avLst>
              <a:gd name="adj" fmla="val 2180"/>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611046" y="2880360"/>
            <a:ext cx="8966861" cy="3246120"/>
          </a:xfrm>
          <a:prstGeom prst="rect">
            <a:avLst/>
          </a:prstGeom>
        </p:spPr>
      </p:pic>
      <p:sp>
        <p:nvSpPr>
          <p:cNvPr id="10" name="Text 6"/>
          <p:cNvSpPr/>
          <p:nvPr/>
        </p:nvSpPr>
        <p:spPr>
          <a:xfrm>
            <a:off x="1611046" y="626364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écart se règle pendant l'inventaire, pas trois jours après.</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Quand une balise a été comptée puis auditée, les deux quantités s'affichent côte à côte, avec l'écart en pièces et en valeur d'achat. Le superviseur retient l'une, l'autre, ou une troisième qu'il a vérifiée lui-même. Tant qu'il n'a pas tranché, le rapport le lui rappelle.</a:t>
            </a:r>
            <a:endParaRPr lang="en-US" sz="1250" dirty="0"/>
          </a:p>
        </p:txBody>
      </p:sp>
      <p:sp>
        <p:nvSpPr>
          <p:cNvPr id="8" name="Shape 5"/>
          <p:cNvSpPr/>
          <p:nvPr/>
        </p:nvSpPr>
        <p:spPr>
          <a:xfrm>
            <a:off x="2139696" y="282549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80360"/>
            <a:ext cx="7799832" cy="2973030"/>
          </a:xfrm>
          <a:prstGeom prst="rect">
            <a:avLst/>
          </a:prstGeom>
        </p:spPr>
      </p:pic>
      <p:sp>
        <p:nvSpPr>
          <p:cNvPr id="10" name="Text 6"/>
          <p:cNvSpPr/>
          <p:nvPr/>
        </p:nvSpPr>
        <p:spPr>
          <a:xfrm>
            <a:off x="2194560" y="599055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prêt pour la correction du stock.</a:t>
            </a:r>
            <a:endParaRPr lang="en-US" sz="1250" dirty="0"/>
          </a:p>
        </p:txBody>
      </p:sp>
      <p:sp>
        <p:nvSpPr>
          <p:cNvPr id="9" name="Shape 6"/>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1" name="Text 7"/>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Android.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L'application est sur iPhone aujourd'hui. La version Android est en cours.</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données restent en Europe.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RGPD est dans le produit.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accès sont nominatifs.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Aucun traceur.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dossier technique séparé répond aux questions d'une DSI : architecture, hébergement, déploiement par votre catalogue d'entreprise,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64592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Une licence par magasin, à l’année, comptages illimités.</a:t>
            </a:r>
            <a:endParaRPr lang="en-US" sz="2400" dirty="0"/>
          </a:p>
        </p:txBody>
      </p:sp>
      <p:sp>
        <p:nvSpPr>
          <p:cNvPr id="7" name="Text 4"/>
          <p:cNvSpPr/>
          <p:nvPr/>
        </p:nvSpPr>
        <p:spPr>
          <a:xfrm>
            <a:off x="731520" y="3063240"/>
            <a:ext cx="4206240" cy="11887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prix suit la taille de votre stock, en unités physiques. Il ne dépend ni du nombre de compteurs, ni du nombre d'inventaires dans l'année.</a:t>
            </a:r>
            <a:endParaRPr lang="en-US" sz="1250" dirty="0"/>
          </a:p>
        </p:txBody>
      </p:sp>
      <p:sp>
        <p:nvSpPr>
          <p:cNvPr id="8" name="Text 5"/>
          <p:cNvSpPr/>
          <p:nvPr/>
        </p:nvSpPr>
        <p:spPr>
          <a:xfrm>
            <a:off x="731520" y="42062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Tout est compris : l'application, le tableau de bord, les mises à jour. Un réseau active une licence par magasin, à son rythme.</a:t>
            </a:r>
            <a:endParaRPr lang="en-US" sz="1250" dirty="0"/>
          </a:p>
        </p:txBody>
      </p:sp>
      <p:sp>
        <p:nvSpPr>
          <p:cNvPr id="9" name="Text 6"/>
          <p:cNvSpPr/>
          <p:nvPr/>
        </p:nvSpPr>
        <p:spPr>
          <a:xfrm>
            <a:off x="5394960" y="1371600"/>
            <a:ext cx="274320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Profil du magasin</a:t>
            </a:r>
            <a:endParaRPr lang="en-US" sz="1000" dirty="0"/>
          </a:p>
        </p:txBody>
      </p:sp>
      <p:sp>
        <p:nvSpPr>
          <p:cNvPr id="10" name="Text 7"/>
          <p:cNvSpPr/>
          <p:nvPr/>
        </p:nvSpPr>
        <p:spPr>
          <a:xfrm>
            <a:off x="8531352" y="1371600"/>
            <a:ext cx="2926080" cy="274320"/>
          </a:xfrm>
          <a:prstGeom prst="rect">
            <a:avLst/>
          </a:prstGeom>
          <a:noFill/>
          <a:ln/>
        </p:spPr>
        <p:txBody>
          <a:bodyPr wrap="square" lIns="0" tIns="0" rIns="0" bIns="0" rtlCol="0" anchor="t"/>
          <a:lstStyle/>
          <a:p>
            <a:pPr algn="r" indent="0" marL="0">
              <a:buNone/>
            </a:pPr>
            <a:r>
              <a:rPr lang="en-US" sz="1000" b="1" dirty="0">
                <a:solidFill>
                  <a:srgbClr val="5B6475"/>
                </a:solidFill>
                <a:latin typeface="Arial" pitchFamily="34" charset="0"/>
                <a:ea typeface="Arial" pitchFamily="34" charset="-122"/>
                <a:cs typeface="Arial" pitchFamily="34" charset="-120"/>
              </a:rPr>
              <a:t>par an et par magasin, HT</a:t>
            </a:r>
            <a:endParaRPr lang="en-US" sz="1000" dirty="0"/>
          </a:p>
        </p:txBody>
      </p:sp>
      <p:sp>
        <p:nvSpPr>
          <p:cNvPr id="11" name="Shape 8"/>
          <p:cNvSpPr/>
          <p:nvPr/>
        </p:nvSpPr>
        <p:spPr>
          <a:xfrm>
            <a:off x="5394960" y="1719072"/>
            <a:ext cx="6062472" cy="0"/>
          </a:xfrm>
          <a:prstGeom prst="line">
            <a:avLst/>
          </a:prstGeom>
          <a:noFill/>
          <a:ln w="9525">
            <a:solidFill>
              <a:srgbClr val="E3E6EE"/>
            </a:solidFill>
            <a:prstDash val="solid"/>
          </a:ln>
        </p:spPr>
      </p:sp>
      <p:sp>
        <p:nvSpPr>
          <p:cNvPr id="12" name="Text 9"/>
          <p:cNvSpPr/>
          <p:nvPr/>
        </p:nvSpPr>
        <p:spPr>
          <a:xfrm>
            <a:off x="5394960" y="182880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Boutique</a:t>
            </a:r>
            <a:endParaRPr lang="en-US" sz="1350" dirty="0"/>
          </a:p>
        </p:txBody>
      </p:sp>
      <p:sp>
        <p:nvSpPr>
          <p:cNvPr id="13" name="Text 10"/>
          <p:cNvSpPr/>
          <p:nvPr/>
        </p:nvSpPr>
        <p:spPr>
          <a:xfrm>
            <a:off x="5394960" y="210312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jusqu’à 10 000 unités</a:t>
            </a:r>
            <a:endParaRPr lang="en-US" sz="1050" dirty="0"/>
          </a:p>
        </p:txBody>
      </p:sp>
      <p:sp>
        <p:nvSpPr>
          <p:cNvPr id="14" name="Text 11"/>
          <p:cNvSpPr/>
          <p:nvPr/>
        </p:nvSpPr>
        <p:spPr>
          <a:xfrm>
            <a:off x="8531352" y="182880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2 100 €</a:t>
            </a:r>
            <a:endParaRPr lang="en-US" sz="2000" dirty="0"/>
          </a:p>
        </p:txBody>
      </p:sp>
      <p:sp>
        <p:nvSpPr>
          <p:cNvPr id="15" name="Shape 12"/>
          <p:cNvSpPr/>
          <p:nvPr/>
        </p:nvSpPr>
        <p:spPr>
          <a:xfrm>
            <a:off x="5394960" y="2377440"/>
            <a:ext cx="6062472" cy="0"/>
          </a:xfrm>
          <a:prstGeom prst="line">
            <a:avLst/>
          </a:prstGeom>
          <a:noFill/>
          <a:ln w="9525">
            <a:solidFill>
              <a:srgbClr val="E3E6EE"/>
            </a:solidFill>
            <a:prstDash val="solid"/>
          </a:ln>
        </p:spPr>
      </p:sp>
      <p:sp>
        <p:nvSpPr>
          <p:cNvPr id="16" name="Shape 13"/>
          <p:cNvSpPr/>
          <p:nvPr/>
        </p:nvSpPr>
        <p:spPr>
          <a:xfrm>
            <a:off x="5257800" y="2395728"/>
            <a:ext cx="6336792" cy="621792"/>
          </a:xfrm>
          <a:prstGeom prst="rect">
            <a:avLst/>
          </a:prstGeom>
          <a:solidFill>
            <a:srgbClr val="EEEEFC"/>
          </a:solidFill>
          <a:ln w="12700">
            <a:solidFill>
              <a:srgbClr val="EEEEFC"/>
            </a:solidFill>
            <a:prstDash val="solid"/>
          </a:ln>
        </p:spPr>
      </p:sp>
      <p:sp>
        <p:nvSpPr>
          <p:cNvPr id="17" name="Text 14"/>
          <p:cNvSpPr/>
          <p:nvPr/>
        </p:nvSpPr>
        <p:spPr>
          <a:xfrm>
            <a:off x="5394960" y="2487168"/>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Magasin</a:t>
            </a:r>
            <a:endParaRPr lang="en-US" sz="1350" dirty="0"/>
          </a:p>
        </p:txBody>
      </p:sp>
      <p:sp>
        <p:nvSpPr>
          <p:cNvPr id="18" name="Text 15"/>
          <p:cNvSpPr/>
          <p:nvPr/>
        </p:nvSpPr>
        <p:spPr>
          <a:xfrm>
            <a:off x="5394960" y="2761488"/>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10 001 à 50 000 unités</a:t>
            </a:r>
            <a:endParaRPr lang="en-US" sz="1050" dirty="0"/>
          </a:p>
        </p:txBody>
      </p:sp>
      <p:sp>
        <p:nvSpPr>
          <p:cNvPr id="19" name="Text 16"/>
          <p:cNvSpPr/>
          <p:nvPr/>
        </p:nvSpPr>
        <p:spPr>
          <a:xfrm>
            <a:off x="8686800" y="2578608"/>
            <a:ext cx="1645920" cy="274320"/>
          </a:xfrm>
          <a:prstGeom prst="rect">
            <a:avLst/>
          </a:prstGeom>
          <a:noFill/>
          <a:ln/>
        </p:spPr>
        <p:txBody>
          <a:bodyPr wrap="square" lIns="0" tIns="0" rIns="0" bIns="0" rtlCol="0" anchor="t"/>
          <a:lstStyle/>
          <a:p>
            <a:pPr indent="0" marL="0">
              <a:buNone/>
            </a:pPr>
            <a:r>
              <a:rPr lang="en-US" sz="1000" i="1" dirty="0">
                <a:solidFill>
                  <a:srgbClr val="6366F1"/>
                </a:solidFill>
                <a:latin typeface="Arial" pitchFamily="34" charset="0"/>
                <a:ea typeface="Arial" pitchFamily="34" charset="-122"/>
                <a:cs typeface="Arial" pitchFamily="34" charset="-120"/>
              </a:rPr>
              <a:t>le plus courant</a:t>
            </a:r>
            <a:endParaRPr lang="en-US" sz="1000" dirty="0"/>
          </a:p>
        </p:txBody>
      </p:sp>
      <p:sp>
        <p:nvSpPr>
          <p:cNvPr id="20" name="Text 17"/>
          <p:cNvSpPr/>
          <p:nvPr/>
        </p:nvSpPr>
        <p:spPr>
          <a:xfrm>
            <a:off x="8531352" y="2487168"/>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4 200 €</a:t>
            </a:r>
            <a:endParaRPr lang="en-US" sz="2000" dirty="0"/>
          </a:p>
        </p:txBody>
      </p:sp>
      <p:sp>
        <p:nvSpPr>
          <p:cNvPr id="21" name="Shape 18"/>
          <p:cNvSpPr/>
          <p:nvPr/>
        </p:nvSpPr>
        <p:spPr>
          <a:xfrm>
            <a:off x="5394960" y="3035808"/>
            <a:ext cx="6062472" cy="0"/>
          </a:xfrm>
          <a:prstGeom prst="line">
            <a:avLst/>
          </a:prstGeom>
          <a:noFill/>
          <a:ln w="9525">
            <a:solidFill>
              <a:srgbClr val="E3E6EE"/>
            </a:solidFill>
            <a:prstDash val="solid"/>
          </a:ln>
        </p:spPr>
      </p:sp>
      <p:sp>
        <p:nvSpPr>
          <p:cNvPr id="22" name="Text 19"/>
          <p:cNvSpPr/>
          <p:nvPr/>
        </p:nvSpPr>
        <p:spPr>
          <a:xfrm>
            <a:off x="5394960" y="3145536"/>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Grande surface</a:t>
            </a:r>
            <a:endParaRPr lang="en-US" sz="1350" dirty="0"/>
          </a:p>
        </p:txBody>
      </p:sp>
      <p:sp>
        <p:nvSpPr>
          <p:cNvPr id="23" name="Text 20"/>
          <p:cNvSpPr/>
          <p:nvPr/>
        </p:nvSpPr>
        <p:spPr>
          <a:xfrm>
            <a:off x="5394960" y="3419856"/>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50 001 à 200 000 unités</a:t>
            </a:r>
            <a:endParaRPr lang="en-US" sz="1050" dirty="0"/>
          </a:p>
        </p:txBody>
      </p:sp>
      <p:sp>
        <p:nvSpPr>
          <p:cNvPr id="24" name="Text 21"/>
          <p:cNvSpPr/>
          <p:nvPr/>
        </p:nvSpPr>
        <p:spPr>
          <a:xfrm>
            <a:off x="8531352" y="3145536"/>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6 600 €</a:t>
            </a:r>
            <a:endParaRPr lang="en-US" sz="2000" dirty="0"/>
          </a:p>
        </p:txBody>
      </p:sp>
      <p:sp>
        <p:nvSpPr>
          <p:cNvPr id="25" name="Shape 22"/>
          <p:cNvSpPr/>
          <p:nvPr/>
        </p:nvSpPr>
        <p:spPr>
          <a:xfrm>
            <a:off x="5394960" y="3694176"/>
            <a:ext cx="6062472" cy="0"/>
          </a:xfrm>
          <a:prstGeom prst="line">
            <a:avLst/>
          </a:prstGeom>
          <a:noFill/>
          <a:ln w="9525">
            <a:solidFill>
              <a:srgbClr val="E3E6EE"/>
            </a:solidFill>
            <a:prstDash val="solid"/>
          </a:ln>
        </p:spPr>
      </p:sp>
      <p:sp>
        <p:nvSpPr>
          <p:cNvPr id="26" name="Text 23"/>
          <p:cNvSpPr/>
          <p:nvPr/>
        </p:nvSpPr>
        <p:spPr>
          <a:xfrm>
            <a:off x="5394960" y="3803904"/>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Grand magasin</a:t>
            </a:r>
            <a:endParaRPr lang="en-US" sz="1350" dirty="0"/>
          </a:p>
        </p:txBody>
      </p:sp>
      <p:sp>
        <p:nvSpPr>
          <p:cNvPr id="27" name="Text 24"/>
          <p:cNvSpPr/>
          <p:nvPr/>
        </p:nvSpPr>
        <p:spPr>
          <a:xfrm>
            <a:off x="5394960" y="4078224"/>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200 001 à 500 000 unités</a:t>
            </a:r>
            <a:endParaRPr lang="en-US" sz="1050" dirty="0"/>
          </a:p>
        </p:txBody>
      </p:sp>
      <p:sp>
        <p:nvSpPr>
          <p:cNvPr id="28" name="Text 25"/>
          <p:cNvSpPr/>
          <p:nvPr/>
        </p:nvSpPr>
        <p:spPr>
          <a:xfrm>
            <a:off x="8531352" y="3803904"/>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10 200 €</a:t>
            </a:r>
            <a:endParaRPr lang="en-US" sz="2000" dirty="0"/>
          </a:p>
        </p:txBody>
      </p:sp>
      <p:sp>
        <p:nvSpPr>
          <p:cNvPr id="29" name="Shape 26"/>
          <p:cNvSpPr/>
          <p:nvPr/>
        </p:nvSpPr>
        <p:spPr>
          <a:xfrm>
            <a:off x="5394960" y="4352544"/>
            <a:ext cx="6062472" cy="0"/>
          </a:xfrm>
          <a:prstGeom prst="line">
            <a:avLst/>
          </a:prstGeom>
          <a:noFill/>
          <a:ln w="9525">
            <a:solidFill>
              <a:srgbClr val="E3E6EE"/>
            </a:solidFill>
            <a:prstDash val="solid"/>
          </a:ln>
        </p:spPr>
      </p:sp>
      <p:sp>
        <p:nvSpPr>
          <p:cNvPr id="30" name="Text 27"/>
          <p:cNvSpPr/>
          <p:nvPr/>
        </p:nvSpPr>
        <p:spPr>
          <a:xfrm>
            <a:off x="5394960" y="4462272"/>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Très grand magasin</a:t>
            </a:r>
            <a:endParaRPr lang="en-US" sz="1350" dirty="0"/>
          </a:p>
        </p:txBody>
      </p:sp>
      <p:sp>
        <p:nvSpPr>
          <p:cNvPr id="31" name="Text 28"/>
          <p:cNvSpPr/>
          <p:nvPr/>
        </p:nvSpPr>
        <p:spPr>
          <a:xfrm>
            <a:off x="5394960" y="4736592"/>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500 001 à 1 000 000 unités</a:t>
            </a:r>
            <a:endParaRPr lang="en-US" sz="1050" dirty="0"/>
          </a:p>
        </p:txBody>
      </p:sp>
      <p:sp>
        <p:nvSpPr>
          <p:cNvPr id="32" name="Text 29"/>
          <p:cNvSpPr/>
          <p:nvPr/>
        </p:nvSpPr>
        <p:spPr>
          <a:xfrm>
            <a:off x="8531352" y="4462272"/>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14 400 €</a:t>
            </a:r>
            <a:endParaRPr lang="en-US" sz="2000" dirty="0"/>
          </a:p>
        </p:txBody>
      </p:sp>
      <p:sp>
        <p:nvSpPr>
          <p:cNvPr id="33" name="Shape 30"/>
          <p:cNvSpPr/>
          <p:nvPr/>
        </p:nvSpPr>
        <p:spPr>
          <a:xfrm>
            <a:off x="5394960" y="5010912"/>
            <a:ext cx="6062472" cy="0"/>
          </a:xfrm>
          <a:prstGeom prst="line">
            <a:avLst/>
          </a:prstGeom>
          <a:noFill/>
          <a:ln w="9525">
            <a:solidFill>
              <a:srgbClr val="E3E6EE"/>
            </a:solidFill>
            <a:prstDash val="solid"/>
          </a:ln>
        </p:spPr>
      </p:sp>
      <p:sp>
        <p:nvSpPr>
          <p:cNvPr id="34" name="Text 31"/>
          <p:cNvSpPr/>
          <p:nvPr/>
        </p:nvSpPr>
        <p:spPr>
          <a:xfrm>
            <a:off x="5394960" y="512064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Arial" pitchFamily="34" charset="0"/>
                <a:ea typeface="Arial" pitchFamily="34" charset="-122"/>
                <a:cs typeface="Arial" pitchFamily="34" charset="-120"/>
              </a:rPr>
              <a:t>Au-delà</a:t>
            </a:r>
            <a:endParaRPr lang="en-US" sz="1350" dirty="0"/>
          </a:p>
        </p:txBody>
      </p:sp>
      <p:sp>
        <p:nvSpPr>
          <p:cNvPr id="35" name="Text 32"/>
          <p:cNvSpPr/>
          <p:nvPr/>
        </p:nvSpPr>
        <p:spPr>
          <a:xfrm>
            <a:off x="5394960" y="539496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plus d’un million d’unités</a:t>
            </a:r>
            <a:endParaRPr lang="en-US" sz="1050" dirty="0"/>
          </a:p>
        </p:txBody>
      </p:sp>
      <p:sp>
        <p:nvSpPr>
          <p:cNvPr id="36" name="Text 33"/>
          <p:cNvSpPr/>
          <p:nvPr/>
        </p:nvSpPr>
        <p:spPr>
          <a:xfrm>
            <a:off x="8531352" y="512064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Arial" pitchFamily="34" charset="0"/>
                <a:ea typeface="Arial" pitchFamily="34" charset="-122"/>
                <a:cs typeface="Arial" pitchFamily="34" charset="-120"/>
              </a:rPr>
              <a:t>sur devis</a:t>
            </a:r>
            <a:endParaRPr lang="en-US" sz="2000" dirty="0"/>
          </a:p>
        </p:txBody>
      </p:sp>
      <p:sp>
        <p:nvSpPr>
          <p:cNvPr id="37" name="Shape 34"/>
          <p:cNvSpPr/>
          <p:nvPr/>
        </p:nvSpPr>
        <p:spPr>
          <a:xfrm>
            <a:off x="5394960" y="5669280"/>
            <a:ext cx="6062472" cy="0"/>
          </a:xfrm>
          <a:prstGeom prst="line">
            <a:avLst/>
          </a:prstGeom>
          <a:noFill/>
          <a:ln w="9525">
            <a:solidFill>
              <a:srgbClr val="E3E6EE"/>
            </a:solidFill>
            <a:prstDash val="solid"/>
          </a:ln>
        </p:spPr>
      </p:sp>
      <p:sp>
        <p:nvSpPr>
          <p:cNvPr id="38" name="Text 3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39" name="Text 3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2026-08-23T18:02:29Z</dcterms:created>
  <dcterms:modified xsi:type="dcterms:W3CDTF">2026-08-23T18:02:29Z</dcterms:modified>
</cp:coreProperties>
</file>