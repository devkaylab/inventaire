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sur la promesse, pas sur le produit : un stock fiable toute l'année, compté par vos équipes. Le nom vient de « quantité » et « inventaire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stock est le principal actif du magasin, et on ne le vérifie qu'une fois par an. Laisser le silence après la phrase du titre.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 d'où on parle. C'est ce qui distingue d'un éditeur généraliste : on connaît le rayon, la réserve, la nuit d'inventaire.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deux ou trois lignes, pas les cinq. La cinquième (les fichiers) est celle qui surprend le plus en démonstration.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sur l'import : « importez vos fichiers tels quels ». C'est ce que le prospect vérifie dès le premier essai, et c'est là qu'on gagne la confiance.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la capture, ne pas la commenter ligne à ligne. L'argument du suivi agrégé parle aux RH et au CSE : le dire ici évite une objection plus tard.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qui compte pour un responsable de magasin : trancher à chaud, avec le compteur encore dans le rayon.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règle : le fichier qui fait foi est le stock théorique. Sans fichier théorique, le rapport ne montre que ce qui a été compté.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page désarme les objections. Ne pas la sauter : un prospect qui découvre une limite après coup perd confiance, un prospect averti la comprend.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Conformité réelle, suivi agrégé, données en Europe. Le dossier DSI existe : le proposer tout de suite évite six semaines d'aller-retour.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Parler en budget d'inventaire annuel, jamais en prix d'application. Le volume se lit dans le fichier de stock du prospect ; il le déclare au devis. Un grand magasin dépasse 200 000 pièces : c'est la borne qui parle dans le métier. Tarifs confirmés au devis.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Clore sur la démonstration concrète, sur leurs fichiers. C'est l'engagement qu'on prend et celui qu'on leur demande.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B6475"/>
                </a:solidFill>
                <a:latin typeface="Inter" pitchFamily="34" charset="0"/>
                <a:ea typeface="Inter" pitchFamily="34" charset="-122"/>
                <a:cs typeface="Inter" pitchFamily="34" charset="-120"/>
              </a:rPr>
              <a:t>L'outil d'inventaire pour le commerce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4636B0"/>
                </a:solidFill>
                <a:latin typeface="Sora" pitchFamily="34" charset="0"/>
                <a:ea typeface="Sora" pitchFamily="34" charset="-122"/>
                <a:cs typeface="Sora" pitchFamily="34" charset="-120"/>
              </a:rPr>
              <a:t>Un stock fiable toute l’année, compté par vos propres équipes.</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D4556"/>
                </a:solidFill>
                <a:latin typeface="Inter" pitchFamily="34" charset="0"/>
                <a:ea typeface="Inter" pitchFamily="34" charset="-122"/>
                <a:cs typeface="Inter" pitchFamily="34" charset="-120"/>
              </a:rPr>
              <a:t>Une application sur le téléphone des compteurs, un tableau de bord pour celui qui pilote, un rapport à la fin. Rien d'autre à acheter.</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Devkaylab  ·  août 2026  ·  www.quantinvo.com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Le constat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On compte son stock une fois par an. On décide dessus tous les jours.</a:t>
            </a:r>
            <a:endParaRPr lang="en-US" sz="2600" dirty="0"/>
          </a:p>
        </p:txBody>
      </p:sp>
      <p:sp>
        <p:nvSpPr>
          <p:cNvPr id="7" name="Text 4"/>
          <p:cNvSpPr/>
          <p:nvPr/>
        </p:nvSpPr>
        <p:spPr>
          <a:xfrm>
            <a:off x="731520" y="3657600"/>
            <a:ext cx="4206240" cy="868680"/>
          </a:xfrm>
          <a:prstGeom prst="rect">
            <a:avLst/>
          </a:prstGeom>
          <a:noFill/>
          <a:ln/>
        </p:spPr>
        <p:txBody>
          <a:bodyPr wrap="square" lIns="0" tIns="0" rIns="0" bIns="0" rtlCol="0" anchor="t"/>
          <a:lstStyle/>
          <a:p>
            <a:pPr indent="0" marL="0">
              <a:buNone/>
            </a:pPr>
            <a:r>
              <a:rPr lang="en-US" sz="5400" b="1" dirty="0">
                <a:solidFill>
                  <a:srgbClr val="4636B0"/>
                </a:solidFill>
                <a:latin typeface="Sora" pitchFamily="34" charset="0"/>
                <a:ea typeface="Sora" pitchFamily="34" charset="-122"/>
                <a:cs typeface="Sora" pitchFamily="34" charset="-120"/>
              </a:rPr>
              <a:t>365</a:t>
            </a:r>
            <a:endParaRPr lang="en-US" sz="5400" dirty="0"/>
          </a:p>
        </p:txBody>
      </p:sp>
      <p:sp>
        <p:nvSpPr>
          <p:cNvPr id="8" name="Text 5"/>
          <p:cNvSpPr/>
          <p:nvPr/>
        </p:nvSpPr>
        <p:spPr>
          <a:xfrm>
            <a:off x="731520" y="4572000"/>
            <a:ext cx="4206240" cy="731520"/>
          </a:xfrm>
          <a:prstGeom prst="rect">
            <a:avLst/>
          </a:prstGeom>
          <a:noFill/>
          <a:ln/>
        </p:spPr>
        <p:txBody>
          <a:bodyPr wrap="square" lIns="0" tIns="0" rIns="0" bIns="0" rtlCol="0" anchor="t"/>
          <a:lstStyle/>
          <a:p>
            <a:pPr indent="0" marL="0">
              <a:lnSpc>
                <a:spcPct val="115000"/>
              </a:lnSpc>
              <a:buNone/>
            </a:pPr>
            <a:r>
              <a:rPr lang="en-US" sz="1200" dirty="0">
                <a:solidFill>
                  <a:srgbClr val="5B6475"/>
                </a:solidFill>
                <a:latin typeface="Inter" pitchFamily="34" charset="0"/>
                <a:ea typeface="Inter" pitchFamily="34" charset="-122"/>
                <a:cs typeface="Inter" pitchFamily="34" charset="-120"/>
              </a:rPr>
              <a:t>jours de commandes, de réassorts et de démarque reposent sur un chiffre vérifié une seule fois.</a:t>
            </a:r>
            <a:endParaRPr lang="en-US" sz="1200" dirty="0"/>
          </a:p>
        </p:txBody>
      </p:sp>
      <p:sp>
        <p:nvSpPr>
          <p:cNvPr id="9" name="Text 6"/>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b="1" dirty="0">
                <a:solidFill>
                  <a:srgbClr val="0B0F19"/>
                </a:solidFill>
                <a:latin typeface="Inter" pitchFamily="34" charset="0"/>
                <a:ea typeface="Inter" pitchFamily="34" charset="-122"/>
                <a:cs typeface="Inter" pitchFamily="34" charset="-120"/>
              </a:rPr>
              <a:t>Le grand inventaire. </a:t>
            </a:r>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Il se prépare des mois à l'avance, il mobilise tout le magasin une nuit, et le lendemain chacun est soulagé d'en avoir fini pour un an.</a:t>
            </a:r>
            <a:endParaRPr lang="en-US" sz="1400" dirty="0"/>
          </a:p>
          <a:p>
            <a:pPr indent="0" marL="0">
              <a:lnSpc>
                <a:spcPct val="118000"/>
              </a:lnSpc>
              <a:spcAft>
                <a:spcPts val="1400"/>
              </a:spcAft>
              <a:buNone/>
            </a:pPr>
            <a:r>
              <a:rPr lang="en-US" sz="1400" b="1" dirty="0">
                <a:solidFill>
                  <a:srgbClr val="0B0F19"/>
                </a:solidFill>
                <a:latin typeface="Inter" pitchFamily="34" charset="0"/>
                <a:ea typeface="Inter" pitchFamily="34" charset="-122"/>
                <a:cs typeface="Inter" pitchFamily="34" charset="-120"/>
              </a:rPr>
              <a:t>Le prestataire. </a:t>
            </a:r>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Il compte vite, il facture à la pièce, et il repart. Entre deux passages, personne ne sait vraiment où en est le stock.</a:t>
            </a:r>
            <a:endParaRPr lang="en-US" sz="1400" dirty="0"/>
          </a:p>
          <a:p>
            <a:pPr indent="0" marL="0">
              <a:lnSpc>
                <a:spcPct val="118000"/>
              </a:lnSpc>
              <a:spcAft>
                <a:spcPts val="1400"/>
              </a:spcAft>
              <a:buNone/>
            </a:pPr>
            <a:r>
              <a:rPr lang="en-US" sz="1400" b="1" dirty="0">
                <a:solidFill>
                  <a:srgbClr val="0B0F19"/>
                </a:solidFill>
                <a:latin typeface="Inter" pitchFamily="34" charset="0"/>
                <a:ea typeface="Inter" pitchFamily="34" charset="-122"/>
                <a:cs typeface="Inter" pitchFamily="34" charset="-120"/>
              </a:rPr>
              <a:t>Le chiffre. </a:t>
            </a:r>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Le stock théorique se remet à dériver dès le lendemain. La démarque, on la découvre au comptage suivant, trop tard pour comprendre d'où elle vient.</a:t>
            </a:r>
            <a:endParaRPr lang="en-US" sz="1400" dirty="0"/>
          </a:p>
          <a:p>
            <a:pPr indent="0" marL="0">
              <a:lnSpc>
                <a:spcPct val="118000"/>
              </a:lnSpc>
              <a:spcAft>
                <a:spcPts val="1400"/>
              </a:spcAft>
              <a:buNone/>
            </a:pPr>
            <a:r>
              <a:rPr lang="en-US" sz="1400" b="1" dirty="0">
                <a:solidFill>
                  <a:srgbClr val="0B0F19"/>
                </a:solidFill>
                <a:latin typeface="Inter" pitchFamily="34" charset="0"/>
                <a:ea typeface="Inter" pitchFamily="34" charset="-122"/>
                <a:cs typeface="Inter" pitchFamily="34" charset="-120"/>
              </a:rPr>
              <a:t>Le papier. </a:t>
            </a:r>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Compter soi-même, sur une feuille ou un tableur, c'est possible. C'est lent, et une ligne sautée ne se voit pas.</a:t>
            </a:r>
            <a:endParaRPr lang="en-US" sz="1400" dirty="0"/>
          </a:p>
        </p:txBody>
      </p:sp>
      <p:sp>
        <p:nvSpPr>
          <p:cNvPr id="10"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présentation</a:t>
            </a:r>
            <a:endParaRPr lang="en-US" sz="900" dirty="0"/>
          </a:p>
        </p:txBody>
      </p:sp>
      <p:sp>
        <p:nvSpPr>
          <p:cNvPr id="11"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D'où ça vient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71600"/>
            <a:ext cx="4206240" cy="2194560"/>
          </a:xfrm>
          <a:prstGeom prst="rect">
            <a:avLst/>
          </a:prstGeom>
          <a:noFill/>
          <a:ln/>
        </p:spPr>
        <p:txBody>
          <a:bodyPr wrap="square" lIns="0" tIns="0" rIns="0" bIns="0" rtlCol="0" anchor="t"/>
          <a:lstStyle/>
          <a:p>
            <a:pPr indent="0" marL="0">
              <a:lnSpc>
                <a:spcPct val="115000"/>
              </a:lnSpc>
              <a:buNone/>
            </a:pPr>
            <a:r>
              <a:rPr lang="en-US" sz="2200" i="1" dirty="0">
                <a:solidFill>
                  <a:srgbClr val="4636B0"/>
                </a:solidFill>
                <a:latin typeface="Sora" pitchFamily="34" charset="0"/>
                <a:ea typeface="Sora" pitchFamily="34" charset="-122"/>
                <a:cs typeface="Sora" pitchFamily="34" charset="-120"/>
              </a:rPr>
              <a:t>« J'ai dessiné Quantinvo pendant des inventaires, pas dans une salle de réunion. »</a:t>
            </a:r>
            <a:endParaRPr lang="en-US" sz="2200" dirty="0"/>
          </a:p>
        </p:txBody>
      </p:sp>
      <p:sp>
        <p:nvSpPr>
          <p:cNvPr id="7" name="Text 4"/>
          <p:cNvSpPr/>
          <p:nvPr/>
        </p:nvSpPr>
        <p:spPr>
          <a:xfrm>
            <a:off x="731520" y="3154680"/>
            <a:ext cx="4206240" cy="365760"/>
          </a:xfrm>
          <a:prstGeom prst="rect">
            <a:avLst/>
          </a:prstGeom>
          <a:noFill/>
          <a:ln/>
        </p:spPr>
        <p:txBody>
          <a:bodyPr wrap="square" lIns="0" tIns="0" rIns="0" bIns="0" rtlCol="0" anchor="t"/>
          <a:lstStyle/>
          <a:p>
            <a:pPr algn="l" indent="0" marL="0">
              <a:lnSpc>
                <a:spcPct val="118000"/>
              </a:lnSpc>
              <a:buNone/>
            </a:pPr>
            <a:r>
              <a:rPr lang="en-US" sz="1200" dirty="0">
                <a:solidFill>
                  <a:srgbClr val="5B6475"/>
                </a:solidFill>
                <a:latin typeface="Inter" pitchFamily="34" charset="0"/>
                <a:ea typeface="Inter" pitchFamily="34" charset="-122"/>
                <a:cs typeface="Inter" pitchFamily="34" charset="-120"/>
              </a:rPr>
              <a:t>Julien Thiong-kay, Devkaylab</a:t>
            </a:r>
            <a:endParaRPr lang="en-US" sz="1200" dirty="0"/>
          </a:p>
        </p:txBody>
      </p:sp>
      <p:sp>
        <p:nvSpPr>
          <p:cNvPr id="8" name="Text 5"/>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Son auteur fait du contrôle des stocks en magasin. Les irritants, il les a sous les yeux à chaque inventaire : la balise qu'on ne retrouve pas, la réserve sans réseau, le fichier Excel qu'il faut reformater avant chaque import, le rapport qui arrive trois jours après, quand tout le monde est passé à autre chose.</a:t>
            </a:r>
            <a:endParaRPr lang="en-US" sz="1400" dirty="0"/>
          </a:p>
          <a:p>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Quantinvo est la réponse à ces irritants. Rien de plus. Une application sur le téléphone que l'équipe a déjà en poche, un tableau de bord pour celui qui pilote, un rapport à la fin.</a:t>
            </a:r>
            <a:endParaRPr lang="en-US" sz="1400" dirty="0"/>
          </a:p>
          <a:p>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Ce n'est pas un module d'ERP qu'on adapte au magasin. C'est un outil de magasin, qui tient dans une poche et se prend en main en dix minutes.</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présentation</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Ce que ça change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Ce que ça change, concrètement</a:t>
            </a:r>
            <a:endParaRPr lang="en-US" sz="2600" dirty="0"/>
          </a:p>
        </p:txBody>
      </p:sp>
      <p:sp>
        <p:nvSpPr>
          <p:cNvPr id="7" name="Text 4"/>
          <p:cNvSpPr/>
          <p:nvPr/>
        </p:nvSpPr>
        <p:spPr>
          <a:xfrm>
            <a:off x="731520" y="2240280"/>
            <a:ext cx="4846320" cy="274320"/>
          </a:xfrm>
          <a:prstGeom prst="rect">
            <a:avLst/>
          </a:prstGeom>
          <a:noFill/>
          <a:ln/>
        </p:spPr>
        <p:txBody>
          <a:bodyPr wrap="square" lIns="0" tIns="0" rIns="0" bIns="0" rtlCol="0" anchor="t"/>
          <a:lstStyle/>
          <a:p>
            <a:pPr indent="0" marL="0">
              <a:buNone/>
            </a:pPr>
            <a:r>
              <a:rPr lang="en-US" sz="1050" b="1" dirty="0">
                <a:solidFill>
                  <a:srgbClr val="5B6475"/>
                </a:solidFill>
                <a:latin typeface="Inter" pitchFamily="34" charset="0"/>
                <a:ea typeface="Inter" pitchFamily="34" charset="-122"/>
                <a:cs typeface="Inter" pitchFamily="34" charset="-120"/>
              </a:rPr>
              <a:t>Aujourd'hui</a:t>
            </a:r>
            <a:endParaRPr lang="en-US" sz="1050" dirty="0"/>
          </a:p>
        </p:txBody>
      </p:sp>
      <p:sp>
        <p:nvSpPr>
          <p:cNvPr id="8" name="Text 5"/>
          <p:cNvSpPr/>
          <p:nvPr/>
        </p:nvSpPr>
        <p:spPr>
          <a:xfrm>
            <a:off x="5852160" y="2240280"/>
            <a:ext cx="4846320" cy="274320"/>
          </a:xfrm>
          <a:prstGeom prst="rect">
            <a:avLst/>
          </a:prstGeom>
          <a:noFill/>
          <a:ln/>
        </p:spPr>
        <p:txBody>
          <a:bodyPr wrap="square" lIns="0" tIns="0" rIns="0" bIns="0" rtlCol="0" anchor="t"/>
          <a:lstStyle/>
          <a:p>
            <a:pPr indent="0" marL="0">
              <a:buNone/>
            </a:pPr>
            <a:r>
              <a:rPr lang="en-US" sz="1050" b="1" dirty="0">
                <a:solidFill>
                  <a:srgbClr val="4636B0"/>
                </a:solidFill>
                <a:latin typeface="Inter" pitchFamily="34" charset="0"/>
                <a:ea typeface="Inter" pitchFamily="34" charset="-122"/>
                <a:cs typeface="Inter" pitchFamily="34" charset="-120"/>
              </a:rPr>
              <a:t>Avec Quantinvo</a:t>
            </a:r>
            <a:endParaRPr lang="en-US" sz="1050" dirty="0"/>
          </a:p>
        </p:txBody>
      </p:sp>
      <p:sp>
        <p:nvSpPr>
          <p:cNvPr id="9" name="Shape 6"/>
          <p:cNvSpPr/>
          <p:nvPr/>
        </p:nvSpPr>
        <p:spPr>
          <a:xfrm>
            <a:off x="731520" y="2606040"/>
            <a:ext cx="10725912" cy="0"/>
          </a:xfrm>
          <a:prstGeom prst="line">
            <a:avLst/>
          </a:prstGeom>
          <a:noFill/>
          <a:ln w="9525">
            <a:solidFill>
              <a:srgbClr val="E3E6EE"/>
            </a:solidFill>
            <a:prstDash val="solid"/>
          </a:ln>
        </p:spPr>
      </p:sp>
      <p:sp>
        <p:nvSpPr>
          <p:cNvPr id="10" name="Text 7"/>
          <p:cNvSpPr/>
          <p:nvPr/>
        </p:nvSpPr>
        <p:spPr>
          <a:xfrm>
            <a:off x="731520" y="2752344"/>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D4556"/>
                </a:solidFill>
                <a:latin typeface="Inter" pitchFamily="34" charset="0"/>
                <a:ea typeface="Inter" pitchFamily="34" charset="-122"/>
                <a:cs typeface="Inter" pitchFamily="34" charset="-120"/>
              </a:rPr>
              <a:t>Une date par an, imposée par le calendrier.</a:t>
            </a:r>
            <a:endParaRPr lang="en-US" sz="1300" dirty="0"/>
          </a:p>
        </p:txBody>
      </p:sp>
      <p:sp>
        <p:nvSpPr>
          <p:cNvPr id="11" name="Text 8"/>
          <p:cNvSpPr/>
          <p:nvPr/>
        </p:nvSpPr>
        <p:spPr>
          <a:xfrm>
            <a:off x="5852160" y="2752344"/>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0B0F19"/>
                </a:solidFill>
                <a:latin typeface="Inter" pitchFamily="34" charset="0"/>
                <a:ea typeface="Inter" pitchFamily="34" charset="-122"/>
                <a:cs typeface="Inter" pitchFamily="34" charset="-120"/>
              </a:rPr>
              <a:t>Vos dates. En janvier, en juin, un mardi matin avant l'ouverture. Autant de fois que vous voulez.</a:t>
            </a:r>
            <a:endParaRPr lang="en-US" sz="1300" dirty="0"/>
          </a:p>
        </p:txBody>
      </p:sp>
      <p:sp>
        <p:nvSpPr>
          <p:cNvPr id="12" name="Shape 9"/>
          <p:cNvSpPr/>
          <p:nvPr/>
        </p:nvSpPr>
        <p:spPr>
          <a:xfrm>
            <a:off x="731520" y="3355848"/>
            <a:ext cx="10725912" cy="0"/>
          </a:xfrm>
          <a:prstGeom prst="line">
            <a:avLst/>
          </a:prstGeom>
          <a:noFill/>
          <a:ln w="9525">
            <a:solidFill>
              <a:srgbClr val="E3E6EE"/>
            </a:solidFill>
            <a:prstDash val="solid"/>
          </a:ln>
        </p:spPr>
      </p:sp>
      <p:sp>
        <p:nvSpPr>
          <p:cNvPr id="13" name="Text 10"/>
          <p:cNvSpPr/>
          <p:nvPr/>
        </p:nvSpPr>
        <p:spPr>
          <a:xfrm>
            <a:off x="731520" y="3502152"/>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D4556"/>
                </a:solidFill>
                <a:latin typeface="Inter" pitchFamily="34" charset="0"/>
                <a:ea typeface="Inter" pitchFamily="34" charset="-122"/>
                <a:cs typeface="Inter" pitchFamily="34" charset="-120"/>
              </a:rPr>
              <a:t>Des équipes externes, ou du papier.</a:t>
            </a:r>
            <a:endParaRPr lang="en-US" sz="1300" dirty="0"/>
          </a:p>
        </p:txBody>
      </p:sp>
      <p:sp>
        <p:nvSpPr>
          <p:cNvPr id="14" name="Text 11"/>
          <p:cNvSpPr/>
          <p:nvPr/>
        </p:nvSpPr>
        <p:spPr>
          <a:xfrm>
            <a:off x="5852160" y="3502152"/>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0B0F19"/>
                </a:solidFill>
                <a:latin typeface="Inter" pitchFamily="34" charset="0"/>
                <a:ea typeface="Inter" pitchFamily="34" charset="-122"/>
                <a:cs typeface="Inter" pitchFamily="34" charset="-120"/>
              </a:rPr>
              <a:t>Vos équipes, avec le téléphone qu’elles ont déjà.</a:t>
            </a:r>
            <a:endParaRPr lang="en-US" sz="1300" dirty="0"/>
          </a:p>
        </p:txBody>
      </p:sp>
      <p:sp>
        <p:nvSpPr>
          <p:cNvPr id="15" name="Shape 12"/>
          <p:cNvSpPr/>
          <p:nvPr/>
        </p:nvSpPr>
        <p:spPr>
          <a:xfrm>
            <a:off x="731520" y="4105656"/>
            <a:ext cx="10725912" cy="0"/>
          </a:xfrm>
          <a:prstGeom prst="line">
            <a:avLst/>
          </a:prstGeom>
          <a:noFill/>
          <a:ln w="9525">
            <a:solidFill>
              <a:srgbClr val="E3E6EE"/>
            </a:solidFill>
            <a:prstDash val="solid"/>
          </a:ln>
        </p:spPr>
      </p:sp>
      <p:sp>
        <p:nvSpPr>
          <p:cNvPr id="16" name="Text 13"/>
          <p:cNvSpPr/>
          <p:nvPr/>
        </p:nvSpPr>
        <p:spPr>
          <a:xfrm>
            <a:off x="731520" y="4251960"/>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D4556"/>
                </a:solidFill>
                <a:latin typeface="Inter" pitchFamily="34" charset="0"/>
                <a:ea typeface="Inter" pitchFamily="34" charset="-122"/>
                <a:cs typeface="Inter" pitchFamily="34" charset="-120"/>
              </a:rPr>
              <a:t>On sait où on en est à la fin.</a:t>
            </a:r>
            <a:endParaRPr lang="en-US" sz="1300" dirty="0"/>
          </a:p>
        </p:txBody>
      </p:sp>
      <p:sp>
        <p:nvSpPr>
          <p:cNvPr id="17" name="Text 14"/>
          <p:cNvSpPr/>
          <p:nvPr/>
        </p:nvSpPr>
        <p:spPr>
          <a:xfrm>
            <a:off x="5852160" y="4251960"/>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0B0F19"/>
                </a:solidFill>
                <a:latin typeface="Inter" pitchFamily="34" charset="0"/>
                <a:ea typeface="Inter" pitchFamily="34" charset="-122"/>
                <a:cs typeface="Inter" pitchFamily="34" charset="-120"/>
              </a:rPr>
              <a:t>On le voit pendant, zone par zone, depuis le bureau.</a:t>
            </a:r>
            <a:endParaRPr lang="en-US" sz="1300" dirty="0"/>
          </a:p>
        </p:txBody>
      </p:sp>
      <p:sp>
        <p:nvSpPr>
          <p:cNvPr id="18" name="Shape 15"/>
          <p:cNvSpPr/>
          <p:nvPr/>
        </p:nvSpPr>
        <p:spPr>
          <a:xfrm>
            <a:off x="731520" y="4855464"/>
            <a:ext cx="10725912" cy="0"/>
          </a:xfrm>
          <a:prstGeom prst="line">
            <a:avLst/>
          </a:prstGeom>
          <a:noFill/>
          <a:ln w="9525">
            <a:solidFill>
              <a:srgbClr val="E3E6EE"/>
            </a:solidFill>
            <a:prstDash val="solid"/>
          </a:ln>
        </p:spPr>
      </p:sp>
      <p:sp>
        <p:nvSpPr>
          <p:cNvPr id="19" name="Text 16"/>
          <p:cNvSpPr/>
          <p:nvPr/>
        </p:nvSpPr>
        <p:spPr>
          <a:xfrm>
            <a:off x="731520" y="5001768"/>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D4556"/>
                </a:solidFill>
                <a:latin typeface="Inter" pitchFamily="34" charset="0"/>
                <a:ea typeface="Inter" pitchFamily="34" charset="-122"/>
                <a:cs typeface="Inter" pitchFamily="34" charset="-120"/>
              </a:rPr>
              <a:t>Les écarts se découvrent au rapport.</a:t>
            </a:r>
            <a:endParaRPr lang="en-US" sz="1300" dirty="0"/>
          </a:p>
        </p:txBody>
      </p:sp>
      <p:sp>
        <p:nvSpPr>
          <p:cNvPr id="20" name="Text 17"/>
          <p:cNvSpPr/>
          <p:nvPr/>
        </p:nvSpPr>
        <p:spPr>
          <a:xfrm>
            <a:off x="5852160" y="5001768"/>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0B0F19"/>
                </a:solidFill>
                <a:latin typeface="Inter" pitchFamily="34" charset="0"/>
                <a:ea typeface="Inter" pitchFamily="34" charset="-122"/>
                <a:cs typeface="Inter" pitchFamily="34" charset="-120"/>
              </a:rPr>
              <a:t>Les écarts se règlent sur place, pendant que ça compte.</a:t>
            </a:r>
            <a:endParaRPr lang="en-US" sz="1300" dirty="0"/>
          </a:p>
        </p:txBody>
      </p:sp>
      <p:sp>
        <p:nvSpPr>
          <p:cNvPr id="21" name="Shape 18"/>
          <p:cNvSpPr/>
          <p:nvPr/>
        </p:nvSpPr>
        <p:spPr>
          <a:xfrm>
            <a:off x="731520" y="5605272"/>
            <a:ext cx="10725912" cy="0"/>
          </a:xfrm>
          <a:prstGeom prst="line">
            <a:avLst/>
          </a:prstGeom>
          <a:noFill/>
          <a:ln w="9525">
            <a:solidFill>
              <a:srgbClr val="E3E6EE"/>
            </a:solidFill>
            <a:prstDash val="solid"/>
          </a:ln>
        </p:spPr>
      </p:sp>
      <p:sp>
        <p:nvSpPr>
          <p:cNvPr id="22" name="Text 19"/>
          <p:cNvSpPr/>
          <p:nvPr/>
        </p:nvSpPr>
        <p:spPr>
          <a:xfrm>
            <a:off x="731520" y="5751576"/>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D4556"/>
                </a:solidFill>
                <a:latin typeface="Inter" pitchFamily="34" charset="0"/>
                <a:ea typeface="Inter" pitchFamily="34" charset="-122"/>
                <a:cs typeface="Inter" pitchFamily="34" charset="-120"/>
              </a:rPr>
              <a:t>Un fichier à reformater avant chaque import.</a:t>
            </a:r>
            <a:endParaRPr lang="en-US" sz="1300" dirty="0"/>
          </a:p>
        </p:txBody>
      </p:sp>
      <p:sp>
        <p:nvSpPr>
          <p:cNvPr id="23" name="Text 20"/>
          <p:cNvSpPr/>
          <p:nvPr/>
        </p:nvSpPr>
        <p:spPr>
          <a:xfrm>
            <a:off x="5852160" y="5751576"/>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0B0F19"/>
                </a:solidFill>
                <a:latin typeface="Inter" pitchFamily="34" charset="0"/>
                <a:ea typeface="Inter" pitchFamily="34" charset="-122"/>
                <a:cs typeface="Inter" pitchFamily="34" charset="-120"/>
              </a:rPr>
              <a:t>Vos fichiers tels quels. Quantinvo reconnaît vos colonnes.</a:t>
            </a:r>
            <a:endParaRPr lang="en-US" sz="1300" dirty="0"/>
          </a:p>
        </p:txBody>
      </p:sp>
      <p:sp>
        <p:nvSpPr>
          <p:cNvPr id="24" name="Shape 21"/>
          <p:cNvSpPr/>
          <p:nvPr/>
        </p:nvSpPr>
        <p:spPr>
          <a:xfrm>
            <a:off x="731520" y="6355080"/>
            <a:ext cx="10725912" cy="0"/>
          </a:xfrm>
          <a:prstGeom prst="line">
            <a:avLst/>
          </a:prstGeom>
          <a:noFill/>
          <a:ln w="9525">
            <a:solidFill>
              <a:srgbClr val="E3E6EE"/>
            </a:solidFill>
            <a:prstDash val="solid"/>
          </a:ln>
        </p:spPr>
      </p:sp>
      <p:sp>
        <p:nvSpPr>
          <p:cNvPr id="25" name="Text 22"/>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présentation</a:t>
            </a:r>
            <a:endParaRPr lang="en-US" sz="900" dirty="0"/>
          </a:p>
        </p:txBody>
      </p:sp>
      <p:sp>
        <p:nvSpPr>
          <p:cNvPr id="26" name="Text 23"/>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Comment ça se passe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Un inventaire, en quatre gestes</a:t>
            </a:r>
            <a:endParaRPr lang="en-US" sz="2600" dirty="0"/>
          </a:p>
        </p:txBody>
      </p:sp>
      <p:sp>
        <p:nvSpPr>
          <p:cNvPr id="7" name="Shape 4"/>
          <p:cNvSpPr/>
          <p:nvPr/>
        </p:nvSpPr>
        <p:spPr>
          <a:xfrm>
            <a:off x="914400" y="2706624"/>
            <a:ext cx="10360152" cy="0"/>
          </a:xfrm>
          <a:prstGeom prst="line">
            <a:avLst/>
          </a:prstGeom>
          <a:noFill/>
          <a:ln w="9525">
            <a:solidFill>
              <a:srgbClr val="E3E6EE"/>
            </a:solidFill>
            <a:prstDash val="solid"/>
          </a:ln>
        </p:spPr>
      </p:sp>
      <p:sp>
        <p:nvSpPr>
          <p:cNvPr id="8" name="Text 5"/>
          <p:cNvSpPr/>
          <p:nvPr/>
        </p:nvSpPr>
        <p:spPr>
          <a:xfrm>
            <a:off x="731520" y="25146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1</a:t>
            </a:r>
            <a:endParaRPr lang="en-US" sz="1200" dirty="0"/>
          </a:p>
        </p:txBody>
      </p:sp>
      <p:sp>
        <p:nvSpPr>
          <p:cNvPr id="9" name="Text 6"/>
          <p:cNvSpPr/>
          <p:nvPr/>
        </p:nvSpPr>
        <p:spPr>
          <a:xfrm>
            <a:off x="731520" y="3108960"/>
            <a:ext cx="2407158" cy="365760"/>
          </a:xfrm>
          <a:prstGeom prst="rect">
            <a:avLst/>
          </a:prstGeom>
          <a:noFill/>
          <a:ln/>
        </p:spPr>
        <p:txBody>
          <a:bodyPr wrap="square" lIns="0" tIns="0" rIns="0" bIns="0" rtlCol="0" anchor="t"/>
          <a:lstStyle/>
          <a:p>
            <a:pPr indent="0" marL="0">
              <a:buNone/>
            </a:pPr>
            <a:r>
              <a:rPr lang="en-US" sz="1700" b="1" dirty="0">
                <a:solidFill>
                  <a:srgbClr val="4636B0"/>
                </a:solidFill>
                <a:latin typeface="Sora" pitchFamily="34" charset="0"/>
                <a:ea typeface="Sora" pitchFamily="34" charset="-122"/>
                <a:cs typeface="Sora" pitchFamily="34" charset="-120"/>
              </a:rPr>
              <a:t>Importez</a:t>
            </a:r>
            <a:endParaRPr lang="en-US" sz="1700" dirty="0"/>
          </a:p>
        </p:txBody>
      </p:sp>
      <p:sp>
        <p:nvSpPr>
          <p:cNvPr id="10" name="Text 7"/>
          <p:cNvSpPr/>
          <p:nvPr/>
        </p:nvSpPr>
        <p:spPr>
          <a:xfrm>
            <a:off x="731520"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Inter" pitchFamily="34" charset="0"/>
                <a:ea typeface="Inter" pitchFamily="34" charset="-122"/>
                <a:cs typeface="Inter" pitchFamily="34" charset="-120"/>
              </a:rPr>
              <a:t>Votre référentiel et votre stock théorique, en CSV ou en Excel, tels qu'ils sortent de votre système. SKU, EAN, Gencod, Qté : les noms de colonnes sont reconnus.</a:t>
            </a:r>
            <a:endParaRPr lang="en-US" sz="1200" dirty="0"/>
          </a:p>
        </p:txBody>
      </p:sp>
      <p:sp>
        <p:nvSpPr>
          <p:cNvPr id="11" name="Text 8"/>
          <p:cNvSpPr/>
          <p:nvPr/>
        </p:nvSpPr>
        <p:spPr>
          <a:xfrm>
            <a:off x="3504438" y="25146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2</a:t>
            </a:r>
            <a:endParaRPr lang="en-US" sz="1200" dirty="0"/>
          </a:p>
        </p:txBody>
      </p:sp>
      <p:sp>
        <p:nvSpPr>
          <p:cNvPr id="12" name="Text 9"/>
          <p:cNvSpPr/>
          <p:nvPr/>
        </p:nvSpPr>
        <p:spPr>
          <a:xfrm>
            <a:off x="3504438" y="3108960"/>
            <a:ext cx="2407158" cy="365760"/>
          </a:xfrm>
          <a:prstGeom prst="rect">
            <a:avLst/>
          </a:prstGeom>
          <a:noFill/>
          <a:ln/>
        </p:spPr>
        <p:txBody>
          <a:bodyPr wrap="square" lIns="0" tIns="0" rIns="0" bIns="0" rtlCol="0" anchor="t"/>
          <a:lstStyle/>
          <a:p>
            <a:pPr indent="0" marL="0">
              <a:buNone/>
            </a:pPr>
            <a:r>
              <a:rPr lang="en-US" sz="1700" b="1" dirty="0">
                <a:solidFill>
                  <a:srgbClr val="4636B0"/>
                </a:solidFill>
                <a:latin typeface="Sora" pitchFamily="34" charset="0"/>
                <a:ea typeface="Sora" pitchFamily="34" charset="-122"/>
                <a:cs typeface="Sora" pitchFamily="34" charset="-120"/>
              </a:rPr>
              <a:t>Scannez</a:t>
            </a:r>
            <a:endParaRPr lang="en-US" sz="1700" dirty="0"/>
          </a:p>
        </p:txBody>
      </p:sp>
      <p:sp>
        <p:nvSpPr>
          <p:cNvPr id="13" name="Text 10"/>
          <p:cNvSpPr/>
          <p:nvPr/>
        </p:nvSpPr>
        <p:spPr>
          <a:xfrm>
            <a:off x="3504438"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Inter" pitchFamily="34" charset="0"/>
                <a:ea typeface="Inter" pitchFamily="34" charset="-122"/>
                <a:cs typeface="Inter" pitchFamily="34" charset="-120"/>
              </a:rPr>
              <a:t>Chaque compteur ouvre l'inventaire sur son téléphone, scanne la balise de son rayon, puis les articles. Plusieurs personnes comptent en même temps, chacune sa zone.</a:t>
            </a:r>
            <a:endParaRPr lang="en-US" sz="1200" dirty="0"/>
          </a:p>
        </p:txBody>
      </p:sp>
      <p:sp>
        <p:nvSpPr>
          <p:cNvPr id="14" name="Text 11"/>
          <p:cNvSpPr/>
          <p:nvPr/>
        </p:nvSpPr>
        <p:spPr>
          <a:xfrm>
            <a:off x="6277356" y="25146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3</a:t>
            </a:r>
            <a:endParaRPr lang="en-US" sz="1200" dirty="0"/>
          </a:p>
        </p:txBody>
      </p:sp>
      <p:sp>
        <p:nvSpPr>
          <p:cNvPr id="15" name="Text 12"/>
          <p:cNvSpPr/>
          <p:nvPr/>
        </p:nvSpPr>
        <p:spPr>
          <a:xfrm>
            <a:off x="6277356" y="3108960"/>
            <a:ext cx="2407158" cy="365760"/>
          </a:xfrm>
          <a:prstGeom prst="rect">
            <a:avLst/>
          </a:prstGeom>
          <a:noFill/>
          <a:ln/>
        </p:spPr>
        <p:txBody>
          <a:bodyPr wrap="square" lIns="0" tIns="0" rIns="0" bIns="0" rtlCol="0" anchor="t"/>
          <a:lstStyle/>
          <a:p>
            <a:pPr indent="0" marL="0">
              <a:buNone/>
            </a:pPr>
            <a:r>
              <a:rPr lang="en-US" sz="1700" b="1" dirty="0">
                <a:solidFill>
                  <a:srgbClr val="4636B0"/>
                </a:solidFill>
                <a:latin typeface="Sora" pitchFamily="34" charset="0"/>
                <a:ea typeface="Sora" pitchFamily="34" charset="-122"/>
                <a:cs typeface="Sora" pitchFamily="34" charset="-120"/>
              </a:rPr>
              <a:t>Auditez</a:t>
            </a:r>
            <a:endParaRPr lang="en-US" sz="1700" dirty="0"/>
          </a:p>
        </p:txBody>
      </p:sp>
      <p:sp>
        <p:nvSpPr>
          <p:cNvPr id="16" name="Text 13"/>
          <p:cNvSpPr/>
          <p:nvPr/>
        </p:nvSpPr>
        <p:spPr>
          <a:xfrm>
            <a:off x="6277356"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Inter" pitchFamily="34" charset="0"/>
                <a:ea typeface="Inter" pitchFamily="34" charset="-122"/>
                <a:cs typeface="Inter" pitchFamily="34" charset="-120"/>
              </a:rPr>
              <a:t>Un second passage sur les zones qui le méritent. L'écart entre les deux comptages s'affiche, le superviseur tranche.</a:t>
            </a:r>
            <a:endParaRPr lang="en-US" sz="1200" dirty="0"/>
          </a:p>
        </p:txBody>
      </p:sp>
      <p:sp>
        <p:nvSpPr>
          <p:cNvPr id="17" name="Text 14"/>
          <p:cNvSpPr/>
          <p:nvPr/>
        </p:nvSpPr>
        <p:spPr>
          <a:xfrm>
            <a:off x="9050274" y="25146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4</a:t>
            </a:r>
            <a:endParaRPr lang="en-US" sz="1200" dirty="0"/>
          </a:p>
        </p:txBody>
      </p:sp>
      <p:sp>
        <p:nvSpPr>
          <p:cNvPr id="18" name="Text 15"/>
          <p:cNvSpPr/>
          <p:nvPr/>
        </p:nvSpPr>
        <p:spPr>
          <a:xfrm>
            <a:off x="9050274" y="3108960"/>
            <a:ext cx="2407158" cy="365760"/>
          </a:xfrm>
          <a:prstGeom prst="rect">
            <a:avLst/>
          </a:prstGeom>
          <a:noFill/>
          <a:ln/>
        </p:spPr>
        <p:txBody>
          <a:bodyPr wrap="square" lIns="0" tIns="0" rIns="0" bIns="0" rtlCol="0" anchor="t"/>
          <a:lstStyle/>
          <a:p>
            <a:pPr indent="0" marL="0">
              <a:buNone/>
            </a:pPr>
            <a:r>
              <a:rPr lang="en-US" sz="1700" b="1" dirty="0">
                <a:solidFill>
                  <a:srgbClr val="4636B0"/>
                </a:solidFill>
                <a:latin typeface="Sora" pitchFamily="34" charset="0"/>
                <a:ea typeface="Sora" pitchFamily="34" charset="-122"/>
                <a:cs typeface="Sora" pitchFamily="34" charset="-120"/>
              </a:rPr>
              <a:t>Corrigez</a:t>
            </a:r>
            <a:endParaRPr lang="en-US" sz="1700" dirty="0"/>
          </a:p>
        </p:txBody>
      </p:sp>
      <p:sp>
        <p:nvSpPr>
          <p:cNvPr id="19" name="Text 16"/>
          <p:cNvSpPr/>
          <p:nvPr/>
        </p:nvSpPr>
        <p:spPr>
          <a:xfrm>
            <a:off x="9050274"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Inter" pitchFamily="34" charset="0"/>
                <a:ea typeface="Inter" pitchFamily="34" charset="-122"/>
                <a:cs typeface="Inter" pitchFamily="34" charset="-120"/>
              </a:rPr>
              <a:t>Le rapport sort en Excel : résultats, écarts en valeur, détail par zone. Il part tel quel à la correction du stock.</a:t>
            </a:r>
            <a:endParaRPr lang="en-US" sz="1200" dirty="0"/>
          </a:p>
        </p:txBody>
      </p:sp>
      <p:sp>
        <p:nvSpPr>
          <p:cNvPr id="20" name="Shape 17"/>
          <p:cNvSpPr/>
          <p:nvPr/>
        </p:nvSpPr>
        <p:spPr>
          <a:xfrm>
            <a:off x="731520" y="5257800"/>
            <a:ext cx="10725912" cy="914400"/>
          </a:xfrm>
          <a:prstGeom prst="roundRect">
            <a:avLst>
              <a:gd name="adj" fmla="val 8000"/>
            </a:avLst>
          </a:prstGeom>
          <a:solidFill>
            <a:srgbClr val="F4F5F9"/>
          </a:solidFill>
          <a:ln w="12700">
            <a:solidFill>
              <a:srgbClr val="F4F5F9"/>
            </a:solidFill>
            <a:prstDash val="solid"/>
          </a:ln>
        </p:spPr>
      </p:sp>
      <p:sp>
        <p:nvSpPr>
          <p:cNvPr id="21" name="Text 18"/>
          <p:cNvSpPr/>
          <p:nvPr/>
        </p:nvSpPr>
        <p:spPr>
          <a:xfrm>
            <a:off x="1005840" y="542239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Inter" pitchFamily="34" charset="0"/>
                <a:ea typeface="Inter" pitchFamily="34" charset="-122"/>
                <a:cs typeface="Inter" pitchFamily="34" charset="-120"/>
              </a:rPr>
              <a:t>Sur le terrain</a:t>
            </a:r>
            <a:endParaRPr lang="en-US" sz="950" dirty="0"/>
          </a:p>
        </p:txBody>
      </p:sp>
      <p:sp>
        <p:nvSpPr>
          <p:cNvPr id="22" name="Text 19"/>
          <p:cNvSpPr/>
          <p:nvPr/>
        </p:nvSpPr>
        <p:spPr>
          <a:xfrm>
            <a:off x="1005840" y="5678424"/>
            <a:ext cx="10177272" cy="36576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Inter" pitchFamily="34" charset="0"/>
                <a:ea typeface="Inter" pitchFamily="34" charset="-122"/>
                <a:cs typeface="Inter" pitchFamily="34" charset="-120"/>
              </a:rPr>
              <a:t>Le premier inventaire se fait généralement sur un rayon, un mardi matin, avec deux personnes. Pas besoin de la nuit entière pour commencer : c'est justement l'idée.</a:t>
            </a:r>
            <a:endParaRPr lang="en-US" sz="1150" dirty="0"/>
          </a:p>
        </p:txBody>
      </p:sp>
      <p:sp>
        <p:nvSpPr>
          <p:cNvPr id="23" name="Text 2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présentation</a:t>
            </a:r>
            <a:endParaRPr lang="en-US" sz="900" dirty="0"/>
          </a:p>
        </p:txBody>
      </p:sp>
      <p:sp>
        <p:nvSpPr>
          <p:cNvPr id="24" name="Text 2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Le tableau de bord</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Pendant que ça compte, vous voyez où ça en est.</a:t>
            </a:r>
            <a:endParaRPr lang="en-US" sz="2600" dirty="0"/>
          </a:p>
        </p:txBody>
      </p:sp>
      <p:sp>
        <p:nvSpPr>
          <p:cNvPr id="7" name="Text 4"/>
          <p:cNvSpPr/>
          <p:nvPr/>
        </p:nvSpPr>
        <p:spPr>
          <a:xfrm>
            <a:off x="731520" y="210312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Depuis le bureau, sur le site : combien d'appareils comptent, combien auditent, l'avancement zone par zone, les derniers scans. Ce que vous ne voyez pas, et c'est voulu : qui fait quoi. Le suivi est agrégé, on pilote le travail, pas les personnes.</a:t>
            </a:r>
            <a:endParaRPr lang="en-US" sz="1250" dirty="0"/>
          </a:p>
        </p:txBody>
      </p:sp>
      <p:sp>
        <p:nvSpPr>
          <p:cNvPr id="8" name="Shape 5"/>
          <p:cNvSpPr/>
          <p:nvPr/>
        </p:nvSpPr>
        <p:spPr>
          <a:xfrm>
            <a:off x="1556182" y="2825496"/>
            <a:ext cx="9076589" cy="3355848"/>
          </a:xfrm>
          <a:prstGeom prst="roundRect">
            <a:avLst>
              <a:gd name="adj" fmla="val 2180"/>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1611046" y="2880360"/>
            <a:ext cx="8966861" cy="3246120"/>
          </a:xfrm>
          <a:prstGeom prst="rect">
            <a:avLst/>
          </a:prstGeom>
        </p:spPr>
      </p:pic>
      <p:sp>
        <p:nvSpPr>
          <p:cNvPr id="10" name="Text 6"/>
          <p:cNvSpPr/>
          <p:nvPr/>
        </p:nvSpPr>
        <p:spPr>
          <a:xfrm>
            <a:off x="1611046" y="6263640"/>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Onglet Suivi,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présentation</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Les écarts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Un écart se règle pendant l'inventaire, pas trois jours après.</a:t>
            </a:r>
            <a:endParaRPr lang="en-US" sz="2600" dirty="0"/>
          </a:p>
        </p:txBody>
      </p:sp>
      <p:sp>
        <p:nvSpPr>
          <p:cNvPr id="7" name="Text 4"/>
          <p:cNvSpPr/>
          <p:nvPr/>
        </p:nvSpPr>
        <p:spPr>
          <a:xfrm>
            <a:off x="731520" y="210312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Quand une balise a été comptée puis auditée, les deux quantités s'affichent côte à côte, avec l'écart en pièces et en valeur d'achat. Le superviseur retient l'une, l'autre, ou une troisième qu'il a vérifiée lui-même. Tant qu'il n'a pas tranché, le rapport le lui rappelle.</a:t>
            </a:r>
            <a:endParaRPr lang="en-US" sz="1250" dirty="0"/>
          </a:p>
        </p:txBody>
      </p:sp>
      <p:sp>
        <p:nvSpPr>
          <p:cNvPr id="8" name="Shape 5"/>
          <p:cNvSpPr/>
          <p:nvPr/>
        </p:nvSpPr>
        <p:spPr>
          <a:xfrm>
            <a:off x="2139696" y="2825496"/>
            <a:ext cx="7909560" cy="3082758"/>
          </a:xfrm>
          <a:prstGeom prst="roundRect">
            <a:avLst>
              <a:gd name="adj" fmla="val 2373"/>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2194560" y="2880360"/>
            <a:ext cx="7799832" cy="2973030"/>
          </a:xfrm>
          <a:prstGeom prst="rect">
            <a:avLst/>
          </a:prstGeom>
        </p:spPr>
      </p:pic>
      <p:sp>
        <p:nvSpPr>
          <p:cNvPr id="10" name="Text 6"/>
          <p:cNvSpPr/>
          <p:nvPr/>
        </p:nvSpPr>
        <p:spPr>
          <a:xfrm>
            <a:off x="2194560" y="5990550"/>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Onglet Écarts d'audit,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présentation</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Le rapport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Sora" pitchFamily="34" charset="0"/>
                <a:ea typeface="Sora" pitchFamily="34" charset="-122"/>
                <a:cs typeface="Sora" pitchFamily="34" charset="-120"/>
              </a:rPr>
              <a:t>À la fin, un rapport qui dit aussi ce qui n'a pas été compté.</a:t>
            </a:r>
            <a:endParaRPr lang="en-US" sz="2400" dirty="0"/>
          </a:p>
        </p:txBody>
      </p:sp>
      <p:sp>
        <p:nvSpPr>
          <p:cNvPr id="7" name="Text 4"/>
          <p:cNvSpPr/>
          <p:nvPr/>
        </p:nvSpPr>
        <p:spPr>
          <a:xfrm>
            <a:off x="731520" y="3108960"/>
            <a:ext cx="4206240" cy="137160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Le rapport part du stock attendu, pas seulement de ce qui a été scanné. Un article attendu et jamais trouvé y figure, avec son manque. C'est la démarque que l'inventaire est censé révéler.</a:t>
            </a:r>
            <a:endParaRPr lang="en-US" sz="1250" dirty="0"/>
          </a:p>
        </p:txBody>
      </p:sp>
      <p:sp>
        <p:nvSpPr>
          <p:cNvPr id="8" name="Text 5"/>
          <p:cNvSpPr/>
          <p:nvPr/>
        </p:nvSpPr>
        <p:spPr>
          <a:xfrm>
            <a:off x="731520" y="4526280"/>
            <a:ext cx="4206240" cy="54864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Export Excel en un clic, prêt pour la correction du stock.</a:t>
            </a:r>
            <a:endParaRPr lang="en-US" sz="1250" dirty="0"/>
          </a:p>
        </p:txBody>
      </p:sp>
      <p:sp>
        <p:nvSpPr>
          <p:cNvPr id="9" name="Shape 6"/>
          <p:cNvSpPr/>
          <p:nvPr/>
        </p:nvSpPr>
        <p:spPr>
          <a:xfrm>
            <a:off x="5340096" y="1316736"/>
            <a:ext cx="6172200" cy="4187624"/>
          </a:xfrm>
          <a:prstGeom prst="roundRect">
            <a:avLst>
              <a:gd name="adj" fmla="val 1747"/>
            </a:avLst>
          </a:prstGeom>
          <a:solidFill>
            <a:srgbClr val="FFFFFF"/>
          </a:solidFill>
          <a:ln w="12700">
            <a:solidFill>
              <a:srgbClr val="E3E6EE"/>
            </a:solidFill>
            <a:prstDash val="solid"/>
          </a:ln>
        </p:spPr>
      </p:sp>
      <p:pic>
        <p:nvPicPr>
          <p:cNvPr id="10" name="Image 1" descr="preencoded.png">    </p:cNvPr>
          <p:cNvPicPr>
            <a:picLocks noChangeAspect="1"/>
          </p:cNvPicPr>
          <p:nvPr/>
        </p:nvPicPr>
        <p:blipFill>
          <a:blip r:embed="rId2"/>
          <a:stretch>
            <a:fillRect/>
          </a:stretch>
        </p:blipFill>
        <p:spPr>
          <a:xfrm>
            <a:off x="5394960" y="1371600"/>
            <a:ext cx="6062472" cy="4077896"/>
          </a:xfrm>
          <a:prstGeom prst="rect">
            <a:avLst/>
          </a:prstGeom>
        </p:spPr>
      </p:pic>
      <p:sp>
        <p:nvSpPr>
          <p:cNvPr id="11" name="Text 7"/>
          <p:cNvSpPr/>
          <p:nvPr/>
        </p:nvSpPr>
        <p:spPr>
          <a:xfrm>
            <a:off x="5394960" y="5586656"/>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Onglet Rapport, données d'essai.</a:t>
            </a:r>
            <a:endParaRPr lang="en-US" sz="1000" dirty="0"/>
          </a:p>
        </p:txBody>
      </p:sp>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présentation</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Pour être clair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Ce qu'on ne vous promet pas.</a:t>
            </a:r>
            <a:endParaRPr lang="en-US" sz="2600" dirty="0"/>
          </a:p>
        </p:txBody>
      </p:sp>
      <p:sp>
        <p:nvSpPr>
          <p:cNvPr id="7" name="Text 4"/>
          <p:cNvSpPr/>
          <p:nvPr/>
        </p:nvSpPr>
        <p:spPr>
          <a:xfrm>
            <a:off x="731520" y="3383280"/>
            <a:ext cx="4206240" cy="548640"/>
          </a:xfrm>
          <a:prstGeom prst="rect">
            <a:avLst/>
          </a:prstGeom>
          <a:noFill/>
          <a:ln/>
        </p:spPr>
        <p:txBody>
          <a:bodyPr wrap="square" lIns="0" tIns="0" rIns="0" bIns="0" rtlCol="0" anchor="t"/>
          <a:lstStyle/>
          <a:p>
            <a:pPr algn="l" indent="0" marL="0">
              <a:lnSpc>
                <a:spcPct val="118000"/>
              </a:lnSpc>
              <a:buNone/>
            </a:pPr>
            <a:r>
              <a:rPr lang="en-US" sz="1250" i="1" dirty="0">
                <a:solidFill>
                  <a:srgbClr val="5B6475"/>
                </a:solidFill>
                <a:latin typeface="Inter" pitchFamily="34" charset="0"/>
                <a:ea typeface="Inter" pitchFamily="34" charset="-122"/>
                <a:cs typeface="Inter" pitchFamily="34" charset="-120"/>
              </a:rPr>
              <a:t>Autant le dire avant la démonstration qu'après.</a:t>
            </a:r>
            <a:endParaRPr lang="en-US" sz="1250" dirty="0"/>
          </a:p>
        </p:txBody>
      </p:sp>
      <p:sp>
        <p:nvSpPr>
          <p:cNvPr id="8" name="Text 5"/>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b="1" dirty="0">
                <a:solidFill>
                  <a:srgbClr val="0B0F19"/>
                </a:solidFill>
                <a:latin typeface="Inter" pitchFamily="34" charset="0"/>
                <a:ea typeface="Inter" pitchFamily="34" charset="-122"/>
                <a:cs typeface="Inter" pitchFamily="34" charset="-120"/>
              </a:rPr>
              <a:t>L'inventaire fiscal certifié. </a:t>
            </a:r>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Si votre commissaire aux comptes exige un comptage par un tiers, ce comptage reste. Quantinvo fait tout le reste de l'année, et il le prépare.</a:t>
            </a:r>
            <a:endParaRPr lang="en-US" sz="1400" dirty="0"/>
          </a:p>
          <a:p>
            <a:pPr indent="0" marL="0">
              <a:lnSpc>
                <a:spcPct val="118000"/>
              </a:lnSpc>
              <a:spcAft>
                <a:spcPts val="1400"/>
              </a:spcAft>
              <a:buNone/>
            </a:pPr>
            <a:r>
              <a:rPr lang="en-US" sz="1400" b="1" dirty="0">
                <a:solidFill>
                  <a:srgbClr val="0B0F19"/>
                </a:solidFill>
                <a:latin typeface="Inter" pitchFamily="34" charset="0"/>
                <a:ea typeface="Inter" pitchFamily="34" charset="-122"/>
                <a:cs typeface="Inter" pitchFamily="34" charset="-120"/>
              </a:rPr>
              <a:t>Une connexion à votre ERP. </a:t>
            </a:r>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Pas encore. Quantinvo importe vos fichiers et rend un Excel. C'est ce qui permet de démarrer en une journée, sans projet informatique.</a:t>
            </a:r>
            <a:endParaRPr lang="en-US" sz="1400" dirty="0"/>
          </a:p>
          <a:p>
            <a:pPr indent="0" marL="0">
              <a:lnSpc>
                <a:spcPct val="118000"/>
              </a:lnSpc>
              <a:spcAft>
                <a:spcPts val="1400"/>
              </a:spcAft>
              <a:buNone/>
            </a:pPr>
            <a:r>
              <a:rPr lang="en-US" sz="1400" b="1" dirty="0">
                <a:solidFill>
                  <a:srgbClr val="0B0F19"/>
                </a:solidFill>
                <a:latin typeface="Inter" pitchFamily="34" charset="0"/>
                <a:ea typeface="Inter" pitchFamily="34" charset="-122"/>
                <a:cs typeface="Inter" pitchFamily="34" charset="-120"/>
              </a:rPr>
              <a:t>Android. </a:t>
            </a:r>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L'application est sur iPhone aujourd'hui. La version Android est en cours.</a:t>
            </a:r>
            <a:endParaRPr lang="en-US" sz="1400" dirty="0"/>
          </a:p>
          <a:p>
            <a:pPr indent="0" marL="0">
              <a:lnSpc>
                <a:spcPct val="118000"/>
              </a:lnSpc>
              <a:spcAft>
                <a:spcPts val="1400"/>
              </a:spcAft>
              <a:buNone/>
            </a:pPr>
            <a:r>
              <a:rPr lang="en-US" sz="1400" b="1" dirty="0">
                <a:solidFill>
                  <a:srgbClr val="0B0F19"/>
                </a:solidFill>
                <a:latin typeface="Inter" pitchFamily="34" charset="0"/>
                <a:ea typeface="Inter" pitchFamily="34" charset="-122"/>
                <a:cs typeface="Inter" pitchFamily="34" charset="-120"/>
              </a:rPr>
              <a:t>La connexion par votre annuaire. </a:t>
            </a:r>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Les comptes sont nominatifs, créés par invitation. Pas de SAML ni d'Entra ID pour l'instant ; dites-nous si c'est une exigence.</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présentation</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Confiance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Pensé pour une entreprise, pas pour un particulier</a:t>
            </a:r>
            <a:endParaRPr lang="en-US" sz="2600" dirty="0"/>
          </a:p>
        </p:txBody>
      </p:sp>
      <p:sp>
        <p:nvSpPr>
          <p:cNvPr id="7" name="Text 4"/>
          <p:cNvSpPr/>
          <p:nvPr/>
        </p:nvSpPr>
        <p:spPr>
          <a:xfrm>
            <a:off x="731520" y="2286000"/>
            <a:ext cx="5088636" cy="2926080"/>
          </a:xfrm>
          <a:prstGeom prst="rect">
            <a:avLst/>
          </a:prstGeom>
          <a:noFill/>
          <a:ln/>
        </p:spPr>
        <p:txBody>
          <a:bodyPr wrap="square" lIns="0" tIns="0" rIns="0" bIns="0" rtlCol="0" anchor="t"/>
          <a:lstStyle/>
          <a:p>
            <a:pPr indent="0" marL="0">
              <a:lnSpc>
                <a:spcPct val="118000"/>
              </a:lnSpc>
              <a:spcAft>
                <a:spcPts val="1200"/>
              </a:spcAft>
              <a:buNone/>
            </a:pPr>
            <a:r>
              <a:rPr lang="en-US" sz="1250" b="1" dirty="0">
                <a:solidFill>
                  <a:srgbClr val="0B0F19"/>
                </a:solidFill>
                <a:latin typeface="Inter" pitchFamily="34" charset="0"/>
                <a:ea typeface="Inter" pitchFamily="34" charset="-122"/>
                <a:cs typeface="Inter" pitchFamily="34" charset="-120"/>
              </a:rPr>
              <a:t>Les données restent en Europe. </a:t>
            </a:r>
            <a:pPr indent="0" marL="0">
              <a:lnSpc>
                <a:spcPct val="118000"/>
              </a:lnSpc>
              <a:spcAft>
                <a:spcPts val="1200"/>
              </a:spcAft>
              <a:buNone/>
            </a:pPr>
            <a:r>
              <a:rPr lang="en-US" sz="1250" dirty="0">
                <a:solidFill>
                  <a:srgbClr val="3D4556"/>
                </a:solidFill>
                <a:latin typeface="Inter" pitchFamily="34" charset="0"/>
                <a:ea typeface="Inter" pitchFamily="34" charset="-122"/>
                <a:cs typeface="Inter" pitchFamily="34" charset="-120"/>
              </a:rPr>
              <a:t>Les données d'inventaire sont hébergées en Irlande. La politique de confidentialité est publique et les sous-traitants y sont nommés.</a:t>
            </a:r>
            <a:endParaRPr lang="en-US" sz="1250" dirty="0"/>
          </a:p>
          <a:p>
            <a:pPr indent="0" marL="0">
              <a:lnSpc>
                <a:spcPct val="118000"/>
              </a:lnSpc>
              <a:spcAft>
                <a:spcPts val="1200"/>
              </a:spcAft>
              <a:buNone/>
            </a:pPr>
            <a:r>
              <a:rPr lang="en-US" sz="1250" b="1" dirty="0">
                <a:solidFill>
                  <a:srgbClr val="0B0F19"/>
                </a:solidFill>
                <a:latin typeface="Inter" pitchFamily="34" charset="0"/>
                <a:ea typeface="Inter" pitchFamily="34" charset="-122"/>
                <a:cs typeface="Inter" pitchFamily="34" charset="-120"/>
              </a:rPr>
              <a:t>Le RGPD est dans le produit. </a:t>
            </a:r>
            <a:pPr indent="0" marL="0">
              <a:lnSpc>
                <a:spcPct val="118000"/>
              </a:lnSpc>
              <a:spcAft>
                <a:spcPts val="1200"/>
              </a:spcAft>
              <a:buNone/>
            </a:pPr>
            <a:r>
              <a:rPr lang="en-US" sz="1250" dirty="0">
                <a:solidFill>
                  <a:srgbClr val="3D4556"/>
                </a:solidFill>
                <a:latin typeface="Inter" pitchFamily="34" charset="0"/>
                <a:ea typeface="Inter" pitchFamily="34" charset="-122"/>
                <a:cs typeface="Inter" pitchFamily="34" charset="-120"/>
              </a:rPr>
              <a:t>Chaque personne peut télécharger ses données ou demander la suppression de son compte depuis son écran. Les clauses de sous-traitance sont fournies à la signature.</a:t>
            </a:r>
            <a:endParaRPr lang="en-US" sz="1250" dirty="0"/>
          </a:p>
        </p:txBody>
      </p:sp>
      <p:sp>
        <p:nvSpPr>
          <p:cNvPr id="8" name="Text 5"/>
          <p:cNvSpPr/>
          <p:nvPr/>
        </p:nvSpPr>
        <p:spPr>
          <a:xfrm>
            <a:off x="6368796" y="2286000"/>
            <a:ext cx="5088636" cy="2926080"/>
          </a:xfrm>
          <a:prstGeom prst="rect">
            <a:avLst/>
          </a:prstGeom>
          <a:noFill/>
          <a:ln/>
        </p:spPr>
        <p:txBody>
          <a:bodyPr wrap="square" lIns="0" tIns="0" rIns="0" bIns="0" rtlCol="0" anchor="t"/>
          <a:lstStyle/>
          <a:p>
            <a:pPr indent="0" marL="0">
              <a:lnSpc>
                <a:spcPct val="118000"/>
              </a:lnSpc>
              <a:spcAft>
                <a:spcPts val="1200"/>
              </a:spcAft>
              <a:buNone/>
            </a:pPr>
            <a:r>
              <a:rPr lang="en-US" sz="1250" b="1" dirty="0">
                <a:solidFill>
                  <a:srgbClr val="0B0F19"/>
                </a:solidFill>
                <a:latin typeface="Inter" pitchFamily="34" charset="0"/>
                <a:ea typeface="Inter" pitchFamily="34" charset="-122"/>
                <a:cs typeface="Inter" pitchFamily="34" charset="-120"/>
              </a:rPr>
              <a:t>Les accès sont nominatifs. </a:t>
            </a:r>
            <a:pPr indent="0" marL="0">
              <a:lnSpc>
                <a:spcPct val="118000"/>
              </a:lnSpc>
              <a:spcAft>
                <a:spcPts val="1200"/>
              </a:spcAft>
              <a:buNone/>
            </a:pPr>
            <a:r>
              <a:rPr lang="en-US" sz="1250" dirty="0">
                <a:solidFill>
                  <a:srgbClr val="3D4556"/>
                </a:solidFill>
                <a:latin typeface="Inter" pitchFamily="34" charset="0"/>
                <a:ea typeface="Inter" pitchFamily="34" charset="-122"/>
                <a:cs typeface="Inter" pitchFamily="34" charset="-120"/>
              </a:rPr>
              <a:t>Pas d'inscription libre : on entre sur invitation. Administrateur, superviseur, compteur, chacun voit son périmètre. Double authentification pour qui le souhaite.</a:t>
            </a:r>
            <a:endParaRPr lang="en-US" sz="1250" dirty="0"/>
          </a:p>
          <a:p>
            <a:pPr indent="0" marL="0">
              <a:lnSpc>
                <a:spcPct val="118000"/>
              </a:lnSpc>
              <a:spcAft>
                <a:spcPts val="1200"/>
              </a:spcAft>
              <a:buNone/>
            </a:pPr>
            <a:r>
              <a:rPr lang="en-US" sz="1250" b="1" dirty="0">
                <a:solidFill>
                  <a:srgbClr val="0B0F19"/>
                </a:solidFill>
                <a:latin typeface="Inter" pitchFamily="34" charset="0"/>
                <a:ea typeface="Inter" pitchFamily="34" charset="-122"/>
                <a:cs typeface="Inter" pitchFamily="34" charset="-120"/>
              </a:rPr>
              <a:t>Aucun traceur. </a:t>
            </a:r>
            <a:pPr indent="0" marL="0">
              <a:lnSpc>
                <a:spcPct val="118000"/>
              </a:lnSpc>
              <a:spcAft>
                <a:spcPts val="1200"/>
              </a:spcAft>
              <a:buNone/>
            </a:pPr>
            <a:r>
              <a:rPr lang="en-US" sz="1250" dirty="0">
                <a:solidFill>
                  <a:srgbClr val="3D4556"/>
                </a:solidFill>
                <a:latin typeface="Inter" pitchFamily="34" charset="0"/>
                <a:ea typeface="Inter" pitchFamily="34" charset="-122"/>
                <a:cs typeface="Inter" pitchFamily="34" charset="-120"/>
              </a:rPr>
              <a:t>Pas de cookie publicitaire, pas de mesure d'audience, pas de revente. L'outil travaille, il n'observe pas.</a:t>
            </a:r>
            <a:endParaRPr lang="en-US" sz="1250" dirty="0"/>
          </a:p>
        </p:txBody>
      </p:sp>
      <p:sp>
        <p:nvSpPr>
          <p:cNvPr id="9" name="Shape 6"/>
          <p:cNvSpPr/>
          <p:nvPr/>
        </p:nvSpPr>
        <p:spPr>
          <a:xfrm>
            <a:off x="731520" y="5257800"/>
            <a:ext cx="10725912" cy="914400"/>
          </a:xfrm>
          <a:prstGeom prst="roundRect">
            <a:avLst>
              <a:gd name="adj" fmla="val 8000"/>
            </a:avLst>
          </a:prstGeom>
          <a:solidFill>
            <a:srgbClr val="F4F5F9"/>
          </a:solidFill>
          <a:ln w="12700">
            <a:solidFill>
              <a:srgbClr val="F4F5F9"/>
            </a:solidFill>
            <a:prstDash val="solid"/>
          </a:ln>
        </p:spPr>
      </p:sp>
      <p:sp>
        <p:nvSpPr>
          <p:cNvPr id="10" name="Text 7"/>
          <p:cNvSpPr/>
          <p:nvPr/>
        </p:nvSpPr>
        <p:spPr>
          <a:xfrm>
            <a:off x="1005840" y="542239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Inter" pitchFamily="34" charset="0"/>
                <a:ea typeface="Inter" pitchFamily="34" charset="-122"/>
                <a:cs typeface="Inter" pitchFamily="34" charset="-120"/>
              </a:rPr>
              <a:t>Pour votre direction informatique</a:t>
            </a:r>
            <a:endParaRPr lang="en-US" sz="950" dirty="0"/>
          </a:p>
        </p:txBody>
      </p:sp>
      <p:sp>
        <p:nvSpPr>
          <p:cNvPr id="11" name="Text 8"/>
          <p:cNvSpPr/>
          <p:nvPr/>
        </p:nvSpPr>
        <p:spPr>
          <a:xfrm>
            <a:off x="1005840" y="5678424"/>
            <a:ext cx="10177272" cy="36576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Inter" pitchFamily="34" charset="0"/>
                <a:ea typeface="Inter" pitchFamily="34" charset="-122"/>
                <a:cs typeface="Inter" pitchFamily="34" charset="-120"/>
              </a:rPr>
              <a:t>Un dossier technique séparé répond aux questions d'une DSI : architecture, hébergement, déploiement par votre catalogue d'entreprise, comptes, sécurité. Demandez-le.</a:t>
            </a:r>
            <a:endParaRPr lang="en-US" sz="1150" dirty="0"/>
          </a:p>
        </p:txBody>
      </p:sp>
      <p:sp>
        <p:nvSpPr>
          <p:cNvPr id="12" name="Text 9"/>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présentation</a:t>
            </a:r>
            <a:endParaRPr lang="en-US" sz="900" dirty="0"/>
          </a:p>
        </p:txBody>
      </p:sp>
      <p:sp>
        <p:nvSpPr>
          <p:cNvPr id="13" name="Text 10"/>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L'offre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64592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Sora" pitchFamily="34" charset="0"/>
                <a:ea typeface="Sora" pitchFamily="34" charset="-122"/>
                <a:cs typeface="Sora" pitchFamily="34" charset="-120"/>
              </a:rPr>
              <a:t>Une licence par magasin, à l’année, comptages illimités.</a:t>
            </a:r>
            <a:endParaRPr lang="en-US" sz="2400" dirty="0"/>
          </a:p>
        </p:txBody>
      </p:sp>
      <p:sp>
        <p:nvSpPr>
          <p:cNvPr id="7" name="Text 4"/>
          <p:cNvSpPr/>
          <p:nvPr/>
        </p:nvSpPr>
        <p:spPr>
          <a:xfrm>
            <a:off x="731520" y="3063240"/>
            <a:ext cx="4206240" cy="118872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Le prix suit la taille de votre stock, en unités physiques. Il ne dépend ni du nombre de compteurs, ni du nombre d'inventaires dans l'année.</a:t>
            </a:r>
            <a:endParaRPr lang="en-US" sz="1250" dirty="0"/>
          </a:p>
        </p:txBody>
      </p:sp>
      <p:sp>
        <p:nvSpPr>
          <p:cNvPr id="8" name="Text 5"/>
          <p:cNvSpPr/>
          <p:nvPr/>
        </p:nvSpPr>
        <p:spPr>
          <a:xfrm>
            <a:off x="731520" y="4206240"/>
            <a:ext cx="4206240" cy="109728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Tout est compris : l'application, le tableau de bord, les mises à jour. Un réseau active une licence par magasin, à son rythme.</a:t>
            </a:r>
            <a:endParaRPr lang="en-US" sz="1250" dirty="0"/>
          </a:p>
        </p:txBody>
      </p:sp>
      <p:sp>
        <p:nvSpPr>
          <p:cNvPr id="9" name="Text 6"/>
          <p:cNvSpPr/>
          <p:nvPr/>
        </p:nvSpPr>
        <p:spPr>
          <a:xfrm>
            <a:off x="5394960" y="1371600"/>
            <a:ext cx="2743200" cy="274320"/>
          </a:xfrm>
          <a:prstGeom prst="rect">
            <a:avLst/>
          </a:prstGeom>
          <a:noFill/>
          <a:ln/>
        </p:spPr>
        <p:txBody>
          <a:bodyPr wrap="square" lIns="0" tIns="0" rIns="0" bIns="0" rtlCol="0" anchor="t"/>
          <a:lstStyle/>
          <a:p>
            <a:pPr indent="0" marL="0">
              <a:buNone/>
            </a:pPr>
            <a:r>
              <a:rPr lang="en-US" sz="1000" b="1" dirty="0">
                <a:solidFill>
                  <a:srgbClr val="5B6475"/>
                </a:solidFill>
                <a:latin typeface="Inter" pitchFamily="34" charset="0"/>
                <a:ea typeface="Inter" pitchFamily="34" charset="-122"/>
                <a:cs typeface="Inter" pitchFamily="34" charset="-120"/>
              </a:rPr>
              <a:t>Profil du magasin</a:t>
            </a:r>
            <a:endParaRPr lang="en-US" sz="1000" dirty="0"/>
          </a:p>
        </p:txBody>
      </p:sp>
      <p:sp>
        <p:nvSpPr>
          <p:cNvPr id="10" name="Text 7"/>
          <p:cNvSpPr/>
          <p:nvPr/>
        </p:nvSpPr>
        <p:spPr>
          <a:xfrm>
            <a:off x="8531352" y="1371600"/>
            <a:ext cx="2926080" cy="274320"/>
          </a:xfrm>
          <a:prstGeom prst="rect">
            <a:avLst/>
          </a:prstGeom>
          <a:noFill/>
          <a:ln/>
        </p:spPr>
        <p:txBody>
          <a:bodyPr wrap="square" lIns="0" tIns="0" rIns="0" bIns="0" rtlCol="0" anchor="t"/>
          <a:lstStyle/>
          <a:p>
            <a:pPr algn="r" indent="0" marL="0">
              <a:buNone/>
            </a:pPr>
            <a:r>
              <a:rPr lang="en-US" sz="1000" b="1" dirty="0">
                <a:solidFill>
                  <a:srgbClr val="5B6475"/>
                </a:solidFill>
                <a:latin typeface="Inter" pitchFamily="34" charset="0"/>
                <a:ea typeface="Inter" pitchFamily="34" charset="-122"/>
                <a:cs typeface="Inter" pitchFamily="34" charset="-120"/>
              </a:rPr>
              <a:t>par an et par magasin, HT</a:t>
            </a:r>
            <a:endParaRPr lang="en-US" sz="1000" dirty="0"/>
          </a:p>
        </p:txBody>
      </p:sp>
      <p:sp>
        <p:nvSpPr>
          <p:cNvPr id="11" name="Shape 8"/>
          <p:cNvSpPr/>
          <p:nvPr/>
        </p:nvSpPr>
        <p:spPr>
          <a:xfrm>
            <a:off x="5394960" y="1719072"/>
            <a:ext cx="6062472" cy="0"/>
          </a:xfrm>
          <a:prstGeom prst="line">
            <a:avLst/>
          </a:prstGeom>
          <a:noFill/>
          <a:ln w="9525">
            <a:solidFill>
              <a:srgbClr val="E3E6EE"/>
            </a:solidFill>
            <a:prstDash val="solid"/>
          </a:ln>
        </p:spPr>
      </p:sp>
      <p:sp>
        <p:nvSpPr>
          <p:cNvPr id="12" name="Text 9"/>
          <p:cNvSpPr/>
          <p:nvPr/>
        </p:nvSpPr>
        <p:spPr>
          <a:xfrm>
            <a:off x="5394960" y="1828800"/>
            <a:ext cx="3291840" cy="274320"/>
          </a:xfrm>
          <a:prstGeom prst="rect">
            <a:avLst/>
          </a:prstGeom>
          <a:noFill/>
          <a:ln/>
        </p:spPr>
        <p:txBody>
          <a:bodyPr wrap="square" lIns="0" tIns="0" rIns="0" bIns="0" rtlCol="0" anchor="t"/>
          <a:lstStyle/>
          <a:p>
            <a:pPr indent="0" marL="0">
              <a:buNone/>
            </a:pPr>
            <a:r>
              <a:rPr lang="en-US" sz="1350" b="1" dirty="0">
                <a:solidFill>
                  <a:srgbClr val="0B0F19"/>
                </a:solidFill>
                <a:latin typeface="Sora" pitchFamily="34" charset="0"/>
                <a:ea typeface="Sora" pitchFamily="34" charset="-122"/>
                <a:cs typeface="Sora" pitchFamily="34" charset="-120"/>
              </a:rPr>
              <a:t>Boutique</a:t>
            </a:r>
            <a:endParaRPr lang="en-US" sz="1350" dirty="0"/>
          </a:p>
        </p:txBody>
      </p:sp>
      <p:sp>
        <p:nvSpPr>
          <p:cNvPr id="13" name="Text 10"/>
          <p:cNvSpPr/>
          <p:nvPr/>
        </p:nvSpPr>
        <p:spPr>
          <a:xfrm>
            <a:off x="5394960" y="2103120"/>
            <a:ext cx="3291840" cy="237744"/>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jusqu’à 10 000 unités</a:t>
            </a:r>
            <a:endParaRPr lang="en-US" sz="1050" dirty="0"/>
          </a:p>
        </p:txBody>
      </p:sp>
      <p:sp>
        <p:nvSpPr>
          <p:cNvPr id="14" name="Text 11"/>
          <p:cNvSpPr/>
          <p:nvPr/>
        </p:nvSpPr>
        <p:spPr>
          <a:xfrm>
            <a:off x="8531352" y="1828800"/>
            <a:ext cx="2926080" cy="457200"/>
          </a:xfrm>
          <a:prstGeom prst="rect">
            <a:avLst/>
          </a:prstGeom>
          <a:noFill/>
          <a:ln/>
        </p:spPr>
        <p:txBody>
          <a:bodyPr wrap="square" lIns="0" tIns="0" rIns="0" bIns="0" rtlCol="0" anchor="t"/>
          <a:lstStyle/>
          <a:p>
            <a:pPr algn="r" indent="0" marL="0">
              <a:buNone/>
            </a:pPr>
            <a:r>
              <a:rPr lang="en-US" sz="2000" b="1" dirty="0">
                <a:solidFill>
                  <a:srgbClr val="4636B0"/>
                </a:solidFill>
                <a:latin typeface="Sora" pitchFamily="34" charset="0"/>
                <a:ea typeface="Sora" pitchFamily="34" charset="-122"/>
                <a:cs typeface="Sora" pitchFamily="34" charset="-120"/>
              </a:rPr>
              <a:t>2 100 €</a:t>
            </a:r>
            <a:endParaRPr lang="en-US" sz="2000" dirty="0"/>
          </a:p>
        </p:txBody>
      </p:sp>
      <p:sp>
        <p:nvSpPr>
          <p:cNvPr id="15" name="Shape 12"/>
          <p:cNvSpPr/>
          <p:nvPr/>
        </p:nvSpPr>
        <p:spPr>
          <a:xfrm>
            <a:off x="5394960" y="2377440"/>
            <a:ext cx="6062472" cy="0"/>
          </a:xfrm>
          <a:prstGeom prst="line">
            <a:avLst/>
          </a:prstGeom>
          <a:noFill/>
          <a:ln w="9525">
            <a:solidFill>
              <a:srgbClr val="E3E6EE"/>
            </a:solidFill>
            <a:prstDash val="solid"/>
          </a:ln>
        </p:spPr>
      </p:sp>
      <p:sp>
        <p:nvSpPr>
          <p:cNvPr id="16" name="Shape 13"/>
          <p:cNvSpPr/>
          <p:nvPr/>
        </p:nvSpPr>
        <p:spPr>
          <a:xfrm>
            <a:off x="5257800" y="2395728"/>
            <a:ext cx="6336792" cy="621792"/>
          </a:xfrm>
          <a:prstGeom prst="rect">
            <a:avLst/>
          </a:prstGeom>
          <a:solidFill>
            <a:srgbClr val="EEEEFC"/>
          </a:solidFill>
          <a:ln w="12700">
            <a:solidFill>
              <a:srgbClr val="EEEEFC"/>
            </a:solidFill>
            <a:prstDash val="solid"/>
          </a:ln>
        </p:spPr>
      </p:sp>
      <p:sp>
        <p:nvSpPr>
          <p:cNvPr id="17" name="Text 14"/>
          <p:cNvSpPr/>
          <p:nvPr/>
        </p:nvSpPr>
        <p:spPr>
          <a:xfrm>
            <a:off x="5394960" y="2487168"/>
            <a:ext cx="3291840" cy="274320"/>
          </a:xfrm>
          <a:prstGeom prst="rect">
            <a:avLst/>
          </a:prstGeom>
          <a:noFill/>
          <a:ln/>
        </p:spPr>
        <p:txBody>
          <a:bodyPr wrap="square" lIns="0" tIns="0" rIns="0" bIns="0" rtlCol="0" anchor="t"/>
          <a:lstStyle/>
          <a:p>
            <a:pPr indent="0" marL="0">
              <a:buNone/>
            </a:pPr>
            <a:r>
              <a:rPr lang="en-US" sz="1350" b="1" dirty="0">
                <a:solidFill>
                  <a:srgbClr val="0B0F19"/>
                </a:solidFill>
                <a:latin typeface="Sora" pitchFamily="34" charset="0"/>
                <a:ea typeface="Sora" pitchFamily="34" charset="-122"/>
                <a:cs typeface="Sora" pitchFamily="34" charset="-120"/>
              </a:rPr>
              <a:t>Magasin</a:t>
            </a:r>
            <a:endParaRPr lang="en-US" sz="1350" dirty="0"/>
          </a:p>
        </p:txBody>
      </p:sp>
      <p:sp>
        <p:nvSpPr>
          <p:cNvPr id="18" name="Text 15"/>
          <p:cNvSpPr/>
          <p:nvPr/>
        </p:nvSpPr>
        <p:spPr>
          <a:xfrm>
            <a:off x="5394960" y="2761488"/>
            <a:ext cx="3291840" cy="237744"/>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10 001 à 50 000 unités</a:t>
            </a:r>
            <a:endParaRPr lang="en-US" sz="1050" dirty="0"/>
          </a:p>
        </p:txBody>
      </p:sp>
      <p:sp>
        <p:nvSpPr>
          <p:cNvPr id="19" name="Text 16"/>
          <p:cNvSpPr/>
          <p:nvPr/>
        </p:nvSpPr>
        <p:spPr>
          <a:xfrm>
            <a:off x="8686800" y="2578608"/>
            <a:ext cx="1645920" cy="274320"/>
          </a:xfrm>
          <a:prstGeom prst="rect">
            <a:avLst/>
          </a:prstGeom>
          <a:noFill/>
          <a:ln/>
        </p:spPr>
        <p:txBody>
          <a:bodyPr wrap="square" lIns="0" tIns="0" rIns="0" bIns="0" rtlCol="0" anchor="t"/>
          <a:lstStyle/>
          <a:p>
            <a:pPr indent="0" marL="0">
              <a:buNone/>
            </a:pPr>
            <a:r>
              <a:rPr lang="en-US" sz="1000" i="1" dirty="0">
                <a:solidFill>
                  <a:srgbClr val="6366F1"/>
                </a:solidFill>
                <a:latin typeface="Inter" pitchFamily="34" charset="0"/>
                <a:ea typeface="Inter" pitchFamily="34" charset="-122"/>
                <a:cs typeface="Inter" pitchFamily="34" charset="-120"/>
              </a:rPr>
              <a:t>le plus courant</a:t>
            </a:r>
            <a:endParaRPr lang="en-US" sz="1000" dirty="0"/>
          </a:p>
        </p:txBody>
      </p:sp>
      <p:sp>
        <p:nvSpPr>
          <p:cNvPr id="20" name="Text 17"/>
          <p:cNvSpPr/>
          <p:nvPr/>
        </p:nvSpPr>
        <p:spPr>
          <a:xfrm>
            <a:off x="8531352" y="2487168"/>
            <a:ext cx="2926080" cy="457200"/>
          </a:xfrm>
          <a:prstGeom prst="rect">
            <a:avLst/>
          </a:prstGeom>
          <a:noFill/>
          <a:ln/>
        </p:spPr>
        <p:txBody>
          <a:bodyPr wrap="square" lIns="0" tIns="0" rIns="0" bIns="0" rtlCol="0" anchor="t"/>
          <a:lstStyle/>
          <a:p>
            <a:pPr algn="r" indent="0" marL="0">
              <a:buNone/>
            </a:pPr>
            <a:r>
              <a:rPr lang="en-US" sz="2000" b="1" dirty="0">
                <a:solidFill>
                  <a:srgbClr val="4636B0"/>
                </a:solidFill>
                <a:latin typeface="Sora" pitchFamily="34" charset="0"/>
                <a:ea typeface="Sora" pitchFamily="34" charset="-122"/>
                <a:cs typeface="Sora" pitchFamily="34" charset="-120"/>
              </a:rPr>
              <a:t>4 200 €</a:t>
            </a:r>
            <a:endParaRPr lang="en-US" sz="2000" dirty="0"/>
          </a:p>
        </p:txBody>
      </p:sp>
      <p:sp>
        <p:nvSpPr>
          <p:cNvPr id="21" name="Shape 18"/>
          <p:cNvSpPr/>
          <p:nvPr/>
        </p:nvSpPr>
        <p:spPr>
          <a:xfrm>
            <a:off x="5394960" y="3035808"/>
            <a:ext cx="6062472" cy="0"/>
          </a:xfrm>
          <a:prstGeom prst="line">
            <a:avLst/>
          </a:prstGeom>
          <a:noFill/>
          <a:ln w="9525">
            <a:solidFill>
              <a:srgbClr val="E3E6EE"/>
            </a:solidFill>
            <a:prstDash val="solid"/>
          </a:ln>
        </p:spPr>
      </p:sp>
      <p:sp>
        <p:nvSpPr>
          <p:cNvPr id="22" name="Text 19"/>
          <p:cNvSpPr/>
          <p:nvPr/>
        </p:nvSpPr>
        <p:spPr>
          <a:xfrm>
            <a:off x="5394960" y="3145536"/>
            <a:ext cx="3291840" cy="274320"/>
          </a:xfrm>
          <a:prstGeom prst="rect">
            <a:avLst/>
          </a:prstGeom>
          <a:noFill/>
          <a:ln/>
        </p:spPr>
        <p:txBody>
          <a:bodyPr wrap="square" lIns="0" tIns="0" rIns="0" bIns="0" rtlCol="0" anchor="t"/>
          <a:lstStyle/>
          <a:p>
            <a:pPr indent="0" marL="0">
              <a:buNone/>
            </a:pPr>
            <a:r>
              <a:rPr lang="en-US" sz="1350" b="1" dirty="0">
                <a:solidFill>
                  <a:srgbClr val="0B0F19"/>
                </a:solidFill>
                <a:latin typeface="Sora" pitchFamily="34" charset="0"/>
                <a:ea typeface="Sora" pitchFamily="34" charset="-122"/>
                <a:cs typeface="Sora" pitchFamily="34" charset="-120"/>
              </a:rPr>
              <a:t>Grande surface</a:t>
            </a:r>
            <a:endParaRPr lang="en-US" sz="1350" dirty="0"/>
          </a:p>
        </p:txBody>
      </p:sp>
      <p:sp>
        <p:nvSpPr>
          <p:cNvPr id="23" name="Text 20"/>
          <p:cNvSpPr/>
          <p:nvPr/>
        </p:nvSpPr>
        <p:spPr>
          <a:xfrm>
            <a:off x="5394960" y="3419856"/>
            <a:ext cx="3291840" cy="237744"/>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50 001 à 200 000 unités</a:t>
            </a:r>
            <a:endParaRPr lang="en-US" sz="1050" dirty="0"/>
          </a:p>
        </p:txBody>
      </p:sp>
      <p:sp>
        <p:nvSpPr>
          <p:cNvPr id="24" name="Text 21"/>
          <p:cNvSpPr/>
          <p:nvPr/>
        </p:nvSpPr>
        <p:spPr>
          <a:xfrm>
            <a:off x="8531352" y="3145536"/>
            <a:ext cx="2926080" cy="457200"/>
          </a:xfrm>
          <a:prstGeom prst="rect">
            <a:avLst/>
          </a:prstGeom>
          <a:noFill/>
          <a:ln/>
        </p:spPr>
        <p:txBody>
          <a:bodyPr wrap="square" lIns="0" tIns="0" rIns="0" bIns="0" rtlCol="0" anchor="t"/>
          <a:lstStyle/>
          <a:p>
            <a:pPr algn="r" indent="0" marL="0">
              <a:buNone/>
            </a:pPr>
            <a:r>
              <a:rPr lang="en-US" sz="2000" b="1" dirty="0">
                <a:solidFill>
                  <a:srgbClr val="4636B0"/>
                </a:solidFill>
                <a:latin typeface="Sora" pitchFamily="34" charset="0"/>
                <a:ea typeface="Sora" pitchFamily="34" charset="-122"/>
                <a:cs typeface="Sora" pitchFamily="34" charset="-120"/>
              </a:rPr>
              <a:t>6 600 €</a:t>
            </a:r>
            <a:endParaRPr lang="en-US" sz="2000" dirty="0"/>
          </a:p>
        </p:txBody>
      </p:sp>
      <p:sp>
        <p:nvSpPr>
          <p:cNvPr id="25" name="Shape 22"/>
          <p:cNvSpPr/>
          <p:nvPr/>
        </p:nvSpPr>
        <p:spPr>
          <a:xfrm>
            <a:off x="5394960" y="3694176"/>
            <a:ext cx="6062472" cy="0"/>
          </a:xfrm>
          <a:prstGeom prst="line">
            <a:avLst/>
          </a:prstGeom>
          <a:noFill/>
          <a:ln w="9525">
            <a:solidFill>
              <a:srgbClr val="E3E6EE"/>
            </a:solidFill>
            <a:prstDash val="solid"/>
          </a:ln>
        </p:spPr>
      </p:sp>
      <p:sp>
        <p:nvSpPr>
          <p:cNvPr id="26" name="Text 23"/>
          <p:cNvSpPr/>
          <p:nvPr/>
        </p:nvSpPr>
        <p:spPr>
          <a:xfrm>
            <a:off x="5394960" y="3803904"/>
            <a:ext cx="3291840" cy="274320"/>
          </a:xfrm>
          <a:prstGeom prst="rect">
            <a:avLst/>
          </a:prstGeom>
          <a:noFill/>
          <a:ln/>
        </p:spPr>
        <p:txBody>
          <a:bodyPr wrap="square" lIns="0" tIns="0" rIns="0" bIns="0" rtlCol="0" anchor="t"/>
          <a:lstStyle/>
          <a:p>
            <a:pPr indent="0" marL="0">
              <a:buNone/>
            </a:pPr>
            <a:r>
              <a:rPr lang="en-US" sz="1350" b="1" dirty="0">
                <a:solidFill>
                  <a:srgbClr val="0B0F19"/>
                </a:solidFill>
                <a:latin typeface="Sora" pitchFamily="34" charset="0"/>
                <a:ea typeface="Sora" pitchFamily="34" charset="-122"/>
                <a:cs typeface="Sora" pitchFamily="34" charset="-120"/>
              </a:rPr>
              <a:t>Grand magasin</a:t>
            </a:r>
            <a:endParaRPr lang="en-US" sz="1350" dirty="0"/>
          </a:p>
        </p:txBody>
      </p:sp>
      <p:sp>
        <p:nvSpPr>
          <p:cNvPr id="27" name="Text 24"/>
          <p:cNvSpPr/>
          <p:nvPr/>
        </p:nvSpPr>
        <p:spPr>
          <a:xfrm>
            <a:off x="5394960" y="4078224"/>
            <a:ext cx="3291840" cy="237744"/>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200 001 à 500 000 unités</a:t>
            </a:r>
            <a:endParaRPr lang="en-US" sz="1050" dirty="0"/>
          </a:p>
        </p:txBody>
      </p:sp>
      <p:sp>
        <p:nvSpPr>
          <p:cNvPr id="28" name="Text 25"/>
          <p:cNvSpPr/>
          <p:nvPr/>
        </p:nvSpPr>
        <p:spPr>
          <a:xfrm>
            <a:off x="8531352" y="3803904"/>
            <a:ext cx="2926080" cy="457200"/>
          </a:xfrm>
          <a:prstGeom prst="rect">
            <a:avLst/>
          </a:prstGeom>
          <a:noFill/>
          <a:ln/>
        </p:spPr>
        <p:txBody>
          <a:bodyPr wrap="square" lIns="0" tIns="0" rIns="0" bIns="0" rtlCol="0" anchor="t"/>
          <a:lstStyle/>
          <a:p>
            <a:pPr algn="r" indent="0" marL="0">
              <a:buNone/>
            </a:pPr>
            <a:r>
              <a:rPr lang="en-US" sz="2000" b="1" dirty="0">
                <a:solidFill>
                  <a:srgbClr val="4636B0"/>
                </a:solidFill>
                <a:latin typeface="Sora" pitchFamily="34" charset="0"/>
                <a:ea typeface="Sora" pitchFamily="34" charset="-122"/>
                <a:cs typeface="Sora" pitchFamily="34" charset="-120"/>
              </a:rPr>
              <a:t>10 200 €</a:t>
            </a:r>
            <a:endParaRPr lang="en-US" sz="2000" dirty="0"/>
          </a:p>
        </p:txBody>
      </p:sp>
      <p:sp>
        <p:nvSpPr>
          <p:cNvPr id="29" name="Shape 26"/>
          <p:cNvSpPr/>
          <p:nvPr/>
        </p:nvSpPr>
        <p:spPr>
          <a:xfrm>
            <a:off x="5394960" y="4352544"/>
            <a:ext cx="6062472" cy="0"/>
          </a:xfrm>
          <a:prstGeom prst="line">
            <a:avLst/>
          </a:prstGeom>
          <a:noFill/>
          <a:ln w="9525">
            <a:solidFill>
              <a:srgbClr val="E3E6EE"/>
            </a:solidFill>
            <a:prstDash val="solid"/>
          </a:ln>
        </p:spPr>
      </p:sp>
      <p:sp>
        <p:nvSpPr>
          <p:cNvPr id="30" name="Text 27"/>
          <p:cNvSpPr/>
          <p:nvPr/>
        </p:nvSpPr>
        <p:spPr>
          <a:xfrm>
            <a:off x="5394960" y="4462272"/>
            <a:ext cx="3291840" cy="274320"/>
          </a:xfrm>
          <a:prstGeom prst="rect">
            <a:avLst/>
          </a:prstGeom>
          <a:noFill/>
          <a:ln/>
        </p:spPr>
        <p:txBody>
          <a:bodyPr wrap="square" lIns="0" tIns="0" rIns="0" bIns="0" rtlCol="0" anchor="t"/>
          <a:lstStyle/>
          <a:p>
            <a:pPr indent="0" marL="0">
              <a:buNone/>
            </a:pPr>
            <a:r>
              <a:rPr lang="en-US" sz="1350" b="1" dirty="0">
                <a:solidFill>
                  <a:srgbClr val="0B0F19"/>
                </a:solidFill>
                <a:latin typeface="Sora" pitchFamily="34" charset="0"/>
                <a:ea typeface="Sora" pitchFamily="34" charset="-122"/>
                <a:cs typeface="Sora" pitchFamily="34" charset="-120"/>
              </a:rPr>
              <a:t>Très grand magasin</a:t>
            </a:r>
            <a:endParaRPr lang="en-US" sz="1350" dirty="0"/>
          </a:p>
        </p:txBody>
      </p:sp>
      <p:sp>
        <p:nvSpPr>
          <p:cNvPr id="31" name="Text 28"/>
          <p:cNvSpPr/>
          <p:nvPr/>
        </p:nvSpPr>
        <p:spPr>
          <a:xfrm>
            <a:off x="5394960" y="4736592"/>
            <a:ext cx="3291840" cy="237744"/>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500 001 à 1 000 000 unités</a:t>
            </a:r>
            <a:endParaRPr lang="en-US" sz="1050" dirty="0"/>
          </a:p>
        </p:txBody>
      </p:sp>
      <p:sp>
        <p:nvSpPr>
          <p:cNvPr id="32" name="Text 29"/>
          <p:cNvSpPr/>
          <p:nvPr/>
        </p:nvSpPr>
        <p:spPr>
          <a:xfrm>
            <a:off x="8531352" y="4462272"/>
            <a:ext cx="2926080" cy="457200"/>
          </a:xfrm>
          <a:prstGeom prst="rect">
            <a:avLst/>
          </a:prstGeom>
          <a:noFill/>
          <a:ln/>
        </p:spPr>
        <p:txBody>
          <a:bodyPr wrap="square" lIns="0" tIns="0" rIns="0" bIns="0" rtlCol="0" anchor="t"/>
          <a:lstStyle/>
          <a:p>
            <a:pPr algn="r" indent="0" marL="0">
              <a:buNone/>
            </a:pPr>
            <a:r>
              <a:rPr lang="en-US" sz="2000" b="1" dirty="0">
                <a:solidFill>
                  <a:srgbClr val="4636B0"/>
                </a:solidFill>
                <a:latin typeface="Sora" pitchFamily="34" charset="0"/>
                <a:ea typeface="Sora" pitchFamily="34" charset="-122"/>
                <a:cs typeface="Sora" pitchFamily="34" charset="-120"/>
              </a:rPr>
              <a:t>14 400 €</a:t>
            </a:r>
            <a:endParaRPr lang="en-US" sz="2000" dirty="0"/>
          </a:p>
        </p:txBody>
      </p:sp>
      <p:sp>
        <p:nvSpPr>
          <p:cNvPr id="33" name="Shape 30"/>
          <p:cNvSpPr/>
          <p:nvPr/>
        </p:nvSpPr>
        <p:spPr>
          <a:xfrm>
            <a:off x="5394960" y="5010912"/>
            <a:ext cx="6062472" cy="0"/>
          </a:xfrm>
          <a:prstGeom prst="line">
            <a:avLst/>
          </a:prstGeom>
          <a:noFill/>
          <a:ln w="9525">
            <a:solidFill>
              <a:srgbClr val="E3E6EE"/>
            </a:solidFill>
            <a:prstDash val="solid"/>
          </a:ln>
        </p:spPr>
      </p:sp>
      <p:sp>
        <p:nvSpPr>
          <p:cNvPr id="34" name="Text 31"/>
          <p:cNvSpPr/>
          <p:nvPr/>
        </p:nvSpPr>
        <p:spPr>
          <a:xfrm>
            <a:off x="5394960" y="5120640"/>
            <a:ext cx="3291840" cy="274320"/>
          </a:xfrm>
          <a:prstGeom prst="rect">
            <a:avLst/>
          </a:prstGeom>
          <a:noFill/>
          <a:ln/>
        </p:spPr>
        <p:txBody>
          <a:bodyPr wrap="square" lIns="0" tIns="0" rIns="0" bIns="0" rtlCol="0" anchor="t"/>
          <a:lstStyle/>
          <a:p>
            <a:pPr indent="0" marL="0">
              <a:buNone/>
            </a:pPr>
            <a:r>
              <a:rPr lang="en-US" sz="1350" b="1" dirty="0">
                <a:solidFill>
                  <a:srgbClr val="0B0F19"/>
                </a:solidFill>
                <a:latin typeface="Sora" pitchFamily="34" charset="0"/>
                <a:ea typeface="Sora" pitchFamily="34" charset="-122"/>
                <a:cs typeface="Sora" pitchFamily="34" charset="-120"/>
              </a:rPr>
              <a:t>Au-delà</a:t>
            </a:r>
            <a:endParaRPr lang="en-US" sz="1350" dirty="0"/>
          </a:p>
        </p:txBody>
      </p:sp>
      <p:sp>
        <p:nvSpPr>
          <p:cNvPr id="35" name="Text 32"/>
          <p:cNvSpPr/>
          <p:nvPr/>
        </p:nvSpPr>
        <p:spPr>
          <a:xfrm>
            <a:off x="5394960" y="5394960"/>
            <a:ext cx="3291840" cy="237744"/>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plus d’un million d’unités</a:t>
            </a:r>
            <a:endParaRPr lang="en-US" sz="1050" dirty="0"/>
          </a:p>
        </p:txBody>
      </p:sp>
      <p:sp>
        <p:nvSpPr>
          <p:cNvPr id="36" name="Text 33"/>
          <p:cNvSpPr/>
          <p:nvPr/>
        </p:nvSpPr>
        <p:spPr>
          <a:xfrm>
            <a:off x="8531352" y="5120640"/>
            <a:ext cx="2926080" cy="457200"/>
          </a:xfrm>
          <a:prstGeom prst="rect">
            <a:avLst/>
          </a:prstGeom>
          <a:noFill/>
          <a:ln/>
        </p:spPr>
        <p:txBody>
          <a:bodyPr wrap="square" lIns="0" tIns="0" rIns="0" bIns="0" rtlCol="0" anchor="t"/>
          <a:lstStyle/>
          <a:p>
            <a:pPr algn="r" indent="0" marL="0">
              <a:buNone/>
            </a:pPr>
            <a:r>
              <a:rPr lang="en-US" sz="2000" b="1" dirty="0">
                <a:solidFill>
                  <a:srgbClr val="4636B0"/>
                </a:solidFill>
                <a:latin typeface="Sora" pitchFamily="34" charset="0"/>
                <a:ea typeface="Sora" pitchFamily="34" charset="-122"/>
                <a:cs typeface="Sora" pitchFamily="34" charset="-120"/>
              </a:rPr>
              <a:t>sur devis</a:t>
            </a:r>
            <a:endParaRPr lang="en-US" sz="2000" dirty="0"/>
          </a:p>
        </p:txBody>
      </p:sp>
      <p:sp>
        <p:nvSpPr>
          <p:cNvPr id="37" name="Shape 34"/>
          <p:cNvSpPr/>
          <p:nvPr/>
        </p:nvSpPr>
        <p:spPr>
          <a:xfrm>
            <a:off x="5394960" y="5669280"/>
            <a:ext cx="6062472" cy="0"/>
          </a:xfrm>
          <a:prstGeom prst="line">
            <a:avLst/>
          </a:prstGeom>
          <a:noFill/>
          <a:ln w="9525">
            <a:solidFill>
              <a:srgbClr val="E3E6EE"/>
            </a:solidFill>
            <a:prstDash val="solid"/>
          </a:ln>
        </p:spPr>
      </p:sp>
      <p:sp>
        <p:nvSpPr>
          <p:cNvPr id="38" name="Text 3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présentation</a:t>
            </a:r>
            <a:endParaRPr lang="en-US" sz="900" dirty="0"/>
          </a:p>
        </p:txBody>
      </p:sp>
      <p:sp>
        <p:nvSpPr>
          <p:cNvPr id="39" name="Text 3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4636B0"/>
                </a:solidFill>
                <a:latin typeface="Sora" pitchFamily="34" charset="0"/>
                <a:ea typeface="Sora" pitchFamily="34" charset="-122"/>
                <a:cs typeface="Sora" pitchFamily="34" charset="-120"/>
              </a:rPr>
              <a:t>Venez avec vos fichiers.</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D4556"/>
                </a:solidFill>
                <a:latin typeface="Inter" pitchFamily="34" charset="0"/>
                <a:ea typeface="Inter" pitchFamily="34" charset="-122"/>
                <a:cs typeface="Inter" pitchFamily="34" charset="-120"/>
              </a:rPr>
              <a:t>Une démonstration de trente minutes, sur votre propre référentiel : vous l'importez, on scanne quelques articles, et vous repartez avec le rapport. Pas de données fictives.</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4636B0"/>
                </a:solidFill>
                <a:latin typeface="Sora" pitchFamily="34" charset="0"/>
                <a:ea typeface="Sora" pitchFamily="34" charset="-122"/>
                <a:cs typeface="Sora"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présentation</dc:title>
  <dc:subject>PptxGenJS Presentation</dc:subject>
  <dc:creator>Devkaylab</dc:creator>
  <cp:lastModifiedBy>Devkaylab</cp:lastModifiedBy>
  <cp:revision>1</cp:revision>
  <dcterms:created xsi:type="dcterms:W3CDTF">2026-08-24T10:49:16Z</dcterms:created>
  <dcterms:modified xsi:type="dcterms:W3CDTF">2026-08-24T10:49:16Z</dcterms:modified>
</cp:coreProperties>
</file>