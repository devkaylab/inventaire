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Public Sans" pitchFamily="34" charset="0"/>
                <a:ea typeface="Public Sans" pitchFamily="34" charset="-122"/>
                <a:cs typeface="Public Sans" pitchFamily="34" charset="-120"/>
              </a:rPr>
              <a:t>Présentation</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Un outil d’inventaire qui accompagne les enseignes,</a:t>
            </a:r>
            <a:endParaRPr lang="en-US" sz="1500" dirty="0"/>
          </a:p>
          <a:p>
            <a:pPr indent="0" marL="0">
              <a:lnSpc>
                <a:spcPct val="120000"/>
              </a:lnSpc>
              <a:buNone/>
            </a:pPr>
            <a:r>
              <a:rPr lang="en-US" sz="1500" dirty="0">
                <a:solidFill>
                  <a:srgbClr val="3A423F"/>
                </a:solidFill>
                <a:latin typeface="Public Sans" pitchFamily="34" charset="0"/>
                <a:ea typeface="Public Sans" pitchFamily="34" charset="-122"/>
                <a:cs typeface="Public Sans" pitchFamily="34" charset="-120"/>
              </a:rPr>
              <a:t>qu’importe la taille, dans la fiabilisation de leur stock.</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2 octobre 2026 · 25 minutes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Une application et un tableau de bord</a:t>
            </a:r>
            <a:endParaRPr lang="en-US" sz="2400" dirty="0"/>
          </a:p>
        </p:txBody>
      </p:sp>
      <p:sp>
        <p:nvSpPr>
          <p:cNvPr id="7" name="Text 4"/>
          <p:cNvSpPr/>
          <p:nvPr/>
        </p:nvSpPr>
        <p:spPr>
          <a:xfrm>
            <a:off x="731520" y="2011680"/>
            <a:ext cx="10725912" cy="5486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Quantinvo met à disposition une application, compatible iOS et Android, ainsi qu’un tableau de bord accessible depuis n’importe quel navigateur web.</a:t>
            </a:r>
            <a:endParaRPr lang="en-US" sz="1300" dirty="0"/>
          </a:p>
        </p:txBody>
      </p:sp>
      <p:pic>
        <p:nvPicPr>
          <p:cNvPr id="8" name="Image 1" descr="preencoded.png">    </p:cNvPr>
          <p:cNvPicPr>
            <a:picLocks noChangeAspect="1"/>
          </p:cNvPicPr>
          <p:nvPr/>
        </p:nvPicPr>
        <p:blipFill>
          <a:blip r:embed="rId2"/>
          <a:stretch>
            <a:fillRect/>
          </a:stretch>
        </p:blipFill>
        <p:spPr>
          <a:xfrm>
            <a:off x="731520" y="2743200"/>
            <a:ext cx="1398801" cy="2953512"/>
          </a:xfrm>
          <a:prstGeom prst="rect">
            <a:avLst/>
          </a:prstGeom>
        </p:spPr>
      </p:pic>
      <p:sp>
        <p:nvSpPr>
          <p:cNvPr id="9" name="Text 5"/>
          <p:cNvSpPr/>
          <p:nvPr/>
        </p:nvSpPr>
        <p:spPr>
          <a:xfrm>
            <a:off x="411480" y="5788152"/>
            <a:ext cx="2038881"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L’application</a:t>
            </a:r>
            <a:endParaRPr lang="en-US" sz="950" dirty="0"/>
          </a:p>
        </p:txBody>
      </p:sp>
      <p:sp>
        <p:nvSpPr>
          <p:cNvPr id="10" name="Shape 6"/>
          <p:cNvSpPr/>
          <p:nvPr/>
        </p:nvSpPr>
        <p:spPr>
          <a:xfrm>
            <a:off x="2715537" y="2688336"/>
            <a:ext cx="6361119" cy="3063240"/>
          </a:xfrm>
          <a:prstGeom prst="roundRect">
            <a:avLst>
              <a:gd name="adj" fmla="val 1194"/>
            </a:avLst>
          </a:prstGeom>
          <a:solidFill>
            <a:srgbClr val="FFFFFF"/>
          </a:solidFill>
          <a:ln w="12700">
            <a:solidFill>
              <a:srgbClr val="E2E5E1"/>
            </a:solidFill>
            <a:prstDash val="solid"/>
          </a:ln>
        </p:spPr>
      </p:sp>
      <p:pic>
        <p:nvPicPr>
          <p:cNvPr id="11" name="Image 2" descr="preencoded.png">    </p:cNvPr>
          <p:cNvPicPr>
            <a:picLocks noChangeAspect="1"/>
          </p:cNvPicPr>
          <p:nvPr/>
        </p:nvPicPr>
        <p:blipFill>
          <a:blip r:embed="rId3"/>
          <a:stretch>
            <a:fillRect/>
          </a:stretch>
        </p:blipFill>
        <p:spPr>
          <a:xfrm>
            <a:off x="2770401" y="2743200"/>
            <a:ext cx="6251391" cy="2953512"/>
          </a:xfrm>
          <a:prstGeom prst="rect">
            <a:avLst/>
          </a:prstGeom>
        </p:spPr>
      </p:pic>
      <p:sp>
        <p:nvSpPr>
          <p:cNvPr id="12" name="Text 7"/>
          <p:cNvSpPr/>
          <p:nvPr/>
        </p:nvSpPr>
        <p:spPr>
          <a:xfrm>
            <a:off x="2770401" y="5824728"/>
            <a:ext cx="8687031"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Le tableau de bord</a:t>
            </a:r>
            <a:endParaRPr lang="en-US" sz="1000" dirty="0"/>
          </a:p>
        </p:txBody>
      </p:sp>
      <p:sp>
        <p:nvSpPr>
          <p:cNvPr id="13"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4"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2743200"/>
            <a:ext cx="10725912" cy="8229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chivo" pitchFamily="34" charset="0"/>
                <a:ea typeface="Archivo" pitchFamily="34" charset="-122"/>
                <a:cs typeface="Archivo" pitchFamily="34" charset="-120"/>
              </a:rPr>
              <a:t>Comment ça marche ?</a:t>
            </a:r>
            <a:endParaRPr lang="en-US" sz="4000" dirty="0"/>
          </a:p>
        </p:txBody>
      </p:sp>
      <p:sp>
        <p:nvSpPr>
          <p:cNvPr id="7" name="Text 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8" name="Text 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Depuis l’application ou depuis l’ordinateur</a:t>
            </a:r>
            <a:endParaRPr lang="en-US" sz="2400" dirty="0"/>
          </a:p>
        </p:txBody>
      </p:sp>
      <p:sp>
        <p:nvSpPr>
          <p:cNvPr id="7" name="Text 4"/>
          <p:cNvSpPr/>
          <p:nvPr/>
        </p:nvSpPr>
        <p:spPr>
          <a:xfrm>
            <a:off x="731520" y="2011680"/>
            <a:ext cx="10725912" cy="5486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Un superviseur qui souhaite faire un inventaire peut en créer un depuis l’application ou depuis son ordinateur via son tableau de bord, chacun ses préférences.</a:t>
            </a:r>
            <a:endParaRPr lang="en-US" sz="1300" dirty="0"/>
          </a:p>
        </p:txBody>
      </p:sp>
      <p:pic>
        <p:nvPicPr>
          <p:cNvPr id="8" name="Image 1" descr="preencoded.png">    </p:cNvPr>
          <p:cNvPicPr>
            <a:picLocks noChangeAspect="1"/>
          </p:cNvPicPr>
          <p:nvPr/>
        </p:nvPicPr>
        <p:blipFill>
          <a:blip r:embed="rId2"/>
          <a:stretch>
            <a:fillRect/>
          </a:stretch>
        </p:blipFill>
        <p:spPr>
          <a:xfrm>
            <a:off x="731520" y="2743200"/>
            <a:ext cx="1398801" cy="2953512"/>
          </a:xfrm>
          <a:prstGeom prst="rect">
            <a:avLst/>
          </a:prstGeom>
        </p:spPr>
      </p:pic>
      <p:sp>
        <p:nvSpPr>
          <p:cNvPr id="9" name="Text 5"/>
          <p:cNvSpPr/>
          <p:nvPr/>
        </p:nvSpPr>
        <p:spPr>
          <a:xfrm>
            <a:off x="411480" y="5788152"/>
            <a:ext cx="2038881"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Depuis l’application</a:t>
            </a:r>
            <a:endParaRPr lang="en-US" sz="950" dirty="0"/>
          </a:p>
        </p:txBody>
      </p:sp>
      <p:sp>
        <p:nvSpPr>
          <p:cNvPr id="10" name="Shape 6"/>
          <p:cNvSpPr/>
          <p:nvPr/>
        </p:nvSpPr>
        <p:spPr>
          <a:xfrm>
            <a:off x="2715537" y="2688336"/>
            <a:ext cx="8796759" cy="2401120"/>
          </a:xfrm>
          <a:prstGeom prst="roundRect">
            <a:avLst>
              <a:gd name="adj" fmla="val 1523"/>
            </a:avLst>
          </a:prstGeom>
          <a:solidFill>
            <a:srgbClr val="FFFFFF"/>
          </a:solidFill>
          <a:ln w="12700">
            <a:solidFill>
              <a:srgbClr val="E2E5E1"/>
            </a:solidFill>
            <a:prstDash val="solid"/>
          </a:ln>
        </p:spPr>
      </p:sp>
      <p:pic>
        <p:nvPicPr>
          <p:cNvPr id="11" name="Image 2" descr="preencoded.png">    </p:cNvPr>
          <p:cNvPicPr>
            <a:picLocks noChangeAspect="1"/>
          </p:cNvPicPr>
          <p:nvPr/>
        </p:nvPicPr>
        <p:blipFill>
          <a:blip r:embed="rId3"/>
          <a:stretch>
            <a:fillRect/>
          </a:stretch>
        </p:blipFill>
        <p:spPr>
          <a:xfrm>
            <a:off x="2770401" y="2743200"/>
            <a:ext cx="8687031" cy="2291392"/>
          </a:xfrm>
          <a:prstGeom prst="rect">
            <a:avLst/>
          </a:prstGeom>
        </p:spPr>
      </p:pic>
      <p:sp>
        <p:nvSpPr>
          <p:cNvPr id="12" name="Text 7"/>
          <p:cNvSpPr/>
          <p:nvPr/>
        </p:nvSpPr>
        <p:spPr>
          <a:xfrm>
            <a:off x="2770401" y="5162608"/>
            <a:ext cx="8687031"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Depuis le tableau de bord</a:t>
            </a:r>
            <a:endParaRPr lang="en-US" sz="1000" dirty="0"/>
          </a:p>
        </p:txBody>
      </p:sp>
      <p:sp>
        <p:nvSpPr>
          <p:cNvPr id="13"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4"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qu’il</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renseigne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Les zones de comptage</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 nom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de son inventaire.</a:t>
            </a:r>
            <a:endParaRPr lang="en-US" sz="1400" dirty="0"/>
          </a:p>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 ou les magasins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où l’inventaire aura lieu.</a:t>
            </a:r>
            <a:endParaRPr lang="en-US" sz="1400" dirty="0"/>
          </a:p>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Les zones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de comptage : il choisit s’il s’agit d’un inventaire avec ou sans zones de comptage identifiées.</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Les zones de comptage, depuis le tableau de bord</a:t>
            </a:r>
            <a:endParaRPr lang="en-US" sz="2400" dirty="0"/>
          </a:p>
        </p:txBody>
      </p:sp>
      <p:sp>
        <p:nvSpPr>
          <p:cNvPr id="7" name="Shape 4"/>
          <p:cNvSpPr/>
          <p:nvPr/>
        </p:nvSpPr>
        <p:spPr>
          <a:xfrm>
            <a:off x="731520" y="2002536"/>
            <a:ext cx="10725912" cy="2651693"/>
          </a:xfrm>
          <a:prstGeom prst="roundRect">
            <a:avLst>
              <a:gd name="adj" fmla="val 1379"/>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86384" y="2057400"/>
            <a:ext cx="10616184" cy="2541965"/>
          </a:xfrm>
          <a:prstGeom prst="rect">
            <a:avLst/>
          </a:prstGeom>
        </p:spPr>
      </p:pic>
      <p:sp>
        <p:nvSpPr>
          <p:cNvPr id="9" name="Text 5"/>
          <p:cNvSpPr/>
          <p:nvPr/>
        </p:nvSpPr>
        <p:spPr>
          <a:xfrm>
            <a:off x="786384" y="4727381"/>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Compte de démonstration — inventaire « Rayon textile »</a:t>
            </a:r>
            <a:endParaRPr lang="en-US" sz="10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Les balises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Un générateur</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de balises</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Le générateur, depuis la boîte à outils</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S’il n’a pas de balises en sa possession,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Quantinvo met à disposition un générateur de balises QR Code imprimable.</a:t>
            </a:r>
            <a:endParaRPr lang="en-US" sz="1400" dirty="0"/>
          </a:p>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Avant, ou bien avant.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Il a la possibilité de préparer ses balises juste avant un inventaire ou les préparer bien avant depuis sa boîte à outils.</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Les balises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La planche à imprimer</a:t>
            </a:r>
            <a:endParaRPr lang="en-US" sz="2400" dirty="0"/>
          </a:p>
        </p:txBody>
      </p:sp>
      <p:sp>
        <p:nvSpPr>
          <p:cNvPr id="7" name="Text 4"/>
          <p:cNvSpPr/>
          <p:nvPr/>
        </p:nvSpPr>
        <p:spPr>
          <a:xfrm>
            <a:off x="731520" y="1965960"/>
            <a:ext cx="10725912" cy="45720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Quantinvo précise également la référence de papier à utiliser.</a:t>
            </a:r>
            <a:endParaRPr lang="en-US" sz="1300" dirty="0"/>
          </a:p>
        </p:txBody>
      </p:sp>
      <p:sp>
        <p:nvSpPr>
          <p:cNvPr id="8" name="Shape 5"/>
          <p:cNvSpPr/>
          <p:nvPr/>
        </p:nvSpPr>
        <p:spPr>
          <a:xfrm>
            <a:off x="731520" y="2642616"/>
            <a:ext cx="10725912" cy="3343797"/>
          </a:xfrm>
          <a:prstGeom prst="roundRect">
            <a:avLst>
              <a:gd name="adj" fmla="val 1094"/>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697480"/>
            <a:ext cx="10616184" cy="3234069"/>
          </a:xfrm>
          <a:prstGeom prst="rect">
            <a:avLst/>
          </a:prstGeom>
        </p:spPr>
      </p:pic>
      <p:sp>
        <p:nvSpPr>
          <p:cNvPr id="10" name="Text 6"/>
          <p:cNvSpPr/>
          <p:nvPr/>
        </p:nvSpPr>
        <p:spPr>
          <a:xfrm>
            <a:off x="786384" y="6114429"/>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Avery L4732 — 35,6 × 16,9 mm, 80 stickers par planche</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Importer</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les données</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L’import, depuis l’application</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 référencement des produits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est obligatoire afin de permettre à l’application d’identifier chaque article.</a:t>
            </a:r>
            <a:endParaRPr lang="en-US" sz="1400" dirty="0"/>
          </a:p>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 stock théorique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 stock attendu — est facultatif.</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Le stock théorique donne les écarts</a:t>
            </a:r>
            <a:endParaRPr lang="en-US" sz="2400" dirty="0"/>
          </a:p>
        </p:txBody>
      </p:sp>
      <p:sp>
        <p:nvSpPr>
          <p:cNvPr id="7" name="Text 4"/>
          <p:cNvSpPr/>
          <p:nvPr/>
        </p:nvSpPr>
        <p:spPr>
          <a:xfrm>
            <a:off x="731520" y="2011680"/>
            <a:ext cx="10725912" cy="64008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Nous recommandons tout de même de l’utiliser afin d’obtenir les écarts immédiatement avant de clôturer l’inventaire. Seul le superviseur de l’inventaire a accès aux écarts.</a:t>
            </a:r>
            <a:endParaRPr lang="en-US" sz="1300" dirty="0"/>
          </a:p>
        </p:txBody>
      </p:sp>
      <p:sp>
        <p:nvSpPr>
          <p:cNvPr id="8" name="Shape 5"/>
          <p:cNvSpPr/>
          <p:nvPr/>
        </p:nvSpPr>
        <p:spPr>
          <a:xfrm>
            <a:off x="731520" y="2688336"/>
            <a:ext cx="5337187" cy="3200400"/>
          </a:xfrm>
          <a:prstGeom prst="roundRect">
            <a:avLst>
              <a:gd name="adj" fmla="val 114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743200"/>
            <a:ext cx="5227459" cy="3090672"/>
          </a:xfrm>
          <a:prstGeom prst="rect">
            <a:avLst/>
          </a:prstGeom>
        </p:spPr>
      </p:pic>
      <p:sp>
        <p:nvSpPr>
          <p:cNvPr id="10" name="Text 6"/>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Les écarts, depuis le tableau de bord</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Les modèles de fichiers</a:t>
            </a:r>
            <a:endParaRPr lang="en-US" sz="2400" dirty="0"/>
          </a:p>
        </p:txBody>
      </p:sp>
      <p:sp>
        <p:nvSpPr>
          <p:cNvPr id="7" name="Text 4"/>
          <p:cNvSpPr/>
          <p:nvPr/>
        </p:nvSpPr>
        <p:spPr>
          <a:xfrm>
            <a:off x="731520" y="2011680"/>
            <a:ext cx="10725912" cy="64008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Public Sans" pitchFamily="34" charset="0"/>
                <a:ea typeface="Public Sans" pitchFamily="34" charset="-122"/>
                <a:cs typeface="Public Sans" pitchFamily="34" charset="-120"/>
              </a:rPr>
              <a:t>Il est également possible de retrouver les modèles de fichiers dans la boîte à outils Quantinvo.</a:t>
            </a:r>
            <a:endParaRPr lang="en-US" sz="1300" dirty="0"/>
          </a:p>
        </p:txBody>
      </p:sp>
      <p:sp>
        <p:nvSpPr>
          <p:cNvPr id="8" name="Shape 5"/>
          <p:cNvSpPr/>
          <p:nvPr/>
        </p:nvSpPr>
        <p:spPr>
          <a:xfrm>
            <a:off x="731520" y="2688336"/>
            <a:ext cx="5550812" cy="3200400"/>
          </a:xfrm>
          <a:prstGeom prst="roundRect">
            <a:avLst>
              <a:gd name="adj" fmla="val 114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743200"/>
            <a:ext cx="5441084" cy="3090672"/>
          </a:xfrm>
          <a:prstGeom prst="rect">
            <a:avLst/>
          </a:prstGeom>
        </p:spPr>
      </p:pic>
      <p:sp>
        <p:nvSpPr>
          <p:cNvPr id="10" name="Text 6"/>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Les données d’inventaire, depuis le tableau de bord</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Constituer</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son équipe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Ajouter un membre, depuis l’application</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Le répertoire.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Il peut sélectionner les compteurs de son magasin depuis le répertoire, qui se remplit au fur et à mesure que des profils sont créés.</a:t>
            </a:r>
            <a:endParaRPr lang="en-US" sz="1400" dirty="0"/>
          </a:p>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Compteur ou co-superviseur.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Idéal pour des inventaires de grandes tailles avec une équipe de compteurs importante.</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Ce qu’il faut</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savoir</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L’arrivée d’un compteur</a:t>
            </a:r>
            <a:endParaRPr lang="en-US" sz="950" dirty="0"/>
          </a:p>
        </p:txBody>
      </p:sp>
      <p:sp>
        <p:nvSpPr>
          <p:cNvPr id="9" name="Text 5"/>
          <p:cNvSpPr/>
          <p:nvPr/>
        </p:nvSpPr>
        <p:spPr>
          <a:xfrm>
            <a:off x="731520" y="2286000"/>
            <a:ext cx="8098559" cy="3730752"/>
          </a:xfrm>
          <a:prstGeom prst="rect">
            <a:avLst/>
          </a:prstGeom>
          <a:noFill/>
          <a:ln/>
        </p:spPr>
        <p:txBody>
          <a:bodyPr wrap="square" lIns="0" tIns="0" rIns="0" bIns="0" rtlCol="0" anchor="ctr"/>
          <a:lstStyle/>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Attention,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un compteur ne peut pas être choisi comme co-superviseur.</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Chaque personne ajoutée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à un inventaire reçoit instantanément un mail et une notification.</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Le partage.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Le superviseur de l’inventaire peut également partager les identifiants de l’inventaire directement depuis le flux qu’il aura choisi.</a:t>
            </a:r>
            <a:endParaRPr lang="en-US" sz="1250" dirty="0"/>
          </a:p>
          <a:p>
            <a:pPr indent="0" marL="0">
              <a:lnSpc>
                <a:spcPct val="118000"/>
              </a:lnSpc>
              <a:spcAft>
                <a:spcPts val="1300"/>
              </a:spcAft>
              <a:buNone/>
            </a:pPr>
            <a:r>
              <a:rPr lang="en-US" sz="1250" b="1" dirty="0">
                <a:solidFill>
                  <a:srgbClr val="14181A"/>
                </a:solidFill>
                <a:latin typeface="Public Sans" pitchFamily="34" charset="0"/>
                <a:ea typeface="Public Sans" pitchFamily="34" charset="-122"/>
                <a:cs typeface="Public Sans" pitchFamily="34" charset="-120"/>
              </a:rPr>
              <a:t>À noter. </a:t>
            </a:r>
            <a:pPr indent="0" marL="0">
              <a:lnSpc>
                <a:spcPct val="118000"/>
              </a:lnSpc>
              <a:spcAft>
                <a:spcPts val="1300"/>
              </a:spcAft>
              <a:buNone/>
            </a:pPr>
            <a:r>
              <a:rPr lang="en-US" sz="1250" dirty="0">
                <a:solidFill>
                  <a:srgbClr val="3A423F"/>
                </a:solidFill>
                <a:latin typeface="Public Sans" pitchFamily="34" charset="0"/>
                <a:ea typeface="Public Sans" pitchFamily="34" charset="-122"/>
                <a:cs typeface="Public Sans" pitchFamily="34" charset="-120"/>
              </a:rPr>
              <a:t>Une personne inconnue du magasin ne pourra pas participer à cet inventaire.</a:t>
            </a:r>
            <a:endParaRPr lang="en-US" sz="125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L’équipe, depuis le tableau de bord</a:t>
            </a:r>
            <a:endParaRPr lang="en-US" sz="2400" dirty="0"/>
          </a:p>
        </p:txBody>
      </p:sp>
      <p:sp>
        <p:nvSpPr>
          <p:cNvPr id="7" name="Shape 4"/>
          <p:cNvSpPr/>
          <p:nvPr/>
        </p:nvSpPr>
        <p:spPr>
          <a:xfrm>
            <a:off x="731520" y="2002536"/>
            <a:ext cx="8133522" cy="3886200"/>
          </a:xfrm>
          <a:prstGeom prst="roundRect">
            <a:avLst>
              <a:gd name="adj" fmla="val 941"/>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86384" y="2057400"/>
            <a:ext cx="8023794" cy="3776472"/>
          </a:xfrm>
          <a:prstGeom prst="rect">
            <a:avLst/>
          </a:prstGeom>
        </p:spPr>
      </p:pic>
      <p:sp>
        <p:nvSpPr>
          <p:cNvPr id="9" name="Text 5"/>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Compte de démonstration — inventaire « Rayon textile »</a:t>
            </a:r>
            <a:endParaRPr lang="en-US" sz="10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Aucune étape</a:t>
            </a:r>
            <a:endParaRPr lang="en-US" sz="2600" dirty="0"/>
          </a:p>
          <a:p>
            <a:pPr indent="0" marL="0">
              <a:lnSpc>
                <a:spcPct val="105000"/>
              </a:lnSpc>
              <a:buNone/>
            </a:pPr>
            <a:r>
              <a:rPr lang="en-US" sz="2600" b="1" dirty="0">
                <a:solidFill>
                  <a:srgbClr val="14181A"/>
                </a:solidFill>
                <a:latin typeface="Archivo" pitchFamily="34" charset="0"/>
                <a:ea typeface="Archivo" pitchFamily="34" charset="-122"/>
                <a:cs typeface="Archivo" pitchFamily="34" charset="-120"/>
              </a:rPr>
              <a:t>ne bloque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La fiche d’un inventaire</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Public Sans" pitchFamily="34" charset="0"/>
                <a:ea typeface="Public Sans" pitchFamily="34" charset="-122"/>
                <a:cs typeface="Public Sans" pitchFamily="34" charset="-120"/>
              </a:rPr>
              <a:t>Aucune de ces étapes ne bloque la création de l’inventaire. </a:t>
            </a:r>
            <a:pPr indent="0" marL="0">
              <a:lnSpc>
                <a:spcPct val="118000"/>
              </a:lnSpc>
              <a:spcAft>
                <a:spcPts val="1800"/>
              </a:spcAft>
              <a:buNone/>
            </a:pPr>
            <a:r>
              <a:rPr lang="en-US" sz="1400" dirty="0">
                <a:solidFill>
                  <a:srgbClr val="3A423F"/>
                </a:solidFill>
                <a:latin typeface="Public Sans" pitchFamily="34" charset="0"/>
                <a:ea typeface="Public Sans" pitchFamily="34" charset="-122"/>
                <a:cs typeface="Public Sans" pitchFamily="34" charset="-120"/>
              </a:rPr>
              <a:t>En effet, il est possible d’y retourner même après, depuis le menu dédié.</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Les profils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Il existe trois profils par entreprise</a:t>
            </a:r>
            <a:endParaRPr lang="en-US" sz="2400" dirty="0"/>
          </a:p>
        </p:txBody>
      </p:sp>
      <p:sp>
        <p:nvSpPr>
          <p:cNvPr id="7" name="Text 4"/>
          <p:cNvSpPr/>
          <p:nvPr/>
        </p:nvSpPr>
        <p:spPr>
          <a:xfrm>
            <a:off x="731520"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1</a:t>
            </a:r>
            <a:endParaRPr lang="en-US" sz="1200" dirty="0"/>
          </a:p>
        </p:txBody>
      </p:sp>
      <p:sp>
        <p:nvSpPr>
          <p:cNvPr id="8" name="Text 5"/>
          <p:cNvSpPr/>
          <p:nvPr/>
        </p:nvSpPr>
        <p:spPr>
          <a:xfrm>
            <a:off x="731520"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chivo" pitchFamily="34" charset="0"/>
                <a:ea typeface="Archivo" pitchFamily="34" charset="-122"/>
                <a:cs typeface="Archivo" pitchFamily="34" charset="-120"/>
              </a:rPr>
              <a:t>Administrateur</a:t>
            </a:r>
            <a:endParaRPr lang="en-US" sz="1700" dirty="0"/>
          </a:p>
        </p:txBody>
      </p:sp>
      <p:sp>
        <p:nvSpPr>
          <p:cNvPr id="9" name="Text 6"/>
          <p:cNvSpPr/>
          <p:nvPr/>
        </p:nvSpPr>
        <p:spPr>
          <a:xfrm>
            <a:off x="731520"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Public Sans" pitchFamily="34" charset="0"/>
                <a:ea typeface="Public Sans" pitchFamily="34" charset="-122"/>
                <a:cs typeface="Public Sans" pitchFamily="34" charset="-120"/>
              </a:rPr>
              <a:t>Gère la création de l’entreprise et des magasins, ainsi que la création des comptes Superviseur. Il a également la charge de gérer les profils de l’entreprise et des différents magasins. Il peut ajouter ou supprimer des comptes, promouvoir un Compteur en Superviseur et inversement. Il gère aussi l’abonnement Quantinvo de son entreprise.</a:t>
            </a:r>
            <a:endParaRPr lang="en-US" sz="1300" dirty="0"/>
          </a:p>
        </p:txBody>
      </p:sp>
      <p:sp>
        <p:nvSpPr>
          <p:cNvPr id="10" name="Text 7"/>
          <p:cNvSpPr/>
          <p:nvPr/>
        </p:nvSpPr>
        <p:spPr>
          <a:xfrm>
            <a:off x="4459224"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2</a:t>
            </a:r>
            <a:endParaRPr lang="en-US" sz="1200" dirty="0"/>
          </a:p>
        </p:txBody>
      </p:sp>
      <p:sp>
        <p:nvSpPr>
          <p:cNvPr id="11" name="Text 8"/>
          <p:cNvSpPr/>
          <p:nvPr/>
        </p:nvSpPr>
        <p:spPr>
          <a:xfrm>
            <a:off x="4459224"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chivo" pitchFamily="34" charset="0"/>
                <a:ea typeface="Archivo" pitchFamily="34" charset="-122"/>
                <a:cs typeface="Archivo" pitchFamily="34" charset="-120"/>
              </a:rPr>
              <a:t>Superviseur</a:t>
            </a:r>
            <a:endParaRPr lang="en-US" sz="1700" dirty="0"/>
          </a:p>
        </p:txBody>
      </p:sp>
      <p:sp>
        <p:nvSpPr>
          <p:cNvPr id="12" name="Text 9"/>
          <p:cNvSpPr/>
          <p:nvPr/>
        </p:nvSpPr>
        <p:spPr>
          <a:xfrm>
            <a:off x="4459224"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Public Sans" pitchFamily="34" charset="0"/>
                <a:ea typeface="Public Sans" pitchFamily="34" charset="-122"/>
                <a:cs typeface="Public Sans" pitchFamily="34" charset="-120"/>
              </a:rPr>
              <a:t>A la charge de créer et de suivre ses inventaires. Il constitue son équipe en créant le profil de ses compteurs.</a:t>
            </a:r>
            <a:endParaRPr lang="en-US" sz="1300" dirty="0"/>
          </a:p>
        </p:txBody>
      </p:sp>
      <p:sp>
        <p:nvSpPr>
          <p:cNvPr id="13" name="Text 10"/>
          <p:cNvSpPr/>
          <p:nvPr/>
        </p:nvSpPr>
        <p:spPr>
          <a:xfrm>
            <a:off x="8186928"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chivo" pitchFamily="34" charset="0"/>
                <a:ea typeface="Archivo" pitchFamily="34" charset="-122"/>
                <a:cs typeface="Archivo" pitchFamily="34" charset="-120"/>
              </a:rPr>
              <a:t>3</a:t>
            </a:r>
            <a:endParaRPr lang="en-US" sz="1200" dirty="0"/>
          </a:p>
        </p:txBody>
      </p:sp>
      <p:sp>
        <p:nvSpPr>
          <p:cNvPr id="14" name="Text 11"/>
          <p:cNvSpPr/>
          <p:nvPr/>
        </p:nvSpPr>
        <p:spPr>
          <a:xfrm>
            <a:off x="8186928"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chivo" pitchFamily="34" charset="0"/>
                <a:ea typeface="Archivo" pitchFamily="34" charset="-122"/>
                <a:cs typeface="Archivo" pitchFamily="34" charset="-120"/>
              </a:rPr>
              <a:t>Compteur</a:t>
            </a:r>
            <a:endParaRPr lang="en-US" sz="1700" dirty="0"/>
          </a:p>
        </p:txBody>
      </p:sp>
      <p:sp>
        <p:nvSpPr>
          <p:cNvPr id="15" name="Text 12"/>
          <p:cNvSpPr/>
          <p:nvPr/>
        </p:nvSpPr>
        <p:spPr>
          <a:xfrm>
            <a:off x="8186928"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Public Sans" pitchFamily="34" charset="0"/>
                <a:ea typeface="Public Sans" pitchFamily="34" charset="-122"/>
                <a:cs typeface="Public Sans" pitchFamily="34" charset="-120"/>
              </a:rPr>
              <a:t>Rejoint un inventaire sur invitation, il compte ou audite.</a:t>
            </a:r>
            <a:endParaRPr lang="en-US" sz="1300" dirty="0"/>
          </a:p>
        </p:txBody>
      </p:sp>
      <p:sp>
        <p:nvSpPr>
          <p:cNvPr id="16" name="Text 1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7" name="Text 1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chivo" pitchFamily="34" charset="0"/>
                <a:ea typeface="Archivo" pitchFamily="34" charset="-122"/>
                <a:cs typeface="Archivo"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Public Sans" pitchFamily="34" charset="0"/>
                <a:ea typeface="Public Sans" pitchFamily="34" charset="-122"/>
                <a:cs typeface="Public Sans"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chivo" pitchFamily="34" charset="0"/>
                <a:ea typeface="Archivo" pitchFamily="34" charset="-122"/>
                <a:cs typeface="Archivo" pitchFamily="34" charset="-120"/>
              </a:rPr>
              <a:t>Le comptage et le rapport</a:t>
            </a:r>
            <a:endParaRPr lang="en-US" sz="2400" dirty="0"/>
          </a:p>
        </p:txBody>
      </p:sp>
      <p:pic>
        <p:nvPicPr>
          <p:cNvPr id="7" name="Image 1" descr="preencoded.png">    </p:cNvPr>
          <p:cNvPicPr>
            <a:picLocks noChangeAspect="1"/>
          </p:cNvPicPr>
          <p:nvPr/>
        </p:nvPicPr>
        <p:blipFill>
          <a:blip r:embed="rId2"/>
          <a:stretch>
            <a:fillRect/>
          </a:stretch>
        </p:blipFill>
        <p:spPr>
          <a:xfrm>
            <a:off x="731520" y="2103120"/>
            <a:ext cx="1701947" cy="3593592"/>
          </a:xfrm>
          <a:prstGeom prst="rect">
            <a:avLst/>
          </a:prstGeom>
        </p:spPr>
      </p:pic>
      <p:sp>
        <p:nvSpPr>
          <p:cNvPr id="8" name="Text 4"/>
          <p:cNvSpPr/>
          <p:nvPr/>
        </p:nvSpPr>
        <p:spPr>
          <a:xfrm>
            <a:off x="411480" y="5788152"/>
            <a:ext cx="2342027"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Public Sans" pitchFamily="34" charset="0"/>
                <a:ea typeface="Public Sans" pitchFamily="34" charset="-122"/>
                <a:cs typeface="Public Sans" pitchFamily="34" charset="-120"/>
              </a:rPr>
              <a:t>Les balises comptées</a:t>
            </a:r>
            <a:endParaRPr lang="en-US" sz="950" dirty="0"/>
          </a:p>
        </p:txBody>
      </p:sp>
      <p:sp>
        <p:nvSpPr>
          <p:cNvPr id="9" name="Shape 5"/>
          <p:cNvSpPr/>
          <p:nvPr/>
        </p:nvSpPr>
        <p:spPr>
          <a:xfrm>
            <a:off x="3018683" y="2048256"/>
            <a:ext cx="8150067" cy="3703320"/>
          </a:xfrm>
          <a:prstGeom prst="roundRect">
            <a:avLst>
              <a:gd name="adj" fmla="val 988"/>
            </a:avLst>
          </a:prstGeom>
          <a:solidFill>
            <a:srgbClr val="FFFFFF"/>
          </a:solidFill>
          <a:ln w="12700">
            <a:solidFill>
              <a:srgbClr val="E2E5E1"/>
            </a:solidFill>
            <a:prstDash val="solid"/>
          </a:ln>
        </p:spPr>
      </p:sp>
      <p:pic>
        <p:nvPicPr>
          <p:cNvPr id="10" name="Image 2" descr="preencoded.png">    </p:cNvPr>
          <p:cNvPicPr>
            <a:picLocks noChangeAspect="1"/>
          </p:cNvPicPr>
          <p:nvPr/>
        </p:nvPicPr>
        <p:blipFill>
          <a:blip r:embed="rId3"/>
          <a:stretch>
            <a:fillRect/>
          </a:stretch>
        </p:blipFill>
        <p:spPr>
          <a:xfrm>
            <a:off x="3073547" y="2103120"/>
            <a:ext cx="8040339" cy="3593592"/>
          </a:xfrm>
          <a:prstGeom prst="rect">
            <a:avLst/>
          </a:prstGeom>
        </p:spPr>
      </p:pic>
      <p:sp>
        <p:nvSpPr>
          <p:cNvPr id="11" name="Text 6"/>
          <p:cNvSpPr/>
          <p:nvPr/>
        </p:nvSpPr>
        <p:spPr>
          <a:xfrm>
            <a:off x="3073547" y="5824728"/>
            <a:ext cx="8383885" cy="365760"/>
          </a:xfrm>
          <a:prstGeom prst="rect">
            <a:avLst/>
          </a:prstGeom>
          <a:noFill/>
          <a:ln/>
        </p:spPr>
        <p:txBody>
          <a:bodyPr wrap="square" lIns="0" tIns="0" rIns="0" bIns="0" rtlCol="0" anchor="t"/>
          <a:lstStyle/>
          <a:p>
            <a:pPr indent="0" marL="0">
              <a:buNone/>
            </a:pPr>
            <a:r>
              <a:rPr lang="en-US" sz="1000" i="1" dirty="0">
                <a:solidFill>
                  <a:srgbClr val="575F5C"/>
                </a:solidFill>
                <a:latin typeface="Public Sans" pitchFamily="34" charset="0"/>
                <a:ea typeface="Public Sans" pitchFamily="34" charset="-122"/>
                <a:cs typeface="Public Sans" pitchFamily="34" charset="-120"/>
              </a:rPr>
              <a:t>Le rapport</a:t>
            </a:r>
            <a:endParaRPr lang="en-US" sz="1000" dirty="0"/>
          </a:p>
        </p:txBody>
      </p:sp>
      <p:sp>
        <p:nvSpPr>
          <p:cNvPr id="12"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Public Sans" pitchFamily="34" charset="0"/>
                <a:ea typeface="Public Sans" pitchFamily="34" charset="-122"/>
                <a:cs typeface="Public Sans" pitchFamily="34" charset="-120"/>
              </a:rPr>
              <a:t>Quantinvo · présentation du 2 octobre 2026</a:t>
            </a:r>
            <a:endParaRPr lang="en-US" sz="900" dirty="0"/>
          </a:p>
        </p:txBody>
      </p:sp>
      <p:sp>
        <p:nvSpPr>
          <p:cNvPr id="13"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Public Sans" pitchFamily="34" charset="0"/>
                <a:ea typeface="Public Sans" pitchFamily="34" charset="-122"/>
                <a:cs typeface="Public Sans"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chivo" pitchFamily="34" charset="0"/>
                <a:ea typeface="Archivo" pitchFamily="34" charset="-122"/>
                <a:cs typeface="Archivo"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chivo" pitchFamily="34" charset="0"/>
                <a:ea typeface="Archivo" pitchFamily="34" charset="-122"/>
                <a:cs typeface="Archivo" pitchFamily="34" charset="-120"/>
              </a:rPr>
              <a:t>Démonstration</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Public Sans" pitchFamily="34" charset="0"/>
                <a:ea typeface="Public Sans" pitchFamily="34" charset="-122"/>
                <a:cs typeface="Public Sans" pitchFamily="34" charset="-120"/>
              </a:rPr>
              <a:t>De l’application et du tableau de bord.</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chivo" pitchFamily="34" charset="0"/>
                <a:ea typeface="Archivo" pitchFamily="34" charset="-122"/>
                <a:cs typeface="Archivo" pitchFamily="34" charset="-120"/>
              </a:rPr>
              <a:t>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Public Sans" pitchFamily="34" charset="0"/>
                <a:ea typeface="Public Sans" pitchFamily="34" charset="-122"/>
                <a:cs typeface="Public Sans" pitchFamily="34" charset="-120"/>
              </a:rPr>
              <a:t>2 octobre 2026 · 25 minutes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présentation du 2 octobre 2026</dc:title>
  <dc:subject>PptxGenJS Presentation</dc:subject>
  <dc:creator>Devkaylab</dc:creator>
  <cp:lastModifiedBy>Devkaylab</cp:lastModifiedBy>
  <cp:revision>1</cp:revision>
  <dcterms:created xsi:type="dcterms:W3CDTF">2026-09-26T11:38:09Z</dcterms:created>
  <dcterms:modified xsi:type="dcterms:W3CDTF">2026-09-26T11:38:09Z</dcterms:modified>
</cp:coreProperties>
</file>