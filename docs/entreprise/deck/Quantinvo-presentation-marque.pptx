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la promesse, pas sur le produit : un stock fiable toute l'année, compté par vos équipes. Le nom vient de « quantité » et « inventaire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stock est le principal actif du magasin, et on ne le vérifie qu'une fois par an. Laisser le silence après la phrase du titre.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 d'où on parle. C'est ce qui distingue d'un éditeur généraliste : on connaît le rayon, la réserve, la nuit d'inventaire.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deux ou trois lignes, pas les cinq. La cinquième (les fichiers) est celle qui surprend le plus en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l'import : « importez vos fichiers tels quels ». C'est ce que le prospect vérifie dès le premier essai, et c'est là qu'on gagne la confiance.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vraies captures. Le point à faire remarquer : il n'y a rien d'autre sur ces écrans. Un compteur n'a pas de menu à apprendre.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capture, ne pas la commenter ligne à ligne. L'argument du suivi agrégé parle aux RH et au CSE : le dire ici évite une objection plus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qui compte pour un responsable de magasin : trancher à chaud, avec le compteur encore dans le rayon. Les deux boutons portent la quantité de chacun — un appui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 le fichier qui fait foi est le stock théorique. Sans fichier théorique, le rapport ne montre que ce qui a été compté.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répond à la question qui bloque tous les achats logiciels : « combien de temps avant que ça serve ? ». La réponse est : le jour 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Conformité réelle, suivi agrégé, données en Europe. Le dossier DSI existe : le proposer tout de suite évite six semaines d'aller-retour.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Parler en budget d'inventaire annuel, jamais en prix d'application : comparer au prestataire et au matériel. Annoncer le mensuel ; l'annuel économise 420 € sur Advanced. Le détail vit dans le deck tarification.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désarme les objections. Ne pas la sauter : un prospect qui découvre une limite après coup perd confiance, un prospect averti la comprend.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la démonstration concrète, sur leurs fichiers. C'est l'engagement qu'on prend et celui qu'on leur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Public Sans" pitchFamily="34" charset="0"/>
                <a:ea typeface="Public Sans" pitchFamily="34" charset="-122"/>
                <a:cs typeface="Public Sans" pitchFamily="34" charset="-120"/>
              </a:rPr>
              <a:t>L'outil d'inventaire pour le commerce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chivo" pitchFamily="34" charset="0"/>
                <a:ea typeface="Archivo" pitchFamily="34" charset="-122"/>
                <a:cs typeface="Archivo" pitchFamily="34" charset="-120"/>
              </a:rPr>
              <a:t>Un stock fiable toute l’année, compté par vos propres équipes.</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Public Sans" pitchFamily="34" charset="0"/>
                <a:ea typeface="Public Sans" pitchFamily="34" charset="-122"/>
                <a:cs typeface="Public Sans" pitchFamily="34" charset="-120"/>
              </a:rPr>
              <a:t>Une application sur le téléphone des compteurs, un tableau de bord pour celui qui pilote, un rapport à la fin. Rien d'autre à acheter.</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Devkaylab  ·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Le constat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On compte son stock une fois par an. On décide dessus tous les jours.</a:t>
            </a:r>
            <a:endParaRPr lang="en-US" sz="2600" dirty="0"/>
          </a:p>
        </p:txBody>
      </p:sp>
      <p:sp>
        <p:nvSpPr>
          <p:cNvPr id="7" name="Text 4"/>
          <p:cNvSpPr/>
          <p:nvPr/>
        </p:nvSpPr>
        <p:spPr>
          <a:xfrm>
            <a:off x="731520" y="3657600"/>
            <a:ext cx="4206240" cy="868680"/>
          </a:xfrm>
          <a:prstGeom prst="rect">
            <a:avLst/>
          </a:prstGeom>
          <a:noFill/>
          <a:ln/>
        </p:spPr>
        <p:txBody>
          <a:bodyPr wrap="square" lIns="0" tIns="0" rIns="0" bIns="0" rtlCol="0" anchor="t"/>
          <a:lstStyle/>
          <a:p>
            <a:pPr indent="0" marL="0">
              <a:buNone/>
            </a:pPr>
            <a:r>
              <a:rPr lang="en-US" sz="5400" b="1" dirty="0">
                <a:solidFill>
                  <a:srgbClr val="1E4D3B"/>
                </a:solidFill>
                <a:latin typeface="Archivo" pitchFamily="34" charset="0"/>
                <a:ea typeface="Archivo" pitchFamily="34" charset="-122"/>
                <a:cs typeface="Archivo" pitchFamily="34" charset="-120"/>
              </a:rPr>
              <a:t>365</a:t>
            </a:r>
            <a:endParaRPr lang="en-US" sz="5400" dirty="0"/>
          </a:p>
        </p:txBody>
      </p:sp>
      <p:sp>
        <p:nvSpPr>
          <p:cNvPr id="8" name="Text 5"/>
          <p:cNvSpPr/>
          <p:nvPr/>
        </p:nvSpPr>
        <p:spPr>
          <a:xfrm>
            <a:off x="731520" y="457200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75F5C"/>
                </a:solidFill>
                <a:latin typeface="Public Sans" pitchFamily="34" charset="0"/>
                <a:ea typeface="Public Sans" pitchFamily="34" charset="-122"/>
                <a:cs typeface="Public Sans" pitchFamily="34" charset="-120"/>
              </a:rPr>
              <a:t>jours de commandes, de réassorts et de démarque reposent sur un chiffre vérifié une seule fois.</a:t>
            </a:r>
            <a:endParaRPr lang="en-US" sz="1200" dirty="0"/>
          </a:p>
        </p:txBody>
      </p:sp>
      <p:sp>
        <p:nvSpPr>
          <p:cNvPr id="9" name="Text 6"/>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14181A"/>
                </a:solidFill>
                <a:latin typeface="Public Sans" pitchFamily="34" charset="0"/>
                <a:ea typeface="Public Sans" pitchFamily="34" charset="-122"/>
                <a:cs typeface="Public Sans" pitchFamily="34" charset="-120"/>
              </a:rPr>
              <a:t>Le grand inventaire. </a:t>
            </a:r>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Il se prépare des mois à l'avance, il mobilise tout le magasin une nuit, et le lendemain chacun est soulagé d'en avoir fini pour un an.</a:t>
            </a:r>
            <a:endParaRPr lang="en-US" sz="1400" dirty="0"/>
          </a:p>
          <a:p>
            <a:pPr indent="0" marL="0">
              <a:lnSpc>
                <a:spcPct val="118000"/>
              </a:lnSpc>
              <a:spcAft>
                <a:spcPts val="1400"/>
              </a:spcAft>
              <a:buNone/>
            </a:pPr>
            <a:r>
              <a:rPr lang="en-US" sz="1400" b="1" dirty="0">
                <a:solidFill>
                  <a:srgbClr val="14181A"/>
                </a:solidFill>
                <a:latin typeface="Public Sans" pitchFamily="34" charset="0"/>
                <a:ea typeface="Public Sans" pitchFamily="34" charset="-122"/>
                <a:cs typeface="Public Sans" pitchFamily="34" charset="-120"/>
              </a:rPr>
              <a:t>Le prestataire. </a:t>
            </a:r>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Il compte vite, il facture à la pièce, et il repart. Entre deux passages, personne ne sait vraiment où en est le stock.</a:t>
            </a:r>
            <a:endParaRPr lang="en-US" sz="1400" dirty="0"/>
          </a:p>
          <a:p>
            <a:pPr indent="0" marL="0">
              <a:lnSpc>
                <a:spcPct val="118000"/>
              </a:lnSpc>
              <a:spcAft>
                <a:spcPts val="1400"/>
              </a:spcAft>
              <a:buNone/>
            </a:pPr>
            <a:r>
              <a:rPr lang="en-US" sz="1400" b="1" dirty="0">
                <a:solidFill>
                  <a:srgbClr val="14181A"/>
                </a:solidFill>
                <a:latin typeface="Public Sans" pitchFamily="34" charset="0"/>
                <a:ea typeface="Public Sans" pitchFamily="34" charset="-122"/>
                <a:cs typeface="Public Sans" pitchFamily="34" charset="-120"/>
              </a:rPr>
              <a:t>Le chiffre. </a:t>
            </a:r>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Le stock théorique se remet à dériver dès le lendemain. La démarque, on la découvre au comptage suivant, trop tard pour comprendre d'où elle vient.</a:t>
            </a:r>
            <a:endParaRPr lang="en-US" sz="1400" dirty="0"/>
          </a:p>
          <a:p>
            <a:pPr indent="0" marL="0">
              <a:lnSpc>
                <a:spcPct val="118000"/>
              </a:lnSpc>
              <a:spcAft>
                <a:spcPts val="1400"/>
              </a:spcAft>
              <a:buNone/>
            </a:pPr>
            <a:r>
              <a:rPr lang="en-US" sz="1400" b="1" dirty="0">
                <a:solidFill>
                  <a:srgbClr val="14181A"/>
                </a:solidFill>
                <a:latin typeface="Public Sans" pitchFamily="34" charset="0"/>
                <a:ea typeface="Public Sans" pitchFamily="34" charset="-122"/>
                <a:cs typeface="Public Sans" pitchFamily="34" charset="-120"/>
              </a:rPr>
              <a:t>Le papier. </a:t>
            </a:r>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Compter soi-même, sur une feuille ou un tableur, c'est possible. C'est lent, et une ligne sautée ne se voit pas.</a:t>
            </a:r>
            <a:endParaRPr lang="en-US" sz="14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D'où ça vient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71600"/>
            <a:ext cx="4206240" cy="2194560"/>
          </a:xfrm>
          <a:prstGeom prst="rect">
            <a:avLst/>
          </a:prstGeom>
          <a:noFill/>
          <a:ln/>
        </p:spPr>
        <p:txBody>
          <a:bodyPr wrap="square" lIns="0" tIns="0" rIns="0" bIns="0" rtlCol="0" anchor="t"/>
          <a:lstStyle/>
          <a:p>
            <a:pPr indent="0" marL="0">
              <a:lnSpc>
                <a:spcPct val="115000"/>
              </a:lnSpc>
              <a:buNone/>
            </a:pPr>
            <a:r>
              <a:rPr lang="en-US" sz="2200" i="1" dirty="0">
                <a:solidFill>
                  <a:srgbClr val="14181A"/>
                </a:solidFill>
                <a:latin typeface="Archivo" pitchFamily="34" charset="0"/>
                <a:ea typeface="Archivo" pitchFamily="34" charset="-122"/>
                <a:cs typeface="Archivo" pitchFamily="34" charset="-120"/>
              </a:rPr>
              <a:t>« J'ai dessiné Quantinvo pendant des inventaires, pas dans une salle de réunion. »</a:t>
            </a:r>
            <a:endParaRPr lang="en-US" sz="2200" dirty="0"/>
          </a:p>
        </p:txBody>
      </p:sp>
      <p:sp>
        <p:nvSpPr>
          <p:cNvPr id="7" name="Text 4"/>
          <p:cNvSpPr/>
          <p:nvPr/>
        </p:nvSpPr>
        <p:spPr>
          <a:xfrm>
            <a:off x="731520" y="3154680"/>
            <a:ext cx="4206240" cy="365760"/>
          </a:xfrm>
          <a:prstGeom prst="rect">
            <a:avLst/>
          </a:prstGeom>
          <a:noFill/>
          <a:ln/>
        </p:spPr>
        <p:txBody>
          <a:bodyPr wrap="square" lIns="0" tIns="0" rIns="0" bIns="0" rtlCol="0" anchor="t"/>
          <a:lstStyle/>
          <a:p>
            <a:pPr algn="l" indent="0" marL="0">
              <a:lnSpc>
                <a:spcPct val="118000"/>
              </a:lnSpc>
              <a:buNone/>
            </a:pPr>
            <a:r>
              <a:rPr lang="en-US" sz="1200" dirty="0">
                <a:solidFill>
                  <a:srgbClr val="575F5C"/>
                </a:solidFill>
                <a:latin typeface="Public Sans" pitchFamily="34" charset="0"/>
                <a:ea typeface="Public Sans" pitchFamily="34" charset="-122"/>
                <a:cs typeface="Public Sans" pitchFamily="34" charset="-120"/>
              </a:rPr>
              <a:t>Julien Thiong-kay, Devkaylab</a:t>
            </a:r>
            <a:endParaRPr lang="en-US" sz="120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Je fais du contrôle des stocks en magasin. Les irritants, je les ai sous les yeux à chaque inventaire : la balise qu'on ne retrouve pas, la réserve sans réseau, le fichier Excel qu'il faut reformater avant chaque import, le rapport qui arrive trois jours après, quand tout le monde est passé à autre chose.</a:t>
            </a:r>
            <a:endParaRPr lang="en-US" sz="1400" dirty="0"/>
          </a:p>
          <a:p>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Quantinvo est la réponse à ces irritants, et rien de plus. Une application sur le téléphone que l'équipe a déjà en poche, un tableau de bord pour celui qui pilote, un rapport à la fin.</a:t>
            </a:r>
            <a:endParaRPr lang="en-US" sz="1400" dirty="0"/>
          </a:p>
          <a:p>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Ce n'est pas un module d'ERP qu'on adapte au magasin. C'est un outil de magasin, qui tient dans une poche et se prend en main en dix minutes.</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Ce que ça change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Ce que ça change, concrètement</a:t>
            </a:r>
            <a:endParaRPr lang="en-US" sz="2600" dirty="0"/>
          </a:p>
        </p:txBody>
      </p:sp>
      <p:sp>
        <p:nvSpPr>
          <p:cNvPr id="7" name="Text 4"/>
          <p:cNvSpPr/>
          <p:nvPr/>
        </p:nvSpPr>
        <p:spPr>
          <a:xfrm>
            <a:off x="731520" y="2240280"/>
            <a:ext cx="4846320" cy="274320"/>
          </a:xfrm>
          <a:prstGeom prst="rect">
            <a:avLst/>
          </a:prstGeom>
          <a:noFill/>
          <a:ln/>
        </p:spPr>
        <p:txBody>
          <a:bodyPr wrap="square" lIns="0" tIns="0" rIns="0" bIns="0" rtlCol="0" anchor="t"/>
          <a:lstStyle/>
          <a:p>
            <a:pPr indent="0" marL="0">
              <a:buNone/>
            </a:pPr>
            <a:r>
              <a:rPr lang="en-US" sz="1050" b="1" dirty="0">
                <a:solidFill>
                  <a:srgbClr val="575F5C"/>
                </a:solidFill>
                <a:latin typeface="Public Sans" pitchFamily="34" charset="0"/>
                <a:ea typeface="Public Sans" pitchFamily="34" charset="-122"/>
                <a:cs typeface="Public Sans" pitchFamily="34" charset="-120"/>
              </a:rPr>
              <a:t>Aujourd'hui</a:t>
            </a:r>
            <a:endParaRPr lang="en-US" sz="1050" dirty="0"/>
          </a:p>
        </p:txBody>
      </p:sp>
      <p:sp>
        <p:nvSpPr>
          <p:cNvPr id="8" name="Text 5"/>
          <p:cNvSpPr/>
          <p:nvPr/>
        </p:nvSpPr>
        <p:spPr>
          <a:xfrm>
            <a:off x="5852160" y="2240280"/>
            <a:ext cx="4846320" cy="274320"/>
          </a:xfrm>
          <a:prstGeom prst="rect">
            <a:avLst/>
          </a:prstGeom>
          <a:noFill/>
          <a:ln/>
        </p:spPr>
        <p:txBody>
          <a:bodyPr wrap="square" lIns="0" tIns="0" rIns="0" bIns="0" rtlCol="0" anchor="t"/>
          <a:lstStyle/>
          <a:p>
            <a:pPr indent="0" marL="0">
              <a:buNone/>
            </a:pPr>
            <a:r>
              <a:rPr lang="en-US" sz="1050" b="1" dirty="0">
                <a:solidFill>
                  <a:srgbClr val="14181A"/>
                </a:solidFill>
                <a:latin typeface="Public Sans" pitchFamily="34" charset="0"/>
                <a:ea typeface="Public Sans" pitchFamily="34" charset="-122"/>
                <a:cs typeface="Public Sans" pitchFamily="34" charset="-120"/>
              </a:rPr>
              <a:t>Avec Quantinvo</a:t>
            </a:r>
            <a:endParaRPr lang="en-US" sz="1050" dirty="0"/>
          </a:p>
        </p:txBody>
      </p:sp>
      <p:sp>
        <p:nvSpPr>
          <p:cNvPr id="9" name="Shape 6"/>
          <p:cNvSpPr/>
          <p:nvPr/>
        </p:nvSpPr>
        <p:spPr>
          <a:xfrm>
            <a:off x="731520" y="2606040"/>
            <a:ext cx="10725912" cy="0"/>
          </a:xfrm>
          <a:prstGeom prst="line">
            <a:avLst/>
          </a:prstGeom>
          <a:noFill/>
          <a:ln w="9525">
            <a:solidFill>
              <a:srgbClr val="E2E5E1"/>
            </a:solidFill>
            <a:prstDash val="solid"/>
          </a:ln>
        </p:spPr>
      </p:sp>
      <p:sp>
        <p:nvSpPr>
          <p:cNvPr id="10" name="Text 7"/>
          <p:cNvSpPr/>
          <p:nvPr/>
        </p:nvSpPr>
        <p:spPr>
          <a:xfrm>
            <a:off x="73152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Public Sans" pitchFamily="34" charset="0"/>
                <a:ea typeface="Public Sans" pitchFamily="34" charset="-122"/>
                <a:cs typeface="Public Sans" pitchFamily="34" charset="-120"/>
              </a:rPr>
              <a:t>Une date par an, imposée par le calendrier.</a:t>
            </a:r>
            <a:endParaRPr lang="en-US" sz="1300" dirty="0"/>
          </a:p>
        </p:txBody>
      </p:sp>
      <p:sp>
        <p:nvSpPr>
          <p:cNvPr id="11" name="Text 8"/>
          <p:cNvSpPr/>
          <p:nvPr/>
        </p:nvSpPr>
        <p:spPr>
          <a:xfrm>
            <a:off x="585216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Public Sans" pitchFamily="34" charset="0"/>
                <a:ea typeface="Public Sans" pitchFamily="34" charset="-122"/>
                <a:cs typeface="Public Sans" pitchFamily="34" charset="-120"/>
              </a:rPr>
              <a:t>Vos dates. En janvier, en juin, un mardi matin avant l'ouverture. Autant de fois que vous voulez.</a:t>
            </a:r>
            <a:endParaRPr lang="en-US" sz="1300" dirty="0"/>
          </a:p>
        </p:txBody>
      </p:sp>
      <p:sp>
        <p:nvSpPr>
          <p:cNvPr id="12" name="Shape 9"/>
          <p:cNvSpPr/>
          <p:nvPr/>
        </p:nvSpPr>
        <p:spPr>
          <a:xfrm>
            <a:off x="731520" y="3355848"/>
            <a:ext cx="10725912" cy="0"/>
          </a:xfrm>
          <a:prstGeom prst="line">
            <a:avLst/>
          </a:prstGeom>
          <a:noFill/>
          <a:ln w="9525">
            <a:solidFill>
              <a:srgbClr val="E2E5E1"/>
            </a:solidFill>
            <a:prstDash val="solid"/>
          </a:ln>
        </p:spPr>
      </p:sp>
      <p:sp>
        <p:nvSpPr>
          <p:cNvPr id="13" name="Text 10"/>
          <p:cNvSpPr/>
          <p:nvPr/>
        </p:nvSpPr>
        <p:spPr>
          <a:xfrm>
            <a:off x="73152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Public Sans" pitchFamily="34" charset="0"/>
                <a:ea typeface="Public Sans" pitchFamily="34" charset="-122"/>
                <a:cs typeface="Public Sans" pitchFamily="34" charset="-120"/>
              </a:rPr>
              <a:t>Des équipes externes, ou du papier.</a:t>
            </a:r>
            <a:endParaRPr lang="en-US" sz="1300" dirty="0"/>
          </a:p>
        </p:txBody>
      </p:sp>
      <p:sp>
        <p:nvSpPr>
          <p:cNvPr id="14" name="Text 11"/>
          <p:cNvSpPr/>
          <p:nvPr/>
        </p:nvSpPr>
        <p:spPr>
          <a:xfrm>
            <a:off x="585216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Public Sans" pitchFamily="34" charset="0"/>
                <a:ea typeface="Public Sans" pitchFamily="34" charset="-122"/>
                <a:cs typeface="Public Sans" pitchFamily="34" charset="-120"/>
              </a:rPr>
              <a:t>Vos équipes, avec le téléphone qu’elles ont déjà.</a:t>
            </a:r>
            <a:endParaRPr lang="en-US" sz="1300" dirty="0"/>
          </a:p>
        </p:txBody>
      </p:sp>
      <p:sp>
        <p:nvSpPr>
          <p:cNvPr id="15" name="Shape 12"/>
          <p:cNvSpPr/>
          <p:nvPr/>
        </p:nvSpPr>
        <p:spPr>
          <a:xfrm>
            <a:off x="731520" y="4105656"/>
            <a:ext cx="10725912" cy="0"/>
          </a:xfrm>
          <a:prstGeom prst="line">
            <a:avLst/>
          </a:prstGeom>
          <a:noFill/>
          <a:ln w="9525">
            <a:solidFill>
              <a:srgbClr val="E2E5E1"/>
            </a:solidFill>
            <a:prstDash val="solid"/>
          </a:ln>
        </p:spPr>
      </p:sp>
      <p:sp>
        <p:nvSpPr>
          <p:cNvPr id="16" name="Text 13"/>
          <p:cNvSpPr/>
          <p:nvPr/>
        </p:nvSpPr>
        <p:spPr>
          <a:xfrm>
            <a:off x="73152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Public Sans" pitchFamily="34" charset="0"/>
                <a:ea typeface="Public Sans" pitchFamily="34" charset="-122"/>
                <a:cs typeface="Public Sans" pitchFamily="34" charset="-120"/>
              </a:rPr>
              <a:t>On sait où on en est à la fin.</a:t>
            </a:r>
            <a:endParaRPr lang="en-US" sz="1300" dirty="0"/>
          </a:p>
        </p:txBody>
      </p:sp>
      <p:sp>
        <p:nvSpPr>
          <p:cNvPr id="17" name="Text 14"/>
          <p:cNvSpPr/>
          <p:nvPr/>
        </p:nvSpPr>
        <p:spPr>
          <a:xfrm>
            <a:off x="585216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Public Sans" pitchFamily="34" charset="0"/>
                <a:ea typeface="Public Sans" pitchFamily="34" charset="-122"/>
                <a:cs typeface="Public Sans" pitchFamily="34" charset="-120"/>
              </a:rPr>
              <a:t>On le voit pendant, zone par zone, depuis le bureau.</a:t>
            </a:r>
            <a:endParaRPr lang="en-US" sz="1300" dirty="0"/>
          </a:p>
        </p:txBody>
      </p:sp>
      <p:sp>
        <p:nvSpPr>
          <p:cNvPr id="18" name="Shape 15"/>
          <p:cNvSpPr/>
          <p:nvPr/>
        </p:nvSpPr>
        <p:spPr>
          <a:xfrm>
            <a:off x="731520" y="4855464"/>
            <a:ext cx="10725912" cy="0"/>
          </a:xfrm>
          <a:prstGeom prst="line">
            <a:avLst/>
          </a:prstGeom>
          <a:noFill/>
          <a:ln w="9525">
            <a:solidFill>
              <a:srgbClr val="E2E5E1"/>
            </a:solidFill>
            <a:prstDash val="solid"/>
          </a:ln>
        </p:spPr>
      </p:sp>
      <p:sp>
        <p:nvSpPr>
          <p:cNvPr id="19" name="Text 16"/>
          <p:cNvSpPr/>
          <p:nvPr/>
        </p:nvSpPr>
        <p:spPr>
          <a:xfrm>
            <a:off x="73152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Public Sans" pitchFamily="34" charset="0"/>
                <a:ea typeface="Public Sans" pitchFamily="34" charset="-122"/>
                <a:cs typeface="Public Sans" pitchFamily="34" charset="-120"/>
              </a:rPr>
              <a:t>Les écarts se découvrent au rapport.</a:t>
            </a:r>
            <a:endParaRPr lang="en-US" sz="1300" dirty="0"/>
          </a:p>
        </p:txBody>
      </p:sp>
      <p:sp>
        <p:nvSpPr>
          <p:cNvPr id="20" name="Text 17"/>
          <p:cNvSpPr/>
          <p:nvPr/>
        </p:nvSpPr>
        <p:spPr>
          <a:xfrm>
            <a:off x="585216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Public Sans" pitchFamily="34" charset="0"/>
                <a:ea typeface="Public Sans" pitchFamily="34" charset="-122"/>
                <a:cs typeface="Public Sans" pitchFamily="34" charset="-120"/>
              </a:rPr>
              <a:t>Les écarts se règlent sur place, pendant que ça compte.</a:t>
            </a:r>
            <a:endParaRPr lang="en-US" sz="1300" dirty="0"/>
          </a:p>
        </p:txBody>
      </p:sp>
      <p:sp>
        <p:nvSpPr>
          <p:cNvPr id="21" name="Shape 18"/>
          <p:cNvSpPr/>
          <p:nvPr/>
        </p:nvSpPr>
        <p:spPr>
          <a:xfrm>
            <a:off x="731520" y="5605272"/>
            <a:ext cx="10725912" cy="0"/>
          </a:xfrm>
          <a:prstGeom prst="line">
            <a:avLst/>
          </a:prstGeom>
          <a:noFill/>
          <a:ln w="9525">
            <a:solidFill>
              <a:srgbClr val="E2E5E1"/>
            </a:solidFill>
            <a:prstDash val="solid"/>
          </a:ln>
        </p:spPr>
      </p:sp>
      <p:sp>
        <p:nvSpPr>
          <p:cNvPr id="22" name="Text 19"/>
          <p:cNvSpPr/>
          <p:nvPr/>
        </p:nvSpPr>
        <p:spPr>
          <a:xfrm>
            <a:off x="73152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Public Sans" pitchFamily="34" charset="0"/>
                <a:ea typeface="Public Sans" pitchFamily="34" charset="-122"/>
                <a:cs typeface="Public Sans" pitchFamily="34" charset="-120"/>
              </a:rPr>
              <a:t>Un fichier à reformater avant chaque import.</a:t>
            </a:r>
            <a:endParaRPr lang="en-US" sz="1300" dirty="0"/>
          </a:p>
        </p:txBody>
      </p:sp>
      <p:sp>
        <p:nvSpPr>
          <p:cNvPr id="23" name="Text 20"/>
          <p:cNvSpPr/>
          <p:nvPr/>
        </p:nvSpPr>
        <p:spPr>
          <a:xfrm>
            <a:off x="585216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Public Sans" pitchFamily="34" charset="0"/>
                <a:ea typeface="Public Sans" pitchFamily="34" charset="-122"/>
                <a:cs typeface="Public Sans" pitchFamily="34" charset="-120"/>
              </a:rPr>
              <a:t>Vos fichiers tels quels. Quantinvo reconnaît vos colonnes.</a:t>
            </a:r>
            <a:endParaRPr lang="en-US" sz="1300" dirty="0"/>
          </a:p>
        </p:txBody>
      </p:sp>
      <p:sp>
        <p:nvSpPr>
          <p:cNvPr id="24" name="Shape 21"/>
          <p:cNvSpPr/>
          <p:nvPr/>
        </p:nvSpPr>
        <p:spPr>
          <a:xfrm>
            <a:off x="731520" y="6355080"/>
            <a:ext cx="10725912" cy="0"/>
          </a:xfrm>
          <a:prstGeom prst="line">
            <a:avLst/>
          </a:prstGeom>
          <a:noFill/>
          <a:ln w="9525">
            <a:solidFill>
              <a:srgbClr val="E2E5E1"/>
            </a:solidFill>
            <a:prstDash val="solid"/>
          </a:ln>
        </p:spPr>
      </p:sp>
      <p:sp>
        <p:nvSpPr>
          <p:cNvPr id="25" name="Text 2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26" name="Text 2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Comment ça se passe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Un inventaire, en quatre gestes</a:t>
            </a:r>
            <a:endParaRPr lang="en-US" sz="2600" dirty="0"/>
          </a:p>
        </p:txBody>
      </p:sp>
      <p:sp>
        <p:nvSpPr>
          <p:cNvPr id="7" name="Shape 4"/>
          <p:cNvSpPr/>
          <p:nvPr/>
        </p:nvSpPr>
        <p:spPr>
          <a:xfrm>
            <a:off x="914400" y="2706624"/>
            <a:ext cx="10360152" cy="0"/>
          </a:xfrm>
          <a:prstGeom prst="line">
            <a:avLst/>
          </a:prstGeom>
          <a:noFill/>
          <a:ln w="9525">
            <a:solidFill>
              <a:srgbClr val="E2E5E1"/>
            </a:solidFill>
            <a:prstDash val="solid"/>
          </a:ln>
        </p:spPr>
      </p:sp>
      <p:sp>
        <p:nvSpPr>
          <p:cNvPr id="8" name="Text 5"/>
          <p:cNvSpPr/>
          <p:nvPr/>
        </p:nvSpPr>
        <p:spPr>
          <a:xfrm>
            <a:off x="731520" y="25146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1</a:t>
            </a:r>
            <a:endParaRPr lang="en-US" sz="1200" dirty="0"/>
          </a:p>
        </p:txBody>
      </p:sp>
      <p:sp>
        <p:nvSpPr>
          <p:cNvPr id="9" name="Text 6"/>
          <p:cNvSpPr/>
          <p:nvPr/>
        </p:nvSpPr>
        <p:spPr>
          <a:xfrm>
            <a:off x="731520" y="3108960"/>
            <a:ext cx="2407158" cy="365760"/>
          </a:xfrm>
          <a:prstGeom prst="rect">
            <a:avLst/>
          </a:prstGeom>
          <a:noFill/>
          <a:ln/>
        </p:spPr>
        <p:txBody>
          <a:bodyPr wrap="square" lIns="0" tIns="0" rIns="0" bIns="0" rtlCol="0" anchor="t"/>
          <a:lstStyle/>
          <a:p>
            <a:pPr indent="0" marL="0">
              <a:buNone/>
            </a:pPr>
            <a:r>
              <a:rPr lang="en-US" sz="1700" b="1" dirty="0">
                <a:solidFill>
                  <a:srgbClr val="14181A"/>
                </a:solidFill>
                <a:latin typeface="Archivo" pitchFamily="34" charset="0"/>
                <a:ea typeface="Archivo" pitchFamily="34" charset="-122"/>
                <a:cs typeface="Archivo" pitchFamily="34" charset="-120"/>
              </a:rPr>
              <a:t>Importez</a:t>
            </a:r>
            <a:endParaRPr lang="en-US" sz="1700" dirty="0"/>
          </a:p>
        </p:txBody>
      </p:sp>
      <p:sp>
        <p:nvSpPr>
          <p:cNvPr id="10" name="Text 7"/>
          <p:cNvSpPr/>
          <p:nvPr/>
        </p:nvSpPr>
        <p:spPr>
          <a:xfrm>
            <a:off x="731520"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Votre référentiel et votre stock théorique, en CSV ou en Excel, tels qu'ils sortent de votre système. SKU, EAN, Gencod, Qté : les noms de colonnes sont reconnus.</a:t>
            </a:r>
            <a:endParaRPr lang="en-US" sz="1200" dirty="0"/>
          </a:p>
        </p:txBody>
      </p:sp>
      <p:sp>
        <p:nvSpPr>
          <p:cNvPr id="11" name="Text 8"/>
          <p:cNvSpPr/>
          <p:nvPr/>
        </p:nvSpPr>
        <p:spPr>
          <a:xfrm>
            <a:off x="3504438" y="25146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2</a:t>
            </a:r>
            <a:endParaRPr lang="en-US" sz="1200" dirty="0"/>
          </a:p>
        </p:txBody>
      </p:sp>
      <p:sp>
        <p:nvSpPr>
          <p:cNvPr id="12" name="Text 9"/>
          <p:cNvSpPr/>
          <p:nvPr/>
        </p:nvSpPr>
        <p:spPr>
          <a:xfrm>
            <a:off x="3504438" y="3108960"/>
            <a:ext cx="2407158" cy="365760"/>
          </a:xfrm>
          <a:prstGeom prst="rect">
            <a:avLst/>
          </a:prstGeom>
          <a:noFill/>
          <a:ln/>
        </p:spPr>
        <p:txBody>
          <a:bodyPr wrap="square" lIns="0" tIns="0" rIns="0" bIns="0" rtlCol="0" anchor="t"/>
          <a:lstStyle/>
          <a:p>
            <a:pPr indent="0" marL="0">
              <a:buNone/>
            </a:pPr>
            <a:r>
              <a:rPr lang="en-US" sz="1700" b="1" dirty="0">
                <a:solidFill>
                  <a:srgbClr val="14181A"/>
                </a:solidFill>
                <a:latin typeface="Archivo" pitchFamily="34" charset="0"/>
                <a:ea typeface="Archivo" pitchFamily="34" charset="-122"/>
                <a:cs typeface="Archivo" pitchFamily="34" charset="-120"/>
              </a:rPr>
              <a:t>Scannez</a:t>
            </a:r>
            <a:endParaRPr lang="en-US" sz="1700" dirty="0"/>
          </a:p>
        </p:txBody>
      </p:sp>
      <p:sp>
        <p:nvSpPr>
          <p:cNvPr id="13" name="Text 10"/>
          <p:cNvSpPr/>
          <p:nvPr/>
        </p:nvSpPr>
        <p:spPr>
          <a:xfrm>
            <a:off x="3504438"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Chaque compteur ouvre l'inventaire sur son téléphone, scanne la balise de son rayon, puis les articles. Plusieurs personnes comptent en même temps, chacune sa zone.</a:t>
            </a:r>
            <a:endParaRPr lang="en-US" sz="1200" dirty="0"/>
          </a:p>
        </p:txBody>
      </p:sp>
      <p:sp>
        <p:nvSpPr>
          <p:cNvPr id="14" name="Text 11"/>
          <p:cNvSpPr/>
          <p:nvPr/>
        </p:nvSpPr>
        <p:spPr>
          <a:xfrm>
            <a:off x="6277356" y="25146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3</a:t>
            </a:r>
            <a:endParaRPr lang="en-US" sz="1200" dirty="0"/>
          </a:p>
        </p:txBody>
      </p:sp>
      <p:sp>
        <p:nvSpPr>
          <p:cNvPr id="15" name="Text 12"/>
          <p:cNvSpPr/>
          <p:nvPr/>
        </p:nvSpPr>
        <p:spPr>
          <a:xfrm>
            <a:off x="6277356" y="3108960"/>
            <a:ext cx="2407158" cy="365760"/>
          </a:xfrm>
          <a:prstGeom prst="rect">
            <a:avLst/>
          </a:prstGeom>
          <a:noFill/>
          <a:ln/>
        </p:spPr>
        <p:txBody>
          <a:bodyPr wrap="square" lIns="0" tIns="0" rIns="0" bIns="0" rtlCol="0" anchor="t"/>
          <a:lstStyle/>
          <a:p>
            <a:pPr indent="0" marL="0">
              <a:buNone/>
            </a:pPr>
            <a:r>
              <a:rPr lang="en-US" sz="1700" b="1" dirty="0">
                <a:solidFill>
                  <a:srgbClr val="14181A"/>
                </a:solidFill>
                <a:latin typeface="Archivo" pitchFamily="34" charset="0"/>
                <a:ea typeface="Archivo" pitchFamily="34" charset="-122"/>
                <a:cs typeface="Archivo" pitchFamily="34" charset="-120"/>
              </a:rPr>
              <a:t>Auditez</a:t>
            </a:r>
            <a:endParaRPr lang="en-US" sz="1700" dirty="0"/>
          </a:p>
        </p:txBody>
      </p:sp>
      <p:sp>
        <p:nvSpPr>
          <p:cNvPr id="16" name="Text 13"/>
          <p:cNvSpPr/>
          <p:nvPr/>
        </p:nvSpPr>
        <p:spPr>
          <a:xfrm>
            <a:off x="6277356"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Un second passage sur les zones qui le méritent. L'écart entre les deux comptages s'affiche, le superviseur tranche.</a:t>
            </a:r>
            <a:endParaRPr lang="en-US" sz="1200" dirty="0"/>
          </a:p>
        </p:txBody>
      </p:sp>
      <p:sp>
        <p:nvSpPr>
          <p:cNvPr id="17" name="Text 14"/>
          <p:cNvSpPr/>
          <p:nvPr/>
        </p:nvSpPr>
        <p:spPr>
          <a:xfrm>
            <a:off x="9050274" y="25146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4</a:t>
            </a:r>
            <a:endParaRPr lang="en-US" sz="1200" dirty="0"/>
          </a:p>
        </p:txBody>
      </p:sp>
      <p:sp>
        <p:nvSpPr>
          <p:cNvPr id="18" name="Text 15"/>
          <p:cNvSpPr/>
          <p:nvPr/>
        </p:nvSpPr>
        <p:spPr>
          <a:xfrm>
            <a:off x="9050274" y="3108960"/>
            <a:ext cx="2407158" cy="365760"/>
          </a:xfrm>
          <a:prstGeom prst="rect">
            <a:avLst/>
          </a:prstGeom>
          <a:noFill/>
          <a:ln/>
        </p:spPr>
        <p:txBody>
          <a:bodyPr wrap="square" lIns="0" tIns="0" rIns="0" bIns="0" rtlCol="0" anchor="t"/>
          <a:lstStyle/>
          <a:p>
            <a:pPr indent="0" marL="0">
              <a:buNone/>
            </a:pPr>
            <a:r>
              <a:rPr lang="en-US" sz="1700" b="1" dirty="0">
                <a:solidFill>
                  <a:srgbClr val="14181A"/>
                </a:solidFill>
                <a:latin typeface="Archivo" pitchFamily="34" charset="0"/>
                <a:ea typeface="Archivo" pitchFamily="34" charset="-122"/>
                <a:cs typeface="Archivo" pitchFamily="34" charset="-120"/>
              </a:rPr>
              <a:t>Corrigez</a:t>
            </a:r>
            <a:endParaRPr lang="en-US" sz="1700" dirty="0"/>
          </a:p>
        </p:txBody>
      </p:sp>
      <p:sp>
        <p:nvSpPr>
          <p:cNvPr id="19" name="Text 16"/>
          <p:cNvSpPr/>
          <p:nvPr/>
        </p:nvSpPr>
        <p:spPr>
          <a:xfrm>
            <a:off x="9050274"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Le rapport sort en Excel : résultats, écarts en valeur, détail par zone. Il part tel quel à la correction du stock.</a:t>
            </a:r>
            <a:endParaRPr lang="en-US" sz="1200" dirty="0"/>
          </a:p>
        </p:txBody>
      </p:sp>
      <p:sp>
        <p:nvSpPr>
          <p:cNvPr id="20" name="Shape 17"/>
          <p:cNvSpPr/>
          <p:nvPr/>
        </p:nvSpPr>
        <p:spPr>
          <a:xfrm>
            <a:off x="731520" y="5257800"/>
            <a:ext cx="10725912" cy="914400"/>
          </a:xfrm>
          <a:prstGeom prst="roundRect">
            <a:avLst>
              <a:gd name="adj" fmla="val 4000"/>
            </a:avLst>
          </a:prstGeom>
          <a:solidFill>
            <a:srgbClr val="F2F3F1"/>
          </a:solidFill>
          <a:ln w="12700">
            <a:solidFill>
              <a:srgbClr val="F2F3F1"/>
            </a:solidFill>
            <a:prstDash val="solid"/>
          </a:ln>
        </p:spPr>
      </p:sp>
      <p:sp>
        <p:nvSpPr>
          <p:cNvPr id="21" name="Text 18"/>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Sur le terrain</a:t>
            </a:r>
            <a:endParaRPr lang="en-US" sz="950" dirty="0"/>
          </a:p>
        </p:txBody>
      </p:sp>
      <p:sp>
        <p:nvSpPr>
          <p:cNvPr id="22" name="Text 19"/>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Public Sans" pitchFamily="34" charset="0"/>
                <a:ea typeface="Public Sans" pitchFamily="34" charset="-122"/>
                <a:cs typeface="Public Sans" pitchFamily="34" charset="-120"/>
              </a:rPr>
              <a:t>Le premier inventaire se fait généralement sur un rayon, un mardi matin, avec deux personnes. Pas besoin de la nuit entière pour commencer : c'est justement l'idée.</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L'application</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Ce que voit la personne qui compte</a:t>
            </a:r>
            <a:endParaRPr lang="en-US" sz="26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Les balises s’impriment</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Une planche d'étiquettes numérotées, en PDF. Elles délimitent les zones et se collent en rayon.</a:t>
            </a:r>
            <a:endParaRPr lang="en-US" sz="1100" dirty="0"/>
          </a:p>
        </p:txBody>
      </p:sp>
      <p:sp>
        <p:nvSpPr>
          <p:cNvPr id="9" name="Shape 6"/>
          <p:cNvSpPr/>
          <p:nvPr/>
        </p:nvSpPr>
        <p:spPr>
          <a:xfrm>
            <a:off x="731520" y="2880360"/>
            <a:ext cx="3392424" cy="3319272"/>
          </a:xfrm>
          <a:prstGeom prst="roundRect">
            <a:avLst>
              <a:gd name="adj" fmla="val 1102"/>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On scanne, ça compte</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Caméra, saisie manuelle ou douchette Bluetooth. La quantité se corrige d'un appui.</a:t>
            </a:r>
            <a:endParaRPr lang="en-US" sz="1100" dirty="0"/>
          </a:p>
        </p:txBody>
      </p:sp>
      <p:sp>
        <p:nvSpPr>
          <p:cNvPr id="13" name="Shape 9"/>
          <p:cNvSpPr/>
          <p:nvPr/>
        </p:nvSpPr>
        <p:spPr>
          <a:xfrm>
            <a:off x="4398264" y="2880360"/>
            <a:ext cx="3392424" cy="3319272"/>
          </a:xfrm>
          <a:prstGeom prst="roundRect">
            <a:avLst>
              <a:gd name="adj" fmla="val 1102"/>
            </a:avLst>
          </a:prstGeom>
          <a:solidFill>
            <a:srgbClr val="E7EDE9"/>
          </a:solidFill>
          <a:ln w="12700">
            <a:solidFill>
              <a:srgbClr val="E7EDE9"/>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L’audit repasse derrière</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Un second passage sur la même zone, par quelqu'un d'autre. C'est ce qui fiabilise le comptage.</a:t>
            </a:r>
            <a:endParaRPr lang="en-US" sz="1100" dirty="0"/>
          </a:p>
        </p:txBody>
      </p:sp>
      <p:sp>
        <p:nvSpPr>
          <p:cNvPr id="17" name="Shape 12"/>
          <p:cNvSpPr/>
          <p:nvPr/>
        </p:nvSpPr>
        <p:spPr>
          <a:xfrm>
            <a:off x="8065008" y="2880360"/>
            <a:ext cx="3392424" cy="3319272"/>
          </a:xfrm>
          <a:prstGeom prst="roundRect">
            <a:avLst>
              <a:gd name="adj" fmla="val 1102"/>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Le tableau de bord</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Pendant que ça compte, vous voyez où ça en est.</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Public Sans" pitchFamily="34" charset="0"/>
                <a:ea typeface="Public Sans" pitchFamily="34" charset="-122"/>
                <a:cs typeface="Public Sans" pitchFamily="34" charset="-120"/>
              </a:rPr>
              <a:t>Depuis le bureau, sur le site : combien d'appareils comptent, combien auditent, l'avancement zone par zone, les derniers scans. Ce que vous ne voyez pas, et c'est voulu : qui fait quoi. Le suivi est agrégé, on pilote le travail, pas les personnes.</a:t>
            </a:r>
            <a:endParaRPr lang="en-US" sz="1250" dirty="0"/>
          </a:p>
        </p:txBody>
      </p:sp>
      <p:sp>
        <p:nvSpPr>
          <p:cNvPr id="8" name="Shape 5"/>
          <p:cNvSpPr/>
          <p:nvPr/>
        </p:nvSpPr>
        <p:spPr>
          <a:xfrm>
            <a:off x="2066046" y="2779776"/>
            <a:ext cx="8056860" cy="3127248"/>
          </a:xfrm>
          <a:prstGeom prst="roundRect">
            <a:avLst>
              <a:gd name="adj" fmla="val 1170"/>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2120910" y="2834640"/>
            <a:ext cx="7947132" cy="3017520"/>
          </a:xfrm>
          <a:prstGeom prst="rect">
            <a:avLst/>
          </a:prstGeom>
        </p:spPr>
      </p:pic>
      <p:sp>
        <p:nvSpPr>
          <p:cNvPr id="10" name="Text 6"/>
          <p:cNvSpPr/>
          <p:nvPr/>
        </p:nvSpPr>
        <p:spPr>
          <a:xfrm>
            <a:off x="2120910" y="5980176"/>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Suivi,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Les écarts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Un écart se règle pendant l'inventaire, pas trois jours après.</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Public Sans" pitchFamily="34" charset="0"/>
                <a:ea typeface="Public Sans" pitchFamily="34" charset="-122"/>
                <a:cs typeface="Public Sans" pitchFamily="34" charset="-120"/>
              </a:rPr>
              <a:t>Quand une balise a été comptée puis auditée, les deux quantités s'affichent côte à côte, avec l'écart en pièces et en valeur d'achat. Le superviseur retient l'une, l'autre, ou une troisième qu'il a vérifiée lui-même — en un appui. Tant qu'il n'a pas tranché, le rapport le lui rappelle.</a:t>
            </a:r>
            <a:endParaRPr lang="en-US" sz="1250" dirty="0"/>
          </a:p>
        </p:txBody>
      </p:sp>
      <p:sp>
        <p:nvSpPr>
          <p:cNvPr id="8" name="Shape 5"/>
          <p:cNvSpPr/>
          <p:nvPr/>
        </p:nvSpPr>
        <p:spPr>
          <a:xfrm>
            <a:off x="2139696" y="2779776"/>
            <a:ext cx="7909560" cy="3103439"/>
          </a:xfrm>
          <a:prstGeom prst="roundRect">
            <a:avLst>
              <a:gd name="adj" fmla="val 1179"/>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2194560" y="2834640"/>
            <a:ext cx="7799832" cy="2993711"/>
          </a:xfrm>
          <a:prstGeom prst="rect">
            <a:avLst/>
          </a:prstGeom>
        </p:spPr>
      </p:pic>
      <p:sp>
        <p:nvSpPr>
          <p:cNvPr id="10" name="Text 6"/>
          <p:cNvSpPr/>
          <p:nvPr/>
        </p:nvSpPr>
        <p:spPr>
          <a:xfrm>
            <a:off x="2194560" y="5956367"/>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Écarts d'audit,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Le rapport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400" b="1" dirty="0">
                <a:solidFill>
                  <a:srgbClr val="14181A"/>
                </a:solidFill>
                <a:latin typeface="Archivo" pitchFamily="34" charset="0"/>
                <a:ea typeface="Archivo" pitchFamily="34" charset="-122"/>
                <a:cs typeface="Archivo" pitchFamily="34" charset="-120"/>
              </a:rPr>
              <a:t>À la fin, un rapport qui dit aussi ce qui n'a pas été compté.</a:t>
            </a:r>
            <a:endParaRPr lang="en-US" sz="2400" dirty="0"/>
          </a:p>
        </p:txBody>
      </p:sp>
      <p:sp>
        <p:nvSpPr>
          <p:cNvPr id="7" name="Text 4"/>
          <p:cNvSpPr/>
          <p:nvPr/>
        </p:nvSpPr>
        <p:spPr>
          <a:xfrm>
            <a:off x="731520" y="3108960"/>
            <a:ext cx="4206240" cy="137160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Public Sans" pitchFamily="34" charset="0"/>
                <a:ea typeface="Public Sans" pitchFamily="34" charset="-122"/>
                <a:cs typeface="Public Sans" pitchFamily="34" charset="-120"/>
              </a:rPr>
              <a:t>Le rapport part du stock attendu, pas seulement de ce qui a été scanné. Un article attendu et jamais trouvé y figure, avec son manque. C'est la démarque que l'inventaire est censé révéler.</a:t>
            </a:r>
            <a:endParaRPr lang="en-US" sz="1250" dirty="0"/>
          </a:p>
        </p:txBody>
      </p:sp>
      <p:sp>
        <p:nvSpPr>
          <p:cNvPr id="8" name="Text 5"/>
          <p:cNvSpPr/>
          <p:nvPr/>
        </p:nvSpPr>
        <p:spPr>
          <a:xfrm>
            <a:off x="731520" y="4526280"/>
            <a:ext cx="4206240" cy="54864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Public Sans" pitchFamily="34" charset="0"/>
                <a:ea typeface="Public Sans" pitchFamily="34" charset="-122"/>
                <a:cs typeface="Public Sans" pitchFamily="34" charset="-120"/>
              </a:rPr>
              <a:t>Export Excel en un clic, prêt pour la correction du stock.</a:t>
            </a:r>
            <a:endParaRPr lang="en-US" sz="1250" dirty="0"/>
          </a:p>
        </p:txBody>
      </p:sp>
      <p:sp>
        <p:nvSpPr>
          <p:cNvPr id="9" name="Shape 6"/>
          <p:cNvSpPr/>
          <p:nvPr/>
        </p:nvSpPr>
        <p:spPr>
          <a:xfrm>
            <a:off x="5340096" y="1316736"/>
            <a:ext cx="6172200" cy="4260383"/>
          </a:xfrm>
          <a:prstGeom prst="roundRect">
            <a:avLst>
              <a:gd name="adj" fmla="val 859"/>
            </a:avLst>
          </a:prstGeom>
          <a:solidFill>
            <a:srgbClr val="FFFFFF"/>
          </a:solidFill>
          <a:ln w="12700">
            <a:solidFill>
              <a:srgbClr val="E2E5E1"/>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1" name="Text 7"/>
          <p:cNvSpPr/>
          <p:nvPr/>
        </p:nvSpPr>
        <p:spPr>
          <a:xfrm>
            <a:off x="5394960" y="5650271"/>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Mise en route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De la souscription au premier comptage</a:t>
            </a:r>
            <a:endParaRPr lang="en-US" sz="2600" dirty="0"/>
          </a:p>
        </p:txBody>
      </p:sp>
      <p:sp>
        <p:nvSpPr>
          <p:cNvPr id="7" name="Shape 4"/>
          <p:cNvSpPr/>
          <p:nvPr/>
        </p:nvSpPr>
        <p:spPr>
          <a:xfrm>
            <a:off x="914400" y="2569464"/>
            <a:ext cx="10360152" cy="0"/>
          </a:xfrm>
          <a:prstGeom prst="line">
            <a:avLst/>
          </a:prstGeom>
          <a:noFill/>
          <a:ln w="9525">
            <a:solidFill>
              <a:srgbClr val="E2E5E1"/>
            </a:solidFill>
            <a:prstDash val="solid"/>
          </a:ln>
        </p:spPr>
      </p:sp>
      <p:sp>
        <p:nvSpPr>
          <p:cNvPr id="8" name="Text 5"/>
          <p:cNvSpPr/>
          <p:nvPr/>
        </p:nvSpPr>
        <p:spPr>
          <a:xfrm>
            <a:off x="731520" y="237744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1</a:t>
            </a:r>
            <a:endParaRPr lang="en-US" sz="1200" dirty="0"/>
          </a:p>
        </p:txBody>
      </p:sp>
      <p:sp>
        <p:nvSpPr>
          <p:cNvPr id="9" name="Text 6"/>
          <p:cNvSpPr/>
          <p:nvPr/>
        </p:nvSpPr>
        <p:spPr>
          <a:xfrm>
            <a:off x="731520" y="297180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chivo" pitchFamily="34" charset="0"/>
                <a:ea typeface="Archivo" pitchFamily="34" charset="-122"/>
                <a:cs typeface="Archivo" pitchFamily="34" charset="-120"/>
              </a:rPr>
              <a:t>Le jour même</a:t>
            </a:r>
            <a:endParaRPr lang="en-US" sz="1600" dirty="0"/>
          </a:p>
        </p:txBody>
      </p:sp>
      <p:sp>
        <p:nvSpPr>
          <p:cNvPr id="10" name="Text 7"/>
          <p:cNvSpPr/>
          <p:nvPr/>
        </p:nvSpPr>
        <p:spPr>
          <a:xfrm>
            <a:off x="731520"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Vous souscrivez en ligne, votre espace est créé dès l'encaissement. Vous recevez vos accès par e-mail.</a:t>
            </a:r>
            <a:endParaRPr lang="en-US" sz="1200" dirty="0"/>
          </a:p>
        </p:txBody>
      </p:sp>
      <p:sp>
        <p:nvSpPr>
          <p:cNvPr id="11" name="Text 8"/>
          <p:cNvSpPr/>
          <p:nvPr/>
        </p:nvSpPr>
        <p:spPr>
          <a:xfrm>
            <a:off x="3504438" y="237744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2</a:t>
            </a:r>
            <a:endParaRPr lang="en-US" sz="1200" dirty="0"/>
          </a:p>
        </p:txBody>
      </p:sp>
      <p:sp>
        <p:nvSpPr>
          <p:cNvPr id="12" name="Text 9"/>
          <p:cNvSpPr/>
          <p:nvPr/>
        </p:nvSpPr>
        <p:spPr>
          <a:xfrm>
            <a:off x="3504438" y="297180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chivo" pitchFamily="34" charset="0"/>
                <a:ea typeface="Archivo" pitchFamily="34" charset="-122"/>
                <a:cs typeface="Archivo" pitchFamily="34" charset="-120"/>
              </a:rPr>
              <a:t>Dans l’heure</a:t>
            </a:r>
            <a:endParaRPr lang="en-US" sz="1600" dirty="0"/>
          </a:p>
        </p:txBody>
      </p:sp>
      <p:sp>
        <p:nvSpPr>
          <p:cNvPr id="13" name="Text 10"/>
          <p:cNvSpPr/>
          <p:nvPr/>
        </p:nvSpPr>
        <p:spPr>
          <a:xfrm>
            <a:off x="3504438"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Vous invitez votre équipe — prénom, nom, adresse. Chacun reçoit son lien, choisit son mot de passe et installe l'application.</a:t>
            </a:r>
            <a:endParaRPr lang="en-US" sz="1200" dirty="0"/>
          </a:p>
        </p:txBody>
      </p:sp>
      <p:sp>
        <p:nvSpPr>
          <p:cNvPr id="14" name="Text 11"/>
          <p:cNvSpPr/>
          <p:nvPr/>
        </p:nvSpPr>
        <p:spPr>
          <a:xfrm>
            <a:off x="6277356" y="237744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3</a:t>
            </a:r>
            <a:endParaRPr lang="en-US" sz="1200" dirty="0"/>
          </a:p>
        </p:txBody>
      </p:sp>
      <p:sp>
        <p:nvSpPr>
          <p:cNvPr id="15" name="Text 12"/>
          <p:cNvSpPr/>
          <p:nvPr/>
        </p:nvSpPr>
        <p:spPr>
          <a:xfrm>
            <a:off x="6277356" y="297180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chivo" pitchFamily="34" charset="0"/>
                <a:ea typeface="Archivo" pitchFamily="34" charset="-122"/>
                <a:cs typeface="Archivo" pitchFamily="34" charset="-120"/>
              </a:rPr>
              <a:t>Le premier rayon</a:t>
            </a:r>
            <a:endParaRPr lang="en-US" sz="1600" dirty="0"/>
          </a:p>
        </p:txBody>
      </p:sp>
      <p:sp>
        <p:nvSpPr>
          <p:cNvPr id="16" name="Text 13"/>
          <p:cNvSpPr/>
          <p:nvPr/>
        </p:nvSpPr>
        <p:spPr>
          <a:xfrm>
            <a:off x="6277356"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Vous importez vos fichiers, vous imprimez une planche de balises, et deux personnes comptent un rayon pour prendre la main.</a:t>
            </a:r>
            <a:endParaRPr lang="en-US" sz="1200" dirty="0"/>
          </a:p>
        </p:txBody>
      </p:sp>
      <p:sp>
        <p:nvSpPr>
          <p:cNvPr id="17" name="Text 14"/>
          <p:cNvSpPr/>
          <p:nvPr/>
        </p:nvSpPr>
        <p:spPr>
          <a:xfrm>
            <a:off x="9050274" y="237744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4</a:t>
            </a:r>
            <a:endParaRPr lang="en-US" sz="1200" dirty="0"/>
          </a:p>
        </p:txBody>
      </p:sp>
      <p:sp>
        <p:nvSpPr>
          <p:cNvPr id="18" name="Text 15"/>
          <p:cNvSpPr/>
          <p:nvPr/>
        </p:nvSpPr>
        <p:spPr>
          <a:xfrm>
            <a:off x="9050274" y="297180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chivo" pitchFamily="34" charset="0"/>
                <a:ea typeface="Archivo" pitchFamily="34" charset="-122"/>
                <a:cs typeface="Archivo" pitchFamily="34" charset="-120"/>
              </a:rPr>
              <a:t>Ensuite</a:t>
            </a:r>
            <a:endParaRPr lang="en-US" sz="1600" dirty="0"/>
          </a:p>
        </p:txBody>
      </p:sp>
      <p:sp>
        <p:nvSpPr>
          <p:cNvPr id="19" name="Text 16"/>
          <p:cNvSpPr/>
          <p:nvPr/>
        </p:nvSpPr>
        <p:spPr>
          <a:xfrm>
            <a:off x="9050274"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Vous comptez à votre rythme : un rayon par semaine, une marque, un magasin entier. Le prix ne bouge pas.</a:t>
            </a:r>
            <a:endParaRPr lang="en-US" sz="1200" dirty="0"/>
          </a:p>
        </p:txBody>
      </p:sp>
      <p:sp>
        <p:nvSpPr>
          <p:cNvPr id="20" name="Shape 17"/>
          <p:cNvSpPr/>
          <p:nvPr/>
        </p:nvSpPr>
        <p:spPr>
          <a:xfrm>
            <a:off x="731520" y="5120640"/>
            <a:ext cx="10725912" cy="914400"/>
          </a:xfrm>
          <a:prstGeom prst="roundRect">
            <a:avLst>
              <a:gd name="adj" fmla="val 4000"/>
            </a:avLst>
          </a:prstGeom>
          <a:solidFill>
            <a:srgbClr val="F2F3F1"/>
          </a:solidFill>
          <a:ln w="12700">
            <a:solidFill>
              <a:srgbClr val="F2F3F1"/>
            </a:solidFill>
            <a:prstDash val="solid"/>
          </a:ln>
        </p:spPr>
      </p:sp>
      <p:sp>
        <p:nvSpPr>
          <p:cNvPr id="21" name="Text 18"/>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Pas de projet informatique</a:t>
            </a:r>
            <a:endParaRPr lang="en-US" sz="950" dirty="0"/>
          </a:p>
        </p:txBody>
      </p:sp>
      <p:sp>
        <p:nvSpPr>
          <p:cNvPr id="22" name="Text 19"/>
          <p:cNvSpPr/>
          <p:nvPr/>
        </p:nvSpPr>
        <p:spPr>
          <a:xfrm>
            <a:off x="1005840" y="554126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Public Sans" pitchFamily="34" charset="0"/>
                <a:ea typeface="Public Sans" pitchFamily="34" charset="-122"/>
                <a:cs typeface="Public Sans" pitchFamily="34" charset="-120"/>
              </a:rPr>
              <a:t>Aucun serveur à installer, aucune intégration obligatoire, aucun développement. L'échange se fait par fichiers : vous importez un CSV ou un Excel, vous récupérez un Excel.</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Confiance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Pensé pour une entreprise, pas pour un particulier</a:t>
            </a:r>
            <a:endParaRPr lang="en-US" sz="2600" dirty="0"/>
          </a:p>
        </p:txBody>
      </p:sp>
      <p:sp>
        <p:nvSpPr>
          <p:cNvPr id="7" name="Text 4"/>
          <p:cNvSpPr/>
          <p:nvPr/>
        </p:nvSpPr>
        <p:spPr>
          <a:xfrm>
            <a:off x="731520"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14181A"/>
                </a:solidFill>
                <a:latin typeface="Public Sans" pitchFamily="34" charset="0"/>
                <a:ea typeface="Public Sans" pitchFamily="34" charset="-122"/>
                <a:cs typeface="Public Sans" pitchFamily="34" charset="-120"/>
              </a:rPr>
              <a:t>Les données restent en Europe. </a:t>
            </a:r>
            <a:pPr indent="0" marL="0">
              <a:lnSpc>
                <a:spcPct val="118000"/>
              </a:lnSpc>
              <a:spcAft>
                <a:spcPts val="1200"/>
              </a:spcAft>
              <a:buNone/>
            </a:pPr>
            <a:r>
              <a:rPr lang="en-US" sz="1250" dirty="0">
                <a:solidFill>
                  <a:srgbClr val="3A423F"/>
                </a:solidFill>
                <a:latin typeface="Public Sans" pitchFamily="34" charset="0"/>
                <a:ea typeface="Public Sans" pitchFamily="34" charset="-122"/>
                <a:cs typeface="Public Sans" pitchFamily="34" charset="-120"/>
              </a:rPr>
              <a:t>Les données d'inventaire sont hébergées en Irlande. La politique de confidentialité est publique et les sous-traitants y sont nommés.</a:t>
            </a:r>
            <a:endParaRPr lang="en-US" sz="1250" dirty="0"/>
          </a:p>
          <a:p>
            <a:pPr indent="0" marL="0">
              <a:lnSpc>
                <a:spcPct val="118000"/>
              </a:lnSpc>
              <a:spcAft>
                <a:spcPts val="1200"/>
              </a:spcAft>
              <a:buNone/>
            </a:pPr>
            <a:r>
              <a:rPr lang="en-US" sz="1250" b="1" dirty="0">
                <a:solidFill>
                  <a:srgbClr val="14181A"/>
                </a:solidFill>
                <a:latin typeface="Public Sans" pitchFamily="34" charset="0"/>
                <a:ea typeface="Public Sans" pitchFamily="34" charset="-122"/>
                <a:cs typeface="Public Sans" pitchFamily="34" charset="-120"/>
              </a:rPr>
              <a:t>Le RGPD est dans le produit. </a:t>
            </a:r>
            <a:pPr indent="0" marL="0">
              <a:lnSpc>
                <a:spcPct val="118000"/>
              </a:lnSpc>
              <a:spcAft>
                <a:spcPts val="1200"/>
              </a:spcAft>
              <a:buNone/>
            </a:pPr>
            <a:r>
              <a:rPr lang="en-US" sz="1250" dirty="0">
                <a:solidFill>
                  <a:srgbClr val="3A423F"/>
                </a:solidFill>
                <a:latin typeface="Public Sans" pitchFamily="34" charset="0"/>
                <a:ea typeface="Public Sans" pitchFamily="34" charset="-122"/>
                <a:cs typeface="Public Sans" pitchFamily="34" charset="-120"/>
              </a:rPr>
              <a:t>Chaque personne peut télécharger ses données ou demander la suppression de son compte depuis son écran. Les clauses de sous-traitance sont fournies à la signature.</a:t>
            </a:r>
            <a:endParaRPr lang="en-US" sz="1250" dirty="0"/>
          </a:p>
        </p:txBody>
      </p:sp>
      <p:sp>
        <p:nvSpPr>
          <p:cNvPr id="8" name="Text 5"/>
          <p:cNvSpPr/>
          <p:nvPr/>
        </p:nvSpPr>
        <p:spPr>
          <a:xfrm>
            <a:off x="6368796"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14181A"/>
                </a:solidFill>
                <a:latin typeface="Public Sans" pitchFamily="34" charset="0"/>
                <a:ea typeface="Public Sans" pitchFamily="34" charset="-122"/>
                <a:cs typeface="Public Sans" pitchFamily="34" charset="-120"/>
              </a:rPr>
              <a:t>Les accès sont nominatifs. </a:t>
            </a:r>
            <a:pPr indent="0" marL="0">
              <a:lnSpc>
                <a:spcPct val="118000"/>
              </a:lnSpc>
              <a:spcAft>
                <a:spcPts val="1200"/>
              </a:spcAft>
              <a:buNone/>
            </a:pPr>
            <a:r>
              <a:rPr lang="en-US" sz="1250" dirty="0">
                <a:solidFill>
                  <a:srgbClr val="3A423F"/>
                </a:solidFill>
                <a:latin typeface="Public Sans" pitchFamily="34" charset="0"/>
                <a:ea typeface="Public Sans" pitchFamily="34" charset="-122"/>
                <a:cs typeface="Public Sans" pitchFamily="34" charset="-120"/>
              </a:rPr>
              <a:t>Pas d'inscription libre : on entre sur invitation. Administrateur, superviseur, compteur, chacun voit son périmètre. Double authentification pour qui le souhaite.</a:t>
            </a:r>
            <a:endParaRPr lang="en-US" sz="1250" dirty="0"/>
          </a:p>
          <a:p>
            <a:pPr indent="0" marL="0">
              <a:lnSpc>
                <a:spcPct val="118000"/>
              </a:lnSpc>
              <a:spcAft>
                <a:spcPts val="1200"/>
              </a:spcAft>
              <a:buNone/>
            </a:pPr>
            <a:r>
              <a:rPr lang="en-US" sz="1250" b="1" dirty="0">
                <a:solidFill>
                  <a:srgbClr val="14181A"/>
                </a:solidFill>
                <a:latin typeface="Public Sans" pitchFamily="34" charset="0"/>
                <a:ea typeface="Public Sans" pitchFamily="34" charset="-122"/>
                <a:cs typeface="Public Sans" pitchFamily="34" charset="-120"/>
              </a:rPr>
              <a:t>Aucun traceur. </a:t>
            </a:r>
            <a:pPr indent="0" marL="0">
              <a:lnSpc>
                <a:spcPct val="118000"/>
              </a:lnSpc>
              <a:spcAft>
                <a:spcPts val="1200"/>
              </a:spcAft>
              <a:buNone/>
            </a:pPr>
            <a:r>
              <a:rPr lang="en-US" sz="1250" dirty="0">
                <a:solidFill>
                  <a:srgbClr val="3A423F"/>
                </a:solidFill>
                <a:latin typeface="Public Sans" pitchFamily="34" charset="0"/>
                <a:ea typeface="Public Sans" pitchFamily="34" charset="-122"/>
                <a:cs typeface="Public Sans" pitchFamily="34" charset="-120"/>
              </a:rPr>
              <a:t>Pas de cookie publicitaire, pas de mesure d'audience, pas de revente. L'outil travaille, il n'observe pas.</a:t>
            </a:r>
            <a:endParaRPr lang="en-US" sz="1250" dirty="0"/>
          </a:p>
        </p:txBody>
      </p:sp>
      <p:sp>
        <p:nvSpPr>
          <p:cNvPr id="9" name="Shape 6"/>
          <p:cNvSpPr/>
          <p:nvPr/>
        </p:nvSpPr>
        <p:spPr>
          <a:xfrm>
            <a:off x="731520" y="5257800"/>
            <a:ext cx="10725912" cy="914400"/>
          </a:xfrm>
          <a:prstGeom prst="roundRect">
            <a:avLst>
              <a:gd name="adj" fmla="val 4000"/>
            </a:avLst>
          </a:prstGeom>
          <a:solidFill>
            <a:srgbClr val="F2F3F1"/>
          </a:solidFill>
          <a:ln w="12700">
            <a:solidFill>
              <a:srgbClr val="F2F3F1"/>
            </a:solidFill>
            <a:prstDash val="solid"/>
          </a:ln>
        </p:spPr>
      </p:sp>
      <p:sp>
        <p:nvSpPr>
          <p:cNvPr id="10" name="Text 7"/>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Pour votre direction informatique</a:t>
            </a:r>
            <a:endParaRPr lang="en-US" sz="950" dirty="0"/>
          </a:p>
        </p:txBody>
      </p:sp>
      <p:sp>
        <p:nvSpPr>
          <p:cNvPr id="11" name="Text 8"/>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Public Sans" pitchFamily="34" charset="0"/>
                <a:ea typeface="Public Sans" pitchFamily="34" charset="-122"/>
                <a:cs typeface="Public Sans" pitchFamily="34" charset="-120"/>
              </a:rPr>
              <a:t>Un dossier technique séparé répond aux questions d'une DSI : architecture, hébergement, distribution de l'application, mise en place, comptes, sécurité. Demandez-le.</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L'offre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Une licence par magasin, comptages illimités</a:t>
            </a:r>
            <a:endParaRPr lang="en-US" sz="26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75F5C"/>
                </a:solidFill>
                <a:latin typeface="Public Sans" pitchFamily="34" charset="0"/>
                <a:ea typeface="Public Sans" pitchFamily="34" charset="-122"/>
                <a:cs typeface="Public Sans" pitchFamily="34" charset="-120"/>
              </a:rPr>
              <a:t>Le prix suit le nombre d'appareils qui comptent en même temps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1333"/>
            </a:avLst>
          </a:prstGeom>
          <a:solidFill>
            <a:srgbClr val="F2F3F1"/>
          </a:solidFill>
          <a:ln w="12700">
            <a:solidFill>
              <a:srgbClr val="F2F3F1"/>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chivo" pitchFamily="34" charset="0"/>
                <a:ea typeface="Archivo" pitchFamily="34" charset="-122"/>
                <a:cs typeface="Archivo"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Public Sans" pitchFamily="34" charset="0"/>
                <a:ea typeface="Public Sans" pitchFamily="34" charset="-122"/>
                <a:cs typeface="Public Sans" pitchFamily="34" charset="-120"/>
              </a:rPr>
              <a:t>Jusqu’à 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Public Sans" pitchFamily="34" charset="0"/>
                <a:ea typeface="Public Sans" pitchFamily="34" charset="-122"/>
                <a:cs typeface="Public Sans"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chivo" pitchFamily="34" charset="0"/>
                <a:ea typeface="Archivo" pitchFamily="34" charset="-122"/>
                <a:cs typeface="Archivo" pitchFamily="34" charset="-120"/>
              </a:rPr>
              <a:t>89 €</a:t>
            </a:r>
            <a:pPr indent="0" marL="0">
              <a:buNone/>
            </a:pPr>
            <a:r>
              <a:rPr lang="en-US" sz="1050" dirty="0">
                <a:solidFill>
                  <a:srgbClr val="575F5C"/>
                </a:solidFill>
                <a:latin typeface="Public Sans" pitchFamily="34" charset="0"/>
                <a:ea typeface="Public Sans" pitchFamily="34" charset="-122"/>
                <a:cs typeface="Public Sans"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Public Sans" pitchFamily="34" charset="0"/>
                <a:ea typeface="Public Sans" pitchFamily="34" charset="-122"/>
                <a:cs typeface="Public Sans" pitchFamily="34" charset="-120"/>
              </a:rPr>
              <a:t>ou 950 € à l’année — 118 € de moins</a:t>
            </a:r>
            <a:endParaRPr lang="en-US" sz="950" dirty="0"/>
          </a:p>
        </p:txBody>
      </p:sp>
      <p:sp>
        <p:nvSpPr>
          <p:cNvPr id="14" name="Shape 11"/>
          <p:cNvSpPr/>
          <p:nvPr/>
        </p:nvSpPr>
        <p:spPr>
          <a:xfrm>
            <a:off x="4392168" y="2331720"/>
            <a:ext cx="3404616" cy="2743200"/>
          </a:xfrm>
          <a:prstGeom prst="roundRect">
            <a:avLst>
              <a:gd name="adj" fmla="val 1333"/>
            </a:avLst>
          </a:prstGeom>
          <a:solidFill>
            <a:srgbClr val="E7EDE9"/>
          </a:solidFill>
          <a:ln w="15875">
            <a:solidFill>
              <a:srgbClr val="1E4D3B"/>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1E4D3B"/>
                </a:solidFill>
                <a:latin typeface="Public Sans" pitchFamily="34" charset="0"/>
                <a:ea typeface="Public Sans" pitchFamily="34" charset="-122"/>
                <a:cs typeface="Public Sans"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chivo" pitchFamily="34" charset="0"/>
                <a:ea typeface="Archivo" pitchFamily="34" charset="-122"/>
                <a:cs typeface="Archivo"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Public Sans" pitchFamily="34" charset="0"/>
                <a:ea typeface="Public Sans" pitchFamily="34" charset="-122"/>
                <a:cs typeface="Public Sans" pitchFamily="34" charset="-120"/>
              </a:rPr>
              <a:t>Jusqu’à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Public Sans" pitchFamily="34" charset="0"/>
                <a:ea typeface="Public Sans" pitchFamily="34" charset="-122"/>
                <a:cs typeface="Public Sans"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chivo" pitchFamily="34" charset="0"/>
                <a:ea typeface="Archivo" pitchFamily="34" charset="-122"/>
                <a:cs typeface="Archivo" pitchFamily="34" charset="-120"/>
              </a:rPr>
              <a:t>310 €</a:t>
            </a:r>
            <a:pPr indent="0" marL="0">
              <a:buNone/>
            </a:pPr>
            <a:r>
              <a:rPr lang="en-US" sz="1050" dirty="0">
                <a:solidFill>
                  <a:srgbClr val="575F5C"/>
                </a:solidFill>
                <a:latin typeface="Public Sans" pitchFamily="34" charset="0"/>
                <a:ea typeface="Public Sans" pitchFamily="34" charset="-122"/>
                <a:cs typeface="Public Sans"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Public Sans" pitchFamily="34" charset="0"/>
                <a:ea typeface="Public Sans" pitchFamily="34" charset="-122"/>
                <a:cs typeface="Public Sans" pitchFamily="34" charset="-120"/>
              </a:rPr>
              <a:t>ou 3 300 € à l’année — 420 € de moins</a:t>
            </a:r>
            <a:endParaRPr lang="en-US" sz="950" dirty="0"/>
          </a:p>
        </p:txBody>
      </p:sp>
      <p:sp>
        <p:nvSpPr>
          <p:cNvPr id="21" name="Shape 18"/>
          <p:cNvSpPr/>
          <p:nvPr/>
        </p:nvSpPr>
        <p:spPr>
          <a:xfrm>
            <a:off x="8052816" y="2331720"/>
            <a:ext cx="3404616" cy="2743200"/>
          </a:xfrm>
          <a:prstGeom prst="roundRect">
            <a:avLst>
              <a:gd name="adj" fmla="val 1333"/>
            </a:avLst>
          </a:prstGeom>
          <a:solidFill>
            <a:srgbClr val="F2F3F1"/>
          </a:solidFill>
          <a:ln w="12700">
            <a:solidFill>
              <a:srgbClr val="F2F3F1"/>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chivo" pitchFamily="34" charset="0"/>
                <a:ea typeface="Archivo" pitchFamily="34" charset="-122"/>
                <a:cs typeface="Archivo"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Public Sans" pitchFamily="34" charset="0"/>
                <a:ea typeface="Public Sans" pitchFamily="34" charset="-122"/>
                <a:cs typeface="Public Sans" pitchFamily="34" charset="-120"/>
              </a:rPr>
              <a:t>Jusqu’à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Public Sans" pitchFamily="34" charset="0"/>
                <a:ea typeface="Public Sans" pitchFamily="34" charset="-122"/>
                <a:cs typeface="Public Sans"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chivo" pitchFamily="34" charset="0"/>
                <a:ea typeface="Archivo" pitchFamily="34" charset="-122"/>
                <a:cs typeface="Archivo" pitchFamily="34" charset="-120"/>
              </a:rPr>
              <a:t>890 €</a:t>
            </a:r>
            <a:pPr indent="0" marL="0">
              <a:buNone/>
            </a:pPr>
            <a:r>
              <a:rPr lang="en-US" sz="1050" dirty="0">
                <a:solidFill>
                  <a:srgbClr val="575F5C"/>
                </a:solidFill>
                <a:latin typeface="Public Sans" pitchFamily="34" charset="0"/>
                <a:ea typeface="Public Sans" pitchFamily="34" charset="-122"/>
                <a:cs typeface="Public Sans"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Public Sans" pitchFamily="34" charset="0"/>
                <a:ea typeface="Public Sans" pitchFamily="34" charset="-122"/>
                <a:cs typeface="Public Sans" pitchFamily="34" charset="-120"/>
              </a:rPr>
              <a:t>ou 9 450 € à l’année — 1 230 € de moins</a:t>
            </a:r>
            <a:endParaRPr lang="en-US" sz="950" dirty="0"/>
          </a:p>
        </p:txBody>
      </p:sp>
      <p:sp>
        <p:nvSpPr>
          <p:cNvPr id="27" name="Text 24"/>
          <p:cNvSpPr/>
          <p:nvPr/>
        </p:nvSpPr>
        <p:spPr>
          <a:xfrm>
            <a:off x="731520" y="5257800"/>
            <a:ext cx="10725912" cy="640080"/>
          </a:xfrm>
          <a:prstGeom prst="rect">
            <a:avLst/>
          </a:prstGeom>
          <a:noFill/>
          <a:ln/>
        </p:spPr>
        <p:txBody>
          <a:bodyPr wrap="square" lIns="0" tIns="0" rIns="0" bIns="0" rtlCol="0" anchor="t"/>
          <a:lstStyle/>
          <a:p>
            <a:pPr indent="0" marL="0">
              <a:lnSpc>
                <a:spcPct val="118000"/>
              </a:lnSpc>
              <a:spcAft>
                <a:spcPts val="1000"/>
              </a:spcAft>
              <a:buNone/>
            </a:pPr>
            <a:r>
              <a:rPr lang="en-US" sz="1250" b="1" dirty="0">
                <a:solidFill>
                  <a:srgbClr val="14181A"/>
                </a:solidFill>
                <a:latin typeface="Public Sans" pitchFamily="34" charset="0"/>
                <a:ea typeface="Public Sans" pitchFamily="34" charset="-122"/>
                <a:cs typeface="Public Sans" pitchFamily="34" charset="-120"/>
              </a:rPr>
              <a:t>Tout est compris. </a:t>
            </a:r>
            <a:pPr indent="0" marL="0">
              <a:lnSpc>
                <a:spcPct val="118000"/>
              </a:lnSpc>
              <a:spcAft>
                <a:spcPts val="1000"/>
              </a:spcAft>
              <a:buNone/>
            </a:pPr>
            <a:r>
              <a:rPr lang="en-US" sz="1250" dirty="0">
                <a:solidFill>
                  <a:srgbClr val="3A423F"/>
                </a:solidFill>
                <a:latin typeface="Public Sans" pitchFamily="34" charset="0"/>
                <a:ea typeface="Public Sans" pitchFamily="34" charset="-122"/>
                <a:cs typeface="Public Sans" pitchFamily="34" charset="-120"/>
              </a:rPr>
              <a:t>L'application, le tableau de bord, les rapports, les mises à jour. Aucun terminal à acheter. Un réseau active une licence par magasin, à son rythme.</a:t>
            </a:r>
            <a:endParaRPr lang="en-US" sz="1250" dirty="0"/>
          </a:p>
        </p:txBody>
      </p:sp>
      <p:sp>
        <p:nvSpPr>
          <p:cNvPr id="28" name="Text 25"/>
          <p:cNvSpPr/>
          <p:nvPr/>
        </p:nvSpPr>
        <p:spPr>
          <a:xfrm>
            <a:off x="731520" y="5897880"/>
            <a:ext cx="10725912" cy="365760"/>
          </a:xfrm>
          <a:prstGeom prst="rect">
            <a:avLst/>
          </a:prstGeom>
          <a:noFill/>
          <a:ln/>
        </p:spPr>
        <p:txBody>
          <a:bodyPr wrap="square" lIns="0" tIns="0" rIns="0" bIns="0" rtlCol="0" anchor="t"/>
          <a:lstStyle/>
          <a:p>
            <a:pPr algn="l" indent="0" marL="0">
              <a:lnSpc>
                <a:spcPct val="118000"/>
              </a:lnSpc>
              <a:buNone/>
            </a:pPr>
            <a:r>
              <a:rPr lang="en-US" sz="1050" i="1" dirty="0">
                <a:solidFill>
                  <a:srgbClr val="575F5C"/>
                </a:solidFill>
                <a:latin typeface="Public Sans" pitchFamily="34" charset="0"/>
                <a:ea typeface="Public Sans" pitchFamily="34" charset="-122"/>
                <a:cs typeface="Public Sans" pitchFamily="34" charset="-120"/>
              </a:rPr>
              <a:t>Plus de 100 appareils dans un même magasin ? 64 € par mois, ou 690 € à l’année, par tranche de 10 appareils supplémentaires.</a:t>
            </a:r>
            <a:endParaRPr lang="en-US" sz="1050" dirty="0"/>
          </a:p>
        </p:txBody>
      </p:sp>
      <p:sp>
        <p:nvSpPr>
          <p:cNvPr id="29" name="Text 2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30" name="Text 2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Pour être clair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Ce qu'on ne vous promet pas.</a:t>
            </a:r>
            <a:endParaRPr lang="en-US" sz="2600" dirty="0"/>
          </a:p>
        </p:txBody>
      </p:sp>
      <p:sp>
        <p:nvSpPr>
          <p:cNvPr id="7" name="Text 4"/>
          <p:cNvSpPr/>
          <p:nvPr/>
        </p:nvSpPr>
        <p:spPr>
          <a:xfrm>
            <a:off x="731520" y="3383280"/>
            <a:ext cx="4206240" cy="548640"/>
          </a:xfrm>
          <a:prstGeom prst="rect">
            <a:avLst/>
          </a:prstGeom>
          <a:noFill/>
          <a:ln/>
        </p:spPr>
        <p:txBody>
          <a:bodyPr wrap="square" lIns="0" tIns="0" rIns="0" bIns="0" rtlCol="0" anchor="t"/>
          <a:lstStyle/>
          <a:p>
            <a:pPr algn="l" indent="0" marL="0">
              <a:lnSpc>
                <a:spcPct val="118000"/>
              </a:lnSpc>
              <a:buNone/>
            </a:pPr>
            <a:r>
              <a:rPr lang="en-US" sz="1250" i="1" dirty="0">
                <a:solidFill>
                  <a:srgbClr val="575F5C"/>
                </a:solidFill>
                <a:latin typeface="Public Sans" pitchFamily="34" charset="0"/>
                <a:ea typeface="Public Sans" pitchFamily="34" charset="-122"/>
                <a:cs typeface="Public Sans" pitchFamily="34" charset="-120"/>
              </a:rPr>
              <a:t>Autant le dire avant la démonstration qu'après.</a:t>
            </a:r>
            <a:endParaRPr lang="en-US" sz="125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14181A"/>
                </a:solidFill>
                <a:latin typeface="Public Sans" pitchFamily="34" charset="0"/>
                <a:ea typeface="Public Sans" pitchFamily="34" charset="-122"/>
                <a:cs typeface="Public Sans" pitchFamily="34" charset="-120"/>
              </a:rPr>
              <a:t>L'inventaire fiscal certifié. </a:t>
            </a:r>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Si votre commissaire aux comptes exige un comptage par un tiers, ce comptage reste. Quantinvo fait tout le reste de l'année, et il le prépare.</a:t>
            </a:r>
            <a:endParaRPr lang="en-US" sz="1400" dirty="0"/>
          </a:p>
          <a:p>
            <a:pPr indent="0" marL="0">
              <a:lnSpc>
                <a:spcPct val="118000"/>
              </a:lnSpc>
              <a:spcAft>
                <a:spcPts val="1400"/>
              </a:spcAft>
              <a:buNone/>
            </a:pPr>
            <a:r>
              <a:rPr lang="en-US" sz="1400" b="1" dirty="0">
                <a:solidFill>
                  <a:srgbClr val="14181A"/>
                </a:solidFill>
                <a:latin typeface="Public Sans" pitchFamily="34" charset="0"/>
                <a:ea typeface="Public Sans" pitchFamily="34" charset="-122"/>
                <a:cs typeface="Public Sans" pitchFamily="34" charset="-120"/>
              </a:rPr>
              <a:t>Une connexion à votre ERP. </a:t>
            </a:r>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Pas encore. Quantinvo importe vos fichiers et rend un Excel. C'est ce qui permet de démarrer en une journée, sans projet informatique.</a:t>
            </a:r>
            <a:endParaRPr lang="en-US" sz="1400" dirty="0"/>
          </a:p>
          <a:p>
            <a:pPr indent="0" marL="0">
              <a:lnSpc>
                <a:spcPct val="118000"/>
              </a:lnSpc>
              <a:spcAft>
                <a:spcPts val="1400"/>
              </a:spcAft>
              <a:buNone/>
            </a:pPr>
            <a:r>
              <a:rPr lang="en-US" sz="1400" b="1" dirty="0">
                <a:solidFill>
                  <a:srgbClr val="14181A"/>
                </a:solidFill>
                <a:latin typeface="Public Sans" pitchFamily="34" charset="0"/>
                <a:ea typeface="Public Sans" pitchFamily="34" charset="-122"/>
                <a:cs typeface="Public Sans" pitchFamily="34" charset="-120"/>
              </a:rPr>
              <a:t>Android sur les boutiques. </a:t>
            </a:r>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L'application tourne sur Android, et elle est disponible sur iPhone. La mise en ligne sur Google Play est en cours ; d'ici là, l'installation passe par votre catalogue d'entreprise.</a:t>
            </a:r>
            <a:endParaRPr lang="en-US" sz="1400" dirty="0"/>
          </a:p>
          <a:p>
            <a:pPr indent="0" marL="0">
              <a:lnSpc>
                <a:spcPct val="118000"/>
              </a:lnSpc>
              <a:spcAft>
                <a:spcPts val="1400"/>
              </a:spcAft>
              <a:buNone/>
            </a:pPr>
            <a:r>
              <a:rPr lang="en-US" sz="1400" b="1" dirty="0">
                <a:solidFill>
                  <a:srgbClr val="14181A"/>
                </a:solidFill>
                <a:latin typeface="Public Sans" pitchFamily="34" charset="0"/>
                <a:ea typeface="Public Sans" pitchFamily="34" charset="-122"/>
                <a:cs typeface="Public Sans" pitchFamily="34" charset="-120"/>
              </a:rPr>
              <a:t>La connexion par votre annuaire. </a:t>
            </a:r>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Les comptes sont nominatifs, créés par invitation. Pas de SAML ni d'Entra ID pour l'instant ; dites-nous si c'est une exigence.</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chivo" pitchFamily="34" charset="0"/>
                <a:ea typeface="Archivo" pitchFamily="34" charset="-122"/>
                <a:cs typeface="Archivo" pitchFamily="34" charset="-120"/>
              </a:rPr>
              <a:t>Venez avec vos fichiers.</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Public Sans" pitchFamily="34" charset="0"/>
                <a:ea typeface="Public Sans" pitchFamily="34" charset="-122"/>
                <a:cs typeface="Public Sans" pitchFamily="34" charset="-120"/>
              </a:rPr>
              <a:t>Une démonstration de trente minutes, sur votre propre référentiel : vous l'importez, on scanne quelques articles, et vous repartez avec le rapport. Pas de données fictives.</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chivo" pitchFamily="34" charset="0"/>
                <a:ea typeface="Archivo" pitchFamily="34" charset="-122"/>
                <a:cs typeface="Archivo"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présentation</dc:title>
  <dc:subject>PptxGenJS Presentation</dc:subject>
  <dc:creator>Devkaylab</dc:creator>
  <cp:lastModifiedBy>Devkaylab</cp:lastModifiedBy>
  <cp:revision>1</cp:revision>
  <dcterms:created xsi:type="dcterms:W3CDTF">2026-09-11T14:01:55Z</dcterms:created>
  <dcterms:modified xsi:type="dcterms:W3CDTF">2026-09-11T14:01:55Z</dcterms:modified>
</cp:coreProperties>
</file>