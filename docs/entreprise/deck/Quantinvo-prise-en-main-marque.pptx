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guide se remet au client après la signature, avec le plan de déploiement. La partie compteur tient en cinq pages : c'est voulu, elle peut être imprimée seule.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administrateur d'entreprise est aussi superviseur de tous les magasins. Dans une petite structure, c'est la même personne.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de mot de passe est celle du serveur : inutile de la contourner, la saisie est refusée. Le dépannage d'un second facteur perdu passe par nous, via l'administrateur.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planche se dessine sur l'appareil et part à l'impression : rien n'est enregistré côté serveur. Changer de téléphone n'invalide pas les balises déjà collées, il faut seulement réimprimer si on en veut d'autres.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question qui revient : « combien de balises ? » Réponse de terrain : une par rayon, et on ne regrette jamais d'en avoir mis trop.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d'accès sert à faire entrer un renfort de dernière minute sans l'inviter nommément. Il s'affiche sur la fiche de l'inventaire, avec un bouton de partage.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message clé : on n'a pas à retravailler ses fichiers. Le second : le stock théorique est ce qui fait foi pour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suivi est agrégé par construction. Si un compteur demande « est-ce qu'on me voit ? », la réponse est : on voit qu'un appareil compte, pas lequel.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comparaison n'a lieu que dans une balise dont l'audit est clôturé : sinon tout article pas encore repassé ressortirait à tort en 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Tant qu'un écart n'est pas arbitré, le rapport l'annonce en bandeau. Trancher avant d'exporter.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numéro et le code sont affichés sur la fiche de l'inventaire côté superviseur, avec un bouton « Partager les identifiants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geste qu'on oublie le plus : clôturer la balise. Sans lui, la zone reste « en cours » sur le tableau de bord et l'audit ne peut pas se comparer.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feuille n'apparaît qu'à la première clôture, par appareil et par personne : c'est un repère, pas une confirmation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à dire à voix haute avant un audit : ne pas montrer le premier comptage à l'auditeur. C'est ce qui fait qu'un écart veut dire quelque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 ne pas désinstaller l'application et ne pas laisser effacer le téléphone tant que le bandeau signale des balises en attente. C'est le seul moyen de perdre du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Hors ligne, l'ajout d'une balise inconnue n'est pas proposé : l'échec se découvre à la synchronisation. À dire si le magasin travaille en zone sans réseau.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liste à lire à voix haute la veille. Si un point manque, c'est celui-là qui fera perdre une heure le lendemain.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Guide de prise en main</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Compter avec Quantinvo. Une demi-heure de lecture, puis on y va.</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Pour les superviseurs, qui préparent et pilotent. Pour les compteurs, qui scannent. Les écrans de ce guide sont ceux de l'application, tels quels.</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contact@quantinvo.com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Trois rôles. Chacun voit ce qui le concerne, et rien d’autre.</a:t>
            </a:r>
            <a:endParaRPr lang="en-US" sz="2600" dirty="0"/>
          </a:p>
        </p:txBody>
      </p:sp>
      <p:sp>
        <p:nvSpPr>
          <p:cNvPr id="7" name="Text 4"/>
          <p:cNvSpPr/>
          <p:nvPr/>
        </p:nvSpPr>
        <p:spPr>
          <a:xfrm>
            <a:off x="731520" y="347472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rôle est fixé à l'invitation. Un compteur n'a pas accès au site ; un superviseur a les deux.</a:t>
            </a:r>
            <a:endParaRPr lang="en-US" sz="1200" dirty="0"/>
          </a:p>
        </p:txBody>
      </p:sp>
      <p:sp>
        <p:nvSpPr>
          <p:cNvPr id="8" name="Text 5"/>
          <p:cNvSpPr/>
          <p:nvPr/>
        </p:nvSpPr>
        <p:spPr>
          <a:xfrm>
            <a:off x="5394960" y="137160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Administrateur d'entreprise</a:t>
            </a:r>
            <a:endParaRPr lang="en-US" sz="1400" dirty="0"/>
          </a:p>
        </p:txBody>
      </p:sp>
      <p:sp>
        <p:nvSpPr>
          <p:cNvPr id="9" name="Text 6"/>
          <p:cNvSpPr/>
          <p:nvPr/>
        </p:nvSpPr>
        <p:spPr>
          <a:xfrm>
            <a:off x="9052560" y="140817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Sur le site</a:t>
            </a:r>
            <a:endParaRPr lang="en-US" sz="1050" dirty="0"/>
          </a:p>
        </p:txBody>
      </p:sp>
      <p:sp>
        <p:nvSpPr>
          <p:cNvPr id="10" name="Text 7"/>
          <p:cNvSpPr/>
          <p:nvPr/>
        </p:nvSpPr>
        <p:spPr>
          <a:xfrm>
            <a:off x="5394960" y="173736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voit tous les magasins, toutes les personnes et tous les inventaires de son entreprise. Il invite les superviseurs, ajoute et retire des comptes, lit le journal. C'est lui qu'on appelle quand quelqu'un arrive ou part.</a:t>
            </a:r>
            <a:endParaRPr lang="en-US" sz="1200" dirty="0"/>
          </a:p>
        </p:txBody>
      </p:sp>
      <p:sp>
        <p:nvSpPr>
          <p:cNvPr id="11" name="Shape 8"/>
          <p:cNvSpPr/>
          <p:nvPr/>
        </p:nvSpPr>
        <p:spPr>
          <a:xfrm>
            <a:off x="5394960" y="2624328"/>
            <a:ext cx="6062472" cy="0"/>
          </a:xfrm>
          <a:prstGeom prst="line">
            <a:avLst/>
          </a:prstGeom>
          <a:noFill/>
          <a:ln w="9525">
            <a:solidFill>
              <a:srgbClr val="E3E6EE"/>
            </a:solidFill>
            <a:prstDash val="solid"/>
          </a:ln>
        </p:spPr>
      </p:sp>
      <p:sp>
        <p:nvSpPr>
          <p:cNvPr id="12" name="Text 9"/>
          <p:cNvSpPr/>
          <p:nvPr/>
        </p:nvSpPr>
        <p:spPr>
          <a:xfrm>
            <a:off x="5394960" y="278892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Superviseur</a:t>
            </a:r>
            <a:endParaRPr lang="en-US" sz="1400" dirty="0"/>
          </a:p>
        </p:txBody>
      </p:sp>
      <p:sp>
        <p:nvSpPr>
          <p:cNvPr id="13" name="Text 10"/>
          <p:cNvSpPr/>
          <p:nvPr/>
        </p:nvSpPr>
        <p:spPr>
          <a:xfrm>
            <a:off x="9052560" y="282549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Sur le site et dans l'application</a:t>
            </a:r>
            <a:endParaRPr lang="en-US" sz="1050" dirty="0"/>
          </a:p>
        </p:txBody>
      </p:sp>
      <p:sp>
        <p:nvSpPr>
          <p:cNvPr id="14" name="Text 11"/>
          <p:cNvSpPr/>
          <p:nvPr/>
        </p:nvSpPr>
        <p:spPr>
          <a:xfrm>
            <a:off x="5394960" y="315468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prépare l'inventaire (balises, fichiers, équipe), le suit pendant qu'il se déroule, arbitre les écarts et clôture. Il peut compter lui-même. Ce guide lui consacre sept pages.</a:t>
            </a:r>
            <a:endParaRPr lang="en-US" sz="1200" dirty="0"/>
          </a:p>
        </p:txBody>
      </p:sp>
      <p:sp>
        <p:nvSpPr>
          <p:cNvPr id="15" name="Shape 12"/>
          <p:cNvSpPr/>
          <p:nvPr/>
        </p:nvSpPr>
        <p:spPr>
          <a:xfrm>
            <a:off x="5394960" y="4041648"/>
            <a:ext cx="6062472" cy="0"/>
          </a:xfrm>
          <a:prstGeom prst="line">
            <a:avLst/>
          </a:prstGeom>
          <a:noFill/>
          <a:ln w="9525">
            <a:solidFill>
              <a:srgbClr val="E3E6EE"/>
            </a:solidFill>
            <a:prstDash val="solid"/>
          </a:ln>
        </p:spPr>
      </p:sp>
      <p:sp>
        <p:nvSpPr>
          <p:cNvPr id="16" name="Text 13"/>
          <p:cNvSpPr/>
          <p:nvPr/>
        </p:nvSpPr>
        <p:spPr>
          <a:xfrm>
            <a:off x="5394960" y="4206240"/>
            <a:ext cx="3657600" cy="310896"/>
          </a:xfrm>
          <a:prstGeom prst="rect">
            <a:avLst/>
          </a:prstGeom>
          <a:noFill/>
          <a:ln/>
        </p:spPr>
        <p:txBody>
          <a:bodyPr wrap="square" lIns="0" tIns="0" rIns="0" bIns="0" rtlCol="0" anchor="t"/>
          <a:lstStyle/>
          <a:p>
            <a:pPr indent="0" marL="0">
              <a:buNone/>
            </a:pPr>
            <a:r>
              <a:rPr lang="en-US" sz="1400" b="1" dirty="0">
                <a:solidFill>
                  <a:srgbClr val="0B0F19"/>
                </a:solidFill>
                <a:latin typeface="Sora" pitchFamily="34" charset="0"/>
                <a:ea typeface="Sora" pitchFamily="34" charset="-122"/>
                <a:cs typeface="Sora" pitchFamily="34" charset="-120"/>
              </a:rPr>
              <a:t>Compteur</a:t>
            </a:r>
            <a:endParaRPr lang="en-US" sz="1400" dirty="0"/>
          </a:p>
        </p:txBody>
      </p:sp>
      <p:sp>
        <p:nvSpPr>
          <p:cNvPr id="17" name="Text 14"/>
          <p:cNvSpPr/>
          <p:nvPr/>
        </p:nvSpPr>
        <p:spPr>
          <a:xfrm>
            <a:off x="9052560" y="4242816"/>
            <a:ext cx="2404872" cy="274320"/>
          </a:xfrm>
          <a:prstGeom prst="rect">
            <a:avLst/>
          </a:prstGeom>
          <a:noFill/>
          <a:ln/>
        </p:spPr>
        <p:txBody>
          <a:bodyPr wrap="square" lIns="0" tIns="0" rIns="0" bIns="0" rtlCol="0" anchor="t"/>
          <a:lstStyle/>
          <a:p>
            <a:pPr algn="r" indent="0" marL="0">
              <a:buNone/>
            </a:pPr>
            <a:r>
              <a:rPr lang="en-US" sz="1050" dirty="0">
                <a:solidFill>
                  <a:srgbClr val="6366F1"/>
                </a:solidFill>
                <a:latin typeface="Inter" pitchFamily="34" charset="0"/>
                <a:ea typeface="Inter" pitchFamily="34" charset="-122"/>
                <a:cs typeface="Inter" pitchFamily="34" charset="-120"/>
              </a:rPr>
              <a:t>Dans l'application seulement</a:t>
            </a:r>
            <a:endParaRPr lang="en-US" sz="1050" dirty="0"/>
          </a:p>
        </p:txBody>
      </p:sp>
      <p:sp>
        <p:nvSpPr>
          <p:cNvPr id="18" name="Text 15"/>
          <p:cNvSpPr/>
          <p:nvPr/>
        </p:nvSpPr>
        <p:spPr>
          <a:xfrm>
            <a:off x="5394960" y="4572000"/>
            <a:ext cx="6062472" cy="914400"/>
          </a:xfrm>
          <a:prstGeom prst="rect">
            <a:avLst/>
          </a:prstGeom>
          <a:noFill/>
          <a:ln/>
        </p:spPr>
        <p:txBody>
          <a:bodyPr wrap="square" lIns="0" tIns="0" rIns="0" bIns="0" rtlCol="0" anchor="t"/>
          <a:lstStyle/>
          <a:p>
            <a:pPr indent="0" marL="0">
              <a:lnSpc>
                <a:spcPct val="115000"/>
              </a:lnSpc>
              <a:buNone/>
            </a:pPr>
            <a:r>
              <a:rPr lang="en-US" sz="1200" dirty="0">
                <a:solidFill>
                  <a:srgbClr val="3D4556"/>
                </a:solidFill>
                <a:latin typeface="Inter" pitchFamily="34" charset="0"/>
                <a:ea typeface="Inter" pitchFamily="34" charset="-122"/>
                <a:cs typeface="Inter" pitchFamily="34" charset="-120"/>
              </a:rPr>
              <a:t>Il ouvre l'inventaire sur son téléphone, scanne la balise du rayon, puis les articles. Il peut aussi auditer, c'est-à-dire recompter une zone déjà comptée par quelqu'un d'autre. Cinq pages lui suffisent.</a:t>
            </a:r>
            <a:endParaRPr lang="en-US" sz="1200" dirty="0"/>
          </a:p>
        </p:txBody>
      </p:sp>
      <p:sp>
        <p:nvSpPr>
          <p:cNvPr id="19" name="Shape 16"/>
          <p:cNvSpPr/>
          <p:nvPr/>
        </p:nvSpPr>
        <p:spPr>
          <a:xfrm>
            <a:off x="5394960" y="5458968"/>
            <a:ext cx="6062472" cy="0"/>
          </a:xfrm>
          <a:prstGeom prst="line">
            <a:avLst/>
          </a:prstGeom>
          <a:noFill/>
          <a:ln w="9525">
            <a:solidFill>
              <a:srgbClr val="E3E6EE"/>
            </a:solidFill>
            <a:prstDash val="solid"/>
          </a:ln>
        </p:spPr>
      </p:sp>
      <p:sp>
        <p:nvSpPr>
          <p:cNvPr id="20" name="Text 1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1" name="Text 1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Avant de commencer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premier accès. Personne ne s’inscrit : on vous invite.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L’e-mail, puis « Bienvenue »</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Le lien est personnel. Vous vérifiez votre nom, puis choisissez un mot de passe de douze caractères.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L’application se connecte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Elle arrive par le catalogue de votre entreprise. Adresse e-mail et mot de passe, rien d'autre.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Si vous le voulez, un second code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 Mon compte » active la double authentification. Sans code de secours : voyez votre administrateur.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Sora" pitchFamily="34" charset="0"/>
                <a:ea typeface="Sora" pitchFamily="34" charset="-122"/>
                <a:cs typeface="Sora" pitchFamily="34" charset="-120"/>
              </a:rPr>
              <a:t>1</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Sora" pitchFamily="34" charset="0"/>
                <a:ea typeface="Sora" pitchFamily="34" charset="-122"/>
                <a:cs typeface="Sora" pitchFamily="34" charset="-120"/>
              </a:rPr>
              <a:t>Préparer et piloter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Inter" pitchFamily="34" charset="0"/>
                <a:ea typeface="Inter" pitchFamily="34" charset="-122"/>
                <a:cs typeface="Inter" pitchFamily="34" charset="-120"/>
              </a:rPr>
              <a:t>La partie du superviseur. Une fois pour toutes : les balises et l'équipe. Puis, à chaque inventaire : le créer, importer les fichiers, suivre, arbitrer, clôturer.</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Deux choses à faire une seule fois : les balises, l’équipe.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boîte à outils</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Imprimez, collez, indiquez. C'est de là que part la planche d'étiquettes.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Choisir la série, imprimer</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Numérotation, premier numéro, nombre. Le PDF sort sur planche Avery L7160, 21 par page.</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Constituer son 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Prénom, nom, adresse. L'invitation part tout de suite.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une fois pour toutes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Où coller les balises, et combien.</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Une par rayon,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à hauteur d'yeux, au début du linéaire. Dans une réserve, une par travée ou par étagère.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Dans l’ordre des numéros.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C'est ce qui rend les plages lisibles : « Textile femme, 1 à 12 », « Réserve, 25 à 36 ».</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Trop plutôt que pas assez.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Une zone trop grande se compte mal à deux, et l'audit devient un second inventaire complet. Une balise coûte une étiquette.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Elles restent en place.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Elles ne portent ni date ni inventaire : la même planche sert en janvier et en juin. On ne réimprime que pour agrandir la série.</a:t>
            </a:r>
            <a:endParaRPr lang="en-US" sz="1200" dirty="0"/>
          </a:p>
        </p:txBody>
      </p:sp>
      <p:sp>
        <p:nvSpPr>
          <p:cNvPr id="8" name="Shape 5"/>
          <p:cNvSpPr/>
          <p:nvPr/>
        </p:nvSpPr>
        <p:spPr>
          <a:xfrm>
            <a:off x="4791456" y="1316736"/>
            <a:ext cx="6720840" cy="2619962"/>
          </a:xfrm>
          <a:prstGeom prst="roundRect">
            <a:avLst>
              <a:gd name="adj" fmla="val 2792"/>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4846320" y="1371600"/>
            <a:ext cx="6611112" cy="2510234"/>
          </a:xfrm>
          <a:prstGeom prst="rect">
            <a:avLst/>
          </a:prstGeom>
        </p:spPr>
      </p:pic>
      <p:sp>
        <p:nvSpPr>
          <p:cNvPr id="10" name="Text 6"/>
          <p:cNvSpPr/>
          <p:nvPr/>
        </p:nvSpPr>
        <p:spPr>
          <a:xfrm>
            <a:off x="4846320" y="4018994"/>
            <a:ext cx="661111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Une fois collées et affectées, les balises deviennent l'avancement que le superviseur suit sur le site.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Créer un inventaire prend une minute. Le préparer, dix.</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1 — L’inventaire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 nom, un magasin, un code d'accès. « Utiliser des zones » reste activé : c'est ce qui permet les balises.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2 — Les zones</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Une plage par emplacement : « Textile femme, 1 à 12 ». Les compteurs verront ce nom en scannant.</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3 — Les fichiers</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Référentiel et stock théorique, en CSV ou Excel, tels qu'ils sortent de votre système.</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à chaque inventaire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Deux fichiers, et ce que chacun change.</a:t>
            </a:r>
            <a:endParaRPr lang="en-US" sz="2600" dirty="0"/>
          </a:p>
        </p:txBody>
      </p:sp>
      <p:sp>
        <p:nvSpPr>
          <p:cNvPr id="7" name="Text 4"/>
          <p:cNvSpPr/>
          <p:nvPr/>
        </p:nvSpPr>
        <p:spPr>
          <a:xfrm>
            <a:off x="731520" y="2697480"/>
            <a:ext cx="7223760" cy="274320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référentiel articles.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Code, libellé, prix d'achat. Il permet de reconnaître ce qu'on scanne : sans lui, chaque article scanné sort en « inconnu ».</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 stock théorique.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Code et quantité attendue. C'est lui qui permet de calculer les écarts — et de révéler la démarque.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Ce que le second change.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Avec lui, le rapport part de l'attendu : un article jamais scanné apparaît « Non compté », avec son manque. Sans lui, le rapport ne montre que ce qui a été compté.</a:t>
            </a:r>
            <a:endParaRPr lang="en-US" sz="1200" dirty="0"/>
          </a:p>
        </p:txBody>
      </p:sp>
      <p:sp>
        <p:nvSpPr>
          <p:cNvPr id="8" name="Shape 5"/>
          <p:cNvSpPr/>
          <p:nvPr/>
        </p:nvSpPr>
        <p:spPr>
          <a:xfrm>
            <a:off x="731520" y="5532120"/>
            <a:ext cx="4754880" cy="868680"/>
          </a:xfrm>
          <a:prstGeom prst="roundRect">
            <a:avLst>
              <a:gd name="adj" fmla="val 8421"/>
            </a:avLst>
          </a:prstGeom>
          <a:solidFill>
            <a:srgbClr val="F4F5F9"/>
          </a:solidFill>
          <a:ln w="12700">
            <a:solidFill>
              <a:srgbClr val="F4F5F9"/>
            </a:solidFill>
            <a:prstDash val="solid"/>
          </a:ln>
        </p:spPr>
      </p:sp>
      <p:sp>
        <p:nvSpPr>
          <p:cNvPr id="9" name="Text 6"/>
          <p:cNvSpPr/>
          <p:nvPr/>
        </p:nvSpPr>
        <p:spPr>
          <a:xfrm>
            <a:off x="1005840" y="5696712"/>
            <a:ext cx="4206240"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Vos colonnes sont reconnues</a:t>
            </a:r>
            <a:endParaRPr lang="en-US" sz="950" dirty="0"/>
          </a:p>
        </p:txBody>
      </p:sp>
      <p:sp>
        <p:nvSpPr>
          <p:cNvPr id="10" name="Text 7"/>
          <p:cNvSpPr/>
          <p:nvPr/>
        </p:nvSpPr>
        <p:spPr>
          <a:xfrm>
            <a:off x="1005840" y="5952744"/>
            <a:ext cx="4206240" cy="320040"/>
          </a:xfrm>
          <a:prstGeom prst="rect">
            <a:avLst/>
          </a:prstGeom>
          <a:noFill/>
          <a:ln/>
        </p:spPr>
        <p:txBody>
          <a:bodyPr wrap="square" lIns="0" tIns="0" rIns="0" bIns="0" rtlCol="0" anchor="t"/>
          <a:lstStyle/>
          <a:p>
            <a:pPr indent="0" marL="0">
              <a:lnSpc>
                <a:spcPct val="115000"/>
              </a:lnSpc>
              <a:buNone/>
            </a:pPr>
            <a:r>
              <a:rPr lang="en-US" sz="1050" i="1" dirty="0">
                <a:solidFill>
                  <a:srgbClr val="3D4556"/>
                </a:solidFill>
                <a:latin typeface="Inter" pitchFamily="34" charset="0"/>
                <a:ea typeface="Inter" pitchFamily="34" charset="-122"/>
                <a:cs typeface="Inter" pitchFamily="34" charset="-120"/>
              </a:rPr>
              <a:t>SKU, Code article, Référence · EAN, Code-barres, GTIN, Gencod · Quantité, Qté, Stock. Majuscules, accents et séparateurs n'ont pas d'importance. Si une colonne manque, l'écran le dit avant d'importer.</a:t>
            </a:r>
            <a:endParaRPr lang="en-US" sz="1050" dirty="0"/>
          </a:p>
        </p:txBody>
      </p:sp>
      <p:sp>
        <p:nvSpPr>
          <p:cNvPr id="11" name="Shape 8"/>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2"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3" name="Text 9"/>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Le rapport, sur le site : la ligne « Non compté » n'existe que si le stock théorique a été importé.</a:t>
            </a:r>
            <a:endParaRPr lang="en-US" sz="1000" dirty="0"/>
          </a:p>
        </p:txBody>
      </p:sp>
      <p:sp>
        <p:nvSpPr>
          <p:cNvPr id="14"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5"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pendant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Pendant l’inventaire, deux écrans et un geste.</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progression, en un chiffre</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Comptées, auditées, et ce qui reste. Le bandeau ambre mène aux emplacements concernés.</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La fiche de l’inventaire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Numéro, code d'accès et partage, membres. Le bouton « i » l'ouvre de n'importe où.</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Qui est dans l’équipe</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 Mot de passe à créer » veut dire : invitée, pas encore connectée. C'est un état, pas une erreur.</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pendant et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Auditer, puis arbitrer. L'écart se règle à chaud.</a:t>
            </a:r>
            <a:endParaRPr lang="en-US" sz="2600" dirty="0"/>
          </a:p>
        </p:txBody>
      </p:sp>
      <p:sp>
        <p:nvSpPr>
          <p:cNvPr id="7" name="Text 4"/>
          <p:cNvSpPr/>
          <p:nvPr/>
        </p:nvSpPr>
        <p:spPr>
          <a:xfrm>
            <a:off x="731520" y="210312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L'audit est un second comptage d'une zone déjà comptée, par une autre personne. Quand la balise auditée est clôturée, chaque article dont les deux quantités diffèrent apparaît ici. Vous retenez la quantité du compteur, celle de l'auditeur, ou une troisième que vous avez vérifiée vous-même.</a:t>
            </a:r>
            <a:endParaRPr lang="en-US" sz="1250" dirty="0"/>
          </a:p>
        </p:txBody>
      </p:sp>
      <p:sp>
        <p:nvSpPr>
          <p:cNvPr id="8" name="Shape 5"/>
          <p:cNvSpPr/>
          <p:nvPr/>
        </p:nvSpPr>
        <p:spPr>
          <a:xfrm>
            <a:off x="2139696" y="291693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71800"/>
            <a:ext cx="7799832" cy="2993711"/>
          </a:xfrm>
          <a:prstGeom prst="rect">
            <a:avLst/>
          </a:prstGeom>
        </p:spPr>
      </p:pic>
      <p:sp>
        <p:nvSpPr>
          <p:cNvPr id="10" name="Text 6"/>
          <p:cNvSpPr/>
          <p:nvPr/>
        </p:nvSpPr>
        <p:spPr>
          <a:xfrm>
            <a:off x="2194560" y="6102671"/>
            <a:ext cx="78912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Tant qu'un écart n'est pas arbitré, c'est la quantité de l'auditeur qui part au rapport.</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Superviseur · après</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rapport, puis la clôture.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Télécharger.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Un fichier Excel : résultats par article, écarts en pièces et en valeur d'achat, détail par zone. La quantité retenue suit une règle simple — l'arbitrage, sinon l'auditeur, sinon le compteur.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Regarder « Non compté » d’abord.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Ce sont les articles attendus que personne n'a scannés. C'est là que se lit la démarque.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Clôturer.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Plus aucun scan n'est accepté, le rapport ne bouge plus. Tout superviseur de l'inventaire peut clôturer ; seul son créateur, ou l'administrateur d'entreprise, peut le rouvrir ou le supprimer.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Supprimer.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Efface comptages, fichiers, audits et membres. La confirmation nomme l'inventaire ; lisez-la.</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Les gestes de fin</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Écarts, rapport, clôture, suppression : tous sur la même page, dans cet ordre.</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920240"/>
            <a:ext cx="2743200" cy="1188720"/>
          </a:xfrm>
          <a:prstGeom prst="rect">
            <a:avLst/>
          </a:prstGeom>
          <a:noFill/>
          <a:ln/>
        </p:spPr>
        <p:txBody>
          <a:bodyPr wrap="square" lIns="0" tIns="0" rIns="0" bIns="0" rtlCol="0" anchor="t"/>
          <a:lstStyle/>
          <a:p>
            <a:pPr indent="0" marL="0">
              <a:buNone/>
            </a:pPr>
            <a:r>
              <a:rPr lang="en-US" sz="7200" b="1" dirty="0">
                <a:solidFill>
                  <a:srgbClr val="EEEEFC"/>
                </a:solidFill>
                <a:latin typeface="Sora" pitchFamily="34" charset="0"/>
                <a:ea typeface="Sora" pitchFamily="34" charset="-122"/>
                <a:cs typeface="Sora" pitchFamily="34" charset="-120"/>
              </a:rPr>
              <a:t>2</a:t>
            </a:r>
            <a:endParaRPr lang="en-US" sz="7200" dirty="0"/>
          </a:p>
        </p:txBody>
      </p:sp>
      <p:sp>
        <p:nvSpPr>
          <p:cNvPr id="7" name="Text 4"/>
          <p:cNvSpPr/>
          <p:nvPr/>
        </p:nvSpPr>
        <p:spPr>
          <a:xfrm>
            <a:off x="731520" y="3017520"/>
            <a:ext cx="7863840" cy="822960"/>
          </a:xfrm>
          <a:prstGeom prst="rect">
            <a:avLst/>
          </a:prstGeom>
          <a:noFill/>
          <a:ln/>
        </p:spPr>
        <p:txBody>
          <a:bodyPr wrap="square" lIns="0" tIns="0" rIns="0" bIns="0" rtlCol="0" anchor="t"/>
          <a:lstStyle/>
          <a:p>
            <a:pPr indent="0" marL="0">
              <a:buNone/>
            </a:pPr>
            <a:r>
              <a:rPr lang="en-US" sz="3400" b="1" dirty="0">
                <a:solidFill>
                  <a:srgbClr val="4636B0"/>
                </a:solidFill>
                <a:latin typeface="Sora" pitchFamily="34" charset="0"/>
                <a:ea typeface="Sora" pitchFamily="34" charset="-122"/>
                <a:cs typeface="Sora" pitchFamily="34" charset="-120"/>
              </a:rPr>
              <a:t>Compter</a:t>
            </a:r>
            <a:endParaRPr lang="en-US" sz="3400" dirty="0"/>
          </a:p>
        </p:txBody>
      </p:sp>
      <p:sp>
        <p:nvSpPr>
          <p:cNvPr id="8" name="Text 5"/>
          <p:cNvSpPr/>
          <p:nvPr/>
        </p:nvSpPr>
        <p:spPr>
          <a:xfrm>
            <a:off x="731520" y="3931920"/>
            <a:ext cx="7498080" cy="1371600"/>
          </a:xfrm>
          <a:prstGeom prst="rect">
            <a:avLst/>
          </a:prstGeom>
          <a:noFill/>
          <a:ln/>
        </p:spPr>
        <p:txBody>
          <a:bodyPr wrap="square" lIns="0" tIns="0" rIns="0" bIns="0" rtlCol="0" anchor="t"/>
          <a:lstStyle/>
          <a:p>
            <a:pPr indent="0" marL="0">
              <a:lnSpc>
                <a:spcPct val="120000"/>
              </a:lnSpc>
              <a:buNone/>
            </a:pPr>
            <a:r>
              <a:rPr lang="en-US" sz="1400" dirty="0">
                <a:solidFill>
                  <a:srgbClr val="3D4556"/>
                </a:solidFill>
                <a:latin typeface="Inter" pitchFamily="34" charset="0"/>
                <a:ea typeface="Inter" pitchFamily="34" charset="-122"/>
                <a:cs typeface="Inter" pitchFamily="34" charset="-120"/>
              </a:rPr>
              <a:t>La partie du compteur. Cinq pages, à imprimer seules si on veut : rejoindre, les trois gestes, l'audit, et quoi faire quand quelque chose ne se passe pas comme prévu.</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Rejoindre un inventaire. La première façon suffit presque toujours.</a:t>
            </a:r>
            <a:endParaRPr lang="en-US" sz="2600" dirty="0"/>
          </a:p>
        </p:txBody>
      </p:sp>
      <p:sp>
        <p:nvSpPr>
          <p:cNvPr id="7" name="Text 4"/>
          <p:cNvSpPr/>
          <p:nvPr/>
        </p:nvSpPr>
        <p:spPr>
          <a:xfrm>
            <a:off x="731520" y="2697480"/>
            <a:ext cx="7223760" cy="292608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On vous a ajouté.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L'inventaire est dans « Mes inventaires » dès l'ouverture de l'application, et vous avez reçu une notification. Touchez-le.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On vous a donné un numéro et un code.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Le formulaire du bas : le numéro (INV-…), le code. C'est le cas d'un renfort de dernière minute.</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Ensuite.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L'écran de l'inventaire propose « Compter des articles », « Auditer des articles », et « Quitter l'inventaire ». Quitter ne supprime rien de ce que vous avez compté.</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Votre accueil</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Les inventaires où vous êtes attendu, et la porte d'entrée pour les autres.</a:t>
            </a:r>
            <a:endParaRPr lang="en-US" sz="1100" dirty="0"/>
          </a:p>
        </p:txBody>
      </p:sp>
      <p:sp>
        <p:nvSpPr>
          <p:cNvPr id="10" name="Shape 7"/>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Compter, en trois gestes. Puis la balise suivante.</a:t>
            </a:r>
            <a:endParaRPr lang="en-US" sz="2600" dirty="0"/>
          </a:p>
        </p:txBody>
      </p:sp>
      <p:sp>
        <p:nvSpPr>
          <p:cNvPr id="7" name="Text 4"/>
          <p:cNvSpPr/>
          <p:nvPr/>
        </p:nvSpPr>
        <p:spPr>
          <a:xfrm>
            <a:off x="731520" y="216712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1</a:t>
            </a:r>
            <a:endParaRPr lang="en-US" sz="1200" dirty="0"/>
          </a:p>
        </p:txBody>
      </p:sp>
      <p:sp>
        <p:nvSpPr>
          <p:cNvPr id="8" name="Text 5"/>
          <p:cNvSpPr/>
          <p:nvPr/>
        </p:nvSpPr>
        <p:spPr>
          <a:xfrm>
            <a:off x="1243584" y="214884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Scannez la balise du rayon</a:t>
            </a:r>
            <a:endParaRPr lang="en-US" sz="1500" dirty="0"/>
          </a:p>
        </p:txBody>
      </p:sp>
      <p:sp>
        <p:nvSpPr>
          <p:cNvPr id="9" name="Text 6"/>
          <p:cNvSpPr/>
          <p:nvPr/>
        </p:nvSpPr>
        <p:spPr>
          <a:xfrm>
            <a:off x="1243584" y="251460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Elle ouvre la zone. Tant qu'elle est ouverte, tout ce que vous scannez compte ici. Vous pouvez aussi saisir son numéro au clavier.</a:t>
            </a:r>
            <a:endParaRPr lang="en-US" sz="1150" dirty="0"/>
          </a:p>
        </p:txBody>
      </p:sp>
      <p:sp>
        <p:nvSpPr>
          <p:cNvPr id="10" name="Text 7"/>
          <p:cNvSpPr/>
          <p:nvPr/>
        </p:nvSpPr>
        <p:spPr>
          <a:xfrm>
            <a:off x="731520" y="349300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2</a:t>
            </a:r>
            <a:endParaRPr lang="en-US" sz="1200" dirty="0"/>
          </a:p>
        </p:txBody>
      </p:sp>
      <p:sp>
        <p:nvSpPr>
          <p:cNvPr id="11" name="Text 8"/>
          <p:cNvSpPr/>
          <p:nvPr/>
        </p:nvSpPr>
        <p:spPr>
          <a:xfrm>
            <a:off x="1243584" y="347472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Scannez les articles</a:t>
            </a:r>
            <a:endParaRPr lang="en-US" sz="1500" dirty="0"/>
          </a:p>
        </p:txBody>
      </p:sp>
      <p:sp>
        <p:nvSpPr>
          <p:cNvPr id="12" name="Text 9"/>
          <p:cNvSpPr/>
          <p:nvPr/>
        </p:nvSpPr>
        <p:spPr>
          <a:xfrm>
            <a:off x="1243584" y="384048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Le scan est automatique. Un article scanné trois fois compte trois ; pour une pile, scannez une fois et ajustez avec + et −. Pas de code lisible ? L'onglet « Manuel ».</a:t>
            </a:r>
            <a:endParaRPr lang="en-US" sz="1150" dirty="0"/>
          </a:p>
        </p:txBody>
      </p:sp>
      <p:sp>
        <p:nvSpPr>
          <p:cNvPr id="13" name="Text 10"/>
          <p:cNvSpPr/>
          <p:nvPr/>
        </p:nvSpPr>
        <p:spPr>
          <a:xfrm>
            <a:off x="731520" y="4818888"/>
            <a:ext cx="365760" cy="365760"/>
          </a:xfrm>
          <a:prstGeom prst="ellipse">
            <a:avLst/>
          </a:prstGeom>
          <a:solidFill>
            <a:srgbClr val="4636B0"/>
          </a:solidFill>
          <a:ln>
            <a:solidFill>
              <a:srgbClr val="4636B0"/>
            </a:solidFill>
          </a:ln>
        </p:spPr>
        <p:txBody>
          <a:bodyPr wrap="square" lIns="0" tIns="0" rIns="0" bIns="0" rtlCol="0" anchor="ctr"/>
          <a:lstStyle/>
          <a:p>
            <a:pPr algn="ctr" indent="0" marL="0">
              <a:buNone/>
            </a:pPr>
            <a:r>
              <a:rPr lang="en-US" sz="1200" b="1" dirty="0">
                <a:solidFill>
                  <a:srgbClr val="FFFFFF"/>
                </a:solidFill>
                <a:latin typeface="Sora" pitchFamily="34" charset="0"/>
                <a:ea typeface="Sora" pitchFamily="34" charset="-122"/>
                <a:cs typeface="Sora" pitchFamily="34" charset="-120"/>
              </a:rPr>
              <a:t>3</a:t>
            </a:r>
            <a:endParaRPr lang="en-US" sz="1200" dirty="0"/>
          </a:p>
        </p:txBody>
      </p:sp>
      <p:sp>
        <p:nvSpPr>
          <p:cNvPr id="14" name="Text 11"/>
          <p:cNvSpPr/>
          <p:nvPr/>
        </p:nvSpPr>
        <p:spPr>
          <a:xfrm>
            <a:off x="1243584" y="4800600"/>
            <a:ext cx="5852160" cy="329184"/>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Clôturez la balise</a:t>
            </a:r>
            <a:endParaRPr lang="en-US" sz="1500" dirty="0"/>
          </a:p>
        </p:txBody>
      </p:sp>
      <p:sp>
        <p:nvSpPr>
          <p:cNvPr id="15" name="Text 12"/>
          <p:cNvSpPr/>
          <p:nvPr/>
        </p:nvSpPr>
        <p:spPr>
          <a:xfrm>
            <a:off x="1243584" y="5166360"/>
            <a:ext cx="5852160" cy="822960"/>
          </a:xfrm>
          <a:prstGeom prst="rect">
            <a:avLst/>
          </a:prstGeom>
          <a:noFill/>
          <a:ln/>
        </p:spPr>
        <p:txBody>
          <a:bodyPr wrap="square" lIns="0" tIns="0" rIns="0" bIns="0" rtlCol="0" anchor="t"/>
          <a:lstStyle/>
          <a:p>
            <a:pPr indent="0" marL="0">
              <a:lnSpc>
                <a:spcPct val="115000"/>
              </a:lnSpc>
              <a:buNone/>
            </a:pPr>
            <a:r>
              <a:rPr lang="en-US" sz="1150" dirty="0">
                <a:solidFill>
                  <a:srgbClr val="3D4556"/>
                </a:solidFill>
                <a:latin typeface="Inter" pitchFamily="34" charset="0"/>
                <a:ea typeface="Inter" pitchFamily="34" charset="-122"/>
                <a:cs typeface="Inter" pitchFamily="34" charset="-120"/>
              </a:rPr>
              <a:t>Le bouton rouge, en haut de l'écran ou en bas de la liste. Il dit « j'ai fini ici » : la zone passe en comptée chez le superviseur, et vous passez au rayon suivant.</a:t>
            </a:r>
            <a:endParaRPr lang="en-US" sz="1150" dirty="0"/>
          </a:p>
        </p:txBody>
      </p:sp>
      <p:sp>
        <p:nvSpPr>
          <p:cNvPr id="16" name="Shape 13"/>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17"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8" name="Text 14"/>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L'écran de comptage, balise 6 ouverte.</a:t>
            </a:r>
            <a:endParaRPr lang="en-US" sz="1000" dirty="0"/>
          </a:p>
        </p:txBody>
      </p:sp>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que vous voyez quand une balise est finie.</a:t>
            </a:r>
            <a:endParaRPr lang="en-US" sz="2600" dirty="0"/>
          </a:p>
        </p:txBody>
      </p:sp>
      <p:sp>
        <p:nvSpPr>
          <p:cNvPr id="7" name="Text 4"/>
          <p:cNvSpPr/>
          <p:nvPr/>
        </p:nvSpPr>
        <p:spPr>
          <a:xfrm>
            <a:off x="731520" y="2743200"/>
            <a:ext cx="7223760" cy="310896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Les chiffres, tout de suite.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Pièces et références de la balise que vous venez de fermer. C'est la vérification la plus simple : si le compte vous surprend, vous rouvrez la balise et vous revoyez le rayon.</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 déjà sur le tableau de bord ».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 phrase est là pour ça : ce que vous venez de compter est parti. Le superviseur n'a rien à demander.</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Puis la suivante.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L'écran revient de lui-même sur la lecture de balise. Vous marchez jusqu'au rayon d'après et vous scannez.</a:t>
            </a:r>
            <a:endParaRPr lang="en-US" sz="1200" dirty="0"/>
          </a:p>
        </p:txBody>
      </p:sp>
      <p:sp>
        <p:nvSpPr>
          <p:cNvPr id="8" name="Shape 5"/>
          <p:cNvSpPr/>
          <p:nvPr/>
        </p:nvSpPr>
        <p:spPr>
          <a:xfrm>
            <a:off x="9262872" y="1325880"/>
            <a:ext cx="2122020" cy="4480560"/>
          </a:xfrm>
          <a:prstGeom prst="roundRect">
            <a:avLst>
              <a:gd name="adj" fmla="val 12927"/>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262872" y="1325880"/>
            <a:ext cx="2122020" cy="4480560"/>
          </a:xfrm>
          <a:prstGeom prst="rect">
            <a:avLst/>
          </a:prstGeom>
        </p:spPr>
      </p:pic>
      <p:sp>
        <p:nvSpPr>
          <p:cNvPr id="10" name="Text 6"/>
          <p:cNvSpPr/>
          <p:nvPr/>
        </p:nvSpPr>
        <p:spPr>
          <a:xfrm>
            <a:off x="8805672" y="5934456"/>
            <a:ext cx="3036420"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Inter" pitchFamily="34" charset="0"/>
                <a:ea typeface="Inter" pitchFamily="34" charset="-122"/>
                <a:cs typeface="Inter" pitchFamily="34" charset="-120"/>
              </a:rPr>
              <a:t>La feuille de fin de balise.</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Auditer : les mêmes gestes, en ambre.</a:t>
            </a:r>
            <a:endParaRPr lang="en-US" sz="2600" dirty="0"/>
          </a:p>
        </p:txBody>
      </p:sp>
      <p:sp>
        <p:nvSpPr>
          <p:cNvPr id="7" name="Text 4"/>
          <p:cNvSpPr/>
          <p:nvPr/>
        </p:nvSpPr>
        <p:spPr>
          <a:xfrm>
            <a:off x="731520" y="2697480"/>
            <a:ext cx="7223760" cy="3291840"/>
          </a:xfrm>
          <a:prstGeom prst="rect">
            <a:avLst/>
          </a:prstGeom>
          <a:noFill/>
          <a:ln/>
        </p:spPr>
        <p:txBody>
          <a:bodyPr wrap="square" lIns="0" tIns="0" rIns="0" bIns="0" rtlCol="0" anchor="t"/>
          <a:lstStyle/>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C'est un second passage.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Vous recomptez une zone que quelqu'un d'autre a déjà comptée. Le superviseur vous dit laquelle et quand.</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L'écran change de couleur.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Ambre au lieu de violet, du bandeau au bouton. C'est le seul repère dont on a besoin pour savoir dans quel passage on est.</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Vous ne voyez pas le premier comptage.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Et c'est voulu : un second comptage influencé ne vérifie rien. L'écart se calcule après, sur le tableau de bord.</a:t>
            </a:r>
            <a:endParaRPr lang="en-US" sz="1200" dirty="0"/>
          </a:p>
          <a:p>
            <a:pPr indent="0" marL="0">
              <a:lnSpc>
                <a:spcPct val="118000"/>
              </a:lnSpc>
              <a:spcAft>
                <a:spcPts val="1100"/>
              </a:spcAft>
              <a:buNone/>
            </a:pPr>
            <a:r>
              <a:rPr lang="en-US" sz="1200" b="1" dirty="0">
                <a:solidFill>
                  <a:srgbClr val="0B0F19"/>
                </a:solidFill>
                <a:latin typeface="Inter" pitchFamily="34" charset="0"/>
                <a:ea typeface="Inter" pitchFamily="34" charset="-122"/>
                <a:cs typeface="Inter" pitchFamily="34" charset="-120"/>
              </a:rPr>
              <a:t>Vous clôturez pareil. </a:t>
            </a:r>
            <a:pPr indent="0" marL="0">
              <a:lnSpc>
                <a:spcPct val="118000"/>
              </a:lnSpc>
              <a:spcAft>
                <a:spcPts val="1100"/>
              </a:spcAft>
              <a:buNone/>
            </a:pPr>
            <a:r>
              <a:rPr lang="en-US" sz="1200" dirty="0">
                <a:solidFill>
                  <a:srgbClr val="3D4556"/>
                </a:solidFill>
                <a:latin typeface="Inter" pitchFamily="34" charset="0"/>
                <a:ea typeface="Inter" pitchFamily="34" charset="-122"/>
                <a:cs typeface="Inter" pitchFamily="34" charset="-120"/>
              </a:rPr>
              <a:t>La balise passe en auditée, et les articles dont les deux comptages diffèrent remontent au superviseur.</a:t>
            </a:r>
            <a:endParaRPr lang="en-US" sz="1200" dirty="0"/>
          </a:p>
        </p:txBody>
      </p:sp>
      <p:sp>
        <p:nvSpPr>
          <p:cNvPr id="8" name="Text 5"/>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L'écran d'audit</a:t>
            </a:r>
            <a:endParaRPr lang="en-US" sz="1350" dirty="0"/>
          </a:p>
        </p:txBody>
      </p:sp>
      <p:sp>
        <p:nvSpPr>
          <p:cNvPr id="9" name="Text 6"/>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Même disposition, même bouton de clôture — seule la couleur dit le passage.</a:t>
            </a:r>
            <a:endParaRPr lang="en-US" sz="1100" dirty="0"/>
          </a:p>
        </p:txBody>
      </p:sp>
      <p:sp>
        <p:nvSpPr>
          <p:cNvPr id="10" name="Shape 7"/>
          <p:cNvSpPr/>
          <p:nvPr/>
        </p:nvSpPr>
        <p:spPr>
          <a:xfrm>
            <a:off x="8257032" y="2377440"/>
            <a:ext cx="3200400" cy="3822192"/>
          </a:xfrm>
          <a:prstGeom prst="roundRect">
            <a:avLst>
              <a:gd name="adj" fmla="val 4000"/>
            </a:avLst>
          </a:prstGeom>
          <a:solidFill>
            <a:srgbClr val="FDF3E0"/>
          </a:solidFill>
          <a:ln w="12700">
            <a:solidFill>
              <a:srgbClr val="FDF3E0"/>
            </a:solidFill>
            <a:prstDash val="solid"/>
          </a:ln>
        </p:spPr>
      </p:sp>
      <p:pic>
        <p:nvPicPr>
          <p:cNvPr id="11"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Vérifier que tout est bien parti.</a:t>
            </a:r>
            <a:endParaRPr lang="en-US" sz="2600" dirty="0"/>
          </a:p>
        </p:txBody>
      </p:sp>
      <p:sp>
        <p:nvSpPr>
          <p:cNvPr id="7" name="Text 4"/>
          <p:cNvSpPr/>
          <p:nvPr/>
        </p:nvSpPr>
        <p:spPr>
          <a:xfrm>
            <a:off x="731520"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Vos totaux, en haut</a:t>
            </a:r>
            <a:endParaRPr lang="en-US" sz="1350" dirty="0"/>
          </a:p>
        </p:txBody>
      </p:sp>
      <p:sp>
        <p:nvSpPr>
          <p:cNvPr id="8" name="Text 5"/>
          <p:cNvSpPr/>
          <p:nvPr/>
        </p:nvSpPr>
        <p:spPr>
          <a:xfrm>
            <a:off x="731520"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Pièces comptées et auditées, à jour à chaque retour du scanner. Si le chiffre bouge, c'est arrivé.</a:t>
            </a:r>
            <a:endParaRPr lang="en-US" sz="1100" dirty="0"/>
          </a:p>
        </p:txBody>
      </p:sp>
      <p:sp>
        <p:nvSpPr>
          <p:cNvPr id="9" name="Shape 6"/>
          <p:cNvSpPr/>
          <p:nvPr/>
        </p:nvSpPr>
        <p:spPr>
          <a:xfrm>
            <a:off x="731520" y="3017520"/>
            <a:ext cx="3392424" cy="3182112"/>
          </a:xfrm>
          <a:prstGeom prst="roundRect">
            <a:avLst>
              <a:gd name="adj" fmla="val 4023"/>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3015797"/>
            <a:ext cx="2770632" cy="3183835"/>
          </a:xfrm>
          <a:prstGeom prst="rect">
            <a:avLst/>
          </a:prstGeom>
        </p:spPr>
      </p:pic>
      <p:sp>
        <p:nvSpPr>
          <p:cNvPr id="11" name="Text 7"/>
          <p:cNvSpPr/>
          <p:nvPr/>
        </p:nvSpPr>
        <p:spPr>
          <a:xfrm>
            <a:off x="4398264"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détail, balise par balise</a:t>
            </a:r>
            <a:endParaRPr lang="en-US" sz="1350" dirty="0"/>
          </a:p>
        </p:txBody>
      </p:sp>
      <p:sp>
        <p:nvSpPr>
          <p:cNvPr id="12" name="Text 8"/>
          <p:cNvSpPr/>
          <p:nvPr/>
        </p:nvSpPr>
        <p:spPr>
          <a:xfrm>
            <a:off x="4398264"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Touchez une balise : les articles, leur code, leur quantité, telles qu'elles sont arrivées.</a:t>
            </a:r>
            <a:endParaRPr lang="en-US" sz="1100" dirty="0"/>
          </a:p>
        </p:txBody>
      </p:sp>
      <p:sp>
        <p:nvSpPr>
          <p:cNvPr id="13" name="Shape 9"/>
          <p:cNvSpPr/>
          <p:nvPr/>
        </p:nvSpPr>
        <p:spPr>
          <a:xfrm>
            <a:off x="4398264" y="3017520"/>
            <a:ext cx="3392424" cy="3182112"/>
          </a:xfrm>
          <a:prstGeom prst="roundRect">
            <a:avLst>
              <a:gd name="adj" fmla="val 4023"/>
            </a:avLst>
          </a:prstGeom>
          <a:solidFill>
            <a:srgbClr val="F4F5F9"/>
          </a:solidFill>
          <a:ln w="12700">
            <a:solidFill>
              <a:srgbClr val="F4F5F9"/>
            </a:solidFill>
            <a:prstDash val="solid"/>
          </a:ln>
        </p:spPr>
      </p:sp>
      <p:pic>
        <p:nvPicPr>
          <p:cNvPr id="14" name="Image 2" descr="preencoded.png">    </p:cNvPr>
          <p:cNvPicPr>
            <a:picLocks noChangeAspect="1"/>
          </p:cNvPicPr>
          <p:nvPr/>
        </p:nvPicPr>
        <p:blipFill>
          <a:blip r:embed="rId3"/>
          <a:stretch>
            <a:fillRect/>
          </a:stretch>
        </p:blipFill>
        <p:spPr>
          <a:xfrm>
            <a:off x="4709160" y="3015797"/>
            <a:ext cx="2770632" cy="3183835"/>
          </a:xfrm>
          <a:prstGeom prst="rect">
            <a:avLst/>
          </a:prstGeom>
        </p:spPr>
      </p:pic>
      <p:sp>
        <p:nvSpPr>
          <p:cNvPr id="15" name="Text 10"/>
          <p:cNvSpPr/>
          <p:nvPr/>
        </p:nvSpPr>
        <p:spPr>
          <a:xfrm>
            <a:off x="8065008" y="20116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Hors ligne, rien n’est perdu</a:t>
            </a:r>
            <a:endParaRPr lang="en-US" sz="1350" dirty="0"/>
          </a:p>
        </p:txBody>
      </p:sp>
      <p:sp>
        <p:nvSpPr>
          <p:cNvPr id="16" name="Text 11"/>
          <p:cNvSpPr/>
          <p:nvPr/>
        </p:nvSpPr>
        <p:spPr>
          <a:xfrm>
            <a:off x="8065008" y="23957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En réserve, les scans attendent sur l'appareil et partent seuls au retour du réseau.</a:t>
            </a:r>
            <a:endParaRPr lang="en-US" sz="1100" dirty="0"/>
          </a:p>
        </p:txBody>
      </p:sp>
      <p:sp>
        <p:nvSpPr>
          <p:cNvPr id="17" name="Shape 12"/>
          <p:cNvSpPr/>
          <p:nvPr/>
        </p:nvSpPr>
        <p:spPr>
          <a:xfrm>
            <a:off x="8065008" y="3017520"/>
            <a:ext cx="3392424" cy="3182112"/>
          </a:xfrm>
          <a:prstGeom prst="roundRect">
            <a:avLst>
              <a:gd name="adj" fmla="val 4023"/>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3015797"/>
            <a:ext cx="2770632" cy="3183835"/>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Compteur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Quand ça ne se passe pas comme prévu.</a:t>
            </a:r>
            <a:endParaRPr lang="en-US" sz="2600" dirty="0"/>
          </a:p>
        </p:txBody>
      </p:sp>
      <p:sp>
        <p:nvSpPr>
          <p:cNvPr id="7" name="Text 4"/>
          <p:cNvSpPr/>
          <p:nvPr/>
        </p:nvSpPr>
        <p:spPr>
          <a:xfrm>
            <a:off x="731520" y="2651760"/>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 Balise hors plage »</a:t>
            </a:r>
            <a:endParaRPr lang="en-US" sz="1300" dirty="0"/>
          </a:p>
        </p:txBody>
      </p:sp>
      <p:sp>
        <p:nvSpPr>
          <p:cNvPr id="8" name="Text 5"/>
          <p:cNvSpPr/>
          <p:nvPr/>
        </p:nvSpPr>
        <p:spPr>
          <a:xfrm>
            <a:off x="731520" y="2980944"/>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Le numéro n'est dans aucune plage. Si l'étiquette est bien collée dans ce magasin, touchez « Ajouter » : la zone est créée, le superviseur la nommera. Sinon, vérifiez le numéro.</a:t>
            </a:r>
            <a:endParaRPr lang="en-US" sz="1100" dirty="0"/>
          </a:p>
        </p:txBody>
      </p:sp>
      <p:sp>
        <p:nvSpPr>
          <p:cNvPr id="9" name="Text 6"/>
          <p:cNvSpPr/>
          <p:nvPr/>
        </p:nvSpPr>
        <p:spPr>
          <a:xfrm>
            <a:off x="731520" y="3584448"/>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 Article inconnu »</a:t>
            </a:r>
            <a:endParaRPr lang="en-US" sz="1300" dirty="0"/>
          </a:p>
        </p:txBody>
      </p:sp>
      <p:sp>
        <p:nvSpPr>
          <p:cNvPr id="10" name="Text 7"/>
          <p:cNvSpPr/>
          <p:nvPr/>
        </p:nvSpPr>
        <p:spPr>
          <a:xfrm>
            <a:off x="731520" y="3913632"/>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Il n'est pas dans le référentiel. Ajoutez-le avec un libellé : il entrera dans le rapport avec un prix d'achat à zéro, que le superviseur complétera.</a:t>
            </a:r>
            <a:endParaRPr lang="en-US" sz="1100" dirty="0"/>
          </a:p>
        </p:txBody>
      </p:sp>
      <p:sp>
        <p:nvSpPr>
          <p:cNvPr id="11" name="Text 8"/>
          <p:cNvSpPr/>
          <p:nvPr/>
        </p:nvSpPr>
        <p:spPr>
          <a:xfrm>
            <a:off x="731520" y="4517136"/>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Plus de réseau</a:t>
            </a:r>
            <a:endParaRPr lang="en-US" sz="1300" dirty="0"/>
          </a:p>
        </p:txBody>
      </p:sp>
      <p:sp>
        <p:nvSpPr>
          <p:cNvPr id="12" name="Text 9"/>
          <p:cNvSpPr/>
          <p:nvPr/>
        </p:nvSpPr>
        <p:spPr>
          <a:xfrm>
            <a:off x="731520" y="4846320"/>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Continuez à compter. Tout part au retour du réseau. Ne désinstallez pas l'application, et ne laissez pas effacer le téléphone avant que ce soit parti.</a:t>
            </a:r>
            <a:endParaRPr lang="en-US" sz="1100" dirty="0"/>
          </a:p>
        </p:txBody>
      </p:sp>
      <p:sp>
        <p:nvSpPr>
          <p:cNvPr id="13" name="Text 10"/>
          <p:cNvSpPr/>
          <p:nvPr/>
        </p:nvSpPr>
        <p:spPr>
          <a:xfrm>
            <a:off x="731520" y="5449824"/>
            <a:ext cx="7223760" cy="365760"/>
          </a:xfrm>
          <a:prstGeom prst="rect">
            <a:avLst/>
          </a:prstGeom>
          <a:noFill/>
          <a:ln/>
        </p:spPr>
        <p:txBody>
          <a:bodyPr wrap="square" lIns="0" tIns="0" rIns="0" bIns="0" rtlCol="0" anchor="t"/>
          <a:lstStyle/>
          <a:p>
            <a:pPr indent="0" marL="0">
              <a:buNone/>
            </a:pPr>
            <a:r>
              <a:rPr lang="en-US" sz="1300" b="1" dirty="0">
                <a:solidFill>
                  <a:srgbClr val="0B0F19"/>
                </a:solidFill>
                <a:latin typeface="Sora" pitchFamily="34" charset="0"/>
                <a:ea typeface="Sora" pitchFamily="34" charset="-122"/>
                <a:cs typeface="Sora" pitchFamily="34" charset="-120"/>
              </a:rPr>
              <a:t>Vous changez de téléphone</a:t>
            </a:r>
            <a:endParaRPr lang="en-US" sz="1300" dirty="0"/>
          </a:p>
        </p:txBody>
      </p:sp>
      <p:sp>
        <p:nvSpPr>
          <p:cNvPr id="14" name="Text 11"/>
          <p:cNvSpPr/>
          <p:nvPr/>
        </p:nvSpPr>
        <p:spPr>
          <a:xfrm>
            <a:off x="731520" y="5779008"/>
            <a:ext cx="7223760" cy="685800"/>
          </a:xfrm>
          <a:prstGeom prst="rect">
            <a:avLst/>
          </a:prstGeom>
          <a:noFill/>
          <a:ln/>
        </p:spPr>
        <p:txBody>
          <a:bodyPr wrap="square" lIns="0" tIns="0" rIns="0" bIns="0" rtlCol="0" anchor="t"/>
          <a:lstStyle/>
          <a:p>
            <a:pPr indent="0" marL="0">
              <a:lnSpc>
                <a:spcPct val="112000"/>
              </a:lnSpc>
              <a:buNone/>
            </a:pPr>
            <a:r>
              <a:rPr lang="en-US" sz="1100" dirty="0">
                <a:solidFill>
                  <a:srgbClr val="3D4556"/>
                </a:solidFill>
                <a:latin typeface="Inter" pitchFamily="34" charset="0"/>
                <a:ea typeface="Inter" pitchFamily="34" charset="-122"/>
                <a:cs typeface="Inter" pitchFamily="34" charset="-120"/>
              </a:rPr>
              <a:t>Reconnectez-vous : ce qui est déjà parti est sur le serveur. Ce qui attendait sur l'ancien partira quand il retrouvera du réseau.</a:t>
            </a:r>
            <a:endParaRPr lang="en-US" sz="1100" dirty="0"/>
          </a:p>
        </p:txBody>
      </p:sp>
      <p:sp>
        <p:nvSpPr>
          <p:cNvPr id="15" name="Text 12"/>
          <p:cNvSpPr/>
          <p:nvPr/>
        </p:nvSpPr>
        <p:spPr>
          <a:xfrm>
            <a:off x="8257032" y="1371600"/>
            <a:ext cx="3200400"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Une balise inconnue se rattrape</a:t>
            </a:r>
            <a:endParaRPr lang="en-US" sz="1350" dirty="0"/>
          </a:p>
        </p:txBody>
      </p:sp>
      <p:sp>
        <p:nvSpPr>
          <p:cNvPr id="16" name="Text 13"/>
          <p:cNvSpPr/>
          <p:nvPr/>
        </p:nvSpPr>
        <p:spPr>
          <a:xfrm>
            <a:off x="8257032" y="1755648"/>
            <a:ext cx="3200400"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L'alerte ne bloque pas : elle propose d'ajouter la balise et de compter tout de suite.</a:t>
            </a:r>
            <a:endParaRPr lang="en-US" sz="1100" dirty="0"/>
          </a:p>
        </p:txBody>
      </p:sp>
      <p:sp>
        <p:nvSpPr>
          <p:cNvPr id="17" name="Shape 14"/>
          <p:cNvSpPr/>
          <p:nvPr/>
        </p:nvSpPr>
        <p:spPr>
          <a:xfrm>
            <a:off x="8257032" y="2377440"/>
            <a:ext cx="3200400" cy="3822192"/>
          </a:xfrm>
          <a:prstGeom prst="roundRect">
            <a:avLst>
              <a:gd name="adj" fmla="val 4000"/>
            </a:avLst>
          </a:prstGeom>
          <a:solidFill>
            <a:srgbClr val="F4F5F9"/>
          </a:solidFill>
          <a:ln w="12700">
            <a:solidFill>
              <a:srgbClr val="F4F5F9"/>
            </a:solidFill>
            <a:prstDash val="solid"/>
          </a:ln>
        </p:spPr>
      </p:sp>
      <p:pic>
        <p:nvPicPr>
          <p:cNvPr id="18" name="Image 1" descr="preencoded.png">    </p:cNvPr>
          <p:cNvPicPr>
            <a:picLocks noChangeAspect="1"/>
          </p:cNvPicPr>
          <p:nvPr/>
        </p:nvPicPr>
        <p:blipFill>
          <a:blip r:embed="rId2"/>
          <a:stretch>
            <a:fillRect/>
          </a:stretch>
        </p:blipFill>
        <p:spPr>
          <a:xfrm>
            <a:off x="8567928" y="2378273"/>
            <a:ext cx="2578608" cy="3821359"/>
          </a:xfrm>
          <a:prstGeom prst="rect">
            <a:avLst/>
          </a:prstGeom>
        </p:spPr>
      </p:pic>
      <p:sp>
        <p:nvSpPr>
          <p:cNvPr id="19" name="Text 1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prise en main · août 2026</a:t>
            </a:r>
            <a:endParaRPr lang="en-US" sz="900" dirty="0"/>
          </a:p>
        </p:txBody>
      </p:sp>
      <p:sp>
        <p:nvSpPr>
          <p:cNvPr id="20" name="Text 1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Le matin de l'inventaire.</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Les balises sont collées et affectées. Les deux fichiers sont importés. L'équipe est invitée et chacun s'est connecté une fois. Les téléphones sont chargés, le réseau a été essayé en réserve. Le superviseur a le tableau de bord ouvert. On peut compter.</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Une question : contact@quantinvo.com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prise en main</dc:title>
  <dc:subject>PptxGenJS Presentation</dc:subject>
  <dc:creator>Devkaylab</dc:creator>
  <cp:lastModifiedBy>Devkaylab</cp:lastModifiedBy>
  <cp:revision>1</cp:revision>
  <dcterms:created xsi:type="dcterms:W3CDTF">2026-09-02T16:51:32Z</dcterms:created>
  <dcterms:modified xsi:type="dcterms:W3CDTF">2026-09-02T16:51:32Z</dcterms:modified>
</cp:coreProperties>
</file>