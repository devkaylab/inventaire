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se remet avec la fiche de déploiement MDM.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synthèse d'audit est un document séparé, remis au DPO. Le dernier alinéa est volontaire : un pentest n'a pas été fait, autant le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Architecture, hébergement, déploiement par votre catalogue d'entreprise,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état au 23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En une page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c’est.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Une application sur iPhone (Android en cours)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touche chez vous.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n'exige pas.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demande de votre part.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Architecture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5405"/>
            </a:avLst>
          </a:prstGeom>
          <a:solidFill>
            <a:srgbClr val="F4F5F9"/>
          </a:solidFill>
          <a:ln w="12700">
            <a:solidFill>
              <a:srgbClr val="E3E6EE"/>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Application Quantinvo (iOS, Android à venir).</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5405"/>
            </a:avLst>
          </a:prstGeom>
          <a:solidFill>
            <a:srgbClr val="EEEEFC"/>
          </a:solidFill>
          <a:ln w="12700">
            <a:solidFill>
              <a:srgbClr val="6366F1"/>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5405"/>
            </a:avLst>
          </a:prstGeom>
          <a:solidFill>
            <a:srgbClr val="F4F5F9"/>
          </a:solidFill>
          <a:ln w="12700">
            <a:solidFill>
              <a:srgbClr val="E3E6EE"/>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Site web www.quantinvo.com, sans installation.</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B6475"/>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Arial" pitchFamily="34" charset="0"/>
                <a:ea typeface="Arial" pitchFamily="34" charset="-122"/>
                <a:cs typeface="Arial"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B6475"/>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Arial" pitchFamily="34" charset="0"/>
                <a:ea typeface="Arial" pitchFamily="34" charset="-122"/>
                <a:cs typeface="Arial" pitchFamily="34" charset="-120"/>
              </a:rPr>
              <a:t>HTTPS, WebSocket</a:t>
            </a:r>
            <a:endParaRPr lang="en-US" sz="850" dirty="0"/>
          </a:p>
        </p:txBody>
      </p:sp>
      <p:sp>
        <p:nvSpPr>
          <p:cNvPr id="20" name="Shape 17"/>
          <p:cNvSpPr/>
          <p:nvPr/>
        </p:nvSpPr>
        <p:spPr>
          <a:xfrm>
            <a:off x="731520" y="4709160"/>
            <a:ext cx="2697480" cy="1188720"/>
          </a:xfrm>
          <a:prstGeom prst="roundRect">
            <a:avLst>
              <a:gd name="adj" fmla="val 7692"/>
            </a:avLst>
          </a:prstGeom>
          <a:solidFill>
            <a:srgbClr val="F4F5F9"/>
          </a:solidFill>
          <a:ln w="12700">
            <a:solidFill>
              <a:srgbClr val="E3E6EE"/>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7692"/>
            </a:avLst>
          </a:prstGeom>
          <a:solidFill>
            <a:srgbClr val="F4F5F9"/>
          </a:solidFill>
          <a:ln w="12700">
            <a:solidFill>
              <a:srgbClr val="E3E6EE"/>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Invitations, devis,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7692"/>
            </a:avLst>
          </a:prstGeom>
          <a:solidFill>
            <a:srgbClr val="F4F5F9"/>
          </a:solidFill>
          <a:ln w="12700">
            <a:solidFill>
              <a:srgbClr val="E3E6EE"/>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B6475"/>
            </a:solidFill>
            <a:prstDash val="dash"/>
          </a:ln>
        </p:spPr>
      </p:sp>
      <p:sp>
        <p:nvSpPr>
          <p:cNvPr id="30" name="Shape 27"/>
          <p:cNvSpPr/>
          <p:nvPr/>
        </p:nvSpPr>
        <p:spPr>
          <a:xfrm>
            <a:off x="6094476" y="4069080"/>
            <a:ext cx="0" cy="640080"/>
          </a:xfrm>
          <a:prstGeom prst="line">
            <a:avLst/>
          </a:prstGeom>
          <a:noFill/>
          <a:ln w="12700">
            <a:solidFill>
              <a:srgbClr val="5B6475"/>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B6475"/>
                </a:solidFill>
                <a:latin typeface="Arial" pitchFamily="34" charset="0"/>
                <a:ea typeface="Arial" pitchFamily="34" charset="-122"/>
                <a:cs typeface="Arial"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Hébergement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Les données d'inventaire, les comptes et les journaux sont stockés en Irlande et n'en sortent pas. Les services annexes (site, e-mails, notifications)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3E6EE"/>
            </a:solidFill>
            <a:prstDash val="solid"/>
          </a:ln>
        </p:spPr>
      </p:sp>
      <p:sp>
        <p:nvSpPr>
          <p:cNvPr id="12" name="Text 9"/>
          <p:cNvSpPr/>
          <p:nvPr/>
        </p:nvSpPr>
        <p:spPr>
          <a:xfrm>
            <a:off x="5394960" y="1801368"/>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Supabase</a:t>
            </a:r>
            <a:endParaRPr lang="en-US" sz="1150" dirty="0"/>
          </a:p>
        </p:txBody>
      </p:sp>
      <p:sp>
        <p:nvSpPr>
          <p:cNvPr id="13" name="Text 10"/>
          <p:cNvSpPr/>
          <p:nvPr/>
        </p:nvSpPr>
        <p:spPr>
          <a:xfrm>
            <a:off x="7406640" y="1801368"/>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Base de données, authentification, temps réel, fonctions</a:t>
            </a:r>
            <a:endParaRPr lang="en-US" sz="1150" dirty="0"/>
          </a:p>
        </p:txBody>
      </p:sp>
      <p:sp>
        <p:nvSpPr>
          <p:cNvPr id="14" name="Text 11"/>
          <p:cNvSpPr/>
          <p:nvPr/>
        </p:nvSpPr>
        <p:spPr>
          <a:xfrm>
            <a:off x="10424160" y="1801368"/>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Irlande (eu-west-1)</a:t>
            </a:r>
            <a:endParaRPr lang="en-US" sz="1150" dirty="0"/>
          </a:p>
        </p:txBody>
      </p:sp>
      <p:sp>
        <p:nvSpPr>
          <p:cNvPr id="15" name="Shape 12"/>
          <p:cNvSpPr/>
          <p:nvPr/>
        </p:nvSpPr>
        <p:spPr>
          <a:xfrm>
            <a:off x="5394960" y="2267712"/>
            <a:ext cx="6062472" cy="0"/>
          </a:xfrm>
          <a:prstGeom prst="line">
            <a:avLst/>
          </a:prstGeom>
          <a:noFill/>
          <a:ln w="9525">
            <a:solidFill>
              <a:srgbClr val="E3E6EE"/>
            </a:solidFill>
            <a:prstDash val="solid"/>
          </a:ln>
        </p:spPr>
      </p:sp>
      <p:sp>
        <p:nvSpPr>
          <p:cNvPr id="16" name="Text 13"/>
          <p:cNvSpPr/>
          <p:nvPr/>
        </p:nvSpPr>
        <p:spPr>
          <a:xfrm>
            <a:off x="5394960" y="2368296"/>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Vercel</a:t>
            </a:r>
            <a:endParaRPr lang="en-US" sz="1150" dirty="0"/>
          </a:p>
        </p:txBody>
      </p:sp>
      <p:sp>
        <p:nvSpPr>
          <p:cNvPr id="17" name="Text 14"/>
          <p:cNvSpPr/>
          <p:nvPr/>
        </p:nvSpPr>
        <p:spPr>
          <a:xfrm>
            <a:off x="7406640" y="2368296"/>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Hébergement du site www.quantinvo.com</a:t>
            </a:r>
            <a:endParaRPr lang="en-US" sz="1150" dirty="0"/>
          </a:p>
        </p:txBody>
      </p:sp>
      <p:sp>
        <p:nvSpPr>
          <p:cNvPr id="18" name="Text 15"/>
          <p:cNvSpPr/>
          <p:nvPr/>
        </p:nvSpPr>
        <p:spPr>
          <a:xfrm>
            <a:off x="10424160" y="2368296"/>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19" name="Shape 16"/>
          <p:cNvSpPr/>
          <p:nvPr/>
        </p:nvSpPr>
        <p:spPr>
          <a:xfrm>
            <a:off x="5394960" y="2834640"/>
            <a:ext cx="6062472" cy="0"/>
          </a:xfrm>
          <a:prstGeom prst="line">
            <a:avLst/>
          </a:prstGeom>
          <a:noFill/>
          <a:ln w="9525">
            <a:solidFill>
              <a:srgbClr val="E3E6EE"/>
            </a:solidFill>
            <a:prstDash val="solid"/>
          </a:ln>
        </p:spPr>
      </p:sp>
      <p:sp>
        <p:nvSpPr>
          <p:cNvPr id="20" name="Text 17"/>
          <p:cNvSpPr/>
          <p:nvPr/>
        </p:nvSpPr>
        <p:spPr>
          <a:xfrm>
            <a:off x="5394960" y="2935224"/>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Resend</a:t>
            </a:r>
            <a:endParaRPr lang="en-US" sz="1150" dirty="0"/>
          </a:p>
        </p:txBody>
      </p:sp>
      <p:sp>
        <p:nvSpPr>
          <p:cNvPr id="21" name="Text 18"/>
          <p:cNvSpPr/>
          <p:nvPr/>
        </p:nvSpPr>
        <p:spPr>
          <a:xfrm>
            <a:off x="7406640" y="2935224"/>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Acheminement des e-mails de service</a:t>
            </a:r>
            <a:endParaRPr lang="en-US" sz="1150" dirty="0"/>
          </a:p>
        </p:txBody>
      </p:sp>
      <p:sp>
        <p:nvSpPr>
          <p:cNvPr id="22" name="Text 19"/>
          <p:cNvSpPr/>
          <p:nvPr/>
        </p:nvSpPr>
        <p:spPr>
          <a:xfrm>
            <a:off x="10424160" y="2935224"/>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23" name="Shape 20"/>
          <p:cNvSpPr/>
          <p:nvPr/>
        </p:nvSpPr>
        <p:spPr>
          <a:xfrm>
            <a:off x="5394960" y="3401568"/>
            <a:ext cx="6062472" cy="0"/>
          </a:xfrm>
          <a:prstGeom prst="line">
            <a:avLst/>
          </a:prstGeom>
          <a:noFill/>
          <a:ln w="9525">
            <a:solidFill>
              <a:srgbClr val="E3E6EE"/>
            </a:solidFill>
            <a:prstDash val="solid"/>
          </a:ln>
        </p:spPr>
      </p:sp>
      <p:sp>
        <p:nvSpPr>
          <p:cNvPr id="24" name="Text 21"/>
          <p:cNvSpPr/>
          <p:nvPr/>
        </p:nvSpPr>
        <p:spPr>
          <a:xfrm>
            <a:off x="5394960" y="3502152"/>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Expo</a:t>
            </a:r>
            <a:endParaRPr lang="en-US" sz="1150" dirty="0"/>
          </a:p>
        </p:txBody>
      </p:sp>
      <p:sp>
        <p:nvSpPr>
          <p:cNvPr id="25" name="Text 22"/>
          <p:cNvSpPr/>
          <p:nvPr/>
        </p:nvSpPr>
        <p:spPr>
          <a:xfrm>
            <a:off x="7406640" y="3502152"/>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Obtention du jeton de notification de l'appareil</a:t>
            </a:r>
            <a:endParaRPr lang="en-US" sz="1150" dirty="0"/>
          </a:p>
        </p:txBody>
      </p:sp>
      <p:sp>
        <p:nvSpPr>
          <p:cNvPr id="26" name="Text 23"/>
          <p:cNvSpPr/>
          <p:nvPr/>
        </p:nvSpPr>
        <p:spPr>
          <a:xfrm>
            <a:off x="10424160" y="3502152"/>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27" name="Shape 24"/>
          <p:cNvSpPr/>
          <p:nvPr/>
        </p:nvSpPr>
        <p:spPr>
          <a:xfrm>
            <a:off x="5394960" y="3968496"/>
            <a:ext cx="6062472" cy="0"/>
          </a:xfrm>
          <a:prstGeom prst="line">
            <a:avLst/>
          </a:prstGeom>
          <a:noFill/>
          <a:ln w="9525">
            <a:solidFill>
              <a:srgbClr val="E3E6EE"/>
            </a:solidFill>
            <a:prstDash val="solid"/>
          </a:ln>
        </p:spPr>
      </p:sp>
      <p:sp>
        <p:nvSpPr>
          <p:cNvPr id="28" name="Text 25"/>
          <p:cNvSpPr/>
          <p:nvPr/>
        </p:nvSpPr>
        <p:spPr>
          <a:xfrm>
            <a:off x="5394960" y="4069080"/>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Apple, Google</a:t>
            </a:r>
            <a:endParaRPr lang="en-US" sz="1150" dirty="0"/>
          </a:p>
        </p:txBody>
      </p:sp>
      <p:sp>
        <p:nvSpPr>
          <p:cNvPr id="29" name="Text 26"/>
          <p:cNvSpPr/>
          <p:nvPr/>
        </p:nvSpPr>
        <p:spPr>
          <a:xfrm>
            <a:off x="7406640" y="4069080"/>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Distribution de l'application mobile</a:t>
            </a:r>
            <a:endParaRPr lang="en-US" sz="1150" dirty="0"/>
          </a:p>
        </p:txBody>
      </p:sp>
      <p:sp>
        <p:nvSpPr>
          <p:cNvPr id="30" name="Text 27"/>
          <p:cNvSpPr/>
          <p:nvPr/>
        </p:nvSpPr>
        <p:spPr>
          <a:xfrm>
            <a:off x="10424160" y="4069080"/>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31" name="Shape 28"/>
          <p:cNvSpPr/>
          <p:nvPr/>
        </p:nvSpPr>
        <p:spPr>
          <a:xfrm>
            <a:off x="5394960" y="4535424"/>
            <a:ext cx="6062472" cy="0"/>
          </a:xfrm>
          <a:prstGeom prst="line">
            <a:avLst/>
          </a:prstGeom>
          <a:noFill/>
          <a:ln w="9525">
            <a:solidFill>
              <a:srgbClr val="E3E6EE"/>
            </a:solidFill>
            <a:prstDash val="solid"/>
          </a:ln>
        </p:spPr>
      </p:sp>
      <p:sp>
        <p:nvSpPr>
          <p:cNvPr id="32" name="Shape 29"/>
          <p:cNvSpPr/>
          <p:nvPr/>
        </p:nvSpPr>
        <p:spPr>
          <a:xfrm>
            <a:off x="5394960" y="4846320"/>
            <a:ext cx="6062472" cy="1005840"/>
          </a:xfrm>
          <a:prstGeom prst="roundRect">
            <a:avLst>
              <a:gd name="adj" fmla="val 7273"/>
            </a:avLst>
          </a:prstGeom>
          <a:solidFill>
            <a:srgbClr val="F4F5F9"/>
          </a:solidFill>
          <a:ln w="12700">
            <a:solidFill>
              <a:srgbClr val="F4F5F9"/>
            </a:solidFill>
            <a:prstDash val="solid"/>
          </a:ln>
        </p:spPr>
      </p:sp>
      <p:sp>
        <p:nvSpPr>
          <p:cNvPr id="33" name="Text 30"/>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À savoir</a:t>
            </a:r>
            <a:endParaRPr lang="en-US" sz="950" dirty="0"/>
          </a:p>
        </p:txBody>
      </p:sp>
      <p:sp>
        <p:nvSpPr>
          <p:cNvPr id="34" name="Text 31"/>
          <p:cNvSpPr/>
          <p:nvPr/>
        </p:nvSpPr>
        <p:spPr>
          <a:xfrm>
            <a:off x="5669280" y="5266944"/>
            <a:ext cx="5513832" cy="45720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La liste est la même que celle de la politique de confidentialité publiée. Un test automatique empêche d'ajouter un prestataire au produit sans le déclarer.</a:t>
            </a:r>
            <a:endParaRPr lang="en-US" sz="1150" dirty="0"/>
          </a:p>
        </p:txBody>
      </p:sp>
      <p:sp>
        <p:nvSpPr>
          <p:cNvPr id="35" name="Text 3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36" name="Text 3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Déploiement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3E6EE"/>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3E6EE"/>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3E6EE"/>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3E6EE"/>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7.0, à confirmer au premier build</a:t>
            </a:r>
            <a:endParaRPr lang="en-US" sz="1100" dirty="0"/>
          </a:p>
        </p:txBody>
      </p:sp>
      <p:sp>
        <p:nvSpPr>
          <p:cNvPr id="25" name="Shape 22"/>
          <p:cNvSpPr/>
          <p:nvPr/>
        </p:nvSpPr>
        <p:spPr>
          <a:xfrm>
            <a:off x="5394960" y="3529584"/>
            <a:ext cx="6062472" cy="0"/>
          </a:xfrm>
          <a:prstGeom prst="line">
            <a:avLst/>
          </a:prstGeom>
          <a:noFill/>
          <a:ln w="9525">
            <a:solidFill>
              <a:srgbClr val="E3E6EE"/>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3E6EE"/>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iPhone et iPad.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Android et terminaux durcis.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Par Managed Google Play, ou en chargeant l'APK que nous vous remettons comme application interne. Zebra, Honeywell et Datalogic fonctionnent ; le mode « application unique » est compatible.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Profil de restrictions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B6475"/>
          </a:solidFill>
          <a:ln>
            <a:solidFill>
              <a:srgbClr val="5B6475"/>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Comptes et accès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Tous les magasins, toutes les personnes, tous les inventaires de son entreprise. Invite, retire, supprime. Nommé par Quantinvo.</a:t>
            </a:r>
            <a:endParaRPr lang="en-US" sz="1150" dirty="0"/>
          </a:p>
        </p:txBody>
      </p:sp>
      <p:sp>
        <p:nvSpPr>
          <p:cNvPr id="13" name="Shape 10"/>
          <p:cNvSpPr/>
          <p:nvPr/>
        </p:nvSpPr>
        <p:spPr>
          <a:xfrm>
            <a:off x="5394960" y="2304288"/>
            <a:ext cx="6062472" cy="0"/>
          </a:xfrm>
          <a:prstGeom prst="line">
            <a:avLst/>
          </a:prstGeom>
          <a:noFill/>
          <a:ln w="9525">
            <a:solidFill>
              <a:srgbClr val="E3E6EE"/>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Ses magasins. Crée et pilote les inventaires, constitue son équipe, lit les rapports.</a:t>
            </a:r>
            <a:endParaRPr lang="en-US" sz="1150" dirty="0"/>
          </a:p>
        </p:txBody>
      </p:sp>
      <p:sp>
        <p:nvSpPr>
          <p:cNvPr id="16" name="Shape 13"/>
          <p:cNvSpPr/>
          <p:nvPr/>
        </p:nvSpPr>
        <p:spPr>
          <a:xfrm>
            <a:off x="5394960" y="2907792"/>
            <a:ext cx="6062472" cy="0"/>
          </a:xfrm>
          <a:prstGeom prst="line">
            <a:avLst/>
          </a:prstGeom>
          <a:noFill/>
          <a:ln w="9525">
            <a:solidFill>
              <a:srgbClr val="E3E6EE"/>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Les inventaires auxquels il est invité. Il scanne, il compte, il audite. Rien d'autre.</a:t>
            </a:r>
            <a:endParaRPr lang="en-US" sz="1150" dirty="0"/>
          </a:p>
        </p:txBody>
      </p:sp>
      <p:sp>
        <p:nvSpPr>
          <p:cNvPr id="19" name="Shape 16"/>
          <p:cNvSpPr/>
          <p:nvPr/>
        </p:nvSpPr>
        <p:spPr>
          <a:xfrm>
            <a:off x="5394960" y="3511296"/>
            <a:ext cx="6062472" cy="0"/>
          </a:xfrm>
          <a:prstGeom prst="line">
            <a:avLst/>
          </a:prstGeom>
          <a:noFill/>
          <a:ln w="9525">
            <a:solidFill>
              <a:srgbClr val="E3E6EE"/>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Mot de passe.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Double authentification.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Sessions.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Cloisonnement.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Sécurité</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est en place, et ce qui a été audité.</a:t>
            </a:r>
            <a:endParaRPr lang="en-US" sz="2600" dirty="0"/>
          </a:p>
        </p:txBody>
      </p:sp>
      <p:sp>
        <p:nvSpPr>
          <p:cNvPr id="7" name="Text 4"/>
          <p:cNvSpPr/>
          <p:nvPr/>
        </p:nvSpPr>
        <p:spPr>
          <a:xfrm>
            <a:off x="731520" y="3291840"/>
            <a:ext cx="4206240" cy="868680"/>
          </a:xfrm>
          <a:prstGeom prst="rect">
            <a:avLst/>
          </a:prstGeom>
          <a:noFill/>
          <a:ln/>
        </p:spPr>
        <p:txBody>
          <a:bodyPr wrap="square" lIns="0" tIns="0" rIns="0" bIns="0" rtlCol="0" anchor="t"/>
          <a:lstStyle/>
          <a:p>
            <a:pPr indent="0" marL="0">
              <a:buNone/>
            </a:pPr>
            <a:r>
              <a:rPr lang="en-US" sz="4000" b="1" dirty="0">
                <a:solidFill>
                  <a:srgbClr val="4636B0"/>
                </a:solidFill>
                <a:latin typeface="Arial" pitchFamily="34" charset="0"/>
                <a:ea typeface="Arial" pitchFamily="34" charset="-122"/>
                <a:cs typeface="Arial" pitchFamily="34" charset="-120"/>
              </a:rPr>
              <a:t>13 / 15</a:t>
            </a:r>
            <a:endParaRPr lang="en-US" sz="4000" dirty="0"/>
          </a:p>
        </p:txBody>
      </p:sp>
      <p:sp>
        <p:nvSpPr>
          <p:cNvPr id="8" name="Text 5"/>
          <p:cNvSpPr/>
          <p:nvPr/>
        </p:nvSpPr>
        <p:spPr>
          <a:xfrm>
            <a:off x="731520" y="42062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constats de l'audit RGPD et sécurité du 13 août 2026 clos au 19 août. Les deux restants sont des documents juridiques en relecture.</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0B0F19"/>
                </a:solidFill>
                <a:latin typeface="Arial" pitchFamily="34" charset="0"/>
                <a:ea typeface="Arial" pitchFamily="34" charset="-122"/>
                <a:cs typeface="Arial" pitchFamily="34" charset="-120"/>
              </a:rPr>
              <a:t>En transit et au repos. </a:t>
            </a:r>
            <a:pPr indent="0" marL="0">
              <a:lnSpc>
                <a:spcPct val="118000"/>
              </a:lnSpc>
              <a:spcAft>
                <a:spcPts val="1000"/>
              </a:spcAft>
              <a:buNone/>
            </a:pPr>
            <a:r>
              <a:rPr lang="en-US" sz="1250" dirty="0">
                <a:solidFill>
                  <a:srgbClr val="3D4556"/>
                </a:solidFill>
                <a:latin typeface="Arial" pitchFamily="34" charset="0"/>
                <a:ea typeface="Arial" pitchFamily="34" charset="-122"/>
                <a:cs typeface="Arial" pitchFamily="34" charset="-120"/>
              </a:rPr>
              <a:t>Tout le trafic est chiffré (TLS). Les données sont chiffrées au repos par l'hébergeur, qui en assure aussi les sauvegardes quotidiennes.</a:t>
            </a:r>
            <a:endParaRPr lang="en-US" sz="1250" dirty="0"/>
          </a:p>
          <a:p>
            <a:pPr indent="0" marL="0">
              <a:lnSpc>
                <a:spcPct val="118000"/>
              </a:lnSpc>
              <a:spcAft>
                <a:spcPts val="1000"/>
              </a:spcAft>
              <a:buNone/>
            </a:pPr>
            <a:r>
              <a:rPr lang="en-US" sz="1250" b="1" dirty="0">
                <a:solidFill>
                  <a:srgbClr val="0B0F19"/>
                </a:solidFill>
                <a:latin typeface="Arial" pitchFamily="34" charset="0"/>
                <a:ea typeface="Arial" pitchFamily="34" charset="-122"/>
                <a:cs typeface="Arial" pitchFamily="34" charset="-120"/>
              </a:rPr>
              <a:t>Site. </a:t>
            </a:r>
            <a:pPr indent="0" marL="0">
              <a:lnSpc>
                <a:spcPct val="118000"/>
              </a:lnSpc>
              <a:spcAft>
                <a:spcPts val="1000"/>
              </a:spcAft>
              <a:buNone/>
            </a:pPr>
            <a:r>
              <a:rPr lang="en-US" sz="1250" dirty="0">
                <a:solidFill>
                  <a:srgbClr val="3D4556"/>
                </a:solidFill>
                <a:latin typeface="Arial" pitchFamily="34" charset="0"/>
                <a:ea typeface="Arial" pitchFamily="34" charset="-122"/>
                <a:cs typeface="Arial" pitchFamily="34" charset="-120"/>
              </a:rPr>
              <a:t>En-têtes de sécurité posés (politique de contenu, interdiction d'intégration dans un cadre, etc.). Aucun traceur, aucune mesure d'audience : il n'y a pas de bandeau cookies parce qu'il n'y a pas de cookies à déclarer.</a:t>
            </a:r>
            <a:endParaRPr lang="en-US" sz="1250" dirty="0"/>
          </a:p>
          <a:p>
            <a:pPr indent="0" marL="0">
              <a:lnSpc>
                <a:spcPct val="118000"/>
              </a:lnSpc>
              <a:spcAft>
                <a:spcPts val="1000"/>
              </a:spcAft>
              <a:buNone/>
            </a:pPr>
            <a:r>
              <a:rPr lang="en-US" sz="1250" b="1" dirty="0">
                <a:solidFill>
                  <a:srgbClr val="0B0F19"/>
                </a:solidFill>
                <a:latin typeface="Arial" pitchFamily="34" charset="0"/>
                <a:ea typeface="Arial" pitchFamily="34" charset="-122"/>
                <a:cs typeface="Arial" pitchFamily="34" charset="-120"/>
              </a:rPr>
              <a:t>Journal. </a:t>
            </a:r>
            <a:pPr indent="0" marL="0">
              <a:lnSpc>
                <a:spcPct val="118000"/>
              </a:lnSpc>
              <a:spcAft>
                <a:spcPts val="1000"/>
              </a:spcAft>
              <a:buNone/>
            </a:pPr>
            <a:r>
              <a:rPr lang="en-US" sz="1250" dirty="0">
                <a:solidFill>
                  <a:srgbClr val="3D4556"/>
                </a:solidFill>
                <a:latin typeface="Arial" pitchFamily="34" charset="0"/>
                <a:ea typeface="Arial" pitchFamily="34" charset="-122"/>
                <a:cs typeface="Arial" pitchFamily="34" charset="-120"/>
              </a:rPr>
              <a:t>Chaque action d'administration (création d'un compte, retrait d'un accès, suppression) est journalisée, avec son auteur, et conservée un an. Votre administrateur lit le sien.</a:t>
            </a:r>
            <a:endParaRPr lang="en-US" sz="1250" dirty="0"/>
          </a:p>
          <a:p>
            <a:pPr indent="0" marL="0">
              <a:lnSpc>
                <a:spcPct val="118000"/>
              </a:lnSpc>
              <a:spcAft>
                <a:spcPts val="1000"/>
              </a:spcAft>
              <a:buNone/>
            </a:pPr>
            <a:r>
              <a:rPr lang="en-US" sz="1250" b="1" dirty="0">
                <a:solidFill>
                  <a:srgbClr val="0B0F19"/>
                </a:solidFill>
                <a:latin typeface="Arial" pitchFamily="34" charset="0"/>
                <a:ea typeface="Arial" pitchFamily="34" charset="-122"/>
                <a:cs typeface="Arial" pitchFamily="34" charset="-120"/>
              </a:rPr>
              <a:t>Suivi d’activité. </a:t>
            </a:r>
            <a:pPr indent="0" marL="0">
              <a:lnSpc>
                <a:spcPct val="118000"/>
              </a:lnSpc>
              <a:spcAft>
                <a:spcPts val="1000"/>
              </a:spcAft>
              <a:buNone/>
            </a:pPr>
            <a:r>
              <a:rPr lang="en-US" sz="1250" dirty="0">
                <a:solidFill>
                  <a:srgbClr val="3D4556"/>
                </a:solidFill>
                <a:latin typeface="Arial" pitchFamily="34" charset="0"/>
                <a:ea typeface="Arial" pitchFamily="34" charset="-122"/>
                <a:cs typeface="Arial" pitchFamily="34" charset="-120"/>
              </a:rPr>
              <a:t>Le tableau de bord voit des compteurs (appareils connectés, en comptage, en audit), jamais qui fait quoi en direct. Ce qui reste nominatif, c'est l'auteur d'un comptage, pour l'arbitrage.</a:t>
            </a:r>
            <a:endParaRPr lang="en-US" sz="1250" dirty="0"/>
          </a:p>
          <a:p>
            <a:pPr indent="0" marL="0">
              <a:lnSpc>
                <a:spcPct val="118000"/>
              </a:lnSpc>
              <a:spcAft>
                <a:spcPts val="1000"/>
              </a:spcAft>
              <a:buNone/>
            </a:pPr>
            <a:r>
              <a:rPr lang="en-US" sz="1250" b="1" dirty="0">
                <a:solidFill>
                  <a:srgbClr val="0B0F19"/>
                </a:solidFill>
                <a:latin typeface="Arial" pitchFamily="34" charset="0"/>
                <a:ea typeface="Arial" pitchFamily="34" charset="-122"/>
                <a:cs typeface="Arial" pitchFamily="34" charset="-120"/>
              </a:rPr>
              <a:t>Ce que nous ne faisons pas. </a:t>
            </a:r>
            <a:pPr indent="0" marL="0">
              <a:lnSpc>
                <a:spcPct val="118000"/>
              </a:lnSpc>
              <a:spcAft>
                <a:spcPts val="1000"/>
              </a:spcAft>
              <a:buNone/>
            </a:pPr>
            <a:r>
              <a:rPr lang="en-US" sz="1250" dirty="0">
                <a:solidFill>
                  <a:srgbClr val="3D4556"/>
                </a:solidFill>
                <a:latin typeface="Arial" pitchFamily="34" charset="0"/>
                <a:ea typeface="Arial" pitchFamily="34" charset="-122"/>
                <a:cs typeface="Arial" pitchFamily="34" charset="-120"/>
              </a:rPr>
              <a:t>Pas de test d'intrusion externe à ce jour. Si votre politique l'exige, nous l'accueillons.</a:t>
            </a:r>
            <a:endParaRPr lang="en-US" sz="125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Hors ligne et charge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Hors ligne.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Plusieurs compteurs par magasin.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Tableau de bord.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Volumes.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Protection des données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Arial" pitchFamily="34" charset="0"/>
                <a:ea typeface="Arial" pitchFamily="34" charset="-122"/>
                <a:cs typeface="Arial"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Arial" pitchFamily="34" charset="0"/>
                <a:ea typeface="Arial" pitchFamily="34" charset="-122"/>
                <a:cs typeface="Arial"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3E6EE"/>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8421"/>
            </a:avLst>
          </a:prstGeom>
          <a:solidFill>
            <a:srgbClr val="F4F5F9"/>
          </a:solidFill>
          <a:ln w="12700">
            <a:solidFill>
              <a:srgbClr val="F4F5F9"/>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Politique de confidentialité (publique), clauses article 28, synthèse de l'audit,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Connexion par votre annuaire (SAML 2.0, Entra ID).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Configuration administrée (AppConfig).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Android.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 build est en cours. Les identifiants sont réservés ; la fiche MDM le signale.</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API et connecteur ERP.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Codes de secours pour la double authentification.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La fiche de déploiement MDM pour l'équipe parc. La politique de confidentialité, les clauses article 28 et la synthèse d'audit pour votre DPO.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2026-08-24T10:49:15Z</dcterms:created>
  <dcterms:modified xsi:type="dcterms:W3CDTF">2026-08-24T10:49:15Z</dcterms:modified>
</cp:coreProperties>
</file>