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Ce qu’il faut valider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Architecture, données, accès, réseau, appareils, conformité. Ce qui n’existe pas encore est dit sur la page concernée.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état au 19 septembre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Architecture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Une application, un site, une seule base.</a:t>
            </a:r>
            <a:endParaRPr lang="en-US" sz="2600" dirty="0"/>
          </a:p>
        </p:txBody>
      </p:sp>
      <p:sp>
        <p:nvSpPr>
          <p:cNvPr id="7" name="Text 4"/>
          <p:cNvSpPr/>
          <p:nvPr/>
        </p:nvSpPr>
        <p:spPr>
          <a:xfrm>
            <a:off x="731520" y="2514600"/>
            <a:ext cx="4206240" cy="10972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Le téléphone et le navigateur interrogent directement la base. Le site se limite à servir ses pages.</a:t>
            </a:r>
            <a:endParaRPr lang="en-US" sz="1200" dirty="0"/>
          </a:p>
        </p:txBody>
      </p:sp>
      <p:sp>
        <p:nvSpPr>
          <p:cNvPr id="8" name="Text 5"/>
          <p:cNvSpPr/>
          <p:nvPr/>
        </p:nvSpPr>
        <p:spPr>
          <a:xfrm>
            <a:off x="5394960" y="1371600"/>
            <a:ext cx="182880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Composant</a:t>
            </a:r>
            <a:endParaRPr lang="en-US" sz="1000" dirty="0"/>
          </a:p>
        </p:txBody>
      </p:sp>
      <p:sp>
        <p:nvSpPr>
          <p:cNvPr id="9" name="Text 6"/>
          <p:cNvSpPr/>
          <p:nvPr/>
        </p:nvSpPr>
        <p:spPr>
          <a:xfrm>
            <a:off x="7223760" y="1371600"/>
            <a:ext cx="219456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Technologie</a:t>
            </a:r>
            <a:endParaRPr lang="en-US" sz="1000" dirty="0"/>
          </a:p>
        </p:txBody>
      </p:sp>
      <p:sp>
        <p:nvSpPr>
          <p:cNvPr id="10" name="Text 7"/>
          <p:cNvSpPr/>
          <p:nvPr/>
        </p:nvSpPr>
        <p:spPr>
          <a:xfrm>
            <a:off x="9418320" y="1371600"/>
            <a:ext cx="2039112"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Usage</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1691640" cy="804672"/>
          </a:xfrm>
          <a:prstGeom prst="rect">
            <a:avLst/>
          </a:prstGeom>
          <a:noFill/>
          <a:ln/>
        </p:spPr>
        <p:txBody>
          <a:bodyPr wrap="square" lIns="0" tIns="0" rIns="0" bIns="0" rtlCol="0" anchor="t"/>
          <a:lstStyle/>
          <a:p>
            <a:pPr indent="0" marL="0">
              <a:lnSpc>
                <a:spcPct val="112000"/>
              </a:lnSpc>
              <a:buNone/>
            </a:pPr>
            <a:r>
              <a:rPr lang="en-US" sz="1200" b="1" dirty="0">
                <a:solidFill>
                  <a:srgbClr val="14181A"/>
                </a:solidFill>
                <a:latin typeface="Arial" pitchFamily="34" charset="0"/>
                <a:ea typeface="Arial" pitchFamily="34" charset="-122"/>
                <a:cs typeface="Arial" pitchFamily="34" charset="-120"/>
              </a:rPr>
              <a:t>Application mobile</a:t>
            </a:r>
            <a:endParaRPr lang="en-US" sz="1200" dirty="0"/>
          </a:p>
        </p:txBody>
      </p:sp>
      <p:sp>
        <p:nvSpPr>
          <p:cNvPr id="13" name="Text 10"/>
          <p:cNvSpPr/>
          <p:nvPr/>
        </p:nvSpPr>
        <p:spPr>
          <a:xfrm>
            <a:off x="7223760" y="1801368"/>
            <a:ext cx="2057400" cy="804672"/>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Arial" pitchFamily="34" charset="0"/>
                <a:ea typeface="Arial" pitchFamily="34" charset="-122"/>
                <a:cs typeface="Arial" pitchFamily="34" charset="-120"/>
              </a:rPr>
              <a:t>Expo (React Native), pour iOS et Android</a:t>
            </a:r>
            <a:endParaRPr lang="en-US" sz="1200" dirty="0"/>
          </a:p>
        </p:txBody>
      </p:sp>
      <p:sp>
        <p:nvSpPr>
          <p:cNvPr id="14" name="Text 11"/>
          <p:cNvSpPr/>
          <p:nvPr/>
        </p:nvSpPr>
        <p:spPr>
          <a:xfrm>
            <a:off x="9418320" y="1801368"/>
            <a:ext cx="1901952" cy="804672"/>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Arial" pitchFamily="34" charset="0"/>
                <a:ea typeface="Arial" pitchFamily="34" charset="-122"/>
                <a:cs typeface="Arial" pitchFamily="34" charset="-120"/>
              </a:rPr>
              <a:t>Comptage sur le terrain. Le superviseur peut aussi y préparer et suivre.</a:t>
            </a:r>
            <a:endParaRPr lang="en-US" sz="1200" dirty="0"/>
          </a:p>
        </p:txBody>
      </p:sp>
      <p:sp>
        <p:nvSpPr>
          <p:cNvPr id="15" name="Shape 12"/>
          <p:cNvSpPr/>
          <p:nvPr/>
        </p:nvSpPr>
        <p:spPr>
          <a:xfrm>
            <a:off x="5394960" y="2633472"/>
            <a:ext cx="6062472" cy="0"/>
          </a:xfrm>
          <a:prstGeom prst="line">
            <a:avLst/>
          </a:prstGeom>
          <a:noFill/>
          <a:ln w="9525">
            <a:solidFill>
              <a:srgbClr val="E2E5E1"/>
            </a:solidFill>
            <a:prstDash val="solid"/>
          </a:ln>
        </p:spPr>
      </p:sp>
      <p:sp>
        <p:nvSpPr>
          <p:cNvPr id="16" name="Text 13"/>
          <p:cNvSpPr/>
          <p:nvPr/>
        </p:nvSpPr>
        <p:spPr>
          <a:xfrm>
            <a:off x="5394960" y="2734056"/>
            <a:ext cx="1691640" cy="603504"/>
          </a:xfrm>
          <a:prstGeom prst="rect">
            <a:avLst/>
          </a:prstGeom>
          <a:noFill/>
          <a:ln/>
        </p:spPr>
        <p:txBody>
          <a:bodyPr wrap="square" lIns="0" tIns="0" rIns="0" bIns="0" rtlCol="0" anchor="t"/>
          <a:lstStyle/>
          <a:p>
            <a:pPr indent="0" marL="0">
              <a:lnSpc>
                <a:spcPct val="112000"/>
              </a:lnSpc>
              <a:buNone/>
            </a:pPr>
            <a:r>
              <a:rPr lang="en-US" sz="1200" b="1" dirty="0">
                <a:solidFill>
                  <a:srgbClr val="14181A"/>
                </a:solidFill>
                <a:latin typeface="Arial" pitchFamily="34" charset="0"/>
                <a:ea typeface="Arial" pitchFamily="34" charset="-122"/>
                <a:cs typeface="Arial" pitchFamily="34" charset="-120"/>
              </a:rPr>
              <a:t>Site</a:t>
            </a:r>
            <a:endParaRPr lang="en-US" sz="1200" dirty="0"/>
          </a:p>
        </p:txBody>
      </p:sp>
      <p:sp>
        <p:nvSpPr>
          <p:cNvPr id="17" name="Text 14"/>
          <p:cNvSpPr/>
          <p:nvPr/>
        </p:nvSpPr>
        <p:spPr>
          <a:xfrm>
            <a:off x="7223760" y="2734056"/>
            <a:ext cx="2057400"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Arial" pitchFamily="34" charset="0"/>
                <a:ea typeface="Arial" pitchFamily="34" charset="-122"/>
                <a:cs typeface="Arial" pitchFamily="34" charset="-120"/>
              </a:rPr>
              <a:t>Next.js, hébergé par Vercel</a:t>
            </a:r>
            <a:endParaRPr lang="en-US" sz="1200" dirty="0"/>
          </a:p>
        </p:txBody>
      </p:sp>
      <p:sp>
        <p:nvSpPr>
          <p:cNvPr id="18" name="Text 15"/>
          <p:cNvSpPr/>
          <p:nvPr/>
        </p:nvSpPr>
        <p:spPr>
          <a:xfrm>
            <a:off x="9418320" y="2734056"/>
            <a:ext cx="1901952"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Arial" pitchFamily="34" charset="0"/>
                <a:ea typeface="Arial" pitchFamily="34" charset="-122"/>
                <a:cs typeface="Arial" pitchFamily="34" charset="-120"/>
              </a:rPr>
              <a:t>Préparation et suivi, sur ordinateur.</a:t>
            </a:r>
            <a:endParaRPr lang="en-US" sz="1200" dirty="0"/>
          </a:p>
        </p:txBody>
      </p:sp>
      <p:sp>
        <p:nvSpPr>
          <p:cNvPr id="19" name="Shape 16"/>
          <p:cNvSpPr/>
          <p:nvPr/>
        </p:nvSpPr>
        <p:spPr>
          <a:xfrm>
            <a:off x="5394960" y="3364992"/>
            <a:ext cx="6062472" cy="0"/>
          </a:xfrm>
          <a:prstGeom prst="line">
            <a:avLst/>
          </a:prstGeom>
          <a:noFill/>
          <a:ln w="9525">
            <a:solidFill>
              <a:srgbClr val="E2E5E1"/>
            </a:solidFill>
            <a:prstDash val="solid"/>
          </a:ln>
        </p:spPr>
      </p:sp>
      <p:sp>
        <p:nvSpPr>
          <p:cNvPr id="20" name="Text 17"/>
          <p:cNvSpPr/>
          <p:nvPr/>
        </p:nvSpPr>
        <p:spPr>
          <a:xfrm>
            <a:off x="5394960" y="3465576"/>
            <a:ext cx="1691640" cy="603504"/>
          </a:xfrm>
          <a:prstGeom prst="rect">
            <a:avLst/>
          </a:prstGeom>
          <a:noFill/>
          <a:ln/>
        </p:spPr>
        <p:txBody>
          <a:bodyPr wrap="square" lIns="0" tIns="0" rIns="0" bIns="0" rtlCol="0" anchor="t"/>
          <a:lstStyle/>
          <a:p>
            <a:pPr indent="0" marL="0">
              <a:lnSpc>
                <a:spcPct val="112000"/>
              </a:lnSpc>
              <a:buNone/>
            </a:pPr>
            <a:r>
              <a:rPr lang="en-US" sz="1200" b="1" dirty="0">
                <a:solidFill>
                  <a:srgbClr val="14181A"/>
                </a:solidFill>
                <a:latin typeface="Arial" pitchFamily="34" charset="0"/>
                <a:ea typeface="Arial" pitchFamily="34" charset="-122"/>
                <a:cs typeface="Arial" pitchFamily="34" charset="-120"/>
              </a:rPr>
              <a:t>Base de données</a:t>
            </a:r>
            <a:endParaRPr lang="en-US" sz="1200" dirty="0"/>
          </a:p>
        </p:txBody>
      </p:sp>
      <p:sp>
        <p:nvSpPr>
          <p:cNvPr id="21" name="Text 18"/>
          <p:cNvSpPr/>
          <p:nvPr/>
        </p:nvSpPr>
        <p:spPr>
          <a:xfrm>
            <a:off x="7223760" y="3465576"/>
            <a:ext cx="2057400"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Arial" pitchFamily="34" charset="0"/>
                <a:ea typeface="Arial" pitchFamily="34" charset="-122"/>
                <a:cs typeface="Arial" pitchFamily="34" charset="-120"/>
              </a:rPr>
              <a:t>PostgreSQL, chez Supabase</a:t>
            </a:r>
            <a:endParaRPr lang="en-US" sz="1200" dirty="0"/>
          </a:p>
        </p:txBody>
      </p:sp>
      <p:sp>
        <p:nvSpPr>
          <p:cNvPr id="22" name="Text 19"/>
          <p:cNvSpPr/>
          <p:nvPr/>
        </p:nvSpPr>
        <p:spPr>
          <a:xfrm>
            <a:off x="9418320" y="3465576"/>
            <a:ext cx="1901952"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Arial" pitchFamily="34" charset="0"/>
                <a:ea typeface="Arial" pitchFamily="34" charset="-122"/>
                <a:cs typeface="Arial" pitchFamily="34" charset="-120"/>
              </a:rPr>
              <a:t>Données, comptes et règles d’accès.</a:t>
            </a:r>
            <a:endParaRPr lang="en-US" sz="1200" dirty="0"/>
          </a:p>
        </p:txBody>
      </p:sp>
      <p:sp>
        <p:nvSpPr>
          <p:cNvPr id="23" name="Shape 20"/>
          <p:cNvSpPr/>
          <p:nvPr/>
        </p:nvSpPr>
        <p:spPr>
          <a:xfrm>
            <a:off x="5394960" y="4096512"/>
            <a:ext cx="6062472" cy="0"/>
          </a:xfrm>
          <a:prstGeom prst="line">
            <a:avLst/>
          </a:prstGeom>
          <a:noFill/>
          <a:ln w="9525">
            <a:solidFill>
              <a:srgbClr val="E2E5E1"/>
            </a:solidFill>
            <a:prstDash val="solid"/>
          </a:ln>
        </p:spPr>
      </p:sp>
      <p:sp>
        <p:nvSpPr>
          <p:cNvPr id="24" name="Text 21"/>
          <p:cNvSpPr/>
          <p:nvPr/>
        </p:nvSpPr>
        <p:spPr>
          <a:xfrm>
            <a:off x="5394960" y="4197096"/>
            <a:ext cx="1691640" cy="603504"/>
          </a:xfrm>
          <a:prstGeom prst="rect">
            <a:avLst/>
          </a:prstGeom>
          <a:noFill/>
          <a:ln/>
        </p:spPr>
        <p:txBody>
          <a:bodyPr wrap="square" lIns="0" tIns="0" rIns="0" bIns="0" rtlCol="0" anchor="t"/>
          <a:lstStyle/>
          <a:p>
            <a:pPr indent="0" marL="0">
              <a:lnSpc>
                <a:spcPct val="112000"/>
              </a:lnSpc>
              <a:buNone/>
            </a:pPr>
            <a:r>
              <a:rPr lang="en-US" sz="1200" b="1" dirty="0">
                <a:solidFill>
                  <a:srgbClr val="14181A"/>
                </a:solidFill>
                <a:latin typeface="Arial" pitchFamily="34" charset="0"/>
                <a:ea typeface="Arial" pitchFamily="34" charset="-122"/>
                <a:cs typeface="Arial" pitchFamily="34" charset="-120"/>
              </a:rPr>
              <a:t>Traitements serveur</a:t>
            </a:r>
            <a:endParaRPr lang="en-US" sz="1200" dirty="0"/>
          </a:p>
        </p:txBody>
      </p:sp>
      <p:sp>
        <p:nvSpPr>
          <p:cNvPr id="25" name="Text 22"/>
          <p:cNvSpPr/>
          <p:nvPr/>
        </p:nvSpPr>
        <p:spPr>
          <a:xfrm>
            <a:off x="7223760" y="4197096"/>
            <a:ext cx="2057400"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Arial" pitchFamily="34" charset="0"/>
                <a:ea typeface="Arial" pitchFamily="34" charset="-122"/>
                <a:cs typeface="Arial" pitchFamily="34" charset="-120"/>
              </a:rPr>
              <a:t>Supabase Edge Functions</a:t>
            </a:r>
            <a:endParaRPr lang="en-US" sz="1200" dirty="0"/>
          </a:p>
        </p:txBody>
      </p:sp>
      <p:sp>
        <p:nvSpPr>
          <p:cNvPr id="26" name="Text 23"/>
          <p:cNvSpPr/>
          <p:nvPr/>
        </p:nvSpPr>
        <p:spPr>
          <a:xfrm>
            <a:off x="9418320" y="4197096"/>
            <a:ext cx="1901952"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Arial" pitchFamily="34" charset="0"/>
                <a:ea typeface="Arial" pitchFamily="34" charset="-122"/>
                <a:cs typeface="Arial" pitchFamily="34" charset="-120"/>
              </a:rPr>
              <a:t>Invitations, e-mails, notifications, paiement.</a:t>
            </a:r>
            <a:endParaRPr lang="en-US" sz="1200" dirty="0"/>
          </a:p>
        </p:txBody>
      </p:sp>
      <p:sp>
        <p:nvSpPr>
          <p:cNvPr id="27" name="Shape 24"/>
          <p:cNvSpPr/>
          <p:nvPr/>
        </p:nvSpPr>
        <p:spPr>
          <a:xfrm>
            <a:off x="5394960" y="4828032"/>
            <a:ext cx="6062472" cy="0"/>
          </a:xfrm>
          <a:prstGeom prst="line">
            <a:avLst/>
          </a:prstGeom>
          <a:noFill/>
          <a:ln w="9525">
            <a:solidFill>
              <a:srgbClr val="E2E5E1"/>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Hébergement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Les données d’inventaire sont stockées en Irlande.</a:t>
            </a:r>
            <a:endParaRPr lang="en-US" sz="2600" dirty="0"/>
          </a:p>
        </p:txBody>
      </p:sp>
      <p:sp>
        <p:nvSpPr>
          <p:cNvPr id="7" name="Text 4"/>
          <p:cNvSpPr/>
          <p:nvPr/>
        </p:nvSpPr>
        <p:spPr>
          <a:xfrm>
            <a:off x="731520" y="2514600"/>
            <a:ext cx="4206240" cy="9144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Certains prestataires sont établis aux États-Unis. Les transferts de données vers eux reposent sur les clauses contractuelles types de la Commission européenne.</a:t>
            </a:r>
            <a:endParaRPr lang="en-US" sz="1200" dirty="0"/>
          </a:p>
        </p:txBody>
      </p:sp>
      <p:sp>
        <p:nvSpPr>
          <p:cNvPr id="8" name="Text 5"/>
          <p:cNvSpPr/>
          <p:nvPr/>
        </p:nvSpPr>
        <p:spPr>
          <a:xfrm>
            <a:off x="731520" y="3520440"/>
            <a:ext cx="4206240" cy="45720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Arial" pitchFamily="34" charset="0"/>
                <a:ea typeface="Arial" pitchFamily="34" charset="-122"/>
                <a:cs typeface="Arial" pitchFamily="34" charset="-120"/>
              </a:rPr>
              <a:t>Liste publiée sur www.quantinvo.com/confidentialite.</a:t>
            </a:r>
            <a:endParaRPr lang="en-US" sz="1200" dirty="0"/>
          </a:p>
        </p:txBody>
      </p:sp>
      <p:sp>
        <p:nvSpPr>
          <p:cNvPr id="9" name="Text 6"/>
          <p:cNvSpPr/>
          <p:nvPr/>
        </p:nvSpPr>
        <p:spPr>
          <a:xfrm>
            <a:off x="5394960" y="1371600"/>
            <a:ext cx="123444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Prestataire</a:t>
            </a:r>
            <a:endParaRPr lang="en-US" sz="1000" dirty="0"/>
          </a:p>
        </p:txBody>
      </p:sp>
      <p:sp>
        <p:nvSpPr>
          <p:cNvPr id="10" name="Text 7"/>
          <p:cNvSpPr/>
          <p:nvPr/>
        </p:nvSpPr>
        <p:spPr>
          <a:xfrm>
            <a:off x="6629400" y="1371600"/>
            <a:ext cx="251460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Rôle</a:t>
            </a:r>
            <a:endParaRPr lang="en-US" sz="1000" dirty="0"/>
          </a:p>
        </p:txBody>
      </p:sp>
      <p:sp>
        <p:nvSpPr>
          <p:cNvPr id="11" name="Text 8"/>
          <p:cNvSpPr/>
          <p:nvPr/>
        </p:nvSpPr>
        <p:spPr>
          <a:xfrm>
            <a:off x="9144000" y="1371600"/>
            <a:ext cx="2313432"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Localisation</a:t>
            </a:r>
            <a:endParaRPr lang="en-US" sz="1000" dirty="0"/>
          </a:p>
        </p:txBody>
      </p:sp>
      <p:sp>
        <p:nvSpPr>
          <p:cNvPr id="12" name="Shape 9"/>
          <p:cNvSpPr/>
          <p:nvPr/>
        </p:nvSpPr>
        <p:spPr>
          <a:xfrm>
            <a:off x="5394960" y="1700784"/>
            <a:ext cx="6062472" cy="0"/>
          </a:xfrm>
          <a:prstGeom prst="line">
            <a:avLst/>
          </a:prstGeom>
          <a:noFill/>
          <a:ln w="9525">
            <a:solidFill>
              <a:srgbClr val="E2E5E1"/>
            </a:solidFill>
            <a:prstDash val="solid"/>
          </a:ln>
        </p:spPr>
      </p:sp>
      <p:sp>
        <p:nvSpPr>
          <p:cNvPr id="13" name="Text 10"/>
          <p:cNvSpPr/>
          <p:nvPr/>
        </p:nvSpPr>
        <p:spPr>
          <a:xfrm>
            <a:off x="5394960" y="1801368"/>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Supabase</a:t>
            </a:r>
            <a:endParaRPr lang="en-US" sz="1100" dirty="0"/>
          </a:p>
        </p:txBody>
      </p:sp>
      <p:sp>
        <p:nvSpPr>
          <p:cNvPr id="14" name="Text 11"/>
          <p:cNvSpPr/>
          <p:nvPr/>
        </p:nvSpPr>
        <p:spPr>
          <a:xfrm>
            <a:off x="6629400" y="1801368"/>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Base de données, authentification, temps réel</a:t>
            </a:r>
            <a:endParaRPr lang="en-US" sz="1100" dirty="0"/>
          </a:p>
        </p:txBody>
      </p:sp>
      <p:sp>
        <p:nvSpPr>
          <p:cNvPr id="15" name="Text 12"/>
          <p:cNvSpPr/>
          <p:nvPr/>
        </p:nvSpPr>
        <p:spPr>
          <a:xfrm>
            <a:off x="9144000" y="1801368"/>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Irlande, société américaine</a:t>
            </a:r>
            <a:endParaRPr lang="en-US" sz="1100" dirty="0"/>
          </a:p>
        </p:txBody>
      </p:sp>
      <p:sp>
        <p:nvSpPr>
          <p:cNvPr id="16" name="Shape 13"/>
          <p:cNvSpPr/>
          <p:nvPr/>
        </p:nvSpPr>
        <p:spPr>
          <a:xfrm>
            <a:off x="5394960" y="2304288"/>
            <a:ext cx="6062472" cy="0"/>
          </a:xfrm>
          <a:prstGeom prst="line">
            <a:avLst/>
          </a:prstGeom>
          <a:noFill/>
          <a:ln w="9525">
            <a:solidFill>
              <a:srgbClr val="E2E5E1"/>
            </a:solidFill>
            <a:prstDash val="solid"/>
          </a:ln>
        </p:spPr>
      </p:sp>
      <p:sp>
        <p:nvSpPr>
          <p:cNvPr id="17" name="Text 14"/>
          <p:cNvSpPr/>
          <p:nvPr/>
        </p:nvSpPr>
        <p:spPr>
          <a:xfrm>
            <a:off x="5394960" y="2404872"/>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Vercel</a:t>
            </a:r>
            <a:endParaRPr lang="en-US" sz="1100" dirty="0"/>
          </a:p>
        </p:txBody>
      </p:sp>
      <p:sp>
        <p:nvSpPr>
          <p:cNvPr id="18" name="Text 15"/>
          <p:cNvSpPr/>
          <p:nvPr/>
        </p:nvSpPr>
        <p:spPr>
          <a:xfrm>
            <a:off x="6629400" y="2404872"/>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Hébergement du site</a:t>
            </a:r>
            <a:endParaRPr lang="en-US" sz="1100" dirty="0"/>
          </a:p>
        </p:txBody>
      </p:sp>
      <p:sp>
        <p:nvSpPr>
          <p:cNvPr id="19" name="Text 16"/>
          <p:cNvSpPr/>
          <p:nvPr/>
        </p:nvSpPr>
        <p:spPr>
          <a:xfrm>
            <a:off x="9144000" y="2404872"/>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États-Unis</a:t>
            </a:r>
            <a:endParaRPr lang="en-US" sz="1100" dirty="0"/>
          </a:p>
        </p:txBody>
      </p:sp>
      <p:sp>
        <p:nvSpPr>
          <p:cNvPr id="20" name="Shape 17"/>
          <p:cNvSpPr/>
          <p:nvPr/>
        </p:nvSpPr>
        <p:spPr>
          <a:xfrm>
            <a:off x="5394960" y="2907792"/>
            <a:ext cx="6062472" cy="0"/>
          </a:xfrm>
          <a:prstGeom prst="line">
            <a:avLst/>
          </a:prstGeom>
          <a:noFill/>
          <a:ln w="9525">
            <a:solidFill>
              <a:srgbClr val="E2E5E1"/>
            </a:solidFill>
            <a:prstDash val="solid"/>
          </a:ln>
        </p:spPr>
      </p:sp>
      <p:sp>
        <p:nvSpPr>
          <p:cNvPr id="21" name="Text 18"/>
          <p:cNvSpPr/>
          <p:nvPr/>
        </p:nvSpPr>
        <p:spPr>
          <a:xfrm>
            <a:off x="5394960" y="3008376"/>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Resend</a:t>
            </a:r>
            <a:endParaRPr lang="en-US" sz="1100" dirty="0"/>
          </a:p>
        </p:txBody>
      </p:sp>
      <p:sp>
        <p:nvSpPr>
          <p:cNvPr id="22" name="Text 19"/>
          <p:cNvSpPr/>
          <p:nvPr/>
        </p:nvSpPr>
        <p:spPr>
          <a:xfrm>
            <a:off x="6629400" y="3008376"/>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Envoi des e-mails de service</a:t>
            </a:r>
            <a:endParaRPr lang="en-US" sz="1100" dirty="0"/>
          </a:p>
        </p:txBody>
      </p:sp>
      <p:sp>
        <p:nvSpPr>
          <p:cNvPr id="23" name="Text 20"/>
          <p:cNvSpPr/>
          <p:nvPr/>
        </p:nvSpPr>
        <p:spPr>
          <a:xfrm>
            <a:off x="9144000" y="3008376"/>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États-Unis</a:t>
            </a:r>
            <a:endParaRPr lang="en-US" sz="1100" dirty="0"/>
          </a:p>
        </p:txBody>
      </p:sp>
      <p:sp>
        <p:nvSpPr>
          <p:cNvPr id="24" name="Shape 21"/>
          <p:cNvSpPr/>
          <p:nvPr/>
        </p:nvSpPr>
        <p:spPr>
          <a:xfrm>
            <a:off x="5394960" y="3511296"/>
            <a:ext cx="6062472" cy="0"/>
          </a:xfrm>
          <a:prstGeom prst="line">
            <a:avLst/>
          </a:prstGeom>
          <a:noFill/>
          <a:ln w="9525">
            <a:solidFill>
              <a:srgbClr val="E2E5E1"/>
            </a:solidFill>
            <a:prstDash val="solid"/>
          </a:ln>
        </p:spPr>
      </p:sp>
      <p:sp>
        <p:nvSpPr>
          <p:cNvPr id="25" name="Text 22"/>
          <p:cNvSpPr/>
          <p:nvPr/>
        </p:nvSpPr>
        <p:spPr>
          <a:xfrm>
            <a:off x="5394960" y="3611880"/>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Expo</a:t>
            </a:r>
            <a:endParaRPr lang="en-US" sz="1100" dirty="0"/>
          </a:p>
        </p:txBody>
      </p:sp>
      <p:sp>
        <p:nvSpPr>
          <p:cNvPr id="26" name="Text 23"/>
          <p:cNvSpPr/>
          <p:nvPr/>
        </p:nvSpPr>
        <p:spPr>
          <a:xfrm>
            <a:off x="6629400" y="3611880"/>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Acheminement des notifications</a:t>
            </a:r>
            <a:endParaRPr lang="en-US" sz="1100" dirty="0"/>
          </a:p>
        </p:txBody>
      </p:sp>
      <p:sp>
        <p:nvSpPr>
          <p:cNvPr id="27" name="Text 24"/>
          <p:cNvSpPr/>
          <p:nvPr/>
        </p:nvSpPr>
        <p:spPr>
          <a:xfrm>
            <a:off x="9144000" y="3611880"/>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États-Unis</a:t>
            </a:r>
            <a:endParaRPr lang="en-US" sz="1100" dirty="0"/>
          </a:p>
        </p:txBody>
      </p:sp>
      <p:sp>
        <p:nvSpPr>
          <p:cNvPr id="28" name="Shape 25"/>
          <p:cNvSpPr/>
          <p:nvPr/>
        </p:nvSpPr>
        <p:spPr>
          <a:xfrm>
            <a:off x="5394960" y="4114800"/>
            <a:ext cx="6062472" cy="0"/>
          </a:xfrm>
          <a:prstGeom prst="line">
            <a:avLst/>
          </a:prstGeom>
          <a:noFill/>
          <a:ln w="9525">
            <a:solidFill>
              <a:srgbClr val="E2E5E1"/>
            </a:solidFill>
            <a:prstDash val="solid"/>
          </a:ln>
        </p:spPr>
      </p:sp>
      <p:sp>
        <p:nvSpPr>
          <p:cNvPr id="29" name="Text 26"/>
          <p:cNvSpPr/>
          <p:nvPr/>
        </p:nvSpPr>
        <p:spPr>
          <a:xfrm>
            <a:off x="5394960" y="4215384"/>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Stripe</a:t>
            </a:r>
            <a:endParaRPr lang="en-US" sz="1100" dirty="0"/>
          </a:p>
        </p:txBody>
      </p:sp>
      <p:sp>
        <p:nvSpPr>
          <p:cNvPr id="30" name="Text 27"/>
          <p:cNvSpPr/>
          <p:nvPr/>
        </p:nvSpPr>
        <p:spPr>
          <a:xfrm>
            <a:off x="6629400" y="4215384"/>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Abonnements et factures</a:t>
            </a:r>
            <a:endParaRPr lang="en-US" sz="1100" dirty="0"/>
          </a:p>
        </p:txBody>
      </p:sp>
      <p:sp>
        <p:nvSpPr>
          <p:cNvPr id="31" name="Text 28"/>
          <p:cNvSpPr/>
          <p:nvPr/>
        </p:nvSpPr>
        <p:spPr>
          <a:xfrm>
            <a:off x="9144000" y="4215384"/>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Irlande, groupe américain</a:t>
            </a:r>
            <a:endParaRPr lang="en-US" sz="1100" dirty="0"/>
          </a:p>
        </p:txBody>
      </p:sp>
      <p:sp>
        <p:nvSpPr>
          <p:cNvPr id="32" name="Shape 29"/>
          <p:cNvSpPr/>
          <p:nvPr/>
        </p:nvSpPr>
        <p:spPr>
          <a:xfrm>
            <a:off x="5394960" y="4718304"/>
            <a:ext cx="6062472" cy="0"/>
          </a:xfrm>
          <a:prstGeom prst="line">
            <a:avLst/>
          </a:prstGeom>
          <a:noFill/>
          <a:ln w="9525">
            <a:solidFill>
              <a:srgbClr val="E2E5E1"/>
            </a:solidFill>
            <a:prstDash val="solid"/>
          </a:ln>
        </p:spPr>
      </p:sp>
      <p:sp>
        <p:nvSpPr>
          <p:cNvPr id="33" name="Text 30"/>
          <p:cNvSpPr/>
          <p:nvPr/>
        </p:nvSpPr>
        <p:spPr>
          <a:xfrm>
            <a:off x="5394960" y="4818888"/>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ial" pitchFamily="34" charset="0"/>
                <a:ea typeface="Arial" pitchFamily="34" charset="-122"/>
                <a:cs typeface="Arial" pitchFamily="34" charset="-120"/>
              </a:rPr>
              <a:t>Apple, Google</a:t>
            </a:r>
            <a:endParaRPr lang="en-US" sz="1100" dirty="0"/>
          </a:p>
        </p:txBody>
      </p:sp>
      <p:sp>
        <p:nvSpPr>
          <p:cNvPr id="34" name="Text 31"/>
          <p:cNvSpPr/>
          <p:nvPr/>
        </p:nvSpPr>
        <p:spPr>
          <a:xfrm>
            <a:off x="6629400" y="4818888"/>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Distribution de l’application</a:t>
            </a:r>
            <a:endParaRPr lang="en-US" sz="1100" dirty="0"/>
          </a:p>
        </p:txBody>
      </p:sp>
      <p:sp>
        <p:nvSpPr>
          <p:cNvPr id="35" name="Text 32"/>
          <p:cNvSpPr/>
          <p:nvPr/>
        </p:nvSpPr>
        <p:spPr>
          <a:xfrm>
            <a:off x="9144000" y="4818888"/>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Arial" pitchFamily="34" charset="0"/>
                <a:ea typeface="Arial" pitchFamily="34" charset="-122"/>
                <a:cs typeface="Arial" pitchFamily="34" charset="-120"/>
              </a:rPr>
              <a:t>États-Unis</a:t>
            </a:r>
            <a:endParaRPr lang="en-US" sz="1100" dirty="0"/>
          </a:p>
        </p:txBody>
      </p:sp>
      <p:sp>
        <p:nvSpPr>
          <p:cNvPr id="36" name="Shape 33"/>
          <p:cNvSpPr/>
          <p:nvPr/>
        </p:nvSpPr>
        <p:spPr>
          <a:xfrm>
            <a:off x="5394960" y="5321808"/>
            <a:ext cx="6062472" cy="0"/>
          </a:xfrm>
          <a:prstGeom prst="line">
            <a:avLst/>
          </a:prstGeom>
          <a:noFill/>
          <a:ln w="9525">
            <a:solidFill>
              <a:srgbClr val="E2E5E1"/>
            </a:solidFill>
            <a:prstDash val="solid"/>
          </a:ln>
        </p:spPr>
      </p:sp>
      <p:sp>
        <p:nvSpPr>
          <p:cNvPr id="37" name="Text 3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38" name="Text 3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Réseau</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Uniquement des flux sortants, en HTTPS.</a:t>
            </a:r>
            <a:endParaRPr lang="en-US" sz="2600" dirty="0"/>
          </a:p>
        </p:txBody>
      </p:sp>
      <p:sp>
        <p:nvSpPr>
          <p:cNvPr id="7" name="Text 4"/>
          <p:cNvSpPr/>
          <p:nvPr/>
        </p:nvSpPr>
        <p:spPr>
          <a:xfrm>
            <a:off x="731520" y="251460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Aucun serveur ni VPN à installer chez vous. Les flux de Quantinvo passent par le port 443, WebSocket compris. Les notifications transitent par APNs (Apple) et FCM (Google), sur les ports de ces services. L’adresse de la base est communiquée sur demande.</a:t>
            </a:r>
            <a:endParaRPr lang="en-US" sz="1200" dirty="0"/>
          </a:p>
        </p:txBody>
      </p:sp>
      <p:sp>
        <p:nvSpPr>
          <p:cNvPr id="8" name="Text 5"/>
          <p:cNvSpPr/>
          <p:nvPr/>
        </p:nvSpPr>
        <p:spPr>
          <a:xfrm>
            <a:off x="5394960" y="1371600"/>
            <a:ext cx="233172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Destination</a:t>
            </a:r>
            <a:endParaRPr lang="en-US" sz="1000" dirty="0"/>
          </a:p>
        </p:txBody>
      </p:sp>
      <p:sp>
        <p:nvSpPr>
          <p:cNvPr id="9" name="Text 6"/>
          <p:cNvSpPr/>
          <p:nvPr/>
        </p:nvSpPr>
        <p:spPr>
          <a:xfrm>
            <a:off x="7726680" y="1371600"/>
            <a:ext cx="178308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Appelée par</a:t>
            </a:r>
            <a:endParaRPr lang="en-US" sz="1000" dirty="0"/>
          </a:p>
        </p:txBody>
      </p:sp>
      <p:sp>
        <p:nvSpPr>
          <p:cNvPr id="10" name="Text 7"/>
          <p:cNvSpPr/>
          <p:nvPr/>
        </p:nvSpPr>
        <p:spPr>
          <a:xfrm>
            <a:off x="9509760" y="1371600"/>
            <a:ext cx="1947672"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Objet</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2194560" cy="55778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Base de données Supabase</a:t>
            </a:r>
            <a:endParaRPr lang="en-US" sz="1150" dirty="0"/>
          </a:p>
        </p:txBody>
      </p:sp>
      <p:sp>
        <p:nvSpPr>
          <p:cNvPr id="13" name="Text 10"/>
          <p:cNvSpPr/>
          <p:nvPr/>
        </p:nvSpPr>
        <p:spPr>
          <a:xfrm>
            <a:off x="7726680" y="1801368"/>
            <a:ext cx="1645920"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Application, navigateur</a:t>
            </a:r>
            <a:endParaRPr lang="en-US" sz="1150" dirty="0"/>
          </a:p>
        </p:txBody>
      </p:sp>
      <p:sp>
        <p:nvSpPr>
          <p:cNvPr id="14" name="Text 11"/>
          <p:cNvSpPr/>
          <p:nvPr/>
        </p:nvSpPr>
        <p:spPr>
          <a:xfrm>
            <a:off x="9509760" y="1801368"/>
            <a:ext cx="1810512"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Données, connexion, temps réel</a:t>
            </a:r>
            <a:endParaRPr lang="en-US" sz="1150" dirty="0"/>
          </a:p>
        </p:txBody>
      </p:sp>
      <p:sp>
        <p:nvSpPr>
          <p:cNvPr id="15" name="Shape 12"/>
          <p:cNvSpPr/>
          <p:nvPr/>
        </p:nvSpPr>
        <p:spPr>
          <a:xfrm>
            <a:off x="5394960" y="2386584"/>
            <a:ext cx="6062472" cy="0"/>
          </a:xfrm>
          <a:prstGeom prst="line">
            <a:avLst/>
          </a:prstGeom>
          <a:noFill/>
          <a:ln w="9525">
            <a:solidFill>
              <a:srgbClr val="E2E5E1"/>
            </a:solidFill>
            <a:prstDash val="solid"/>
          </a:ln>
        </p:spPr>
      </p:sp>
      <p:sp>
        <p:nvSpPr>
          <p:cNvPr id="16" name="Text 13"/>
          <p:cNvSpPr/>
          <p:nvPr/>
        </p:nvSpPr>
        <p:spPr>
          <a:xfrm>
            <a:off x="5394960" y="2487168"/>
            <a:ext cx="2194560" cy="55778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exp.host</a:t>
            </a:r>
            <a:endParaRPr lang="en-US" sz="1150" dirty="0"/>
          </a:p>
        </p:txBody>
      </p:sp>
      <p:sp>
        <p:nvSpPr>
          <p:cNvPr id="17" name="Text 14"/>
          <p:cNvSpPr/>
          <p:nvPr/>
        </p:nvSpPr>
        <p:spPr>
          <a:xfrm>
            <a:off x="7726680" y="2487168"/>
            <a:ext cx="1645920"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Application</a:t>
            </a:r>
            <a:endParaRPr lang="en-US" sz="1150" dirty="0"/>
          </a:p>
        </p:txBody>
      </p:sp>
      <p:sp>
        <p:nvSpPr>
          <p:cNvPr id="18" name="Text 15"/>
          <p:cNvSpPr/>
          <p:nvPr/>
        </p:nvSpPr>
        <p:spPr>
          <a:xfrm>
            <a:off x="9509760" y="2487168"/>
            <a:ext cx="1810512"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Jeton de notification</a:t>
            </a:r>
            <a:endParaRPr lang="en-US" sz="1150" dirty="0"/>
          </a:p>
        </p:txBody>
      </p:sp>
      <p:sp>
        <p:nvSpPr>
          <p:cNvPr id="19" name="Shape 16"/>
          <p:cNvSpPr/>
          <p:nvPr/>
        </p:nvSpPr>
        <p:spPr>
          <a:xfrm>
            <a:off x="5394960" y="3072384"/>
            <a:ext cx="6062472" cy="0"/>
          </a:xfrm>
          <a:prstGeom prst="line">
            <a:avLst/>
          </a:prstGeom>
          <a:noFill/>
          <a:ln w="9525">
            <a:solidFill>
              <a:srgbClr val="E2E5E1"/>
            </a:solidFill>
            <a:prstDash val="solid"/>
          </a:ln>
        </p:spPr>
      </p:sp>
      <p:sp>
        <p:nvSpPr>
          <p:cNvPr id="20" name="Text 17"/>
          <p:cNvSpPr/>
          <p:nvPr/>
        </p:nvSpPr>
        <p:spPr>
          <a:xfrm>
            <a:off x="5394960" y="3172968"/>
            <a:ext cx="2194560" cy="55778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www.quantinvo.com</a:t>
            </a:r>
            <a:endParaRPr lang="en-US" sz="1150" dirty="0"/>
          </a:p>
        </p:txBody>
      </p:sp>
      <p:sp>
        <p:nvSpPr>
          <p:cNvPr id="21" name="Text 18"/>
          <p:cNvSpPr/>
          <p:nvPr/>
        </p:nvSpPr>
        <p:spPr>
          <a:xfrm>
            <a:off x="7726680" y="3172968"/>
            <a:ext cx="1645920"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Téléphones, postes</a:t>
            </a:r>
            <a:endParaRPr lang="en-US" sz="1150" dirty="0"/>
          </a:p>
        </p:txBody>
      </p:sp>
      <p:sp>
        <p:nvSpPr>
          <p:cNvPr id="22" name="Text 19"/>
          <p:cNvSpPr/>
          <p:nvPr/>
        </p:nvSpPr>
        <p:spPr>
          <a:xfrm>
            <a:off x="9509760" y="3172968"/>
            <a:ext cx="1810512"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Site, liens d’invitation</a:t>
            </a:r>
            <a:endParaRPr lang="en-US" sz="1150" dirty="0"/>
          </a:p>
        </p:txBody>
      </p:sp>
      <p:sp>
        <p:nvSpPr>
          <p:cNvPr id="23" name="Shape 20"/>
          <p:cNvSpPr/>
          <p:nvPr/>
        </p:nvSpPr>
        <p:spPr>
          <a:xfrm>
            <a:off x="5394960" y="3758184"/>
            <a:ext cx="6062472" cy="0"/>
          </a:xfrm>
          <a:prstGeom prst="line">
            <a:avLst/>
          </a:prstGeom>
          <a:noFill/>
          <a:ln w="9525">
            <a:solidFill>
              <a:srgbClr val="E2E5E1"/>
            </a:solidFill>
            <a:prstDash val="solid"/>
          </a:ln>
        </p:spPr>
      </p:sp>
      <p:sp>
        <p:nvSpPr>
          <p:cNvPr id="24" name="Text 21"/>
          <p:cNvSpPr/>
          <p:nvPr/>
        </p:nvSpPr>
        <p:spPr>
          <a:xfrm>
            <a:off x="5394960" y="3858768"/>
            <a:ext cx="2194560" cy="55778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Stripe</a:t>
            </a:r>
            <a:endParaRPr lang="en-US" sz="1150" dirty="0"/>
          </a:p>
        </p:txBody>
      </p:sp>
      <p:sp>
        <p:nvSpPr>
          <p:cNvPr id="25" name="Text 22"/>
          <p:cNvSpPr/>
          <p:nvPr/>
        </p:nvSpPr>
        <p:spPr>
          <a:xfrm>
            <a:off x="7726680" y="3858768"/>
            <a:ext cx="1645920"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Navigateur</a:t>
            </a:r>
            <a:endParaRPr lang="en-US" sz="1150" dirty="0"/>
          </a:p>
        </p:txBody>
      </p:sp>
      <p:sp>
        <p:nvSpPr>
          <p:cNvPr id="26" name="Text 23"/>
          <p:cNvSpPr/>
          <p:nvPr/>
        </p:nvSpPr>
        <p:spPr>
          <a:xfrm>
            <a:off x="9509760" y="3858768"/>
            <a:ext cx="1810512"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Paiement de l’abonnement</a:t>
            </a:r>
            <a:endParaRPr lang="en-US" sz="1150" dirty="0"/>
          </a:p>
        </p:txBody>
      </p:sp>
      <p:sp>
        <p:nvSpPr>
          <p:cNvPr id="27" name="Shape 24"/>
          <p:cNvSpPr/>
          <p:nvPr/>
        </p:nvSpPr>
        <p:spPr>
          <a:xfrm>
            <a:off x="5394960" y="4443984"/>
            <a:ext cx="6062472" cy="0"/>
          </a:xfrm>
          <a:prstGeom prst="line">
            <a:avLst/>
          </a:prstGeom>
          <a:noFill/>
          <a:ln w="9525">
            <a:solidFill>
              <a:srgbClr val="E2E5E1"/>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Comptes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 compte par personne, sur invitation.</a:t>
            </a:r>
            <a:endParaRPr lang="en-US" sz="2600" dirty="0"/>
          </a:p>
        </p:txBody>
      </p:sp>
      <p:sp>
        <p:nvSpPr>
          <p:cNvPr id="7" name="Text 4"/>
          <p:cNvSpPr/>
          <p:nvPr/>
        </p:nvSpPr>
        <p:spPr>
          <a:xfrm>
            <a:off x="731520" y="2103120"/>
            <a:ext cx="8046720" cy="4206240"/>
          </a:xfrm>
          <a:prstGeom prst="rect">
            <a:avLst/>
          </a:prstGeom>
          <a:noFill/>
          <a:ln/>
        </p:spPr>
        <p:txBody>
          <a:bodyPr wrap="square" lIns="0" tIns="0" rIns="0" bIns="0" rtlCol="0" anchor="t"/>
          <a:lstStyle/>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Parcours.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L’administrateur d’entreprise invite les superviseurs. Le superviseur ajoute ses compteurs. La personne reçoit un lien, vérifie son nom et choisit son mot de passe.</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Mot de passe.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Au moins 12 caractères, dont une majuscule, une minuscule, un chiffre et un symbole. Refusé s’il figure dans une fuite publique.</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Double authentification.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Chacun peut l’activer, avec une application d’authentification. Une fois activée, elle est exigée pour toute action d’administration. Pas de codes de secours.</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Sessions.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Elles expirent après 30 jours sans usage, et au plus tard 180 jours après la connexion.</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Annuaire d’entreprise.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Pas de connexion par SAML ni par Entra ID.</a:t>
            </a:r>
            <a:endParaRPr lang="en-US" sz="1350" dirty="0"/>
          </a:p>
        </p:txBody>
      </p:sp>
      <p:pic>
        <p:nvPicPr>
          <p:cNvPr id="8" name="Image 1" descr="preencoded.png">    </p:cNvPr>
          <p:cNvPicPr>
            <a:picLocks noChangeAspect="1"/>
          </p:cNvPicPr>
          <p:nvPr/>
        </p:nvPicPr>
        <p:blipFill>
          <a:blip r:embed="rId2"/>
          <a:stretch>
            <a:fillRect/>
          </a:stretch>
        </p:blipFill>
        <p:spPr>
          <a:xfrm>
            <a:off x="9354312" y="1874520"/>
            <a:ext cx="2078713" cy="4389120"/>
          </a:xfrm>
          <a:prstGeom prst="rect">
            <a:avLst/>
          </a:prstGeom>
        </p:spPr>
      </p:pic>
      <p:sp>
        <p:nvSpPr>
          <p:cNvPr id="9"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Rôles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Trois rôles, chacun son périmètre.</a:t>
            </a:r>
            <a:endParaRPr lang="en-US" sz="2600" dirty="0"/>
          </a:p>
        </p:txBody>
      </p:sp>
      <p:sp>
        <p:nvSpPr>
          <p:cNvPr id="7" name="Text 4"/>
          <p:cNvSpPr/>
          <p:nvPr/>
        </p:nvSpPr>
        <p:spPr>
          <a:xfrm>
            <a:off x="731520" y="2514600"/>
            <a:ext cx="4206240" cy="9144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Le compteur peut aussi rejoindre lui-même un inventaire, avec son N° d’inventaire et son code d’accès. Sur le site, il ne voit que Mon compte.</a:t>
            </a:r>
            <a:endParaRPr lang="en-US" sz="1200" dirty="0"/>
          </a:p>
        </p:txBody>
      </p:sp>
      <p:sp>
        <p:nvSpPr>
          <p:cNvPr id="8" name="Text 5"/>
          <p:cNvSpPr/>
          <p:nvPr/>
        </p:nvSpPr>
        <p:spPr>
          <a:xfrm>
            <a:off x="5394960" y="1371600"/>
            <a:ext cx="192024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Rôle</a:t>
            </a:r>
            <a:endParaRPr lang="en-US" sz="1000" dirty="0"/>
          </a:p>
        </p:txBody>
      </p:sp>
      <p:sp>
        <p:nvSpPr>
          <p:cNvPr id="9" name="Text 6"/>
          <p:cNvSpPr/>
          <p:nvPr/>
        </p:nvSpPr>
        <p:spPr>
          <a:xfrm>
            <a:off x="7315200" y="1371600"/>
            <a:ext cx="210312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Ce qu’il voit</a:t>
            </a:r>
            <a:endParaRPr lang="en-US" sz="1000" dirty="0"/>
          </a:p>
        </p:txBody>
      </p:sp>
      <p:sp>
        <p:nvSpPr>
          <p:cNvPr id="10" name="Text 7"/>
          <p:cNvSpPr/>
          <p:nvPr/>
        </p:nvSpPr>
        <p:spPr>
          <a:xfrm>
            <a:off x="9418320" y="1371600"/>
            <a:ext cx="2039112"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Ce qu’il fait</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1783080" cy="530352"/>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Administrateur d’entreprise</a:t>
            </a:r>
            <a:endParaRPr lang="en-US" sz="1150" dirty="0"/>
          </a:p>
        </p:txBody>
      </p:sp>
      <p:sp>
        <p:nvSpPr>
          <p:cNvPr id="13" name="Text 10"/>
          <p:cNvSpPr/>
          <p:nvPr/>
        </p:nvSpPr>
        <p:spPr>
          <a:xfrm>
            <a:off x="7315200" y="1801368"/>
            <a:ext cx="1965960"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Tous les magasins de l’entreprise</a:t>
            </a:r>
            <a:endParaRPr lang="en-US" sz="1150" dirty="0"/>
          </a:p>
        </p:txBody>
      </p:sp>
      <p:sp>
        <p:nvSpPr>
          <p:cNvPr id="14" name="Text 11"/>
          <p:cNvSpPr/>
          <p:nvPr/>
        </p:nvSpPr>
        <p:spPr>
          <a:xfrm>
            <a:off x="9418320" y="1801368"/>
            <a:ext cx="1901952"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Ajoute les magasins, gère l’abonnement</a:t>
            </a:r>
            <a:endParaRPr lang="en-US" sz="1150" dirty="0"/>
          </a:p>
        </p:txBody>
      </p:sp>
      <p:sp>
        <p:nvSpPr>
          <p:cNvPr id="15" name="Shape 12"/>
          <p:cNvSpPr/>
          <p:nvPr/>
        </p:nvSpPr>
        <p:spPr>
          <a:xfrm>
            <a:off x="5394960" y="2359152"/>
            <a:ext cx="6062472" cy="0"/>
          </a:xfrm>
          <a:prstGeom prst="line">
            <a:avLst/>
          </a:prstGeom>
          <a:noFill/>
          <a:ln w="9525">
            <a:solidFill>
              <a:srgbClr val="E2E5E1"/>
            </a:solidFill>
            <a:prstDash val="solid"/>
          </a:ln>
        </p:spPr>
      </p:sp>
      <p:sp>
        <p:nvSpPr>
          <p:cNvPr id="16" name="Text 13"/>
          <p:cNvSpPr/>
          <p:nvPr/>
        </p:nvSpPr>
        <p:spPr>
          <a:xfrm>
            <a:off x="5394960" y="2459736"/>
            <a:ext cx="1783080" cy="530352"/>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Superviseur</a:t>
            </a:r>
            <a:endParaRPr lang="en-US" sz="1150" dirty="0"/>
          </a:p>
        </p:txBody>
      </p:sp>
      <p:sp>
        <p:nvSpPr>
          <p:cNvPr id="17" name="Text 14"/>
          <p:cNvSpPr/>
          <p:nvPr/>
        </p:nvSpPr>
        <p:spPr>
          <a:xfrm>
            <a:off x="7315200" y="2459736"/>
            <a:ext cx="1965960"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Les inventaires qu’il crée ou où il est invité</a:t>
            </a:r>
            <a:endParaRPr lang="en-US" sz="1150" dirty="0"/>
          </a:p>
        </p:txBody>
      </p:sp>
      <p:sp>
        <p:nvSpPr>
          <p:cNvPr id="18" name="Text 15"/>
          <p:cNvSpPr/>
          <p:nvPr/>
        </p:nvSpPr>
        <p:spPr>
          <a:xfrm>
            <a:off x="9418320" y="2459736"/>
            <a:ext cx="1901952"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Arbitre les écarts, clôture ses inventaires</a:t>
            </a:r>
            <a:endParaRPr lang="en-US" sz="1150" dirty="0"/>
          </a:p>
        </p:txBody>
      </p:sp>
      <p:sp>
        <p:nvSpPr>
          <p:cNvPr id="19" name="Shape 16"/>
          <p:cNvSpPr/>
          <p:nvPr/>
        </p:nvSpPr>
        <p:spPr>
          <a:xfrm>
            <a:off x="5394960" y="3017520"/>
            <a:ext cx="6062472" cy="0"/>
          </a:xfrm>
          <a:prstGeom prst="line">
            <a:avLst/>
          </a:prstGeom>
          <a:noFill/>
          <a:ln w="9525">
            <a:solidFill>
              <a:srgbClr val="E2E5E1"/>
            </a:solidFill>
            <a:prstDash val="solid"/>
          </a:ln>
        </p:spPr>
      </p:sp>
      <p:sp>
        <p:nvSpPr>
          <p:cNvPr id="20" name="Text 17"/>
          <p:cNvSpPr/>
          <p:nvPr/>
        </p:nvSpPr>
        <p:spPr>
          <a:xfrm>
            <a:off x="5394960" y="3118104"/>
            <a:ext cx="1783080" cy="530352"/>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Compteur</a:t>
            </a:r>
            <a:endParaRPr lang="en-US" sz="1150" dirty="0"/>
          </a:p>
        </p:txBody>
      </p:sp>
      <p:sp>
        <p:nvSpPr>
          <p:cNvPr id="21" name="Text 18"/>
          <p:cNvSpPr/>
          <p:nvPr/>
        </p:nvSpPr>
        <p:spPr>
          <a:xfrm>
            <a:off x="7315200" y="3118104"/>
            <a:ext cx="1965960"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Les inventaires en cours qu’il a rejoints</a:t>
            </a:r>
            <a:endParaRPr lang="en-US" sz="1150" dirty="0"/>
          </a:p>
        </p:txBody>
      </p:sp>
      <p:sp>
        <p:nvSpPr>
          <p:cNvPr id="22" name="Text 19"/>
          <p:cNvSpPr/>
          <p:nvPr/>
        </p:nvSpPr>
        <p:spPr>
          <a:xfrm>
            <a:off x="9418320" y="3118104"/>
            <a:ext cx="1901952"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Compte et audite, dans l’application</a:t>
            </a:r>
            <a:endParaRPr lang="en-US" sz="1150" dirty="0"/>
          </a:p>
        </p:txBody>
      </p:sp>
      <p:sp>
        <p:nvSpPr>
          <p:cNvPr id="23" name="Shape 20"/>
          <p:cNvSpPr/>
          <p:nvPr/>
        </p:nvSpPr>
        <p:spPr>
          <a:xfrm>
            <a:off x="5394960" y="3675888"/>
            <a:ext cx="6062472" cy="0"/>
          </a:xfrm>
          <a:prstGeom prst="line">
            <a:avLst/>
          </a:prstGeom>
          <a:noFill/>
          <a:ln w="9525">
            <a:solidFill>
              <a:srgbClr val="E2E5E1"/>
            </a:solidFill>
            <a:prstDash val="solid"/>
          </a:ln>
        </p:spPr>
      </p:sp>
      <p:sp>
        <p:nvSpPr>
          <p:cNvPr id="24" name="Text 21"/>
          <p:cNvSpPr/>
          <p:nvPr/>
        </p:nvSpPr>
        <p:spPr>
          <a:xfrm>
            <a:off x="731520" y="4087368"/>
            <a:ext cx="4206240" cy="10972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Une même personne peut être administrateur d’entreprise et superviseur. Un inventaire clôturé ne reste visible qu’à son créateur et à l’administrateur.</a:t>
            </a:r>
            <a:endParaRPr lang="en-US" sz="1200" dirty="0"/>
          </a:p>
        </p:txBody>
      </p:sp>
      <p:sp>
        <p:nvSpPr>
          <p:cNvPr id="25" name="Shape 22"/>
          <p:cNvSpPr/>
          <p:nvPr/>
        </p:nvSpPr>
        <p:spPr>
          <a:xfrm>
            <a:off x="5340096" y="4032504"/>
            <a:ext cx="6172200" cy="982724"/>
          </a:xfrm>
          <a:prstGeom prst="roundRect">
            <a:avLst>
              <a:gd name="adj" fmla="val 3722"/>
            </a:avLst>
          </a:prstGeom>
          <a:solidFill>
            <a:srgbClr val="FFFFFF"/>
          </a:solidFill>
          <a:ln w="12700">
            <a:solidFill>
              <a:srgbClr val="E2E5E1"/>
            </a:solidFill>
            <a:prstDash val="solid"/>
          </a:ln>
        </p:spPr>
      </p:sp>
      <p:pic>
        <p:nvPicPr>
          <p:cNvPr id="26" name="Image 1" descr="preencoded.png">    </p:cNvPr>
          <p:cNvPicPr>
            <a:picLocks noChangeAspect="1"/>
          </p:cNvPicPr>
          <p:nvPr/>
        </p:nvPicPr>
        <p:blipFill>
          <a:blip r:embed="rId2"/>
          <a:stretch>
            <a:fillRect/>
          </a:stretch>
        </p:blipFill>
        <p:spPr>
          <a:xfrm>
            <a:off x="5394960" y="4087368"/>
            <a:ext cx="6062472" cy="872996"/>
          </a:xfrm>
          <a:prstGeom prst="rect">
            <a:avLst/>
          </a:prstGeom>
        </p:spPr>
      </p:pic>
      <p:sp>
        <p:nvSpPr>
          <p:cNvPr id="27" name="Text 23"/>
          <p:cNvSpPr/>
          <p:nvPr/>
        </p:nvSpPr>
        <p:spPr>
          <a:xfrm>
            <a:off x="5394960" y="5106668"/>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Équipe : N° d’inventaire et code d’accès. Compte de démonstration.</a:t>
            </a:r>
            <a:endParaRPr lang="en-US" sz="1000" dirty="0"/>
          </a:p>
        </p:txBody>
      </p:sp>
      <p:sp>
        <p:nvSpPr>
          <p:cNvPr id="28" name="Text 2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9" name="Text 2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Cloisonnement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Les droits se vérifient dans la base.</a:t>
            </a:r>
            <a:endParaRPr lang="en-US" sz="2600" dirty="0"/>
          </a:p>
        </p:txBody>
      </p:sp>
      <p:sp>
        <p:nvSpPr>
          <p:cNvPr id="7" name="Text 4"/>
          <p:cNvSpPr/>
          <p:nvPr/>
        </p:nvSpPr>
        <p:spPr>
          <a:xfrm>
            <a:off x="731520" y="2514600"/>
            <a:ext cx="4206240" cy="9144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Au 19 septembre 2026, toutes les tables contrôlent l’accès ligne par ligne.</a:t>
            </a:r>
            <a:endParaRPr lang="en-US" sz="1200" dirty="0"/>
          </a:p>
        </p:txBody>
      </p:sp>
      <p:sp>
        <p:nvSpPr>
          <p:cNvPr id="8" name="Text 5"/>
          <p:cNvSpPr/>
          <p:nvPr/>
        </p:nvSpPr>
        <p:spPr>
          <a:xfrm>
            <a:off x="5394960" y="1371600"/>
            <a:ext cx="6062472" cy="4663440"/>
          </a:xfrm>
          <a:prstGeom prst="rect">
            <a:avLst/>
          </a:prstGeom>
          <a:noFill/>
          <a:ln/>
        </p:spPr>
        <p:txBody>
          <a:bodyPr wrap="square" lIns="0" tIns="0" rIns="0" bIns="0" rtlCol="0" anchor="t"/>
          <a:lstStyle/>
          <a:p>
            <a:pPr indent="0" marL="0">
              <a:lnSpc>
                <a:spcPct val="118000"/>
              </a:lnSpc>
              <a:spcAft>
                <a:spcPts val="1800"/>
              </a:spcAft>
              <a:buNone/>
            </a:pPr>
            <a:r>
              <a:rPr lang="en-US" sz="1350" b="1" dirty="0">
                <a:solidFill>
                  <a:srgbClr val="14181A"/>
                </a:solidFill>
                <a:latin typeface="Arial" pitchFamily="34" charset="0"/>
                <a:ea typeface="Arial" pitchFamily="34" charset="-122"/>
                <a:cs typeface="Arial" pitchFamily="34" charset="-120"/>
              </a:rPr>
              <a:t>Écran contourné. </a:t>
            </a:r>
            <a:pPr indent="0" marL="0">
              <a:lnSpc>
                <a:spcPct val="118000"/>
              </a:lnSpc>
              <a:spcAft>
                <a:spcPts val="1800"/>
              </a:spcAft>
              <a:buNone/>
            </a:pPr>
            <a:r>
              <a:rPr lang="en-US" sz="1350" dirty="0">
                <a:solidFill>
                  <a:srgbClr val="3A423F"/>
                </a:solidFill>
                <a:latin typeface="Arial" pitchFamily="34" charset="0"/>
                <a:ea typeface="Arial" pitchFamily="34" charset="-122"/>
                <a:cs typeface="Arial" pitchFamily="34" charset="-120"/>
              </a:rPr>
              <a:t>Appeler la base directement ne donne accès à rien de plus.</a:t>
            </a:r>
            <a:endParaRPr lang="en-US" sz="1350" dirty="0"/>
          </a:p>
          <a:p>
            <a:pPr indent="0" marL="0">
              <a:lnSpc>
                <a:spcPct val="118000"/>
              </a:lnSpc>
              <a:spcAft>
                <a:spcPts val="1800"/>
              </a:spcAft>
              <a:buNone/>
            </a:pPr>
            <a:r>
              <a:rPr lang="en-US" sz="1350" b="1" dirty="0">
                <a:solidFill>
                  <a:srgbClr val="14181A"/>
                </a:solidFill>
                <a:latin typeface="Arial" pitchFamily="34" charset="0"/>
                <a:ea typeface="Arial" pitchFamily="34" charset="-122"/>
                <a:cs typeface="Arial" pitchFamily="34" charset="-120"/>
              </a:rPr>
              <a:t>Entre entreprises. </a:t>
            </a:r>
            <a:pPr indent="0" marL="0">
              <a:lnSpc>
                <a:spcPct val="118000"/>
              </a:lnSpc>
              <a:spcAft>
                <a:spcPts val="1800"/>
              </a:spcAft>
              <a:buNone/>
            </a:pPr>
            <a:r>
              <a:rPr lang="en-US" sz="1350" dirty="0">
                <a:solidFill>
                  <a:srgbClr val="3A423F"/>
                </a:solidFill>
                <a:latin typeface="Arial" pitchFamily="34" charset="0"/>
                <a:ea typeface="Arial" pitchFamily="34" charset="-122"/>
                <a:cs typeface="Arial" pitchFamily="34" charset="-120"/>
              </a:rPr>
              <a:t>Un compte client ne lit que les données de son entreprise.</a:t>
            </a:r>
            <a:endParaRPr lang="en-US" sz="1350" dirty="0"/>
          </a:p>
          <a:p>
            <a:pPr indent="0" marL="0">
              <a:lnSpc>
                <a:spcPct val="118000"/>
              </a:lnSpc>
              <a:spcAft>
                <a:spcPts val="1800"/>
              </a:spcAft>
              <a:buNone/>
            </a:pPr>
            <a:r>
              <a:rPr lang="en-US" sz="1350" b="1" dirty="0">
                <a:solidFill>
                  <a:srgbClr val="14181A"/>
                </a:solidFill>
                <a:latin typeface="Arial" pitchFamily="34" charset="0"/>
                <a:ea typeface="Arial" pitchFamily="34" charset="-122"/>
                <a:cs typeface="Arial" pitchFamily="34" charset="-120"/>
              </a:rPr>
              <a:t>Éditeur. </a:t>
            </a:r>
            <a:pPr indent="0" marL="0">
              <a:lnSpc>
                <a:spcPct val="118000"/>
              </a:lnSpc>
              <a:spcAft>
                <a:spcPts val="1800"/>
              </a:spcAft>
              <a:buNone/>
            </a:pPr>
            <a:r>
              <a:rPr lang="en-US" sz="1350" dirty="0">
                <a:solidFill>
                  <a:srgbClr val="3A423F"/>
                </a:solidFill>
                <a:latin typeface="Arial" pitchFamily="34" charset="0"/>
                <a:ea typeface="Arial" pitchFamily="34" charset="-122"/>
                <a:cs typeface="Arial" pitchFamily="34" charset="-120"/>
              </a:rPr>
              <a:t>Le compte d’administration de Devkaylab peut lire les inventaires de tous les clients. Il est protégé par la double authentification.</a:t>
            </a:r>
            <a:endParaRPr lang="en-US" sz="1350" dirty="0"/>
          </a:p>
          <a:p>
            <a:pPr indent="0" marL="0">
              <a:lnSpc>
                <a:spcPct val="118000"/>
              </a:lnSpc>
              <a:spcAft>
                <a:spcPts val="1800"/>
              </a:spcAft>
              <a:buNone/>
            </a:pPr>
            <a:r>
              <a:rPr lang="en-US" sz="1350" b="1" dirty="0">
                <a:solidFill>
                  <a:srgbClr val="14181A"/>
                </a:solidFill>
                <a:latin typeface="Arial" pitchFamily="34" charset="0"/>
                <a:ea typeface="Arial" pitchFamily="34" charset="-122"/>
                <a:cs typeface="Arial" pitchFamily="34" charset="-120"/>
              </a:rPr>
              <a:t>Écritures. </a:t>
            </a:r>
            <a:pPr indent="0" marL="0">
              <a:lnSpc>
                <a:spcPct val="118000"/>
              </a:lnSpc>
              <a:spcAft>
                <a:spcPts val="1800"/>
              </a:spcAft>
              <a:buNone/>
            </a:pPr>
            <a:r>
              <a:rPr lang="en-US" sz="1350" dirty="0">
                <a:solidFill>
                  <a:srgbClr val="3A423F"/>
                </a:solidFill>
                <a:latin typeface="Arial" pitchFamily="34" charset="0"/>
                <a:ea typeface="Arial" pitchFamily="34" charset="-122"/>
                <a:cs typeface="Arial" pitchFamily="34" charset="-120"/>
              </a:rPr>
              <a:t>Toute modification contrôle les droits de son auteur.</a:t>
            </a:r>
            <a:endParaRPr lang="en-US" sz="1350" dirty="0"/>
          </a:p>
          <a:p>
            <a:pPr indent="0" marL="0">
              <a:lnSpc>
                <a:spcPct val="118000"/>
              </a:lnSpc>
              <a:spcAft>
                <a:spcPts val="1800"/>
              </a:spcAft>
              <a:buNone/>
            </a:pPr>
            <a:r>
              <a:rPr lang="en-US" sz="1350" b="1" dirty="0">
                <a:solidFill>
                  <a:srgbClr val="14181A"/>
                </a:solidFill>
                <a:latin typeface="Arial" pitchFamily="34" charset="0"/>
                <a:ea typeface="Arial" pitchFamily="34" charset="-122"/>
                <a:cs typeface="Arial" pitchFamily="34" charset="-120"/>
              </a:rPr>
              <a:t>Journal. </a:t>
            </a:r>
            <a:pPr indent="0" marL="0">
              <a:lnSpc>
                <a:spcPct val="118000"/>
              </a:lnSpc>
              <a:spcAft>
                <a:spcPts val="1800"/>
              </a:spcAft>
              <a:buNone/>
            </a:pPr>
            <a:r>
              <a:rPr lang="en-US" sz="1350" dirty="0">
                <a:solidFill>
                  <a:srgbClr val="3A423F"/>
                </a:solidFill>
                <a:latin typeface="Arial" pitchFamily="34" charset="0"/>
                <a:ea typeface="Arial" pitchFamily="34" charset="-122"/>
                <a:cs typeface="Arial" pitchFamily="34" charset="-120"/>
              </a:rPr>
              <a:t>L’administrateur d’entreprise y retrouve les invitations, retraits d’accès, suppressions de comptes et demandes de magasin.</a:t>
            </a:r>
            <a:endParaRPr lang="en-US" sz="13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Sécurité</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Nos revues portent sur la base en service.</a:t>
            </a:r>
            <a:endParaRPr lang="en-US" sz="2600" dirty="0"/>
          </a:p>
        </p:txBody>
      </p:sp>
      <p:sp>
        <p:nvSpPr>
          <p:cNvPr id="7" name="Text 4"/>
          <p:cNvSpPr/>
          <p:nvPr/>
        </p:nvSpPr>
        <p:spPr>
          <a:xfrm>
            <a:off x="731520" y="2514600"/>
            <a:ext cx="4206240" cy="9144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Nous relisons les fonctions et les règles d’accès en vigueur, pas seulement le code source.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Calendrier.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Revues internes les 13 août, 28 août et 8 septembre 2026. Chaque constat est corrigé, un test automatique empêche son retour.</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Mots de passe.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Stockés sous forme d’empreinte, jamais en clair.</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Sur le téléphone.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La session est conservée dans le trousseau du système : Keychain sur iOS, Keystore sur Android.</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Sur le site.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Six en-têtes de sécurité, dont CSP et HSTS. Aucun traceur, aucune mesure d’audience.</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Test d’intrusion.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Aucun test externe à ce jour.</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Continuité.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Sauvegarde quotidienne par Supabase, gardée 7 jours. Pas de restauration à la demande ni de taux de disponibilité garanti.</a:t>
            </a:r>
            <a:endParaRPr lang="en-US" sz="13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Protection des données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Pour vos inventaires,</a:t>
            </a:r>
            <a:endParaRPr lang="en-US" sz="2600" dirty="0"/>
          </a:p>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Devkaylab est</a:t>
            </a:r>
            <a:endParaRPr lang="en-US" sz="2600" dirty="0"/>
          </a:p>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sous-traitant.</a:t>
            </a:r>
            <a:endParaRPr lang="en-US" sz="2600" dirty="0"/>
          </a:p>
        </p:txBody>
      </p:sp>
      <p:sp>
        <p:nvSpPr>
          <p:cNvPr id="7" name="Shape 4"/>
          <p:cNvSpPr/>
          <p:nvPr/>
        </p:nvSpPr>
        <p:spPr>
          <a:xfrm>
            <a:off x="676656" y="2916936"/>
            <a:ext cx="4315968" cy="1098194"/>
          </a:xfrm>
          <a:prstGeom prst="roundRect">
            <a:avLst>
              <a:gd name="adj" fmla="val 3331"/>
            </a:avLst>
          </a:prstGeom>
          <a:solidFill>
            <a:srgbClr val="FFFFFF"/>
          </a:solidFill>
          <a:ln w="12700">
            <a:solidFill>
              <a:srgbClr val="E2E5E1"/>
            </a:solidFill>
            <a:prstDash val="solid"/>
          </a:ln>
        </p:spPr>
      </p:sp>
      <p:pic>
        <p:nvPicPr>
          <p:cNvPr id="8" name="Image 1" descr="preencoded.png">    </p:cNvPr>
          <p:cNvPicPr>
            <a:picLocks noChangeAspect="1"/>
          </p:cNvPicPr>
          <p:nvPr/>
        </p:nvPicPr>
        <p:blipFill>
          <a:blip r:embed="rId2"/>
          <a:stretch>
            <a:fillRect/>
          </a:stretch>
        </p:blipFill>
        <p:spPr>
          <a:xfrm>
            <a:off x="731520" y="2971800"/>
            <a:ext cx="4206240" cy="988466"/>
          </a:xfrm>
          <a:prstGeom prst="rect">
            <a:avLst/>
          </a:prstGeom>
        </p:spPr>
      </p:pic>
      <p:sp>
        <p:nvSpPr>
          <p:cNvPr id="9" name="Text 5"/>
          <p:cNvSpPr/>
          <p:nvPr/>
        </p:nvSpPr>
        <p:spPr>
          <a:xfrm>
            <a:off x="731520" y="4106570"/>
            <a:ext cx="4206240"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Suivi d’un inventaire. Compte de démonstration.</a:t>
            </a:r>
            <a:endParaRPr lang="en-US" sz="1000" dirty="0"/>
          </a:p>
        </p:txBody>
      </p:sp>
      <p:sp>
        <p:nvSpPr>
          <p:cNvPr id="10"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Relation client.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Pour les comptes, la facturation et l’assistance, Devkaylab est responsable de traitement.</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Contrat.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Les clauses de l’article 28 du RGPD sont annexées aux conditions générales. Leur relecture juridique est à venir.</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Comptages.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Tous nominatifs : qui, quoi, où et quand.</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Suivi en direct.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Il ne montre que des nombres, sans aucun nom. Rien n’en est conservé après l’inventaire.</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Violation de données.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Nous vous prévenons dans les meilleurs délais. Vous notifiez la CNIL sous 72 heures s’il y a un risque.</a:t>
            </a:r>
            <a:endParaRPr lang="en-US" sz="135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Conservation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37160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Chaque donnée a sa durée de conservation.</a:t>
            </a:r>
            <a:endParaRPr lang="en-US" sz="2600" dirty="0"/>
          </a:p>
        </p:txBody>
      </p:sp>
      <p:sp>
        <p:nvSpPr>
          <p:cNvPr id="7" name="Text 4"/>
          <p:cNvSpPr/>
          <p:nvPr/>
        </p:nvSpPr>
        <p:spPr>
          <a:xfrm>
            <a:off x="731520" y="2514600"/>
            <a:ext cx="4206240" cy="6400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Une tâche automatique quotidienne efface ou anonymise ce qui a expiré.</a:t>
            </a:r>
            <a:endParaRPr lang="en-US" sz="1200" dirty="0"/>
          </a:p>
        </p:txBody>
      </p:sp>
      <p:sp>
        <p:nvSpPr>
          <p:cNvPr id="8" name="Text 5"/>
          <p:cNvSpPr/>
          <p:nvPr/>
        </p:nvSpPr>
        <p:spPr>
          <a:xfrm>
            <a:off x="731520" y="3291840"/>
            <a:ext cx="4206240" cy="274320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Télécharger mes données.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Depuis Mon compte, chacun en obtient une copie au format JSON.</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Supprimer mon compte.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La demande part du même écran. Les comptages restent à l’entreprise, détachés du nom.</a:t>
            </a:r>
            <a:endParaRPr lang="en-US" sz="1200" dirty="0"/>
          </a:p>
          <a:p>
            <a:pPr indent="0" marL="0">
              <a:lnSpc>
                <a:spcPct val="118000"/>
              </a:lnSpc>
              <a:spcAft>
                <a:spcPts val="1000"/>
              </a:spcAft>
              <a:buNone/>
            </a:pPr>
            <a:r>
              <a:rPr lang="en-US" sz="1200" b="1" dirty="0">
                <a:solidFill>
                  <a:srgbClr val="14181A"/>
                </a:solidFill>
                <a:latin typeface="Arial" pitchFamily="34" charset="0"/>
                <a:ea typeface="Arial" pitchFamily="34" charset="-122"/>
                <a:cs typeface="Arial" pitchFamily="34" charset="-120"/>
              </a:rPr>
              <a:t>Côté employeur. </a:t>
            </a:r>
            <a:pPr indent="0" marL="0">
              <a:lnSpc>
                <a:spcPct val="118000"/>
              </a:lnSpc>
              <a:spcAft>
                <a:spcPts val="1000"/>
              </a:spcAft>
              <a:buNone/>
            </a:pPr>
            <a:r>
              <a:rPr lang="en-US" sz="1200" dirty="0">
                <a:solidFill>
                  <a:srgbClr val="3A423F"/>
                </a:solidFill>
                <a:latin typeface="Arial" pitchFamily="34" charset="0"/>
                <a:ea typeface="Arial" pitchFamily="34" charset="-122"/>
                <a:cs typeface="Arial" pitchFamily="34" charset="-120"/>
              </a:rPr>
              <a:t>L’administrateur d’entreprise peut aussi supprimer tout compte de son entreprise.</a:t>
            </a:r>
            <a:endParaRPr lang="en-US" sz="1200" dirty="0"/>
          </a:p>
        </p:txBody>
      </p:sp>
      <p:sp>
        <p:nvSpPr>
          <p:cNvPr id="9" name="Text 6"/>
          <p:cNvSpPr/>
          <p:nvPr/>
        </p:nvSpPr>
        <p:spPr>
          <a:xfrm>
            <a:off x="5394960" y="1371600"/>
            <a:ext cx="301752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Donnée</a:t>
            </a:r>
            <a:endParaRPr lang="en-US" sz="1000" dirty="0"/>
          </a:p>
        </p:txBody>
      </p:sp>
      <p:sp>
        <p:nvSpPr>
          <p:cNvPr id="10" name="Text 7"/>
          <p:cNvSpPr/>
          <p:nvPr/>
        </p:nvSpPr>
        <p:spPr>
          <a:xfrm>
            <a:off x="8412480" y="1371600"/>
            <a:ext cx="3044952"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Durée</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Détail des comptages</a:t>
            </a:r>
            <a:endParaRPr lang="en-US" sz="1150" dirty="0"/>
          </a:p>
        </p:txBody>
      </p:sp>
      <p:sp>
        <p:nvSpPr>
          <p:cNvPr id="13" name="Text 10"/>
          <p:cNvSpPr/>
          <p:nvPr/>
        </p:nvSpPr>
        <p:spPr>
          <a:xfrm>
            <a:off x="8412480" y="1801368"/>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12 mois après la clôture de l’inventaire</a:t>
            </a:r>
            <a:endParaRPr lang="en-US" sz="1150" dirty="0"/>
          </a:p>
        </p:txBody>
      </p:sp>
      <p:sp>
        <p:nvSpPr>
          <p:cNvPr id="14" name="Shape 11"/>
          <p:cNvSpPr/>
          <p:nvPr/>
        </p:nvSpPr>
        <p:spPr>
          <a:xfrm>
            <a:off x="5394960" y="2194560"/>
            <a:ext cx="6062472" cy="0"/>
          </a:xfrm>
          <a:prstGeom prst="line">
            <a:avLst/>
          </a:prstGeom>
          <a:noFill/>
          <a:ln w="9525">
            <a:solidFill>
              <a:srgbClr val="E2E5E1"/>
            </a:solidFill>
            <a:prstDash val="solid"/>
          </a:ln>
        </p:spPr>
      </p:sp>
      <p:sp>
        <p:nvSpPr>
          <p:cNvPr id="15" name="Text 12"/>
          <p:cNvSpPr/>
          <p:nvPr/>
        </p:nvSpPr>
        <p:spPr>
          <a:xfrm>
            <a:off x="5394960" y="2295144"/>
            <a:ext cx="2880360" cy="54864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Rapport, écarts, référentiel articles, stock théorique</a:t>
            </a:r>
            <a:endParaRPr lang="en-US" sz="1150" dirty="0"/>
          </a:p>
        </p:txBody>
      </p:sp>
      <p:sp>
        <p:nvSpPr>
          <p:cNvPr id="16" name="Text 13"/>
          <p:cNvSpPr/>
          <p:nvPr/>
        </p:nvSpPr>
        <p:spPr>
          <a:xfrm>
            <a:off x="8412480" y="2295144"/>
            <a:ext cx="2907792" cy="54864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Tant que l’entreprise utilise le service</a:t>
            </a:r>
            <a:endParaRPr lang="en-US" sz="1150" dirty="0"/>
          </a:p>
        </p:txBody>
      </p:sp>
      <p:sp>
        <p:nvSpPr>
          <p:cNvPr id="17" name="Shape 14"/>
          <p:cNvSpPr/>
          <p:nvPr/>
        </p:nvSpPr>
        <p:spPr>
          <a:xfrm>
            <a:off x="5394960" y="2871216"/>
            <a:ext cx="6062472" cy="0"/>
          </a:xfrm>
          <a:prstGeom prst="line">
            <a:avLst/>
          </a:prstGeom>
          <a:noFill/>
          <a:ln w="9525">
            <a:solidFill>
              <a:srgbClr val="E2E5E1"/>
            </a:solidFill>
            <a:prstDash val="solid"/>
          </a:ln>
        </p:spPr>
      </p:sp>
      <p:sp>
        <p:nvSpPr>
          <p:cNvPr id="18" name="Text 15"/>
          <p:cNvSpPr/>
          <p:nvPr/>
        </p:nvSpPr>
        <p:spPr>
          <a:xfrm>
            <a:off x="5394960" y="2971800"/>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Compte</a:t>
            </a:r>
            <a:endParaRPr lang="en-US" sz="1150" dirty="0"/>
          </a:p>
        </p:txBody>
      </p:sp>
      <p:sp>
        <p:nvSpPr>
          <p:cNvPr id="19" name="Text 16"/>
          <p:cNvSpPr/>
          <p:nvPr/>
        </p:nvSpPr>
        <p:spPr>
          <a:xfrm>
            <a:off x="8412480" y="2971800"/>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Tant qu’il est actif</a:t>
            </a:r>
            <a:endParaRPr lang="en-US" sz="1150" dirty="0"/>
          </a:p>
        </p:txBody>
      </p:sp>
      <p:sp>
        <p:nvSpPr>
          <p:cNvPr id="20" name="Shape 17"/>
          <p:cNvSpPr/>
          <p:nvPr/>
        </p:nvSpPr>
        <p:spPr>
          <a:xfrm>
            <a:off x="5394960" y="3364992"/>
            <a:ext cx="6062472" cy="0"/>
          </a:xfrm>
          <a:prstGeom prst="line">
            <a:avLst/>
          </a:prstGeom>
          <a:noFill/>
          <a:ln w="9525">
            <a:solidFill>
              <a:srgbClr val="E2E5E1"/>
            </a:solidFill>
            <a:prstDash val="solid"/>
          </a:ln>
        </p:spPr>
      </p:sp>
      <p:sp>
        <p:nvSpPr>
          <p:cNvPr id="21" name="Text 18"/>
          <p:cNvSpPr/>
          <p:nvPr/>
        </p:nvSpPr>
        <p:spPr>
          <a:xfrm>
            <a:off x="5394960" y="3465576"/>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Invitations</a:t>
            </a:r>
            <a:endParaRPr lang="en-US" sz="1150" dirty="0"/>
          </a:p>
        </p:txBody>
      </p:sp>
      <p:sp>
        <p:nvSpPr>
          <p:cNvPr id="22" name="Text 19"/>
          <p:cNvSpPr/>
          <p:nvPr/>
        </p:nvSpPr>
        <p:spPr>
          <a:xfrm>
            <a:off x="8412480" y="3465576"/>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3 mois</a:t>
            </a:r>
            <a:endParaRPr lang="en-US" sz="1150" dirty="0"/>
          </a:p>
        </p:txBody>
      </p:sp>
      <p:sp>
        <p:nvSpPr>
          <p:cNvPr id="23" name="Shape 20"/>
          <p:cNvSpPr/>
          <p:nvPr/>
        </p:nvSpPr>
        <p:spPr>
          <a:xfrm>
            <a:off x="5394960" y="3858768"/>
            <a:ext cx="6062472" cy="0"/>
          </a:xfrm>
          <a:prstGeom prst="line">
            <a:avLst/>
          </a:prstGeom>
          <a:noFill/>
          <a:ln w="9525">
            <a:solidFill>
              <a:srgbClr val="E2E5E1"/>
            </a:solidFill>
            <a:prstDash val="solid"/>
          </a:ln>
        </p:spPr>
      </p:sp>
      <p:sp>
        <p:nvSpPr>
          <p:cNvPr id="24" name="Text 21"/>
          <p:cNvSpPr/>
          <p:nvPr/>
        </p:nvSpPr>
        <p:spPr>
          <a:xfrm>
            <a:off x="5394960" y="3959352"/>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Journaux d’administration</a:t>
            </a:r>
            <a:endParaRPr lang="en-US" sz="1150" dirty="0"/>
          </a:p>
        </p:txBody>
      </p:sp>
      <p:sp>
        <p:nvSpPr>
          <p:cNvPr id="25" name="Text 22"/>
          <p:cNvSpPr/>
          <p:nvPr/>
        </p:nvSpPr>
        <p:spPr>
          <a:xfrm>
            <a:off x="8412480" y="3959352"/>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1 an</a:t>
            </a:r>
            <a:endParaRPr lang="en-US" sz="1150" dirty="0"/>
          </a:p>
        </p:txBody>
      </p:sp>
      <p:sp>
        <p:nvSpPr>
          <p:cNvPr id="26" name="Shape 23"/>
          <p:cNvSpPr/>
          <p:nvPr/>
        </p:nvSpPr>
        <p:spPr>
          <a:xfrm>
            <a:off x="5394960" y="4352544"/>
            <a:ext cx="6062472" cy="0"/>
          </a:xfrm>
          <a:prstGeom prst="line">
            <a:avLst/>
          </a:prstGeom>
          <a:noFill/>
          <a:ln w="9525">
            <a:solidFill>
              <a:srgbClr val="E2E5E1"/>
            </a:solidFill>
            <a:prstDash val="solid"/>
          </a:ln>
        </p:spPr>
      </p:sp>
      <p:sp>
        <p:nvSpPr>
          <p:cNvPr id="27" name="Text 24"/>
          <p:cNvSpPr/>
          <p:nvPr/>
        </p:nvSpPr>
        <p:spPr>
          <a:xfrm>
            <a:off x="5394960" y="4453128"/>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Factures</a:t>
            </a:r>
            <a:endParaRPr lang="en-US" sz="1150" dirty="0"/>
          </a:p>
        </p:txBody>
      </p:sp>
      <p:sp>
        <p:nvSpPr>
          <p:cNvPr id="28" name="Text 25"/>
          <p:cNvSpPr/>
          <p:nvPr/>
        </p:nvSpPr>
        <p:spPr>
          <a:xfrm>
            <a:off x="8412480" y="4453128"/>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10 ans</a:t>
            </a:r>
            <a:endParaRPr lang="en-US" sz="1150" dirty="0"/>
          </a:p>
        </p:txBody>
      </p:sp>
      <p:sp>
        <p:nvSpPr>
          <p:cNvPr id="29" name="Shape 26"/>
          <p:cNvSpPr/>
          <p:nvPr/>
        </p:nvSpPr>
        <p:spPr>
          <a:xfrm>
            <a:off x="5394960" y="4846320"/>
            <a:ext cx="6062472" cy="0"/>
          </a:xfrm>
          <a:prstGeom prst="line">
            <a:avLst/>
          </a:prstGeom>
          <a:noFill/>
          <a:ln w="9525">
            <a:solidFill>
              <a:srgbClr val="E2E5E1"/>
            </a:solidFill>
            <a:prstDash val="solid"/>
          </a:ln>
        </p:spPr>
      </p:sp>
      <p:sp>
        <p:nvSpPr>
          <p:cNvPr id="30" name="Text 27"/>
          <p:cNvSpPr/>
          <p:nvPr/>
        </p:nvSpPr>
        <p:spPr>
          <a:xfrm>
            <a:off x="5394960" y="4946904"/>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Décompte d’appareils, sans nom</a:t>
            </a:r>
            <a:endParaRPr lang="en-US" sz="1150" dirty="0"/>
          </a:p>
        </p:txBody>
      </p:sp>
      <p:sp>
        <p:nvSpPr>
          <p:cNvPr id="31" name="Text 28"/>
          <p:cNvSpPr/>
          <p:nvPr/>
        </p:nvSpPr>
        <p:spPr>
          <a:xfrm>
            <a:off x="8412480" y="4946904"/>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7 jours</a:t>
            </a:r>
            <a:endParaRPr lang="en-US" sz="1150" dirty="0"/>
          </a:p>
        </p:txBody>
      </p:sp>
      <p:sp>
        <p:nvSpPr>
          <p:cNvPr id="32" name="Shape 29"/>
          <p:cNvSpPr/>
          <p:nvPr/>
        </p:nvSpPr>
        <p:spPr>
          <a:xfrm>
            <a:off x="5394960" y="5340096"/>
            <a:ext cx="6062472" cy="0"/>
          </a:xfrm>
          <a:prstGeom prst="line">
            <a:avLst/>
          </a:prstGeom>
          <a:noFill/>
          <a:ln w="9525">
            <a:solidFill>
              <a:srgbClr val="E2E5E1"/>
            </a:solidFill>
            <a:prstDash val="solid"/>
          </a:ln>
        </p:spPr>
      </p:sp>
      <p:sp>
        <p:nvSpPr>
          <p:cNvPr id="33" name="Text 30"/>
          <p:cNvSpPr/>
          <p:nvPr/>
        </p:nvSpPr>
        <p:spPr>
          <a:xfrm>
            <a:off x="5394960" y="5440680"/>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Pic d’appareils de chaque jour</a:t>
            </a:r>
            <a:endParaRPr lang="en-US" sz="1150" dirty="0"/>
          </a:p>
        </p:txBody>
      </p:sp>
      <p:sp>
        <p:nvSpPr>
          <p:cNvPr id="34" name="Text 31"/>
          <p:cNvSpPr/>
          <p:nvPr/>
        </p:nvSpPr>
        <p:spPr>
          <a:xfrm>
            <a:off x="8412480" y="5440680"/>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13 mois</a:t>
            </a:r>
            <a:endParaRPr lang="en-US" sz="1150" dirty="0"/>
          </a:p>
        </p:txBody>
      </p:sp>
      <p:sp>
        <p:nvSpPr>
          <p:cNvPr id="35" name="Shape 32"/>
          <p:cNvSpPr/>
          <p:nvPr/>
        </p:nvSpPr>
        <p:spPr>
          <a:xfrm>
            <a:off x="5394960" y="5833872"/>
            <a:ext cx="6062472" cy="0"/>
          </a:xfrm>
          <a:prstGeom prst="line">
            <a:avLst/>
          </a:prstGeom>
          <a:noFill/>
          <a:ln w="9525">
            <a:solidFill>
              <a:srgbClr val="E2E5E1"/>
            </a:solidFill>
            <a:prstDash val="solid"/>
          </a:ln>
        </p:spPr>
      </p:sp>
      <p:sp>
        <p:nvSpPr>
          <p:cNvPr id="36" name="Text 3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37" name="Text 3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Fichiers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Vos outils et Quantinvo échangent par fichiers.</a:t>
            </a:r>
            <a:endParaRPr lang="en-US" sz="2600" dirty="0"/>
          </a:p>
        </p:txBody>
      </p:sp>
      <p:sp>
        <p:nvSpPr>
          <p:cNvPr id="7" name="Text 4"/>
          <p:cNvSpPr/>
          <p:nvPr/>
        </p:nvSpPr>
        <p:spPr>
          <a:xfrm>
            <a:off x="731520" y="2514600"/>
            <a:ext cx="4206240" cy="356616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Rapport d’inventaire.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Un classeur Excel, avec les écarts et le détail par zone, ou deux fichiers CSV.</a:t>
            </a:r>
            <a:endParaRPr lang="en-US" sz="1250" dirty="0"/>
          </a:p>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Rapport du magasin.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Les inventaires clôturés d’un magasin, réunis pour l’administrateur d’entreprise.</a:t>
            </a:r>
            <a:endParaRPr lang="en-US" sz="1250" dirty="0"/>
          </a:p>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Balises.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PDF A4 de 21 étiquettes QR, à imprimer sur feuilles autocollantes.</a:t>
            </a:r>
            <a:endParaRPr lang="en-US" sz="1250" dirty="0"/>
          </a:p>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Fin de contrat.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Les exports restent possibles 30 jours après le terme. Une extraction complète, gratuite une fois, se demande par écrit avant.</a:t>
            </a:r>
            <a:endParaRPr lang="en-US" sz="1250" dirty="0"/>
          </a:p>
        </p:txBody>
      </p:sp>
      <p:sp>
        <p:nvSpPr>
          <p:cNvPr id="8" name="Shape 5"/>
          <p:cNvSpPr/>
          <p:nvPr/>
        </p:nvSpPr>
        <p:spPr>
          <a:xfrm>
            <a:off x="5340096" y="1316736"/>
            <a:ext cx="6172200" cy="1576249"/>
          </a:xfrm>
          <a:prstGeom prst="roundRect">
            <a:avLst>
              <a:gd name="adj" fmla="val 232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1466521"/>
          </a:xfrm>
          <a:prstGeom prst="rect">
            <a:avLst/>
          </a:prstGeom>
        </p:spPr>
      </p:pic>
      <p:sp>
        <p:nvSpPr>
          <p:cNvPr id="10" name="Text 6"/>
          <p:cNvSpPr/>
          <p:nvPr/>
        </p:nvSpPr>
        <p:spPr>
          <a:xfrm>
            <a:off x="5394960" y="298442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Set up d’un inventaire. Compte de démonstration.</a:t>
            </a:r>
            <a:endParaRPr lang="en-US" sz="1000" dirty="0"/>
          </a:p>
        </p:txBody>
      </p:sp>
      <p:sp>
        <p:nvSpPr>
          <p:cNvPr id="11" name="Text 7"/>
          <p:cNvSpPr/>
          <p:nvPr/>
        </p:nvSpPr>
        <p:spPr>
          <a:xfrm>
            <a:off x="5394960" y="3478201"/>
            <a:ext cx="6062472" cy="219456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Import.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CSV, XLSX ou XLS. Le fichier est lu sur l’ordinateur ou le téléphone. Seules ses lignes entrent dans la base.</a:t>
            </a:r>
            <a:endParaRPr lang="en-US" sz="1250" dirty="0"/>
          </a:p>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Intégration.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Ni API publique ni connecteur ERP à ce jour.</a:t>
            </a:r>
            <a:endParaRPr lang="en-US" sz="125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Appareils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 téléphone de chacun devient le scanner.</a:t>
            </a:r>
            <a:endParaRPr lang="en-US" sz="2600" dirty="0"/>
          </a:p>
        </p:txBody>
      </p:sp>
      <p:sp>
        <p:nvSpPr>
          <p:cNvPr id="7" name="Text 4"/>
          <p:cNvSpPr/>
          <p:nvPr/>
        </p:nvSpPr>
        <p:spPr>
          <a:xfrm>
            <a:off x="731520" y="2103120"/>
            <a:ext cx="8046720" cy="4206240"/>
          </a:xfrm>
          <a:prstGeom prst="rect">
            <a:avLst/>
          </a:prstGeom>
          <a:noFill/>
          <a:ln/>
        </p:spPr>
        <p:txBody>
          <a:bodyPr wrap="square" lIns="0" tIns="0" rIns="0" bIns="0" rtlCol="0" anchor="t"/>
          <a:lstStyle/>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Systèmes.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iPhone à partir d’iOS 16.4, Android à partir de la version 7.0. Pas de version iPad. Terminaux durcis : pas encore testés.</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Trois modes.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Caméra, saisie manuelle ou douchette Bluetooth, reliée comme un clavier.</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Codes lus.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EAN, UPC, Code 128, Code 39, ITF, Data Matrix et QR.</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Autorisations.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La caméra, qui lit les codes sans enregistrer d’image. Les notifications, si la personne les accepte. Ni micro ni localisation.</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Abonnement.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Il fixe le nombre d’appareils qui comptent en même temps dans un magasin. Inventaires et comptes sont illimités.</a:t>
            </a:r>
            <a:endParaRPr lang="en-US" sz="1350" dirty="0"/>
          </a:p>
        </p:txBody>
      </p:sp>
      <p:pic>
        <p:nvPicPr>
          <p:cNvPr id="8" name="Image 1" descr="preencoded.png">    </p:cNvPr>
          <p:cNvPicPr>
            <a:picLocks noChangeAspect="1"/>
          </p:cNvPicPr>
          <p:nvPr/>
        </p:nvPicPr>
        <p:blipFill>
          <a:blip r:embed="rId2"/>
          <a:stretch>
            <a:fillRect/>
          </a:stretch>
        </p:blipFill>
        <p:spPr>
          <a:xfrm>
            <a:off x="9354312" y="1874520"/>
            <a:ext cx="2078713" cy="4389120"/>
          </a:xfrm>
          <a:prstGeom prst="rect">
            <a:avLst/>
          </a:prstGeom>
        </p:spPr>
      </p:pic>
      <p:sp>
        <p:nvSpPr>
          <p:cNvPr id="9"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Déploiement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L’application s’installera par les boutiques ou votre gestion de parc.</a:t>
            </a:r>
            <a:endParaRPr lang="en-US" sz="2600" dirty="0"/>
          </a:p>
        </p:txBody>
      </p:sp>
      <p:sp>
        <p:nvSpPr>
          <p:cNvPr id="7" name="Text 4"/>
          <p:cNvSpPr/>
          <p:nvPr/>
        </p:nvSpPr>
        <p:spPr>
          <a:xfrm>
            <a:off x="731520" y="3017520"/>
            <a:ext cx="4206240" cy="9144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Une seule application pour tous les clients : aucune version spéciale à demander.</a:t>
            </a:r>
            <a:endParaRPr lang="en-US" sz="1200" dirty="0"/>
          </a:p>
        </p:txBody>
      </p:sp>
      <p:sp>
        <p:nvSpPr>
          <p:cNvPr id="8" name="Text 5"/>
          <p:cNvSpPr/>
          <p:nvPr/>
        </p:nvSpPr>
        <p:spPr>
          <a:xfrm>
            <a:off x="5394960" y="1371600"/>
            <a:ext cx="2468880"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Élément</a:t>
            </a:r>
            <a:endParaRPr lang="en-US" sz="1000" dirty="0"/>
          </a:p>
        </p:txBody>
      </p:sp>
      <p:sp>
        <p:nvSpPr>
          <p:cNvPr id="9" name="Text 6"/>
          <p:cNvSpPr/>
          <p:nvPr/>
        </p:nvSpPr>
        <p:spPr>
          <a:xfrm>
            <a:off x="7863840" y="1371600"/>
            <a:ext cx="3593592" cy="274320"/>
          </a:xfrm>
          <a:prstGeom prst="rect">
            <a:avLst/>
          </a:prstGeom>
          <a:noFill/>
          <a:ln/>
        </p:spPr>
        <p:txBody>
          <a:bodyPr wrap="square" lIns="0" tIns="0" rIns="0" bIns="0" rtlCol="0" anchor="t"/>
          <a:lstStyle/>
          <a:p>
            <a:pPr indent="0" marL="0">
              <a:buNone/>
            </a:pPr>
            <a:r>
              <a:rPr lang="en-US" sz="1000" b="1" dirty="0">
                <a:solidFill>
                  <a:srgbClr val="575F5C"/>
                </a:solidFill>
                <a:latin typeface="Arial" pitchFamily="34" charset="0"/>
                <a:ea typeface="Arial" pitchFamily="34" charset="-122"/>
                <a:cs typeface="Arial" pitchFamily="34" charset="-120"/>
              </a:rPr>
              <a:t>Valeur</a:t>
            </a:r>
            <a:endParaRPr lang="en-US" sz="1000" dirty="0"/>
          </a:p>
        </p:txBody>
      </p:sp>
      <p:sp>
        <p:nvSpPr>
          <p:cNvPr id="10" name="Shape 7"/>
          <p:cNvSpPr/>
          <p:nvPr/>
        </p:nvSpPr>
        <p:spPr>
          <a:xfrm>
            <a:off x="5394960" y="1700784"/>
            <a:ext cx="6062472" cy="0"/>
          </a:xfrm>
          <a:prstGeom prst="line">
            <a:avLst/>
          </a:prstGeom>
          <a:noFill/>
          <a:ln w="9525">
            <a:solidFill>
              <a:srgbClr val="E2E5E1"/>
            </a:solidFill>
            <a:prstDash val="solid"/>
          </a:ln>
        </p:spPr>
      </p:sp>
      <p:sp>
        <p:nvSpPr>
          <p:cNvPr id="11" name="Text 8"/>
          <p:cNvSpPr/>
          <p:nvPr/>
        </p:nvSpPr>
        <p:spPr>
          <a:xfrm>
            <a:off x="5394960" y="1801368"/>
            <a:ext cx="2331720" cy="292608"/>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Nom</a:t>
            </a:r>
            <a:endParaRPr lang="en-US" sz="1150" dirty="0"/>
          </a:p>
        </p:txBody>
      </p:sp>
      <p:sp>
        <p:nvSpPr>
          <p:cNvPr id="12" name="Text 9"/>
          <p:cNvSpPr/>
          <p:nvPr/>
        </p:nvSpPr>
        <p:spPr>
          <a:xfrm>
            <a:off x="7863840" y="1801368"/>
            <a:ext cx="3456432" cy="292608"/>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Quantinvo</a:t>
            </a:r>
            <a:endParaRPr lang="en-US" sz="1150" dirty="0"/>
          </a:p>
        </p:txBody>
      </p:sp>
      <p:sp>
        <p:nvSpPr>
          <p:cNvPr id="13" name="Shape 10"/>
          <p:cNvSpPr/>
          <p:nvPr/>
        </p:nvSpPr>
        <p:spPr>
          <a:xfrm>
            <a:off x="5394960" y="2121408"/>
            <a:ext cx="6062472" cy="0"/>
          </a:xfrm>
          <a:prstGeom prst="line">
            <a:avLst/>
          </a:prstGeom>
          <a:noFill/>
          <a:ln w="9525">
            <a:solidFill>
              <a:srgbClr val="E2E5E1"/>
            </a:solidFill>
            <a:prstDash val="solid"/>
          </a:ln>
        </p:spPr>
      </p:sp>
      <p:sp>
        <p:nvSpPr>
          <p:cNvPr id="14" name="Text 11"/>
          <p:cNvSpPr/>
          <p:nvPr/>
        </p:nvSpPr>
        <p:spPr>
          <a:xfrm>
            <a:off x="5394960" y="2221992"/>
            <a:ext cx="2331720" cy="292608"/>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Identifiant iOS et Android</a:t>
            </a:r>
            <a:endParaRPr lang="en-US" sz="1150" dirty="0"/>
          </a:p>
        </p:txBody>
      </p:sp>
      <p:sp>
        <p:nvSpPr>
          <p:cNvPr id="15" name="Text 12"/>
          <p:cNvSpPr/>
          <p:nvPr/>
        </p:nvSpPr>
        <p:spPr>
          <a:xfrm>
            <a:off x="7863840" y="2221992"/>
            <a:ext cx="3456432" cy="292608"/>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com.quantinvo.app</a:t>
            </a:r>
            <a:endParaRPr lang="en-US" sz="1150" dirty="0"/>
          </a:p>
        </p:txBody>
      </p:sp>
      <p:sp>
        <p:nvSpPr>
          <p:cNvPr id="16" name="Shape 13"/>
          <p:cNvSpPr/>
          <p:nvPr/>
        </p:nvSpPr>
        <p:spPr>
          <a:xfrm>
            <a:off x="5394960" y="2542032"/>
            <a:ext cx="6062472" cy="0"/>
          </a:xfrm>
          <a:prstGeom prst="line">
            <a:avLst/>
          </a:prstGeom>
          <a:noFill/>
          <a:ln w="9525">
            <a:solidFill>
              <a:srgbClr val="E2E5E1"/>
            </a:solidFill>
            <a:prstDash val="solid"/>
          </a:ln>
        </p:spPr>
      </p:sp>
      <p:sp>
        <p:nvSpPr>
          <p:cNvPr id="17" name="Text 14"/>
          <p:cNvSpPr/>
          <p:nvPr/>
        </p:nvSpPr>
        <p:spPr>
          <a:xfrm>
            <a:off x="5394960" y="2642616"/>
            <a:ext cx="2331720" cy="292608"/>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ial" pitchFamily="34" charset="0"/>
                <a:ea typeface="Arial" pitchFamily="34" charset="-122"/>
                <a:cs typeface="Arial" pitchFamily="34" charset="-120"/>
              </a:rPr>
              <a:t>App Store, Google Play</a:t>
            </a:r>
            <a:endParaRPr lang="en-US" sz="1150" dirty="0"/>
          </a:p>
        </p:txBody>
      </p:sp>
      <p:sp>
        <p:nvSpPr>
          <p:cNvPr id="18" name="Text 15"/>
          <p:cNvSpPr/>
          <p:nvPr/>
        </p:nvSpPr>
        <p:spPr>
          <a:xfrm>
            <a:off x="7863840" y="2642616"/>
            <a:ext cx="3456432" cy="292608"/>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Arial" pitchFamily="34" charset="0"/>
                <a:ea typeface="Arial" pitchFamily="34" charset="-122"/>
                <a:cs typeface="Arial" pitchFamily="34" charset="-120"/>
              </a:rPr>
              <a:t>Publication en cours</a:t>
            </a:r>
            <a:endParaRPr lang="en-US" sz="1150" dirty="0"/>
          </a:p>
        </p:txBody>
      </p:sp>
      <p:sp>
        <p:nvSpPr>
          <p:cNvPr id="19" name="Shape 16"/>
          <p:cNvSpPr/>
          <p:nvPr/>
        </p:nvSpPr>
        <p:spPr>
          <a:xfrm>
            <a:off x="5394960" y="2962656"/>
            <a:ext cx="6062472" cy="0"/>
          </a:xfrm>
          <a:prstGeom prst="line">
            <a:avLst/>
          </a:prstGeom>
          <a:noFill/>
          <a:ln w="9525">
            <a:solidFill>
              <a:srgbClr val="E2E5E1"/>
            </a:solidFill>
            <a:prstDash val="solid"/>
          </a:ln>
        </p:spPr>
      </p:sp>
      <p:sp>
        <p:nvSpPr>
          <p:cNvPr id="20" name="Text 17"/>
          <p:cNvSpPr/>
          <p:nvPr/>
        </p:nvSpPr>
        <p:spPr>
          <a:xfrm>
            <a:off x="5394960" y="3328416"/>
            <a:ext cx="6062472" cy="2926080"/>
          </a:xfrm>
          <a:prstGeom prst="rect">
            <a:avLst/>
          </a:prstGeom>
          <a:noFill/>
          <a:ln/>
        </p:spPr>
        <p:txBody>
          <a:bodyPr wrap="square" lIns="0" tIns="0" rIns="0" bIns="0" rtlCol="0" anchor="t"/>
          <a:lstStyle/>
          <a:p>
            <a:pPr indent="0" marL="0">
              <a:lnSpc>
                <a:spcPct val="118000"/>
              </a:lnSpc>
              <a:spcAft>
                <a:spcPts val="1100"/>
              </a:spcAft>
              <a:buNone/>
            </a:pPr>
            <a:r>
              <a:rPr lang="en-US" sz="1250" b="1" dirty="0">
                <a:solidFill>
                  <a:srgbClr val="14181A"/>
                </a:solidFill>
                <a:latin typeface="Arial" pitchFamily="34" charset="0"/>
                <a:ea typeface="Arial" pitchFamily="34" charset="-122"/>
                <a:cs typeface="Arial" pitchFamily="34" charset="-120"/>
              </a:rPr>
              <a:t>Une fois publiée. </a:t>
            </a:r>
            <a:pPr indent="0" marL="0">
              <a:lnSpc>
                <a:spcPct val="118000"/>
              </a:lnSpc>
              <a:spcAft>
                <a:spcPts val="1100"/>
              </a:spcAft>
              <a:buNone/>
            </a:pPr>
            <a:r>
              <a:rPr lang="en-US" sz="1250" dirty="0">
                <a:solidFill>
                  <a:srgbClr val="3A423F"/>
                </a:solidFill>
                <a:latin typeface="Arial" pitchFamily="34" charset="0"/>
                <a:ea typeface="Arial" pitchFamily="34" charset="-122"/>
                <a:cs typeface="Arial" pitchFamily="34" charset="-120"/>
              </a:rPr>
              <a:t>L’application se distribue par Apple Business Manager ou Managed Google Play.</a:t>
            </a:r>
            <a:endParaRPr lang="en-US" sz="1250" dirty="0"/>
          </a:p>
          <a:p>
            <a:pPr indent="0" marL="0">
              <a:lnSpc>
                <a:spcPct val="118000"/>
              </a:lnSpc>
              <a:spcAft>
                <a:spcPts val="1100"/>
              </a:spcAft>
              <a:buNone/>
            </a:pPr>
            <a:r>
              <a:rPr lang="en-US" sz="1250" b="1" dirty="0">
                <a:solidFill>
                  <a:srgbClr val="14181A"/>
                </a:solidFill>
                <a:latin typeface="Arial" pitchFamily="34" charset="0"/>
                <a:ea typeface="Arial" pitchFamily="34" charset="-122"/>
                <a:cs typeface="Arial" pitchFamily="34" charset="-120"/>
              </a:rPr>
              <a:t>Langues. </a:t>
            </a:r>
            <a:pPr indent="0" marL="0">
              <a:lnSpc>
                <a:spcPct val="118000"/>
              </a:lnSpc>
              <a:spcAft>
                <a:spcPts val="1100"/>
              </a:spcAft>
              <a:buNone/>
            </a:pPr>
            <a:r>
              <a:rPr lang="en-US" sz="1250" dirty="0">
                <a:solidFill>
                  <a:srgbClr val="3A423F"/>
                </a:solidFill>
                <a:latin typeface="Arial" pitchFamily="34" charset="0"/>
                <a:ea typeface="Arial" pitchFamily="34" charset="-122"/>
                <a:cs typeface="Arial" pitchFamily="34" charset="-120"/>
              </a:rPr>
              <a:t>Français et anglais, pour l’application comme pour le site. Les rapports et les e-mails restent en français.</a:t>
            </a:r>
            <a:endParaRPr lang="en-US" sz="1250" dirty="0"/>
          </a:p>
          <a:p>
            <a:pPr indent="0" marL="0">
              <a:lnSpc>
                <a:spcPct val="118000"/>
              </a:lnSpc>
              <a:spcAft>
                <a:spcPts val="1100"/>
              </a:spcAft>
              <a:buNone/>
            </a:pPr>
            <a:r>
              <a:rPr lang="en-US" sz="1250" b="1" dirty="0">
                <a:solidFill>
                  <a:srgbClr val="14181A"/>
                </a:solidFill>
                <a:latin typeface="Arial" pitchFamily="34" charset="0"/>
                <a:ea typeface="Arial" pitchFamily="34" charset="-122"/>
                <a:cs typeface="Arial" pitchFamily="34" charset="-120"/>
              </a:rPr>
              <a:t>Configuration administrée. </a:t>
            </a:r>
            <a:pPr indent="0" marL="0">
              <a:lnSpc>
                <a:spcPct val="118000"/>
              </a:lnSpc>
              <a:spcAft>
                <a:spcPts val="1100"/>
              </a:spcAft>
              <a:buNone/>
            </a:pPr>
            <a:r>
              <a:rPr lang="en-US" sz="1250" dirty="0">
                <a:solidFill>
                  <a:srgbClr val="3A423F"/>
                </a:solidFill>
                <a:latin typeface="Arial" pitchFamily="34" charset="0"/>
                <a:ea typeface="Arial" pitchFamily="34" charset="-122"/>
                <a:cs typeface="Arial" pitchFamily="34" charset="-120"/>
              </a:rPr>
              <a:t>AppConfig n’est pas pris en charge.</a:t>
            </a:r>
            <a:endParaRPr lang="en-US" sz="1250" dirty="0"/>
          </a:p>
          <a:p>
            <a:pPr indent="0" marL="0">
              <a:lnSpc>
                <a:spcPct val="118000"/>
              </a:lnSpc>
              <a:spcAft>
                <a:spcPts val="1100"/>
              </a:spcAft>
              <a:buNone/>
            </a:pPr>
            <a:r>
              <a:rPr lang="en-US" sz="1250" b="1" dirty="0">
                <a:solidFill>
                  <a:srgbClr val="14181A"/>
                </a:solidFill>
                <a:latin typeface="Arial" pitchFamily="34" charset="0"/>
                <a:ea typeface="Arial" pitchFamily="34" charset="-122"/>
                <a:cs typeface="Arial" pitchFamily="34" charset="-120"/>
              </a:rPr>
              <a:t>Hors boutiques. </a:t>
            </a:r>
            <a:pPr indent="0" marL="0">
              <a:lnSpc>
                <a:spcPct val="118000"/>
              </a:lnSpc>
              <a:spcAft>
                <a:spcPts val="1100"/>
              </a:spcAft>
              <a:buNone/>
            </a:pPr>
            <a:r>
              <a:rPr lang="en-US" sz="1250" dirty="0">
                <a:solidFill>
                  <a:srgbClr val="3A423F"/>
                </a:solidFill>
                <a:latin typeface="Arial" pitchFamily="34" charset="0"/>
                <a:ea typeface="Arial" pitchFamily="34" charset="-122"/>
                <a:cs typeface="Arial" pitchFamily="34" charset="-120"/>
              </a:rPr>
              <a:t>Distribution privée : à confirmer.</a:t>
            </a:r>
            <a:endParaRPr lang="en-US" sz="12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Hors ligne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Sans réseau, le comptage continue.</a:t>
            </a:r>
            <a:endParaRPr lang="en-US" sz="2600" dirty="0"/>
          </a:p>
        </p:txBody>
      </p:sp>
      <p:sp>
        <p:nvSpPr>
          <p:cNvPr id="7" name="Text 4"/>
          <p:cNvSpPr/>
          <p:nvPr/>
        </p:nvSpPr>
        <p:spPr>
          <a:xfrm>
            <a:off x="731520" y="2103120"/>
            <a:ext cx="8046720" cy="4206240"/>
          </a:xfrm>
          <a:prstGeom prst="rect">
            <a:avLst/>
          </a:prstGeom>
          <a:noFill/>
          <a:ln/>
        </p:spPr>
        <p:txBody>
          <a:bodyPr wrap="square" lIns="0" tIns="0" rIns="0" bIns="0" rtlCol="0" anchor="t"/>
          <a:lstStyle/>
          <a:p>
            <a:pPr indent="0" marL="0">
              <a:lnSpc>
                <a:spcPct val="118000"/>
              </a:lnSpc>
              <a:spcAft>
                <a:spcPts val="1400"/>
              </a:spcAft>
              <a:buNone/>
            </a:pPr>
            <a:r>
              <a:rPr lang="en-US" sz="1350" b="1" dirty="0">
                <a:solidFill>
                  <a:srgbClr val="14181A"/>
                </a:solidFill>
                <a:latin typeface="Arial" pitchFamily="34" charset="0"/>
                <a:ea typeface="Arial" pitchFamily="34" charset="-122"/>
                <a:cs typeface="Arial" pitchFamily="34" charset="-120"/>
              </a:rPr>
              <a:t>Avant de compter. </a:t>
            </a:r>
            <a:pPr indent="0" marL="0">
              <a:lnSpc>
                <a:spcPct val="118000"/>
              </a:lnSpc>
              <a:spcAft>
                <a:spcPts val="1400"/>
              </a:spcAft>
              <a:buNone/>
            </a:pPr>
            <a:r>
              <a:rPr lang="en-US" sz="1350" dirty="0">
                <a:solidFill>
                  <a:srgbClr val="3A423F"/>
                </a:solidFill>
                <a:latin typeface="Arial" pitchFamily="34" charset="0"/>
                <a:ea typeface="Arial" pitchFamily="34" charset="-122"/>
                <a:cs typeface="Arial" pitchFamily="34" charset="-120"/>
              </a:rPr>
              <a:t>Le référentiel articles se charge sur le téléphone.</a:t>
            </a:r>
            <a:endParaRPr lang="en-US" sz="1350" dirty="0"/>
          </a:p>
          <a:p>
            <a:pPr indent="0" marL="0">
              <a:lnSpc>
                <a:spcPct val="118000"/>
              </a:lnSpc>
              <a:spcAft>
                <a:spcPts val="1400"/>
              </a:spcAft>
              <a:buNone/>
            </a:pPr>
            <a:r>
              <a:rPr lang="en-US" sz="1350" b="1" dirty="0">
                <a:solidFill>
                  <a:srgbClr val="14181A"/>
                </a:solidFill>
                <a:latin typeface="Arial" pitchFamily="34" charset="0"/>
                <a:ea typeface="Arial" pitchFamily="34" charset="-122"/>
                <a:cs typeface="Arial" pitchFamily="34" charset="-120"/>
              </a:rPr>
              <a:t>Pendant la coupure. </a:t>
            </a:r>
            <a:pPr indent="0" marL="0">
              <a:lnSpc>
                <a:spcPct val="118000"/>
              </a:lnSpc>
              <a:spcAft>
                <a:spcPts val="1400"/>
              </a:spcAft>
              <a:buNone/>
            </a:pPr>
            <a:r>
              <a:rPr lang="en-US" sz="1350" dirty="0">
                <a:solidFill>
                  <a:srgbClr val="3A423F"/>
                </a:solidFill>
                <a:latin typeface="Arial" pitchFamily="34" charset="0"/>
                <a:ea typeface="Arial" pitchFamily="34" charset="-122"/>
                <a:cs typeface="Arial" pitchFamily="34" charset="-120"/>
              </a:rPr>
              <a:t>Les scans attendent sur le téléphone. Un article inconnu se saisit aussi.</a:t>
            </a:r>
            <a:endParaRPr lang="en-US" sz="1350" dirty="0"/>
          </a:p>
          <a:p>
            <a:pPr indent="0" marL="0">
              <a:lnSpc>
                <a:spcPct val="118000"/>
              </a:lnSpc>
              <a:spcAft>
                <a:spcPts val="1400"/>
              </a:spcAft>
              <a:buNone/>
            </a:pPr>
            <a:r>
              <a:rPr lang="en-US" sz="1350" b="1" dirty="0">
                <a:solidFill>
                  <a:srgbClr val="14181A"/>
                </a:solidFill>
                <a:latin typeface="Arial" pitchFamily="34" charset="0"/>
                <a:ea typeface="Arial" pitchFamily="34" charset="-122"/>
                <a:cs typeface="Arial" pitchFamily="34" charset="-120"/>
              </a:rPr>
              <a:t>Au retour du réseau. </a:t>
            </a:r>
            <a:pPr indent="0" marL="0">
              <a:lnSpc>
                <a:spcPct val="118000"/>
              </a:lnSpc>
              <a:spcAft>
                <a:spcPts val="1400"/>
              </a:spcAft>
              <a:buNone/>
            </a:pPr>
            <a:r>
              <a:rPr lang="en-US" sz="1350" dirty="0">
                <a:solidFill>
                  <a:srgbClr val="3A423F"/>
                </a:solidFill>
                <a:latin typeface="Arial" pitchFamily="34" charset="0"/>
                <a:ea typeface="Arial" pitchFamily="34" charset="-122"/>
                <a:cs typeface="Arial" pitchFamily="34" charset="-120"/>
              </a:rPr>
              <a:t>Les scans partent seuls, si l’application est ouverte. Le compteur voit ce qui est arrivé sur le serveur.</a:t>
            </a:r>
            <a:endParaRPr lang="en-US" sz="1350" dirty="0"/>
          </a:p>
          <a:p>
            <a:pPr indent="0" marL="0">
              <a:lnSpc>
                <a:spcPct val="118000"/>
              </a:lnSpc>
              <a:spcAft>
                <a:spcPts val="1400"/>
              </a:spcAft>
              <a:buNone/>
            </a:pPr>
            <a:r>
              <a:rPr lang="en-US" sz="1350" b="1" dirty="0">
                <a:solidFill>
                  <a:srgbClr val="14181A"/>
                </a:solidFill>
                <a:latin typeface="Arial" pitchFamily="34" charset="0"/>
                <a:ea typeface="Arial" pitchFamily="34" charset="-122"/>
                <a:cs typeface="Arial" pitchFamily="34" charset="-120"/>
              </a:rPr>
              <a:t>Session expirée. </a:t>
            </a:r>
            <a:pPr indent="0" marL="0">
              <a:lnSpc>
                <a:spcPct val="118000"/>
              </a:lnSpc>
              <a:spcAft>
                <a:spcPts val="1400"/>
              </a:spcAft>
              <a:buNone/>
            </a:pPr>
            <a:r>
              <a:rPr lang="en-US" sz="1350" dirty="0">
                <a:solidFill>
                  <a:srgbClr val="3A423F"/>
                </a:solidFill>
                <a:latin typeface="Arial" pitchFamily="34" charset="0"/>
                <a:ea typeface="Arial" pitchFamily="34" charset="-122"/>
                <a:cs typeface="Arial" pitchFamily="34" charset="-120"/>
              </a:rPr>
              <a:t>Rien n’est perdu : l’envoi reprend après la reconnexion.</a:t>
            </a:r>
            <a:endParaRPr lang="en-US" sz="1350" dirty="0"/>
          </a:p>
          <a:p>
            <a:pPr indent="0" marL="0">
              <a:lnSpc>
                <a:spcPct val="118000"/>
              </a:lnSpc>
              <a:spcAft>
                <a:spcPts val="1400"/>
              </a:spcAft>
              <a:buNone/>
            </a:pPr>
            <a:r>
              <a:rPr lang="en-US" sz="1350" b="1" dirty="0">
                <a:solidFill>
                  <a:srgbClr val="14181A"/>
                </a:solidFill>
                <a:latin typeface="Arial" pitchFamily="34" charset="0"/>
                <a:ea typeface="Arial" pitchFamily="34" charset="-122"/>
                <a:cs typeface="Arial" pitchFamily="34" charset="-120"/>
              </a:rPr>
              <a:t>Appareil partagé. </a:t>
            </a:r>
            <a:pPr indent="0" marL="0">
              <a:lnSpc>
                <a:spcPct val="118000"/>
              </a:lnSpc>
              <a:spcAft>
                <a:spcPts val="1400"/>
              </a:spcAft>
              <a:buNone/>
            </a:pPr>
            <a:r>
              <a:rPr lang="en-US" sz="1350" dirty="0">
                <a:solidFill>
                  <a:srgbClr val="3A423F"/>
                </a:solidFill>
                <a:latin typeface="Arial" pitchFamily="34" charset="0"/>
                <a:ea typeface="Arial" pitchFamily="34" charset="-122"/>
                <a:cs typeface="Arial" pitchFamily="34" charset="-120"/>
              </a:rPr>
              <a:t>À la déconnexion, le référentiel est effacé du téléphone. Les scans en attente sont gardés.</a:t>
            </a:r>
            <a:endParaRPr lang="en-US" sz="1350" dirty="0"/>
          </a:p>
          <a:p>
            <a:pPr indent="0" marL="0">
              <a:lnSpc>
                <a:spcPct val="118000"/>
              </a:lnSpc>
              <a:spcAft>
                <a:spcPts val="1400"/>
              </a:spcAft>
              <a:buNone/>
            </a:pPr>
            <a:r>
              <a:rPr lang="en-US" sz="1350" b="1" dirty="0">
                <a:solidFill>
                  <a:srgbClr val="14181A"/>
                </a:solidFill>
                <a:latin typeface="Arial" pitchFamily="34" charset="0"/>
                <a:ea typeface="Arial" pitchFamily="34" charset="-122"/>
                <a:cs typeface="Arial" pitchFamily="34" charset="-120"/>
              </a:rPr>
              <a:t>Limites. </a:t>
            </a:r>
            <a:pPr indent="0" marL="0">
              <a:lnSpc>
                <a:spcPct val="118000"/>
              </a:lnSpc>
              <a:spcAft>
                <a:spcPts val="1400"/>
              </a:spcAft>
              <a:buNone/>
            </a:pPr>
            <a:r>
              <a:rPr lang="en-US" sz="1350" dirty="0">
                <a:solidFill>
                  <a:srgbClr val="3A423F"/>
                </a:solidFill>
                <a:latin typeface="Arial" pitchFamily="34" charset="0"/>
                <a:ea typeface="Arial" pitchFamily="34" charset="-122"/>
                <a:cs typeface="Arial" pitchFamily="34" charset="-120"/>
              </a:rPr>
              <a:t>Se connecter demande du réseau. Un appareil effacé perd ses scans non envoyés.</a:t>
            </a:r>
            <a:endParaRPr lang="en-US" sz="1350" dirty="0"/>
          </a:p>
        </p:txBody>
      </p:sp>
      <p:pic>
        <p:nvPicPr>
          <p:cNvPr id="8" name="Image 1" descr="preencoded.png">    </p:cNvPr>
          <p:cNvPicPr>
            <a:picLocks noChangeAspect="1"/>
          </p:cNvPicPr>
          <p:nvPr/>
        </p:nvPicPr>
        <p:blipFill>
          <a:blip r:embed="rId2"/>
          <a:stretch>
            <a:fillRect/>
          </a:stretch>
        </p:blipFill>
        <p:spPr>
          <a:xfrm>
            <a:off x="9354312" y="1874520"/>
            <a:ext cx="2078713" cy="4389120"/>
          </a:xfrm>
          <a:prstGeom prst="rect">
            <a:avLst/>
          </a:prstGeom>
        </p:spPr>
      </p:pic>
      <p:sp>
        <p:nvSpPr>
          <p:cNvPr id="9"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Tenue en charge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Les téléphones envoient peu.</a:t>
            </a:r>
            <a:endParaRPr lang="en-US" sz="2600" dirty="0"/>
          </a:p>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La base fait les calculs.</a:t>
            </a:r>
            <a:endParaRPr lang="en-US" sz="2600" dirty="0"/>
          </a:p>
        </p:txBody>
      </p:sp>
      <p:sp>
        <p:nvSpPr>
          <p:cNvPr id="7" name="Text 4"/>
          <p:cNvSpPr/>
          <p:nvPr/>
        </p:nvSpPr>
        <p:spPr>
          <a:xfrm>
            <a:off x="731520" y="306324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ial" pitchFamily="34" charset="0"/>
                <a:ea typeface="Arial" pitchFamily="34" charset="-122"/>
                <a:cs typeface="Arial" pitchFamily="34" charset="-120"/>
              </a:rPr>
              <a:t>100 000</a:t>
            </a:r>
            <a:endParaRPr lang="en-US" sz="5400" dirty="0"/>
          </a:p>
        </p:txBody>
      </p:sp>
      <p:sp>
        <p:nvSpPr>
          <p:cNvPr id="8" name="Text 5"/>
          <p:cNvSpPr/>
          <p:nvPr/>
        </p:nvSpPr>
        <p:spPr>
          <a:xfrm>
            <a:off x="731520" y="39776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Arial" pitchFamily="34" charset="0"/>
                <a:ea typeface="Arial" pitchFamily="34" charset="-122"/>
                <a:cs typeface="Arial" pitchFamily="34" charset="-120"/>
              </a:rPr>
              <a:t>références par inventaire</a:t>
            </a:r>
            <a:endParaRPr lang="en-US" sz="1200" dirty="0"/>
          </a:p>
        </p:txBody>
      </p:sp>
      <p:sp>
        <p:nvSpPr>
          <p:cNvPr id="9" name="Text 6"/>
          <p:cNvSpPr/>
          <p:nvPr/>
        </p:nvSpPr>
        <p:spPr>
          <a:xfrm>
            <a:off x="731520" y="4526280"/>
            <a:ext cx="4206240" cy="4572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Jusqu’à 100 compteurs en même temps.</a:t>
            </a:r>
            <a:endParaRPr lang="en-US" sz="1250" dirty="0"/>
          </a:p>
        </p:txBody>
      </p:sp>
      <p:sp>
        <p:nvSpPr>
          <p:cNvPr id="10" name="Text 7"/>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Activité.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Chaque téléphone signale la sienne, sans recevoir celle des autres. Seul l’onglet Suivi la reçoit.</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Totaux.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Ils arrivent tout faits : l’écran ne télécharge pas les comptages.</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Rapport et écarts.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Affichés par pages de 50 lignes, exportés en entier.</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Référentiel.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Après le premier chargement, le téléphone ne reçoit plus que les changements.</a:t>
            </a:r>
            <a:endParaRPr lang="en-US" sz="1350" dirty="0"/>
          </a:p>
          <a:p>
            <a:pPr indent="0" marL="0">
              <a:lnSpc>
                <a:spcPct val="118000"/>
              </a:lnSpc>
              <a:spcAft>
                <a:spcPts val="1600"/>
              </a:spcAft>
              <a:buNone/>
            </a:pPr>
            <a:r>
              <a:rPr lang="en-US" sz="1350" b="1" dirty="0">
                <a:solidFill>
                  <a:srgbClr val="14181A"/>
                </a:solidFill>
                <a:latin typeface="Arial" pitchFamily="34" charset="0"/>
                <a:ea typeface="Arial" pitchFamily="34" charset="-122"/>
                <a:cs typeface="Arial" pitchFamily="34" charset="-120"/>
              </a:rPr>
              <a:t>Plusieurs magasins le même jour. </a:t>
            </a:r>
            <a:pPr indent="0" marL="0">
              <a:lnSpc>
                <a:spcPct val="118000"/>
              </a:lnSpc>
              <a:spcAft>
                <a:spcPts val="1600"/>
              </a:spcAft>
              <a:buNone/>
            </a:pPr>
            <a:r>
              <a:rPr lang="en-US" sz="1350" dirty="0">
                <a:solidFill>
                  <a:srgbClr val="3A423F"/>
                </a:solidFill>
                <a:latin typeface="Arial" pitchFamily="34" charset="0"/>
                <a:ea typeface="Arial" pitchFamily="34" charset="-122"/>
                <a:cs typeface="Arial" pitchFamily="34" charset="-120"/>
              </a:rPr>
              <a:t>La capacité de la base se règle avec nous, avant la date.</a:t>
            </a:r>
            <a:endParaRPr lang="en-US" sz="13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À prévoir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Avant le premier inventaire, de votre côté.</a:t>
            </a:r>
            <a:endParaRPr lang="en-US" sz="2600" dirty="0"/>
          </a:p>
        </p:txBody>
      </p:sp>
      <p:sp>
        <p:nvSpPr>
          <p:cNvPr id="7" name="Text 4"/>
          <p:cNvSpPr/>
          <p:nvPr/>
        </p:nvSpPr>
        <p:spPr>
          <a:xfrm>
            <a:off x="731520" y="2514600"/>
            <a:ext cx="4206240" cy="54864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Arial" pitchFamily="34" charset="0"/>
                <a:ea typeface="Arial" pitchFamily="34" charset="-122"/>
                <a:cs typeface="Arial" pitchFamily="34" charset="-120"/>
              </a:rPr>
              <a:t>Six points à régler avec vos équipes.</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800"/>
              </a:spcAft>
              <a:buNone/>
            </a:pPr>
            <a:r>
              <a:rPr lang="en-US" sz="1350" b="1" dirty="0">
                <a:solidFill>
                  <a:srgbClr val="14181A"/>
                </a:solidFill>
                <a:latin typeface="Arial" pitchFamily="34" charset="0"/>
                <a:ea typeface="Arial" pitchFamily="34" charset="-122"/>
                <a:cs typeface="Arial" pitchFamily="34" charset="-120"/>
              </a:rPr>
              <a:t>Réseau. </a:t>
            </a:r>
            <a:pPr indent="0" marL="0">
              <a:lnSpc>
                <a:spcPct val="118000"/>
              </a:lnSpc>
              <a:spcAft>
                <a:spcPts val="1800"/>
              </a:spcAft>
              <a:buNone/>
            </a:pPr>
            <a:r>
              <a:rPr lang="en-US" sz="1350" dirty="0">
                <a:solidFill>
                  <a:srgbClr val="3A423F"/>
                </a:solidFill>
                <a:latin typeface="Arial" pitchFamily="34" charset="0"/>
                <a:ea typeface="Arial" pitchFamily="34" charset="-122"/>
                <a:cs typeface="Arial" pitchFamily="34" charset="-120"/>
              </a:rPr>
              <a:t>Autoriser en sortie les destinations de la page 4.</a:t>
            </a:r>
            <a:endParaRPr lang="en-US" sz="1350" dirty="0"/>
          </a:p>
          <a:p>
            <a:pPr indent="0" marL="0">
              <a:lnSpc>
                <a:spcPct val="118000"/>
              </a:lnSpc>
              <a:spcAft>
                <a:spcPts val="1800"/>
              </a:spcAft>
              <a:buNone/>
            </a:pPr>
            <a:r>
              <a:rPr lang="en-US" sz="1350" b="1" dirty="0">
                <a:solidFill>
                  <a:srgbClr val="14181A"/>
                </a:solidFill>
                <a:latin typeface="Arial" pitchFamily="34" charset="0"/>
                <a:ea typeface="Arial" pitchFamily="34" charset="-122"/>
                <a:cs typeface="Arial" pitchFamily="34" charset="-120"/>
              </a:rPr>
              <a:t>Appareils. </a:t>
            </a:r>
            <a:pPr indent="0" marL="0">
              <a:lnSpc>
                <a:spcPct val="118000"/>
              </a:lnSpc>
              <a:spcAft>
                <a:spcPts val="1800"/>
              </a:spcAft>
              <a:buNone/>
            </a:pPr>
            <a:r>
              <a:rPr lang="en-US" sz="1350" dirty="0">
                <a:solidFill>
                  <a:srgbClr val="3A423F"/>
                </a:solidFill>
                <a:latin typeface="Arial" pitchFamily="34" charset="0"/>
                <a:ea typeface="Arial" pitchFamily="34" charset="-122"/>
                <a:cs typeface="Arial" pitchFamily="34" charset="-120"/>
              </a:rPr>
              <a:t>Un iPhone ou un Android par compteur, caméra autorisée.</a:t>
            </a:r>
            <a:endParaRPr lang="en-US" sz="1350" dirty="0"/>
          </a:p>
          <a:p>
            <a:pPr indent="0" marL="0">
              <a:lnSpc>
                <a:spcPct val="118000"/>
              </a:lnSpc>
              <a:spcAft>
                <a:spcPts val="1800"/>
              </a:spcAft>
              <a:buNone/>
            </a:pPr>
            <a:r>
              <a:rPr lang="en-US" sz="1350" b="1" dirty="0">
                <a:solidFill>
                  <a:srgbClr val="14181A"/>
                </a:solidFill>
                <a:latin typeface="Arial" pitchFamily="34" charset="0"/>
                <a:ea typeface="Arial" pitchFamily="34" charset="-122"/>
                <a:cs typeface="Arial" pitchFamily="34" charset="-120"/>
              </a:rPr>
              <a:t>Gestion de parc. </a:t>
            </a:r>
            <a:pPr indent="0" marL="0">
              <a:lnSpc>
                <a:spcPct val="118000"/>
              </a:lnSpc>
              <a:spcAft>
                <a:spcPts val="1800"/>
              </a:spcAft>
              <a:buNone/>
            </a:pPr>
            <a:r>
              <a:rPr lang="en-US" sz="1350" dirty="0">
                <a:solidFill>
                  <a:srgbClr val="3A423F"/>
                </a:solidFill>
                <a:latin typeface="Arial" pitchFamily="34" charset="0"/>
                <a:ea typeface="Arial" pitchFamily="34" charset="-122"/>
                <a:cs typeface="Arial" pitchFamily="34" charset="-120"/>
              </a:rPr>
              <a:t>Aucun effacement à distance pendant un inventaire.</a:t>
            </a:r>
            <a:endParaRPr lang="en-US" sz="1350" dirty="0"/>
          </a:p>
          <a:p>
            <a:pPr indent="0" marL="0">
              <a:lnSpc>
                <a:spcPct val="118000"/>
              </a:lnSpc>
              <a:spcAft>
                <a:spcPts val="1800"/>
              </a:spcAft>
              <a:buNone/>
            </a:pPr>
            <a:r>
              <a:rPr lang="en-US" sz="1350" b="1" dirty="0">
                <a:solidFill>
                  <a:srgbClr val="14181A"/>
                </a:solidFill>
                <a:latin typeface="Arial" pitchFamily="34" charset="0"/>
                <a:ea typeface="Arial" pitchFamily="34" charset="-122"/>
                <a:cs typeface="Arial" pitchFamily="34" charset="-120"/>
              </a:rPr>
              <a:t>Comptes. </a:t>
            </a:r>
            <a:pPr indent="0" marL="0">
              <a:lnSpc>
                <a:spcPct val="118000"/>
              </a:lnSpc>
              <a:spcAft>
                <a:spcPts val="1800"/>
              </a:spcAft>
              <a:buNone/>
            </a:pPr>
            <a:r>
              <a:rPr lang="en-US" sz="1350" dirty="0">
                <a:solidFill>
                  <a:srgbClr val="3A423F"/>
                </a:solidFill>
                <a:latin typeface="Arial" pitchFamily="34" charset="0"/>
                <a:ea typeface="Arial" pitchFamily="34" charset="-122"/>
                <a:cs typeface="Arial" pitchFamily="34" charset="-120"/>
              </a:rPr>
              <a:t>Une adresse e-mail par personne, et un administrateur d’entreprise désigné chez vous.</a:t>
            </a:r>
            <a:endParaRPr lang="en-US" sz="1350" dirty="0"/>
          </a:p>
          <a:p>
            <a:pPr indent="0" marL="0">
              <a:lnSpc>
                <a:spcPct val="118000"/>
              </a:lnSpc>
              <a:spcAft>
                <a:spcPts val="1800"/>
              </a:spcAft>
              <a:buNone/>
            </a:pPr>
            <a:r>
              <a:rPr lang="en-US" sz="1350" b="1" dirty="0">
                <a:solidFill>
                  <a:srgbClr val="14181A"/>
                </a:solidFill>
                <a:latin typeface="Arial" pitchFamily="34" charset="0"/>
                <a:ea typeface="Arial" pitchFamily="34" charset="-122"/>
                <a:cs typeface="Arial" pitchFamily="34" charset="-120"/>
              </a:rPr>
              <a:t>Postes. </a:t>
            </a:r>
            <a:pPr indent="0" marL="0">
              <a:lnSpc>
                <a:spcPct val="118000"/>
              </a:lnSpc>
              <a:spcAft>
                <a:spcPts val="1800"/>
              </a:spcAft>
              <a:buNone/>
            </a:pPr>
            <a:r>
              <a:rPr lang="en-US" sz="1350" dirty="0">
                <a:solidFill>
                  <a:srgbClr val="3A423F"/>
                </a:solidFill>
                <a:latin typeface="Arial" pitchFamily="34" charset="0"/>
                <a:ea typeface="Arial" pitchFamily="34" charset="-122"/>
                <a:cs typeface="Arial" pitchFamily="34" charset="-120"/>
              </a:rPr>
              <a:t>Un ordinateur avec navigateur, pour les superviseurs et l’administrateur d’entreprise.</a:t>
            </a:r>
            <a:endParaRPr lang="en-US" sz="1350" dirty="0"/>
          </a:p>
          <a:p>
            <a:pPr indent="0" marL="0">
              <a:lnSpc>
                <a:spcPct val="118000"/>
              </a:lnSpc>
              <a:spcAft>
                <a:spcPts val="1800"/>
              </a:spcAft>
              <a:buNone/>
            </a:pPr>
            <a:r>
              <a:rPr lang="en-US" sz="1350" b="1" dirty="0">
                <a:solidFill>
                  <a:srgbClr val="14181A"/>
                </a:solidFill>
                <a:latin typeface="Arial" pitchFamily="34" charset="0"/>
                <a:ea typeface="Arial" pitchFamily="34" charset="-122"/>
                <a:cs typeface="Arial" pitchFamily="34" charset="-120"/>
              </a:rPr>
              <a:t>Salariés. </a:t>
            </a:r>
            <a:pPr indent="0" marL="0">
              <a:lnSpc>
                <a:spcPct val="118000"/>
              </a:lnSpc>
              <a:spcAft>
                <a:spcPts val="1800"/>
              </a:spcAft>
              <a:buNone/>
            </a:pPr>
            <a:r>
              <a:rPr lang="en-US" sz="1350" dirty="0">
                <a:solidFill>
                  <a:srgbClr val="3A423F"/>
                </a:solidFill>
                <a:latin typeface="Arial" pitchFamily="34" charset="0"/>
                <a:ea typeface="Arial" pitchFamily="34" charset="-122"/>
                <a:cs typeface="Arial" pitchFamily="34" charset="-120"/>
              </a:rPr>
              <a:t>Les informer de l’usage de leurs données et, le cas échéant, consulter le CSE.</a:t>
            </a:r>
            <a:endParaRPr lang="en-US" sz="13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Une question technique ?</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Écrivez-nous : l’assistance répond les jours ouvrés, de 9 h à 18 h. La politique de confidentialité et les conditions générales sont en ligne sur le site.</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dossier technique · septembre 2026</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2026-09-19T18:25:02Z</dcterms:created>
  <dcterms:modified xsi:type="dcterms:W3CDTF">2026-09-19T18:25:02Z</dcterms:modified>
</cp:coreProperties>
</file>