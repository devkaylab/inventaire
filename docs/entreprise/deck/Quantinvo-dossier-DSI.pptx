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Le guide illustré complet est remis après la signature — et depuis septembre 2026 il vit aussi dans le produit : le superviseur l'ouvre depuis sa boîte à outils, sur le site, et peut l'imprimer pour la réserve.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En une page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Ce que c’est.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Ce que ça touche chez vous.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Ce que ça n'exige pas.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Ce que ça demande de votre part.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Architecture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2162"/>
            </a:avLst>
          </a:prstGeom>
          <a:solidFill>
            <a:srgbClr val="F2F3F1"/>
          </a:solidFill>
          <a:ln w="12700">
            <a:solidFill>
              <a:srgbClr val="E2E5E1"/>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Application Quantinvo (iOS, Android en cours de publication).</a:t>
            </a:r>
            <a:endParaRPr lang="en-US" sz="1050" dirty="0"/>
          </a:p>
          <a:p>
            <a:pPr indent="0" marL="0">
              <a:lnSpc>
                <a:spcPct val="115000"/>
              </a:lnSpc>
              <a:buNone/>
            </a:pPr>
            <a:r>
              <a:rPr lang="en-US" sz="1050" dirty="0">
                <a:solidFill>
                  <a:srgbClr val="3A423F"/>
                </a:solidFill>
                <a:latin typeface="Arial" pitchFamily="34" charset="0"/>
                <a:ea typeface="Arial" pitchFamily="34" charset="-122"/>
                <a:cs typeface="Arial"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2162"/>
            </a:avLst>
          </a:prstGeom>
          <a:solidFill>
            <a:srgbClr val="E7EDE9"/>
          </a:solidFill>
          <a:ln w="12700">
            <a:solidFill>
              <a:srgbClr val="1E4D3B"/>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A423F"/>
                </a:solidFill>
                <a:latin typeface="Arial" pitchFamily="34" charset="0"/>
                <a:ea typeface="Arial" pitchFamily="34" charset="-122"/>
                <a:cs typeface="Arial"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2162"/>
            </a:avLst>
          </a:prstGeom>
          <a:solidFill>
            <a:srgbClr val="F2F3F1"/>
          </a:solidFill>
          <a:ln w="12700">
            <a:solidFill>
              <a:srgbClr val="E2E5E1"/>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Site web www.quantinvo.com, sans installation.</a:t>
            </a:r>
            <a:endParaRPr lang="en-US" sz="1050" dirty="0"/>
          </a:p>
          <a:p>
            <a:pPr indent="0" marL="0">
              <a:lnSpc>
                <a:spcPct val="115000"/>
              </a:lnSpc>
              <a:buNone/>
            </a:pPr>
            <a:r>
              <a:rPr lang="en-US" sz="1050" dirty="0">
                <a:solidFill>
                  <a:srgbClr val="3A423F"/>
                </a:solidFill>
                <a:latin typeface="Arial" pitchFamily="34" charset="0"/>
                <a:ea typeface="Arial" pitchFamily="34" charset="-122"/>
                <a:cs typeface="Arial"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75F5C"/>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75F5C"/>
                </a:solidFill>
                <a:latin typeface="Arial" pitchFamily="34" charset="0"/>
                <a:ea typeface="Arial" pitchFamily="34" charset="-122"/>
                <a:cs typeface="Arial"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75F5C"/>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75F5C"/>
                </a:solidFill>
                <a:latin typeface="Arial" pitchFamily="34" charset="0"/>
                <a:ea typeface="Arial" pitchFamily="34" charset="-122"/>
                <a:cs typeface="Arial" pitchFamily="34" charset="-120"/>
              </a:rPr>
              <a:t>HTTPS, WebSocket</a:t>
            </a:r>
            <a:endParaRPr lang="en-US" sz="850" dirty="0"/>
          </a:p>
        </p:txBody>
      </p:sp>
      <p:sp>
        <p:nvSpPr>
          <p:cNvPr id="20" name="Shape 17"/>
          <p:cNvSpPr/>
          <p:nvPr/>
        </p:nvSpPr>
        <p:spPr>
          <a:xfrm>
            <a:off x="731520" y="4709160"/>
            <a:ext cx="2697480" cy="1188720"/>
          </a:xfrm>
          <a:prstGeom prst="roundRect">
            <a:avLst>
              <a:gd name="adj" fmla="val 3077"/>
            </a:avLst>
          </a:prstGeom>
          <a:solidFill>
            <a:srgbClr val="F2F3F1"/>
          </a:solidFill>
          <a:ln w="12700">
            <a:solidFill>
              <a:srgbClr val="E2E5E1"/>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3077"/>
            </a:avLst>
          </a:prstGeom>
          <a:solidFill>
            <a:srgbClr val="F2F3F1"/>
          </a:solidFill>
          <a:ln w="12700">
            <a:solidFill>
              <a:srgbClr val="E2E5E1"/>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3077"/>
            </a:avLst>
          </a:prstGeom>
          <a:solidFill>
            <a:srgbClr val="F2F3F1"/>
          </a:solidFill>
          <a:ln w="12700">
            <a:solidFill>
              <a:srgbClr val="E2E5E1"/>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75F5C"/>
            </a:solidFill>
            <a:prstDash val="dash"/>
          </a:ln>
        </p:spPr>
      </p:sp>
      <p:sp>
        <p:nvSpPr>
          <p:cNvPr id="30" name="Shape 27"/>
          <p:cNvSpPr/>
          <p:nvPr/>
        </p:nvSpPr>
        <p:spPr>
          <a:xfrm>
            <a:off x="6094476" y="4069080"/>
            <a:ext cx="0" cy="640080"/>
          </a:xfrm>
          <a:prstGeom prst="line">
            <a:avLst/>
          </a:prstGeom>
          <a:noFill/>
          <a:ln w="12700">
            <a:solidFill>
              <a:srgbClr val="575F5C"/>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75F5C"/>
                </a:solidFill>
                <a:latin typeface="Arial" pitchFamily="34" charset="0"/>
                <a:ea typeface="Arial" pitchFamily="34" charset="-122"/>
                <a:cs typeface="Arial"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Hébergement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2E5E1"/>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2E5E1"/>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2E5E1"/>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2E5E1"/>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2E5E1"/>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2E5E1"/>
            </a:solidFill>
            <a:prstDash val="solid"/>
          </a:ln>
        </p:spPr>
      </p:sp>
      <p:sp>
        <p:nvSpPr>
          <p:cNvPr id="36" name="Shape 33"/>
          <p:cNvSpPr/>
          <p:nvPr/>
        </p:nvSpPr>
        <p:spPr>
          <a:xfrm>
            <a:off x="5394960" y="4846320"/>
            <a:ext cx="6062472" cy="1097280"/>
          </a:xfrm>
          <a:prstGeom prst="roundRect">
            <a:avLst>
              <a:gd name="adj" fmla="val 3333"/>
            </a:avLst>
          </a:prstGeom>
          <a:solidFill>
            <a:srgbClr val="F2F3F1"/>
          </a:solidFill>
          <a:ln w="12700">
            <a:solidFill>
              <a:srgbClr val="F2F3F1"/>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Où prendre 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www.quantinvo.com/open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lien d’invitation y mène tout seul.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Par votre catalogue, l’étape disparaît.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Si vous distribuez par MDM, l'application est déjà là quand la personne ouvre son lien. C'est le chemin recommandé pour un parc géré — la page suivante le détaille.</a:t>
            </a:r>
            <a:endParaRPr lang="en-US" sz="1200" dirty="0"/>
          </a:p>
        </p:txBody>
      </p:sp>
      <p:pic>
        <p:nvPicPr>
          <p:cNvPr id="8"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9" name="Text 5"/>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www.quantinvo.com/open, vu d’un téléphone.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Déploiement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2E5E1"/>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2E5E1"/>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2E5E1"/>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2E5E1"/>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2E5E1"/>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2E5E1"/>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14181A"/>
                </a:solidFill>
                <a:latin typeface="Arial" pitchFamily="34" charset="0"/>
                <a:ea typeface="Arial" pitchFamily="34" charset="-122"/>
                <a:cs typeface="Arial" pitchFamily="34" charset="-120"/>
              </a:rPr>
              <a:t>iPhone et iPad. </a:t>
            </a:r>
            <a:pPr indent="0" marL="0">
              <a:lnSpc>
                <a:spcPct val="118000"/>
              </a:lnSpc>
              <a:spcAft>
                <a:spcPts val="800"/>
              </a:spcAft>
              <a:buNone/>
            </a:pPr>
            <a:r>
              <a:rPr lang="en-US" sz="1150" dirty="0">
                <a:solidFill>
                  <a:srgbClr val="3A423F"/>
                </a:solidFill>
                <a:latin typeface="Arial" pitchFamily="34" charset="0"/>
                <a:ea typeface="Arial" pitchFamily="34" charset="-122"/>
                <a:cs typeface="Arial"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14181A"/>
                </a:solidFill>
                <a:latin typeface="Arial" pitchFamily="34" charset="0"/>
                <a:ea typeface="Arial" pitchFamily="34" charset="-122"/>
                <a:cs typeface="Arial" pitchFamily="34" charset="-120"/>
              </a:rPr>
              <a:t>Android et terminaux durcis. </a:t>
            </a:r>
            <a:pPr indent="0" marL="0">
              <a:lnSpc>
                <a:spcPct val="118000"/>
              </a:lnSpc>
              <a:spcAft>
                <a:spcPts val="800"/>
              </a:spcAft>
              <a:buNone/>
            </a:pPr>
            <a:r>
              <a:rPr lang="en-US" sz="1150" dirty="0">
                <a:solidFill>
                  <a:srgbClr val="3A423F"/>
                </a:solidFill>
                <a:latin typeface="Arial" pitchFamily="34" charset="0"/>
                <a:ea typeface="Arial" pitchFamily="34" charset="-122"/>
                <a:cs typeface="Arial" pitchFamily="34" charset="-120"/>
              </a:rPr>
              <a:t>Par Managed Google Play, ou en chargeant l'APK que nous vous remettons comme application interne. Le mode « application unique » est compatible. Nous n'avons pas éprouvé nous-mêmes les terminaux durcis du marché.</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Profil de restrictions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75F5C"/>
          </a:solidFill>
          <a:ln>
            <a:solidFill>
              <a:srgbClr val="575F5C"/>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 mise en place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2E5E1"/>
            </a:solidFill>
            <a:prstDash val="solid"/>
          </a:ln>
        </p:spPr>
      </p:sp>
      <p:sp>
        <p:nvSpPr>
          <p:cNvPr id="8" name="Text 5"/>
          <p:cNvSpPr/>
          <p:nvPr/>
        </p:nvSpPr>
        <p:spPr>
          <a:xfrm>
            <a:off x="731520"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Arial" pitchFamily="34" charset="0"/>
                <a:ea typeface="Arial" pitchFamily="34" charset="-122"/>
                <a:cs typeface="Arial"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Arial" pitchFamily="34" charset="0"/>
                <a:ea typeface="Arial" pitchFamily="34" charset="-122"/>
                <a:cs typeface="Arial"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Arial" pitchFamily="34" charset="0"/>
                <a:ea typeface="Arial" pitchFamily="34" charset="-122"/>
                <a:cs typeface="Arial"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Arial" pitchFamily="34" charset="0"/>
                <a:ea typeface="Arial" pitchFamily="34" charset="-122"/>
                <a:cs typeface="Arial"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381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 préparation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Aucune installation sur les postes.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Deux fichiers, et c’est prêt.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Les balises sortent en PDF.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912"/>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 prise en main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Comptes et accès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2E5E1"/>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2E5E1"/>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2E5E1"/>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14181A"/>
                </a:solidFill>
                <a:latin typeface="Arial" pitchFamily="34" charset="0"/>
                <a:ea typeface="Arial" pitchFamily="34" charset="-122"/>
                <a:cs typeface="Arial" pitchFamily="34" charset="-120"/>
              </a:rPr>
              <a:t>Mot de passe. </a:t>
            </a:r>
            <a:pPr indent="0" marL="0">
              <a:lnSpc>
                <a:spcPct val="118000"/>
              </a:lnSpc>
              <a:spcAft>
                <a:spcPts val="700"/>
              </a:spcAft>
              <a:buNone/>
            </a:pPr>
            <a:r>
              <a:rPr lang="en-US" sz="1150" dirty="0">
                <a:solidFill>
                  <a:srgbClr val="3A423F"/>
                </a:solidFill>
                <a:latin typeface="Arial" pitchFamily="34" charset="0"/>
                <a:ea typeface="Arial" pitchFamily="34" charset="-122"/>
                <a:cs typeface="Arial"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14181A"/>
                </a:solidFill>
                <a:latin typeface="Arial" pitchFamily="34" charset="0"/>
                <a:ea typeface="Arial" pitchFamily="34" charset="-122"/>
                <a:cs typeface="Arial" pitchFamily="34" charset="-120"/>
              </a:rPr>
              <a:t>Double authentification. </a:t>
            </a:r>
            <a:pPr indent="0" marL="0">
              <a:lnSpc>
                <a:spcPct val="118000"/>
              </a:lnSpc>
              <a:spcAft>
                <a:spcPts val="700"/>
              </a:spcAft>
              <a:buNone/>
            </a:pPr>
            <a:r>
              <a:rPr lang="en-US" sz="1150" dirty="0">
                <a:solidFill>
                  <a:srgbClr val="3A423F"/>
                </a:solidFill>
                <a:latin typeface="Arial" pitchFamily="34" charset="0"/>
                <a:ea typeface="Arial" pitchFamily="34" charset="-122"/>
                <a:cs typeface="Arial"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14181A"/>
                </a:solidFill>
                <a:latin typeface="Arial" pitchFamily="34" charset="0"/>
                <a:ea typeface="Arial" pitchFamily="34" charset="-122"/>
                <a:cs typeface="Arial" pitchFamily="34" charset="-120"/>
              </a:rPr>
              <a:t>Sessions. </a:t>
            </a:r>
            <a:pPr indent="0" marL="0">
              <a:lnSpc>
                <a:spcPct val="118000"/>
              </a:lnSpc>
              <a:spcAft>
                <a:spcPts val="700"/>
              </a:spcAft>
              <a:buNone/>
            </a:pPr>
            <a:r>
              <a:rPr lang="en-US" sz="1150" dirty="0">
                <a:solidFill>
                  <a:srgbClr val="3A423F"/>
                </a:solidFill>
                <a:latin typeface="Arial" pitchFamily="34" charset="0"/>
                <a:ea typeface="Arial" pitchFamily="34" charset="-122"/>
                <a:cs typeface="Arial"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14181A"/>
                </a:solidFill>
                <a:latin typeface="Arial" pitchFamily="34" charset="0"/>
                <a:ea typeface="Arial" pitchFamily="34" charset="-122"/>
                <a:cs typeface="Arial" pitchFamily="34" charset="-120"/>
              </a:rPr>
              <a:t>Cloisonnement. </a:t>
            </a:r>
            <a:pPr indent="0" marL="0">
              <a:lnSpc>
                <a:spcPct val="118000"/>
              </a:lnSpc>
              <a:spcAft>
                <a:spcPts val="700"/>
              </a:spcAft>
              <a:buNone/>
            </a:pPr>
            <a:r>
              <a:rPr lang="en-US" sz="1150" dirty="0">
                <a:solidFill>
                  <a:srgbClr val="3A423F"/>
                </a:solidFill>
                <a:latin typeface="Arial" pitchFamily="34" charset="0"/>
                <a:ea typeface="Arial" pitchFamily="34" charset="-122"/>
                <a:cs typeface="Arial"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Sécurité</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En transit et au repos.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Sur le téléphone.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Site.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Journal.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Suivi d’activité.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Effacement.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Les audits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1E4D3B"/>
                </a:solidFill>
                <a:latin typeface="Arial" pitchFamily="34" charset="0"/>
                <a:ea typeface="Arial" pitchFamily="34" charset="-122"/>
                <a:cs typeface="Arial"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Arial" pitchFamily="34" charset="0"/>
                <a:ea typeface="Arial" pitchFamily="34" charset="-122"/>
                <a:cs typeface="Arial"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Conformité RGPD et sécurité.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Modélisation de menaces du parcours de l’argent.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Revue des surfaces serveur.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Ce que nous ne faisons pas.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Hors ligne et charge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Hors ligne.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Plusieurs compteurs par magasin.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Tableau de bord.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Volumes.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Protection des données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14181A"/>
                </a:solidFill>
                <a:latin typeface="Arial" pitchFamily="34" charset="0"/>
                <a:ea typeface="Arial" pitchFamily="34" charset="-122"/>
                <a:cs typeface="Arial"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14181A"/>
                </a:solidFill>
                <a:latin typeface="Arial" pitchFamily="34" charset="0"/>
                <a:ea typeface="Arial" pitchFamily="34" charset="-122"/>
                <a:cs typeface="Arial"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2E5E1"/>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4211"/>
            </a:avLst>
          </a:prstGeom>
          <a:solidFill>
            <a:srgbClr val="F2F3F1"/>
          </a:solidFill>
          <a:ln w="12700">
            <a:solidFill>
              <a:srgbClr val="F2F3F1"/>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Connexion par votre annuaire (SAML 2.0, Entra ID).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Configuration administrée (AppConfig).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Publication sur Google Play.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API et connecteur ERP.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Codes de secours pour la double authentification.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La fiche de déploiement MDM pour l'équipe parc. La politique de confidentialité, les clauses article 28 et les synthèses d'audit pour votre DPO. Le guide de prise en main pour vos superviseurs — remis en présentation, et consultable à tout moment depuis leur espace, où il s'imprime pour la réserve.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2026-09-09T17:18:25Z</dcterms:created>
  <dcterms:modified xsi:type="dcterms:W3CDTF">2026-09-09T17:18:25Z</dcterms:modified>
</cp:coreProperties>
</file>