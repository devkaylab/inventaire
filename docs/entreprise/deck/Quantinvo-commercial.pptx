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85800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44752" y="65836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731520" y="1481328"/>
            <a:ext cx="2011680" cy="20117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2743200"/>
            <a:ext cx="8686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L’inventaire de votre magasin,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 bout du téléphone.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731520" y="457200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application pour compter. Un site pour préparer, suivre et exporter.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31520" y="6080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Devkaylab · septembre 2026 · www.quantinvo.com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L’inventaire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3444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Qu’est-ce qu’un inventaire ?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011680"/>
            <a:ext cx="10725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Compter ce qui est en rayon et en réserve, puis le comparer au stock théorique.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731520" y="2697480"/>
            <a:ext cx="10725912" cy="1508760"/>
          </a:xfrm>
          <a:prstGeom prst="roundRect">
            <a:avLst>
              <a:gd name="adj" fmla="val 2424"/>
            </a:avLst>
          </a:prstGeom>
          <a:solidFill>
            <a:srgbClr val="F2F3F1"/>
          </a:solidFill>
          <a:ln w="12700">
            <a:solidFill>
              <a:srgbClr val="F2F3F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97280" y="30632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compté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097280" y="35204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qui est vraiment là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023360" y="2697480"/>
            <a:ext cx="6080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4631436" y="30632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théorique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4631436" y="35204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votre logiciel croit avoir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7557516" y="2697480"/>
            <a:ext cx="6080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8165592" y="30632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L’écart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165592" y="35204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Chaque différence a une cause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731520" y="4572000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31520" y="4754880"/>
            <a:ext cx="10725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quoi sert un inventaire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731520" y="51663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décisions sur des chiffres justes.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Commandes, réassort, promotions : tout repose sur le stock affiché.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6309360" y="51663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pertes mises au jour.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comptage montre ce qui manque.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septembre 2026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L’inventaire et la loi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obligation légale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10312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Tout commerçant doit contrôler</a:t>
            </a:r>
            <a:endParaRPr lang="en-US" sz="16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 stock par inventaire au moins</a:t>
            </a:r>
            <a:endParaRPr lang="en-US" sz="16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fois tous les douze mois.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31520" y="33375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de commerce, article L123-12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31520" y="3840480"/>
            <a:ext cx="4206240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402336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bilan sincère.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stock est souvent le premier actif du magasin. Sa valeur doit être juste.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394960" y="1371600"/>
            <a:ext cx="6062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loi fixe un minimum. Le rythme, lui, se choisit.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394960" y="2011680"/>
            <a:ext cx="6062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Annuel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5394960" y="2313432"/>
            <a:ext cx="6062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grand comptage, souvent à la clôture de l’exercice.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394960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512039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629118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746197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863276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980355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97434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214513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331592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48672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565751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682830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799909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916988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034067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151146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268225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385304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502383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619462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736541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853620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970699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087778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204857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321936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8439016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556095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8673174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8790253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8907332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9024411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9141490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9258569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9375648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9492727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9609806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9726885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9843964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9961043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0078122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0195201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0312280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10429360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10546439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10663518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10780597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10897676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1014755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11131834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1248913" y="261518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11365992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5394960" y="2761488"/>
            <a:ext cx="6062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 semaine sur 52</a:t>
            </a:r>
            <a:endParaRPr lang="en-US" sz="950" dirty="0"/>
          </a:p>
        </p:txBody>
      </p:sp>
      <p:sp>
        <p:nvSpPr>
          <p:cNvPr id="67" name="Text 64"/>
          <p:cNvSpPr/>
          <p:nvPr/>
        </p:nvSpPr>
        <p:spPr>
          <a:xfrm>
            <a:off x="5394960" y="3063240"/>
            <a:ext cx="6062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Tournant</a:t>
            </a:r>
            <a:endParaRPr lang="en-US" sz="1350" dirty="0"/>
          </a:p>
        </p:txBody>
      </p:sp>
      <p:sp>
        <p:nvSpPr>
          <p:cNvPr id="68" name="Text 65"/>
          <p:cNvSpPr/>
          <p:nvPr/>
        </p:nvSpPr>
        <p:spPr>
          <a:xfrm>
            <a:off x="5394960" y="3364992"/>
            <a:ext cx="6062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zone chaque semaine, sans fermer le magasin.</a:t>
            </a:r>
            <a:endParaRPr lang="en-US" sz="1100" dirty="0"/>
          </a:p>
        </p:txBody>
      </p:sp>
      <p:sp>
        <p:nvSpPr>
          <p:cNvPr id="69" name="Shape 66"/>
          <p:cNvSpPr/>
          <p:nvPr/>
        </p:nvSpPr>
        <p:spPr>
          <a:xfrm>
            <a:off x="5394960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5512039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5629118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5746197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5863276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5980355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6097434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6214513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6331592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6448672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6565751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6682830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6799909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6916988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7034067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7151146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7268225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7385304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7502383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7619462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7736541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>
            <a:off x="7853620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7970699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>
            <a:off x="8087778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>
            <a:off x="8204857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8321936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8439016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8556095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8673174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>
            <a:off x="8790253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>
            <a:off x="8907332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>
            <a:off x="9024411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9141490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>
            <a:off x="9258569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>
            <a:off x="9375648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9492727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>
            <a:off x="9609806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06" name="Shape 103"/>
          <p:cNvSpPr/>
          <p:nvPr/>
        </p:nvSpPr>
        <p:spPr>
          <a:xfrm>
            <a:off x="9726885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>
            <a:off x="9843964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08" name="Shape 105"/>
          <p:cNvSpPr/>
          <p:nvPr/>
        </p:nvSpPr>
        <p:spPr>
          <a:xfrm>
            <a:off x="9961043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09" name="Shape 106"/>
          <p:cNvSpPr/>
          <p:nvPr/>
        </p:nvSpPr>
        <p:spPr>
          <a:xfrm>
            <a:off x="10078122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10195201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11" name="Shape 108"/>
          <p:cNvSpPr/>
          <p:nvPr/>
        </p:nvSpPr>
        <p:spPr>
          <a:xfrm>
            <a:off x="10312280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12" name="Shape 109"/>
          <p:cNvSpPr/>
          <p:nvPr/>
        </p:nvSpPr>
        <p:spPr>
          <a:xfrm>
            <a:off x="10429360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10546439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10663518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>
            <a:off x="10780597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16" name="Shape 113"/>
          <p:cNvSpPr/>
          <p:nvPr/>
        </p:nvSpPr>
        <p:spPr>
          <a:xfrm>
            <a:off x="10897676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11014755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18" name="Shape 115"/>
          <p:cNvSpPr/>
          <p:nvPr/>
        </p:nvSpPr>
        <p:spPr>
          <a:xfrm>
            <a:off x="11131834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19" name="Shape 116"/>
          <p:cNvSpPr/>
          <p:nvPr/>
        </p:nvSpPr>
        <p:spPr>
          <a:xfrm>
            <a:off x="11248913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11365992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21" name="Text 118"/>
          <p:cNvSpPr/>
          <p:nvPr/>
        </p:nvSpPr>
        <p:spPr>
          <a:xfrm>
            <a:off x="5394960" y="3813048"/>
            <a:ext cx="6062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 semaines sur 52</a:t>
            </a:r>
            <a:endParaRPr lang="en-US" sz="950" dirty="0"/>
          </a:p>
        </p:txBody>
      </p:sp>
      <p:sp>
        <p:nvSpPr>
          <p:cNvPr id="122" name="Text 119"/>
          <p:cNvSpPr/>
          <p:nvPr/>
        </p:nvSpPr>
        <p:spPr>
          <a:xfrm>
            <a:off x="5394960" y="4114800"/>
            <a:ext cx="6062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Ciblé</a:t>
            </a:r>
            <a:endParaRPr lang="en-US" sz="1350" dirty="0"/>
          </a:p>
        </p:txBody>
      </p:sp>
      <p:sp>
        <p:nvSpPr>
          <p:cNvPr id="123" name="Text 120"/>
          <p:cNvSpPr/>
          <p:nvPr/>
        </p:nvSpPr>
        <p:spPr>
          <a:xfrm>
            <a:off x="5394960" y="4416552"/>
            <a:ext cx="6062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rayons sensibles, les meilleures ventes ou une zone tirée au hasard.</a:t>
            </a:r>
            <a:endParaRPr lang="en-US" sz="1100" dirty="0"/>
          </a:p>
        </p:txBody>
      </p:sp>
      <p:sp>
        <p:nvSpPr>
          <p:cNvPr id="124" name="Shape 121"/>
          <p:cNvSpPr/>
          <p:nvPr/>
        </p:nvSpPr>
        <p:spPr>
          <a:xfrm>
            <a:off x="5394960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>
            <a:off x="5512039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26" name="Shape 123"/>
          <p:cNvSpPr/>
          <p:nvPr/>
        </p:nvSpPr>
        <p:spPr>
          <a:xfrm>
            <a:off x="5629118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>
            <a:off x="5746197" y="471830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28" name="Shape 125"/>
          <p:cNvSpPr/>
          <p:nvPr/>
        </p:nvSpPr>
        <p:spPr>
          <a:xfrm>
            <a:off x="5863276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29" name="Shape 126"/>
          <p:cNvSpPr/>
          <p:nvPr/>
        </p:nvSpPr>
        <p:spPr>
          <a:xfrm>
            <a:off x="5980355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30" name="Shape 127"/>
          <p:cNvSpPr/>
          <p:nvPr/>
        </p:nvSpPr>
        <p:spPr>
          <a:xfrm>
            <a:off x="6097434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31" name="Shape 128"/>
          <p:cNvSpPr/>
          <p:nvPr/>
        </p:nvSpPr>
        <p:spPr>
          <a:xfrm>
            <a:off x="6214513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32" name="Shape 129"/>
          <p:cNvSpPr/>
          <p:nvPr/>
        </p:nvSpPr>
        <p:spPr>
          <a:xfrm>
            <a:off x="6331592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33" name="Shape 130"/>
          <p:cNvSpPr/>
          <p:nvPr/>
        </p:nvSpPr>
        <p:spPr>
          <a:xfrm>
            <a:off x="6448672" y="471830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34" name="Shape 131"/>
          <p:cNvSpPr/>
          <p:nvPr/>
        </p:nvSpPr>
        <p:spPr>
          <a:xfrm>
            <a:off x="6565751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35" name="Shape 132"/>
          <p:cNvSpPr/>
          <p:nvPr/>
        </p:nvSpPr>
        <p:spPr>
          <a:xfrm>
            <a:off x="6682830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36" name="Shape 133"/>
          <p:cNvSpPr/>
          <p:nvPr/>
        </p:nvSpPr>
        <p:spPr>
          <a:xfrm>
            <a:off x="6799909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37" name="Shape 134"/>
          <p:cNvSpPr/>
          <p:nvPr/>
        </p:nvSpPr>
        <p:spPr>
          <a:xfrm>
            <a:off x="6916988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38" name="Shape 135"/>
          <p:cNvSpPr/>
          <p:nvPr/>
        </p:nvSpPr>
        <p:spPr>
          <a:xfrm>
            <a:off x="7034067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39" name="Shape 136"/>
          <p:cNvSpPr/>
          <p:nvPr/>
        </p:nvSpPr>
        <p:spPr>
          <a:xfrm>
            <a:off x="7151146" y="471830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40" name="Shape 137"/>
          <p:cNvSpPr/>
          <p:nvPr/>
        </p:nvSpPr>
        <p:spPr>
          <a:xfrm>
            <a:off x="7268225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41" name="Shape 138"/>
          <p:cNvSpPr/>
          <p:nvPr/>
        </p:nvSpPr>
        <p:spPr>
          <a:xfrm>
            <a:off x="7385304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42" name="Shape 139"/>
          <p:cNvSpPr/>
          <p:nvPr/>
        </p:nvSpPr>
        <p:spPr>
          <a:xfrm>
            <a:off x="7502383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43" name="Shape 140"/>
          <p:cNvSpPr/>
          <p:nvPr/>
        </p:nvSpPr>
        <p:spPr>
          <a:xfrm>
            <a:off x="7619462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44" name="Shape 141"/>
          <p:cNvSpPr/>
          <p:nvPr/>
        </p:nvSpPr>
        <p:spPr>
          <a:xfrm>
            <a:off x="7736541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45" name="Shape 142"/>
          <p:cNvSpPr/>
          <p:nvPr/>
        </p:nvSpPr>
        <p:spPr>
          <a:xfrm>
            <a:off x="7853620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46" name="Shape 143"/>
          <p:cNvSpPr/>
          <p:nvPr/>
        </p:nvSpPr>
        <p:spPr>
          <a:xfrm>
            <a:off x="7970699" y="471830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47" name="Shape 144"/>
          <p:cNvSpPr/>
          <p:nvPr/>
        </p:nvSpPr>
        <p:spPr>
          <a:xfrm>
            <a:off x="8087778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48" name="Shape 145"/>
          <p:cNvSpPr/>
          <p:nvPr/>
        </p:nvSpPr>
        <p:spPr>
          <a:xfrm>
            <a:off x="8204857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49" name="Shape 146"/>
          <p:cNvSpPr/>
          <p:nvPr/>
        </p:nvSpPr>
        <p:spPr>
          <a:xfrm>
            <a:off x="8321936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50" name="Shape 147"/>
          <p:cNvSpPr/>
          <p:nvPr/>
        </p:nvSpPr>
        <p:spPr>
          <a:xfrm>
            <a:off x="8439016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51" name="Shape 148"/>
          <p:cNvSpPr/>
          <p:nvPr/>
        </p:nvSpPr>
        <p:spPr>
          <a:xfrm>
            <a:off x="8556095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52" name="Shape 149"/>
          <p:cNvSpPr/>
          <p:nvPr/>
        </p:nvSpPr>
        <p:spPr>
          <a:xfrm>
            <a:off x="8673174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53" name="Shape 150"/>
          <p:cNvSpPr/>
          <p:nvPr/>
        </p:nvSpPr>
        <p:spPr>
          <a:xfrm>
            <a:off x="8790253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54" name="Shape 151"/>
          <p:cNvSpPr/>
          <p:nvPr/>
        </p:nvSpPr>
        <p:spPr>
          <a:xfrm>
            <a:off x="8907332" y="471830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55" name="Shape 152"/>
          <p:cNvSpPr/>
          <p:nvPr/>
        </p:nvSpPr>
        <p:spPr>
          <a:xfrm>
            <a:off x="9024411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56" name="Shape 153"/>
          <p:cNvSpPr/>
          <p:nvPr/>
        </p:nvSpPr>
        <p:spPr>
          <a:xfrm>
            <a:off x="9141490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57" name="Shape 154"/>
          <p:cNvSpPr/>
          <p:nvPr/>
        </p:nvSpPr>
        <p:spPr>
          <a:xfrm>
            <a:off x="9258569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58" name="Shape 155"/>
          <p:cNvSpPr/>
          <p:nvPr/>
        </p:nvSpPr>
        <p:spPr>
          <a:xfrm>
            <a:off x="9375648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59" name="Shape 156"/>
          <p:cNvSpPr/>
          <p:nvPr/>
        </p:nvSpPr>
        <p:spPr>
          <a:xfrm>
            <a:off x="9492727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60" name="Shape 157"/>
          <p:cNvSpPr/>
          <p:nvPr/>
        </p:nvSpPr>
        <p:spPr>
          <a:xfrm>
            <a:off x="9609806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61" name="Shape 158"/>
          <p:cNvSpPr/>
          <p:nvPr/>
        </p:nvSpPr>
        <p:spPr>
          <a:xfrm>
            <a:off x="9726885" y="471830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62" name="Shape 159"/>
          <p:cNvSpPr/>
          <p:nvPr/>
        </p:nvSpPr>
        <p:spPr>
          <a:xfrm>
            <a:off x="9843964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63" name="Shape 160"/>
          <p:cNvSpPr/>
          <p:nvPr/>
        </p:nvSpPr>
        <p:spPr>
          <a:xfrm>
            <a:off x="9961043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64" name="Shape 161"/>
          <p:cNvSpPr/>
          <p:nvPr/>
        </p:nvSpPr>
        <p:spPr>
          <a:xfrm>
            <a:off x="10078122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65" name="Shape 162"/>
          <p:cNvSpPr/>
          <p:nvPr/>
        </p:nvSpPr>
        <p:spPr>
          <a:xfrm>
            <a:off x="10195201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66" name="Shape 163"/>
          <p:cNvSpPr/>
          <p:nvPr/>
        </p:nvSpPr>
        <p:spPr>
          <a:xfrm>
            <a:off x="10312280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67" name="Shape 164"/>
          <p:cNvSpPr/>
          <p:nvPr/>
        </p:nvSpPr>
        <p:spPr>
          <a:xfrm>
            <a:off x="10429360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68" name="Shape 165"/>
          <p:cNvSpPr/>
          <p:nvPr/>
        </p:nvSpPr>
        <p:spPr>
          <a:xfrm>
            <a:off x="10546439" y="471830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69" name="Shape 166"/>
          <p:cNvSpPr/>
          <p:nvPr/>
        </p:nvSpPr>
        <p:spPr>
          <a:xfrm>
            <a:off x="10663518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70" name="Shape 167"/>
          <p:cNvSpPr/>
          <p:nvPr/>
        </p:nvSpPr>
        <p:spPr>
          <a:xfrm>
            <a:off x="10780597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71" name="Shape 168"/>
          <p:cNvSpPr/>
          <p:nvPr/>
        </p:nvSpPr>
        <p:spPr>
          <a:xfrm>
            <a:off x="10897676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72" name="Shape 169"/>
          <p:cNvSpPr/>
          <p:nvPr/>
        </p:nvSpPr>
        <p:spPr>
          <a:xfrm>
            <a:off x="11014755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73" name="Shape 170"/>
          <p:cNvSpPr/>
          <p:nvPr/>
        </p:nvSpPr>
        <p:spPr>
          <a:xfrm>
            <a:off x="11131834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74" name="Shape 171"/>
          <p:cNvSpPr/>
          <p:nvPr/>
        </p:nvSpPr>
        <p:spPr>
          <a:xfrm>
            <a:off x="11248913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75" name="Shape 172"/>
          <p:cNvSpPr/>
          <p:nvPr/>
        </p:nvSpPr>
        <p:spPr>
          <a:xfrm>
            <a:off x="11365992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76" name="Text 173"/>
          <p:cNvSpPr/>
          <p:nvPr/>
        </p:nvSpPr>
        <p:spPr>
          <a:xfrm>
            <a:off x="5394960" y="4864608"/>
            <a:ext cx="6062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 semaines sur 52</a:t>
            </a:r>
            <a:endParaRPr lang="en-US" sz="950" dirty="0"/>
          </a:p>
        </p:txBody>
      </p:sp>
      <p:sp>
        <p:nvSpPr>
          <p:cNvPr id="177" name="Text 174"/>
          <p:cNvSpPr/>
          <p:nvPr/>
        </p:nvSpPr>
        <p:spPr>
          <a:xfrm>
            <a:off x="5394960" y="5257800"/>
            <a:ext cx="6062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trois se combinent : le tournant et le ciblé toute l’année,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l’annuel pour la photographie complète.</a:t>
            </a:r>
            <a:endParaRPr lang="en-US" sz="1150" dirty="0"/>
          </a:p>
        </p:txBody>
      </p:sp>
      <p:sp>
        <p:nvSpPr>
          <p:cNvPr id="178" name="Text 175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septembre 2026</a:t>
            </a:r>
            <a:endParaRPr lang="en-US" sz="900" dirty="0"/>
          </a:p>
        </p:txBody>
      </p:sp>
      <p:sp>
        <p:nvSpPr>
          <p:cNvPr id="179" name="Text 176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problèmes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démarque inconnue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14884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marchandise qui figure au stock théorique, mais n’est plus en rayon.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" y="315468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E4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 à 2 %</a:t>
            </a:r>
            <a:endParaRPr lang="en-US" sz="5400" dirty="0"/>
          </a:p>
        </p:txBody>
      </p:sp>
      <p:sp>
        <p:nvSpPr>
          <p:cNvPr id="9" name="Text 6"/>
          <p:cNvSpPr/>
          <p:nvPr/>
        </p:nvSpPr>
        <p:spPr>
          <a:xfrm>
            <a:off x="731520" y="406908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chiffre d’affaires du commerce de détail, selon les études du secteur. Souvent plus que la marge nette.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394960" y="1371600"/>
            <a:ext cx="6062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 quatre causes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394960" y="1783080"/>
            <a:ext cx="606247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 externe. </a:t>
            </a:r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l’étalage, dans les rayons.</a:t>
            </a:r>
            <a:endParaRPr lang="en-US" sz="1200" dirty="0"/>
          </a:p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 interne. </a:t>
            </a:r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 le personnel du magasin.</a:t>
            </a:r>
            <a:endParaRPr lang="en-US" sz="1200" dirty="0"/>
          </a:p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Casse et perte. </a:t>
            </a:r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Produits abîmés, périmés, jetés sans être enregistrés.</a:t>
            </a:r>
            <a:endParaRPr lang="en-US" sz="1200" dirty="0"/>
          </a:p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Erreurs administratives. </a:t>
            </a:r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Réceptions mal saisies, erreurs de caisse, retours oubliés.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394960" y="3456432"/>
            <a:ext cx="606247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394960" y="3611880"/>
            <a:ext cx="6062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l’écart révèle d’autre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5394960" y="4005072"/>
            <a:ext cx="60624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stocks négatifs. </a:t>
            </a:r>
            <a:pPr indent="0" marL="0">
              <a:lnSpc>
                <a:spcPct val="118000"/>
              </a:lnSpc>
              <a:spcAft>
                <a:spcPts val="9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Impossibles, donc une erreur de saisie ou de code-barres.</a:t>
            </a:r>
            <a:endParaRPr lang="en-US" sz="1200" dirty="0"/>
          </a:p>
          <a:p>
            <a:pPr indent="0" marL="0">
              <a:lnSpc>
                <a:spcPct val="1180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références fantômes. </a:t>
            </a:r>
            <a:pPr indent="0" marL="0">
              <a:lnSpc>
                <a:spcPct val="118000"/>
              </a:lnSpc>
              <a:spcAft>
                <a:spcPts val="9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Toujours au catalogue, elles gonflent la valeur du stock.</a:t>
            </a:r>
            <a:endParaRPr lang="en-US" sz="1200" dirty="0"/>
          </a:p>
          <a:p>
            <a:pPr indent="0" marL="0">
              <a:lnSpc>
                <a:spcPct val="1180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articles déplacés. </a:t>
            </a:r>
            <a:pPr indent="0" marL="0">
              <a:lnSpc>
                <a:spcPct val="118000"/>
              </a:lnSpc>
              <a:spcAft>
                <a:spcPts val="9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Présents mais introuvables, donc réassortis pour rien.</a:t>
            </a:r>
            <a:endParaRPr lang="en-US" sz="1200" dirty="0"/>
          </a:p>
          <a:p>
            <a:pPr indent="0" marL="0">
              <a:lnSpc>
                <a:spcPct val="1180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codes-barres inconnus. </a:t>
            </a:r>
            <a:pPr indent="0" marL="0">
              <a:lnSpc>
                <a:spcPct val="118000"/>
              </a:lnSpc>
              <a:spcAft>
                <a:spcPts val="9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produits bien réels que votre référentiel ignore.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septembre 2026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problèmes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3444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 l’inventaire passe par un prestataire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192024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Faute d’outil, beaucoup de magasins externalisent. Le fondateur de Quantinvo, contrôleur des stocks, en a vu les limites.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L’autonomie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474720" y="2715768"/>
            <a:ext cx="7982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magasin ne lance pas son inventaire : il le demande.</a:t>
            </a: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Ajouter un compteur passe par le prestataire, et il faut attendre.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31520" y="3611880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31520" y="3749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cadence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3474720" y="3767328"/>
            <a:ext cx="7982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marque est comptée une fois par an, au mieux. Un gros écart attend l’inventaire annuel pour être recompté. Un seul inventaire à la fois, donc un seul rapport pour tout.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31520" y="4663440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31520" y="4800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matériel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474720" y="4818888"/>
            <a:ext cx="7982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terminaux en fin de vie, qui ne servent qu’à l’inventaire. Des balises livrées de l’étranger : le bilan carbone n’est pas neutre. Seuls les appareils du prestataire savent les lire.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septembre 2026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problèmes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3444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données figées, un écart trop tard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103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donnée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3474720" y="2121408"/>
            <a:ext cx="7982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référentiel date de plusieurs mois. Le mettre à jour mobilise l’informatique. Un article absent du fichier ne se scanne pas : il se traite à la main, après coup.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31520" y="3154680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zone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474720" y="3264408"/>
            <a:ext cx="7982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zones de comptage se choisissent dans une liste imposée. Il faut noter ailleurs l’emplacement réel de chacune. Une source d’erreur qui n’a aucune raison d’exister.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31520" y="4343400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4572000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i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 On compte, on clôture, on découvre. »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31520" y="5230368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 l’écart tombe, l’équipe est partie et le rayon a déjà bougé.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septembre 2026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solutions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3444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Vos fichiers, tels quels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103120"/>
            <a:ext cx="49377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 ou Excel, jusqu’à 100 000 références par inventaire.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fichier de votre logiciel, sans le retravailler. Vos noms de colonnes sont reconnus : SKU, EAN, Gencod, Qté…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stock théorique, si vous l’avez.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C’est lui qui fait apparaître l’écart de stock au rapport.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référentiel à jour.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superviseur charge ses fichiers à chaque inventaire, sans passer par l’informatique.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article inconnu ?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se crée au scan, et le comptage continue.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071616" y="2093976"/>
            <a:ext cx="5440680" cy="3158366"/>
          </a:xfrm>
          <a:prstGeom prst="roundRect">
            <a:avLst>
              <a:gd name="adj" fmla="val 1158"/>
            </a:avLst>
          </a:prstGeom>
          <a:solidFill>
            <a:srgbClr val="FFFFFF"/>
          </a:solidFill>
          <a:ln w="12700">
            <a:solidFill>
              <a:srgbClr val="E2E5E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148840"/>
            <a:ext cx="5330952" cy="304863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126480" y="5343782"/>
            <a:ext cx="5330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données d’un inventaire, sur le site.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captures d’un compte de démonstration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solutions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Chaque rayon s’ouvre</a:t>
            </a:r>
            <a:endParaRPr lang="en-US" sz="2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d’un scan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33172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compteur scanne la balise du rayon,</a:t>
            </a:r>
            <a:endParaRPr lang="en-US" sz="13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puis ses articles.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" y="3063240"/>
            <a:ext cx="4206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balises imprimées au magasin.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planche d’étiquettes QR, qui sert à tous vos inventaires.</a:t>
            </a:r>
            <a:endParaRPr lang="en-US" sz="1200" dirty="0"/>
          </a:p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Vos emplacements, vos noms.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Réserve, surface de vente : chaque plage de balises porte le nom que vous lui donnez.</a:t>
            </a:r>
            <a:endParaRPr lang="en-US" sz="1200" dirty="0"/>
          </a:p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plusieurs, sans se gêner.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L’équipe compte en parallèle.</a:t>
            </a:r>
            <a:endParaRPr lang="en-US" sz="12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062472" cy="441664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94960" y="5897974"/>
            <a:ext cx="6062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étiquette QR sur la glissière d’un rayon (illustration).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septembre 2026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solutions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Chacun compte</a:t>
            </a:r>
            <a:endParaRPr lang="en-US" sz="2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avec ce qu’il a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331720"/>
            <a:ext cx="45720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Aucun matériel à acheter.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téléphone, iPhone ou Android, par personne qui compte.</a:t>
            </a:r>
            <a:endParaRPr lang="en-US" sz="1200" dirty="0"/>
          </a:p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caméra suffit.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douchette Bluetooth se connecte pour qui la préfère. La saisie au clavier reste possible.</a:t>
            </a:r>
            <a:endParaRPr lang="en-US" sz="1200" dirty="0"/>
          </a:p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Rejoindre un inventaire.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Invité par e-mail, le compteur saisit le numéro d’inventaire et le code fournis par son superviseur. À la première ouverture, l’application lui montre ce qu’il doit faire.</a:t>
            </a:r>
            <a:endParaRPr lang="en-US" sz="1200" dirty="0"/>
          </a:p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Même sans réseau.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réserve, les scans restent sur le téléphone et partent dès le retour de la connexion.</a:t>
            </a:r>
            <a:endParaRPr lang="en-US" sz="12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6896" y="1417320"/>
            <a:ext cx="1992100" cy="42062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519696" y="5751576"/>
            <a:ext cx="29065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Caméra, saisie ou douchette : au choix</a:t>
            </a:r>
            <a:endParaRPr lang="en-US" sz="10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3396" y="1417320"/>
            <a:ext cx="1992100" cy="420624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426196" y="5751576"/>
            <a:ext cx="29065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première ouverture</a:t>
            </a:r>
            <a:endParaRPr lang="en-US" sz="1000" dirty="0"/>
          </a:p>
        </p:txBody>
      </p:sp>
      <p:sp>
        <p:nvSpPr>
          <p:cNvPr id="12" name="Text 7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captures d’un compte de démonstration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solutions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3444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L’avancement, en direct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1920240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superviseur voit chaque zone progresser, sur le site ou dans l’application. On suit le travail, pas les personnes.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2688336"/>
            <a:ext cx="2554968" cy="27419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5E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2743200"/>
            <a:ext cx="2445240" cy="263220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451080" y="2688336"/>
            <a:ext cx="8006352" cy="2741936"/>
          </a:xfrm>
          <a:prstGeom prst="roundRect">
            <a:avLst>
              <a:gd name="adj" fmla="val 1334"/>
            </a:avLst>
          </a:prstGeom>
          <a:solidFill>
            <a:srgbClr val="FFFFFF"/>
          </a:solidFill>
          <a:ln w="12700">
            <a:solidFill>
              <a:srgbClr val="E2E5E1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5944" y="2743200"/>
            <a:ext cx="7896624" cy="263220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86384" y="5521712"/>
            <a:ext cx="10616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Onglet Suivi : progression et état de chaque zone.</a:t>
            </a:r>
            <a:endParaRPr lang="en-US" sz="1000" dirty="0"/>
          </a:p>
        </p:txBody>
      </p:sp>
      <p:sp>
        <p:nvSpPr>
          <p:cNvPr id="13" name="Text 8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captures d’un compte de démonstration</a:t>
            </a:r>
            <a:endParaRPr lang="en-US" sz="900" dirty="0"/>
          </a:p>
        </p:txBody>
      </p:sp>
      <p:sp>
        <p:nvSpPr>
          <p:cNvPr id="14" name="Text 9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solutions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3444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écarts se tranchent le jour même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192024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auditeur recompte la balise en seconde passe. L’écart entre les deux comptes s’affiche dès la fin de l’audit.</a:t>
            </a:r>
            <a:endParaRPr lang="en-US" sz="13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superviseur retient la quantité du compteur, celle de l’auditeur ou une autre.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385604" y="2642616"/>
            <a:ext cx="7417743" cy="3172968"/>
          </a:xfrm>
          <a:prstGeom prst="roundRect">
            <a:avLst>
              <a:gd name="adj" fmla="val 1153"/>
            </a:avLst>
          </a:prstGeom>
          <a:solidFill>
            <a:srgbClr val="FFFFFF"/>
          </a:solidFill>
          <a:ln w="12700">
            <a:solidFill>
              <a:srgbClr val="E2E5E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0468" y="2697480"/>
            <a:ext cx="7308015" cy="30632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440468" y="5888736"/>
            <a:ext cx="7308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Onglet Écarts d’audit, sur le site.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captures d’un compte de démonstration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solutions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3444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rapport qui fait foi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1920240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Chaque inventaire a le sien : stock théorique, stock compté, écart en unités et en valeur, article par article.</a:t>
            </a:r>
            <a:endParaRPr lang="en-US" sz="13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s’exporte en Excel ou en CSV, pour corriger le stock dans votre logiciel de gestion.</a:t>
            </a:r>
            <a:endParaRPr lang="en-US" sz="13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L’administrateur d’entreprise additionne les inventaires clôturés d’un magasin dans un rapport consolidé.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862082" y="2871216"/>
            <a:ext cx="8464789" cy="3081528"/>
          </a:xfrm>
          <a:prstGeom prst="roundRect">
            <a:avLst>
              <a:gd name="adj" fmla="val 1187"/>
            </a:avLst>
          </a:prstGeom>
          <a:solidFill>
            <a:srgbClr val="FFFFFF"/>
          </a:solidFill>
          <a:ln w="12700">
            <a:solidFill>
              <a:srgbClr val="E2E5E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6946" y="2926080"/>
            <a:ext cx="8355061" cy="29718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916946" y="6025896"/>
            <a:ext cx="83550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Onglet Rapport, sur le site.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captures d’un compte de démonstration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Pourquoi nous choisir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3444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qu’un outil de comptage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1031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magasin décide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3474720" y="2121408"/>
            <a:ext cx="798271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superviseur crée ses inventaires, invite ses compteurs et retire leurs accès.</a:t>
            </a: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Rien à demander, personne à attendre.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31520" y="2688336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286207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réseau d’un coup d’œil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3474720" y="2880360"/>
            <a:ext cx="798271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L’administrateur d’entreprise ajoute les magasins et voit tous leurs inventaires.</a:t>
            </a: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Chaque magasin garde ses codes d’accès et son équipe.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31520" y="3447288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3621024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Plusieurs inventaires à la fois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474720" y="3639312"/>
            <a:ext cx="7982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marque, un rayon, la réserve se comptent à part.</a:t>
            </a: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gros écart se recompte dès la semaine suivante.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31520" y="4215384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520" y="43891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Sérieux jusque dans les coulisses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474720" y="4407408"/>
            <a:ext cx="7982712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Données d’inventaire hébergées dans l’Union européenne, sans traceur publicitaire.</a:t>
            </a: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 authentification pour qui administre.</a:t>
            </a: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Chacun télécharge ses données ou supprime son compte.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31520" y="5198364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31520" y="53721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français et en anglais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3474720" y="5390388"/>
            <a:ext cx="7982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Dans l’application comme sur le site.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septembre 2026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offres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1887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prix par magasin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178308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tarif suit le nombre d’appareils qui comptent en même temps. Les comptes et les inventaires sont illimités.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31520" y="2194560"/>
            <a:ext cx="3404616" cy="3429000"/>
          </a:xfrm>
          <a:prstGeom prst="roundRect">
            <a:avLst>
              <a:gd name="adj" fmla="val 1074"/>
            </a:avLst>
          </a:prstGeom>
          <a:solidFill>
            <a:srgbClr val="F2F3F1"/>
          </a:solidFill>
          <a:ln w="12700">
            <a:solidFill>
              <a:srgbClr val="F2F3F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87552" y="2414016"/>
            <a:ext cx="2892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Essential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987552" y="2798064"/>
            <a:ext cx="2892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Jusqu’à 2 appareils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87552" y="3072384"/>
            <a:ext cx="3075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comptez seul ou à deux, dans un magasin.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987552" y="3474720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89 €</a:t>
            </a:r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mois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987552" y="3950208"/>
            <a:ext cx="2892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 950 € à l’année, soit 118 € de moins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987552" y="4242816"/>
            <a:ext cx="289255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7552" y="4352544"/>
            <a:ext cx="28925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Comptage et audit en seconde passe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Rapport d’écarts et export Excel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 CSV et Excel sans reformater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392168" y="2194560"/>
            <a:ext cx="3404616" cy="3429000"/>
          </a:xfrm>
          <a:prstGeom prst="roundRect">
            <a:avLst>
              <a:gd name="adj" fmla="val 1074"/>
            </a:avLst>
          </a:prstGeom>
          <a:solidFill>
            <a:srgbClr val="E7EDE9"/>
          </a:solidFill>
          <a:ln w="15875">
            <a:solidFill>
              <a:srgbClr val="1E4D3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648200" y="2414016"/>
            <a:ext cx="2892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4648200" y="2798064"/>
            <a:ext cx="2892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Jusqu’à 20 appareils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648200" y="3072384"/>
            <a:ext cx="3075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montez une équipe le jour de l’inventaire.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4648200" y="3474720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310 €</a:t>
            </a:r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mois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4648200" y="3950208"/>
            <a:ext cx="2892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 3 300 € à l’année, soit 420 € de moins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648200" y="4242816"/>
            <a:ext cx="289255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648200" y="4352544"/>
            <a:ext cx="28925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Tout ce que contient Essential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Équipe, rôles et supervision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Balises imprimées et zones de comptage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Suivi de l’avancement en direct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8052816" y="2194560"/>
            <a:ext cx="3404616" cy="3429000"/>
          </a:xfrm>
          <a:prstGeom prst="roundRect">
            <a:avLst>
              <a:gd name="adj" fmla="val 1074"/>
            </a:avLst>
          </a:prstGeom>
          <a:solidFill>
            <a:srgbClr val="F2F3F1"/>
          </a:solidFill>
          <a:ln w="12700">
            <a:solidFill>
              <a:srgbClr val="F2F3F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308848" y="2414016"/>
            <a:ext cx="2892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8308848" y="2798064"/>
            <a:ext cx="2892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Jusqu’à 100 appareils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8308848" y="3072384"/>
            <a:ext cx="3075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grande surface, qui mobilise une équipe entière.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8308848" y="3474720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890 €</a:t>
            </a:r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mois</a:t>
            </a:r>
            <a:endParaRPr lang="en-US" sz="2600" dirty="0"/>
          </a:p>
        </p:txBody>
      </p:sp>
      <p:sp>
        <p:nvSpPr>
          <p:cNvPr id="29" name="Text 26"/>
          <p:cNvSpPr/>
          <p:nvPr/>
        </p:nvSpPr>
        <p:spPr>
          <a:xfrm>
            <a:off x="8308848" y="3950208"/>
            <a:ext cx="2892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 9 450 € à l’année, soit 1 230 € de moins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8308848" y="4242816"/>
            <a:ext cx="289255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308848" y="4352544"/>
            <a:ext cx="28925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Tout ce que contient Advanced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Console d’entreprise et journal des actions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Accompagnement du premier inventaire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Interlocuteur nommé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31520" y="5788152"/>
            <a:ext cx="10725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Au-delà de 100 appareils : 64 € par mois (690 € à l’année) par tranche de 10, jusqu’à 200.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31520" y="6035040"/>
            <a:ext cx="10725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TVA non applicable, article 293 B du CGI. Mensuel sans engagement ; annuel dû jusqu’à son terme.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septembre 2026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85800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44752" y="65836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731520" y="1481328"/>
            <a:ext cx="2011680" cy="20117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2240280"/>
            <a:ext cx="8686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Fiabilisez votre stock</a:t>
            </a:r>
            <a:endParaRPr lang="en-US" sz="3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avec Quantinvo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731520" y="38404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Dites-nous combien de magasins vous avez,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combien d’appareils comptent en même temps dans chacun.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731520" y="49377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contact@quantinvo.com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" y="6080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Devkaylab · Paris · www.quantinvo.com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Devkaylab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Quantinvo — présentation</dc:title>
  <dc:subject>PptxGenJS Presentation</dc:subject>
  <dc:creator>Devkaylab</dc:creator>
  <cp:lastModifiedBy>Devkaylab</cp:lastModifiedBy>
  <cp:revision>1</cp:revision>
  <dcterms:created xsi:type="dcterms:W3CDTF">2026-09-19T18:56:30Z</dcterms:created>
  <dcterms:modified xsi:type="dcterms:W3CDTF">2026-09-19T18:56:30Z</dcterms:modified>
</cp:coreProperties>
</file>