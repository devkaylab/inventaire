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dossier accompagne la présentation commerciale. Il répond aux questions qu'une DSI pose avant signature, et à celles qu'elle pose après — d'où on télécharge, qui met en place, ce que les équipes ont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à lire si on n'en lit qu'une. Tout le reste la détaille.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blocs, deux flux. Le point qui rassure une DSI : rien n'entre, tout sort en 443, aucun composant sur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Être précis sur la frontière : les données d'inventaire restent en Irlande ; ce qui passe par les États-Unis, c'est l'acheminement des e-mails et des notifications, et le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d'honnêteté à dire à l'oral : tant que la publication sur les boutiques n'est pas achevée, ces deux boutons ouvrent la recherche, et la page l'annonce. Un parc géré par MDM n'est pas concerné.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fiche de déploiement MDM reprend ces éléments en une page, à remettre telle quelle à l'équipe qui administre le parc.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troisième point est celui qu'aucune autre application ne pose. Le dire explicitement à l'équipe parc, pas seulement à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systématique d'une DSI : combien de jours-homme de notre côté ? La réponse honnête est une demi-journée, et le travail est surtout côté métier, pas côté informatique.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 rien à installer sur les postes » : c'est ce qui retire le sujet de la liste des chantiers de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gestes, dix minutes de prise en main, aucun briefing matériel. C'est ce qui permet de faire compter des équipes de vente plutôt qu'un service spécialisé. Le guide illustré complet est remis après la signature — et depuis septembre 2026 il vit aussi dans le produit : le superviseur l'ouvre depuis sa boîte à outils, sur le site, et peut l'imprimer pour la réserve.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retenir pour un RSSI : les droits sont appliqués par le serveur (policies de base de données), pas par l'interface. La double authentification est vérifiée côté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points que peu d'éditeurs de cette taille peuvent dire : le jeton dans le trousseau système, et les durées de conservation réellement exécutées par une tâche planifiée — pas seulement écrites dans une politique.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dernier alinéa est volontaire : un pentest externe n'a pas été fait, autant le dire avant qu'on ne le demande. Les synthèses d'audit se remettent au DPO ou au RSSI sur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d'architecture qui compte : les téléphones n'écoutent pas le canal temps réel. C'est ce qui permet cent compteurs dans le même magasin.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répartition des rôles est ce qui évite un malentendu plus tard : pour les données d'inventaire, le client est responsable de traitement, nous sommes sous-traitant.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volontairement franche. Une DSI qui découvre un manque après signature se souvient du manque ; une DSI prévenue se souvient de la franchise.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Finir sur les documents concrets. Chacun a un destinataire chez le client ; le dire évite que tout parte à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Public Sans" pitchFamily="34" charset="0"/>
                <a:ea typeface="Public Sans" pitchFamily="34" charset="-122"/>
                <a:cs typeface="Public Sans" pitchFamily="34" charset="-120"/>
              </a:rPr>
              <a:t>Dossier technique, pour la direction informatique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chivo" pitchFamily="34" charset="0"/>
                <a:ea typeface="Archivo" pitchFamily="34" charset="-122"/>
                <a:cs typeface="Archivo" pitchFamily="34" charset="-120"/>
              </a:rPr>
              <a:t>Ce qu’il faut savoir avant de déployer Quantinvo.</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Public Sans" pitchFamily="34" charset="0"/>
                <a:ea typeface="Public Sans" pitchFamily="34" charset="-122"/>
                <a:cs typeface="Public Sans" pitchFamily="34" charset="-120"/>
              </a:rPr>
              <a:t>Architecture, hébergement, distribution de l'application, mise en place, prise en main, comptes, sécurité, protection des données. Et ce qui n'existe pas encore, dit tel quel.</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Devkaylab  ·  état au 30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En une page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Une application mobile, un site web, et rien à installer chez vous.</a:t>
            </a:r>
            <a:endParaRPr lang="en-US" sz="2600" dirty="0"/>
          </a:p>
        </p:txBody>
      </p:sp>
      <p:sp>
        <p:nvSpPr>
          <p:cNvPr id="7" name="Text 4"/>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Ce que c’est.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Une application sur iPhone (Android en cours de publication) pour les personnes qui comptent, un site web pour celles qui pilotent, et une base de données hébergée en Irlande qui relie les deux.</a:t>
            </a:r>
            <a:endParaRPr lang="en-US" sz="1300" dirty="0"/>
          </a:p>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Ce que ça touche chez vous.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Les téléphones qui comptent, votre réseau sortant en HTTPS, et un compte nominatif par personne. C'est tout.</a:t>
            </a:r>
            <a:endParaRPr lang="en-US" sz="1300" dirty="0"/>
          </a:p>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Ce que ça n'exige pas.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Aucun serveur chez vous, aucun VPN, aucun terminal dédié, aucune intégration obligatoire avec votre système de gestion. On importe un fichier, on rend un Excel.</a:t>
            </a:r>
            <a:endParaRPr lang="en-US" sz="1300" dirty="0"/>
          </a:p>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Ce que ça demande de votre part.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Autoriser l'application dans votre catalogue, laisser la caméra et trois adresses réseau accessibles, et ne pas effacer un téléphone pendant un comptage hors ligne. Les pages suivantes détaillent chacun de ces points.</a:t>
            </a:r>
            <a:endParaRPr lang="en-US" sz="1300" dirty="0"/>
          </a:p>
        </p:txBody>
      </p:sp>
      <p:sp>
        <p:nvSpPr>
          <p:cNvPr id="8"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9"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Architecture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Comment les pièces se parlent</a:t>
            </a:r>
            <a:endParaRPr lang="en-US" sz="2600" dirty="0"/>
          </a:p>
        </p:txBody>
      </p:sp>
      <p:sp>
        <p:nvSpPr>
          <p:cNvPr id="7" name="Shape 4"/>
          <p:cNvSpPr/>
          <p:nvPr/>
        </p:nvSpPr>
        <p:spPr>
          <a:xfrm>
            <a:off x="731520" y="2377440"/>
            <a:ext cx="2697480" cy="1691640"/>
          </a:xfrm>
          <a:prstGeom prst="roundRect">
            <a:avLst>
              <a:gd name="adj" fmla="val 2162"/>
            </a:avLst>
          </a:prstGeom>
          <a:solidFill>
            <a:srgbClr val="F2F3F1"/>
          </a:solidFill>
          <a:ln w="12700">
            <a:solidFill>
              <a:srgbClr val="E2E5E1"/>
            </a:solidFill>
            <a:prstDash val="solid"/>
          </a:ln>
        </p:spPr>
      </p:sp>
      <p:sp>
        <p:nvSpPr>
          <p:cNvPr id="8" name="Text 5"/>
          <p:cNvSpPr/>
          <p:nvPr/>
        </p:nvSpPr>
        <p:spPr>
          <a:xfrm>
            <a:off x="914400" y="2514600"/>
            <a:ext cx="2331720" cy="274320"/>
          </a:xfrm>
          <a:prstGeom prst="rect">
            <a:avLst/>
          </a:prstGeom>
          <a:noFill/>
          <a:ln/>
        </p:spPr>
        <p:txBody>
          <a:bodyPr wrap="square" lIns="0" tIns="0" rIns="0" bIns="0" rtlCol="0" anchor="t"/>
          <a:lstStyle/>
          <a:p>
            <a:pPr indent="0" marL="0">
              <a:buNone/>
            </a:pPr>
            <a:r>
              <a:rPr lang="en-US" sz="1250" b="1" dirty="0">
                <a:solidFill>
                  <a:srgbClr val="14181A"/>
                </a:solidFill>
                <a:latin typeface="Archivo" pitchFamily="34" charset="0"/>
                <a:ea typeface="Archivo" pitchFamily="34" charset="-122"/>
                <a:cs typeface="Archivo" pitchFamily="34" charset="-120"/>
              </a:rPr>
              <a:t>Téléphones des compteurs</a:t>
            </a:r>
            <a:endParaRPr lang="en-US" sz="1250" dirty="0"/>
          </a:p>
        </p:txBody>
      </p:sp>
      <p:sp>
        <p:nvSpPr>
          <p:cNvPr id="9" name="Text 6"/>
          <p:cNvSpPr/>
          <p:nvPr/>
        </p:nvSpPr>
        <p:spPr>
          <a:xfrm>
            <a:off x="914400"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Public Sans" pitchFamily="34" charset="0"/>
                <a:ea typeface="Public Sans" pitchFamily="34" charset="-122"/>
                <a:cs typeface="Public Sans" pitchFamily="34" charset="-120"/>
              </a:rPr>
              <a:t>Application Quantinvo (iOS, Android en cours de publication).</a:t>
            </a:r>
            <a:endParaRPr lang="en-US" sz="1050" dirty="0"/>
          </a:p>
          <a:p>
            <a:pPr indent="0" marL="0">
              <a:lnSpc>
                <a:spcPct val="115000"/>
              </a:lnSpc>
              <a:buNone/>
            </a:pPr>
            <a:r>
              <a:rPr lang="en-US" sz="1050" dirty="0">
                <a:solidFill>
                  <a:srgbClr val="3A423F"/>
                </a:solidFill>
                <a:latin typeface="Public Sans" pitchFamily="34" charset="0"/>
                <a:ea typeface="Public Sans" pitchFamily="34" charset="-122"/>
                <a:cs typeface="Public Sans" pitchFamily="34" charset="-120"/>
              </a:rPr>
              <a:t>Scan par la caméra ; comptages gardés sur l’appareil hors réseau, renvoyés au retour.</a:t>
            </a:r>
            <a:endParaRPr lang="en-US" sz="1050" dirty="0"/>
          </a:p>
        </p:txBody>
      </p:sp>
      <p:sp>
        <p:nvSpPr>
          <p:cNvPr id="10" name="Shape 7"/>
          <p:cNvSpPr/>
          <p:nvPr/>
        </p:nvSpPr>
        <p:spPr>
          <a:xfrm>
            <a:off x="4471416" y="2377440"/>
            <a:ext cx="3246120" cy="1691640"/>
          </a:xfrm>
          <a:prstGeom prst="roundRect">
            <a:avLst>
              <a:gd name="adj" fmla="val 2162"/>
            </a:avLst>
          </a:prstGeom>
          <a:solidFill>
            <a:srgbClr val="E7EDE9"/>
          </a:solidFill>
          <a:ln w="12700">
            <a:solidFill>
              <a:srgbClr val="1E4D3B"/>
            </a:solidFill>
            <a:prstDash val="solid"/>
          </a:ln>
        </p:spPr>
      </p:sp>
      <p:sp>
        <p:nvSpPr>
          <p:cNvPr id="11" name="Text 8"/>
          <p:cNvSpPr/>
          <p:nvPr/>
        </p:nvSpPr>
        <p:spPr>
          <a:xfrm>
            <a:off x="4654296" y="2514600"/>
            <a:ext cx="2880360" cy="274320"/>
          </a:xfrm>
          <a:prstGeom prst="rect">
            <a:avLst/>
          </a:prstGeom>
          <a:noFill/>
          <a:ln/>
        </p:spPr>
        <p:txBody>
          <a:bodyPr wrap="square" lIns="0" tIns="0" rIns="0" bIns="0" rtlCol="0" anchor="t"/>
          <a:lstStyle/>
          <a:p>
            <a:pPr indent="0" marL="0">
              <a:buNone/>
            </a:pPr>
            <a:r>
              <a:rPr lang="en-US" sz="1250" b="1" dirty="0">
                <a:solidFill>
                  <a:srgbClr val="14181A"/>
                </a:solidFill>
                <a:latin typeface="Archivo" pitchFamily="34" charset="0"/>
                <a:ea typeface="Archivo" pitchFamily="34" charset="-122"/>
                <a:cs typeface="Archivo" pitchFamily="34" charset="-120"/>
              </a:rPr>
              <a:t>Base et services, Irlande</a:t>
            </a:r>
            <a:endParaRPr lang="en-US" sz="1250" dirty="0"/>
          </a:p>
        </p:txBody>
      </p:sp>
      <p:sp>
        <p:nvSpPr>
          <p:cNvPr id="12" name="Text 9"/>
          <p:cNvSpPr/>
          <p:nvPr/>
        </p:nvSpPr>
        <p:spPr>
          <a:xfrm>
            <a:off x="4654296" y="2834640"/>
            <a:ext cx="2880360" cy="114300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Public Sans" pitchFamily="34" charset="0"/>
                <a:ea typeface="Public Sans" pitchFamily="34" charset="-122"/>
                <a:cs typeface="Public Sans" pitchFamily="34" charset="-120"/>
              </a:rPr>
              <a:t>Postgres, authentification, temps réel, fonctions serveur. Hébergé par Supabase, région eu-west-1.</a:t>
            </a:r>
            <a:endParaRPr lang="en-US" sz="1050" dirty="0"/>
          </a:p>
          <a:p>
            <a:pPr indent="0" marL="0">
              <a:lnSpc>
                <a:spcPct val="115000"/>
              </a:lnSpc>
              <a:buNone/>
            </a:pPr>
            <a:r>
              <a:rPr lang="en-US" sz="1050" dirty="0">
                <a:solidFill>
                  <a:srgbClr val="3A423F"/>
                </a:solidFill>
                <a:latin typeface="Public Sans" pitchFamily="34" charset="0"/>
                <a:ea typeface="Public Sans" pitchFamily="34" charset="-122"/>
                <a:cs typeface="Public Sans" pitchFamily="34" charset="-120"/>
              </a:rPr>
              <a:t>Chaque requête est filtrée côté serveur, par entreprise et par rôle.</a:t>
            </a:r>
            <a:endParaRPr lang="en-US" sz="1050" dirty="0"/>
          </a:p>
        </p:txBody>
      </p:sp>
      <p:sp>
        <p:nvSpPr>
          <p:cNvPr id="13" name="Shape 10"/>
          <p:cNvSpPr/>
          <p:nvPr/>
        </p:nvSpPr>
        <p:spPr>
          <a:xfrm>
            <a:off x="8759952" y="2377440"/>
            <a:ext cx="2697480" cy="1691640"/>
          </a:xfrm>
          <a:prstGeom prst="roundRect">
            <a:avLst>
              <a:gd name="adj" fmla="val 2162"/>
            </a:avLst>
          </a:prstGeom>
          <a:solidFill>
            <a:srgbClr val="F2F3F1"/>
          </a:solidFill>
          <a:ln w="12700">
            <a:solidFill>
              <a:srgbClr val="E2E5E1"/>
            </a:solidFill>
            <a:prstDash val="solid"/>
          </a:ln>
        </p:spPr>
      </p:sp>
      <p:sp>
        <p:nvSpPr>
          <p:cNvPr id="14" name="Text 11"/>
          <p:cNvSpPr/>
          <p:nvPr/>
        </p:nvSpPr>
        <p:spPr>
          <a:xfrm>
            <a:off x="8942832" y="2514600"/>
            <a:ext cx="2331720" cy="274320"/>
          </a:xfrm>
          <a:prstGeom prst="rect">
            <a:avLst/>
          </a:prstGeom>
          <a:noFill/>
          <a:ln/>
        </p:spPr>
        <p:txBody>
          <a:bodyPr wrap="square" lIns="0" tIns="0" rIns="0" bIns="0" rtlCol="0" anchor="t"/>
          <a:lstStyle/>
          <a:p>
            <a:pPr indent="0" marL="0">
              <a:buNone/>
            </a:pPr>
            <a:r>
              <a:rPr lang="en-US" sz="1250" b="1" dirty="0">
                <a:solidFill>
                  <a:srgbClr val="14181A"/>
                </a:solidFill>
                <a:latin typeface="Archivo" pitchFamily="34" charset="0"/>
                <a:ea typeface="Archivo" pitchFamily="34" charset="-122"/>
                <a:cs typeface="Archivo" pitchFamily="34" charset="-120"/>
              </a:rPr>
              <a:t>Postes des superviseurs</a:t>
            </a:r>
            <a:endParaRPr lang="en-US" sz="1250" dirty="0"/>
          </a:p>
        </p:txBody>
      </p:sp>
      <p:sp>
        <p:nvSpPr>
          <p:cNvPr id="15" name="Text 12"/>
          <p:cNvSpPr/>
          <p:nvPr/>
        </p:nvSpPr>
        <p:spPr>
          <a:xfrm>
            <a:off x="8942832"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Public Sans" pitchFamily="34" charset="0"/>
                <a:ea typeface="Public Sans" pitchFamily="34" charset="-122"/>
                <a:cs typeface="Public Sans" pitchFamily="34" charset="-120"/>
              </a:rPr>
              <a:t>Site web www.quantinvo.com, sans installation.</a:t>
            </a:r>
            <a:endParaRPr lang="en-US" sz="1050" dirty="0"/>
          </a:p>
          <a:p>
            <a:pPr indent="0" marL="0">
              <a:lnSpc>
                <a:spcPct val="115000"/>
              </a:lnSpc>
              <a:buNone/>
            </a:pPr>
            <a:r>
              <a:rPr lang="en-US" sz="1050" dirty="0">
                <a:solidFill>
                  <a:srgbClr val="3A423F"/>
                </a:solidFill>
                <a:latin typeface="Public Sans" pitchFamily="34" charset="0"/>
                <a:ea typeface="Public Sans" pitchFamily="34" charset="-122"/>
                <a:cs typeface="Public Sans" pitchFamily="34" charset="-120"/>
              </a:rPr>
              <a:t>Tableau de bord, imports, rapports. Hébergé par Vercel.</a:t>
            </a:r>
            <a:endParaRPr lang="en-US" sz="1050" dirty="0"/>
          </a:p>
        </p:txBody>
      </p:sp>
      <p:sp>
        <p:nvSpPr>
          <p:cNvPr id="16" name="Shape 13"/>
          <p:cNvSpPr/>
          <p:nvPr/>
        </p:nvSpPr>
        <p:spPr>
          <a:xfrm>
            <a:off x="3429000" y="3218688"/>
            <a:ext cx="1042416" cy="0"/>
          </a:xfrm>
          <a:prstGeom prst="line">
            <a:avLst/>
          </a:prstGeom>
          <a:noFill/>
          <a:ln w="12700">
            <a:solidFill>
              <a:srgbClr val="575F5C"/>
            </a:solidFill>
            <a:prstDash val="dash"/>
          </a:ln>
        </p:spPr>
      </p:sp>
      <p:sp>
        <p:nvSpPr>
          <p:cNvPr id="17" name="Text 14"/>
          <p:cNvSpPr/>
          <p:nvPr/>
        </p:nvSpPr>
        <p:spPr>
          <a:xfrm>
            <a:off x="3429000" y="2761488"/>
            <a:ext cx="1042416" cy="411480"/>
          </a:xfrm>
          <a:prstGeom prst="rect">
            <a:avLst/>
          </a:prstGeom>
          <a:noFill/>
          <a:ln/>
        </p:spPr>
        <p:txBody>
          <a:bodyPr wrap="square" lIns="0" tIns="0" rIns="0" bIns="0" rtlCol="0" anchor="b"/>
          <a:lstStyle/>
          <a:p>
            <a:pPr algn="ctr" indent="0" marL="0">
              <a:buNone/>
            </a:pPr>
            <a:r>
              <a:rPr lang="en-US" sz="850" dirty="0">
                <a:solidFill>
                  <a:srgbClr val="575F5C"/>
                </a:solidFill>
                <a:latin typeface="Public Sans" pitchFamily="34" charset="0"/>
                <a:ea typeface="Public Sans" pitchFamily="34" charset="-122"/>
                <a:cs typeface="Public Sans" pitchFamily="34" charset="-120"/>
              </a:rPr>
              <a:t>HTTPS 443</a:t>
            </a:r>
            <a:endParaRPr lang="en-US" sz="850" dirty="0"/>
          </a:p>
        </p:txBody>
      </p:sp>
      <p:sp>
        <p:nvSpPr>
          <p:cNvPr id="18" name="Shape 15"/>
          <p:cNvSpPr/>
          <p:nvPr/>
        </p:nvSpPr>
        <p:spPr>
          <a:xfrm>
            <a:off x="7717536" y="3218688"/>
            <a:ext cx="1042416" cy="0"/>
          </a:xfrm>
          <a:prstGeom prst="line">
            <a:avLst/>
          </a:prstGeom>
          <a:noFill/>
          <a:ln w="12700">
            <a:solidFill>
              <a:srgbClr val="575F5C"/>
            </a:solidFill>
            <a:prstDash val="dash"/>
          </a:ln>
        </p:spPr>
      </p:sp>
      <p:sp>
        <p:nvSpPr>
          <p:cNvPr id="19" name="Text 16"/>
          <p:cNvSpPr/>
          <p:nvPr/>
        </p:nvSpPr>
        <p:spPr>
          <a:xfrm>
            <a:off x="7717536" y="2761488"/>
            <a:ext cx="1042416" cy="411480"/>
          </a:xfrm>
          <a:prstGeom prst="rect">
            <a:avLst/>
          </a:prstGeom>
          <a:noFill/>
          <a:ln/>
        </p:spPr>
        <p:txBody>
          <a:bodyPr wrap="square" lIns="0" tIns="0" rIns="0" bIns="0" rtlCol="0" anchor="b"/>
          <a:lstStyle/>
          <a:p>
            <a:pPr algn="ctr" indent="0" marL="0">
              <a:buNone/>
            </a:pPr>
            <a:r>
              <a:rPr lang="en-US" sz="850" dirty="0">
                <a:solidFill>
                  <a:srgbClr val="575F5C"/>
                </a:solidFill>
                <a:latin typeface="Public Sans" pitchFamily="34" charset="0"/>
                <a:ea typeface="Public Sans" pitchFamily="34" charset="-122"/>
                <a:cs typeface="Public Sans" pitchFamily="34" charset="-120"/>
              </a:rPr>
              <a:t>HTTPS, WebSocket</a:t>
            </a:r>
            <a:endParaRPr lang="en-US" sz="850" dirty="0"/>
          </a:p>
        </p:txBody>
      </p:sp>
      <p:sp>
        <p:nvSpPr>
          <p:cNvPr id="20" name="Shape 17"/>
          <p:cNvSpPr/>
          <p:nvPr/>
        </p:nvSpPr>
        <p:spPr>
          <a:xfrm>
            <a:off x="731520" y="4709160"/>
            <a:ext cx="2697480" cy="1188720"/>
          </a:xfrm>
          <a:prstGeom prst="roundRect">
            <a:avLst>
              <a:gd name="adj" fmla="val 3077"/>
            </a:avLst>
          </a:prstGeom>
          <a:solidFill>
            <a:srgbClr val="F2F3F1"/>
          </a:solidFill>
          <a:ln w="12700">
            <a:solidFill>
              <a:srgbClr val="E2E5E1"/>
            </a:solidFill>
            <a:prstDash val="solid"/>
          </a:ln>
        </p:spPr>
      </p:sp>
      <p:sp>
        <p:nvSpPr>
          <p:cNvPr id="21" name="Text 18"/>
          <p:cNvSpPr/>
          <p:nvPr/>
        </p:nvSpPr>
        <p:spPr>
          <a:xfrm>
            <a:off x="914400" y="4846320"/>
            <a:ext cx="2331720" cy="274320"/>
          </a:xfrm>
          <a:prstGeom prst="rect">
            <a:avLst/>
          </a:prstGeom>
          <a:noFill/>
          <a:ln/>
        </p:spPr>
        <p:txBody>
          <a:bodyPr wrap="square" lIns="0" tIns="0" rIns="0" bIns="0" rtlCol="0" anchor="t"/>
          <a:lstStyle/>
          <a:p>
            <a:pPr indent="0" marL="0">
              <a:buNone/>
            </a:pPr>
            <a:r>
              <a:rPr lang="en-US" sz="1250" b="1" dirty="0">
                <a:solidFill>
                  <a:srgbClr val="14181A"/>
                </a:solidFill>
                <a:latin typeface="Archivo" pitchFamily="34" charset="0"/>
                <a:ea typeface="Archivo" pitchFamily="34" charset="-122"/>
                <a:cs typeface="Archivo" pitchFamily="34" charset="-120"/>
              </a:rPr>
              <a:t>Notifications</a:t>
            </a:r>
            <a:endParaRPr lang="en-US" sz="1250" dirty="0"/>
          </a:p>
        </p:txBody>
      </p:sp>
      <p:sp>
        <p:nvSpPr>
          <p:cNvPr id="22" name="Text 19"/>
          <p:cNvSpPr/>
          <p:nvPr/>
        </p:nvSpPr>
        <p:spPr>
          <a:xfrm>
            <a:off x="914400"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Public Sans" pitchFamily="34" charset="0"/>
                <a:ea typeface="Public Sans" pitchFamily="34" charset="-122"/>
                <a:cs typeface="Public Sans" pitchFamily="34" charset="-120"/>
              </a:rPr>
              <a:t>Jeton obtenu via Expo (exp.host), puis APNs / FCM. Sert à prévenir d’une invitation.</a:t>
            </a:r>
            <a:endParaRPr lang="en-US" sz="1050" dirty="0"/>
          </a:p>
        </p:txBody>
      </p:sp>
      <p:sp>
        <p:nvSpPr>
          <p:cNvPr id="23" name="Shape 20"/>
          <p:cNvSpPr/>
          <p:nvPr/>
        </p:nvSpPr>
        <p:spPr>
          <a:xfrm>
            <a:off x="4471416" y="4709160"/>
            <a:ext cx="3246120" cy="1188720"/>
          </a:xfrm>
          <a:prstGeom prst="roundRect">
            <a:avLst>
              <a:gd name="adj" fmla="val 3077"/>
            </a:avLst>
          </a:prstGeom>
          <a:solidFill>
            <a:srgbClr val="F2F3F1"/>
          </a:solidFill>
          <a:ln w="12700">
            <a:solidFill>
              <a:srgbClr val="E2E5E1"/>
            </a:solidFill>
            <a:prstDash val="solid"/>
          </a:ln>
        </p:spPr>
      </p:sp>
      <p:sp>
        <p:nvSpPr>
          <p:cNvPr id="24" name="Text 21"/>
          <p:cNvSpPr/>
          <p:nvPr/>
        </p:nvSpPr>
        <p:spPr>
          <a:xfrm>
            <a:off x="4654296" y="4846320"/>
            <a:ext cx="2880360" cy="274320"/>
          </a:xfrm>
          <a:prstGeom prst="rect">
            <a:avLst/>
          </a:prstGeom>
          <a:noFill/>
          <a:ln/>
        </p:spPr>
        <p:txBody>
          <a:bodyPr wrap="square" lIns="0" tIns="0" rIns="0" bIns="0" rtlCol="0" anchor="t"/>
          <a:lstStyle/>
          <a:p>
            <a:pPr indent="0" marL="0">
              <a:buNone/>
            </a:pPr>
            <a:r>
              <a:rPr lang="en-US" sz="1250" b="1" dirty="0">
                <a:solidFill>
                  <a:srgbClr val="14181A"/>
                </a:solidFill>
                <a:latin typeface="Archivo" pitchFamily="34" charset="0"/>
                <a:ea typeface="Archivo" pitchFamily="34" charset="-122"/>
                <a:cs typeface="Archivo" pitchFamily="34" charset="-120"/>
              </a:rPr>
              <a:t>E-mails de service</a:t>
            </a:r>
            <a:endParaRPr lang="en-US" sz="1250" dirty="0"/>
          </a:p>
        </p:txBody>
      </p:sp>
      <p:sp>
        <p:nvSpPr>
          <p:cNvPr id="25" name="Text 22"/>
          <p:cNvSpPr/>
          <p:nvPr/>
        </p:nvSpPr>
        <p:spPr>
          <a:xfrm>
            <a:off x="4654296" y="5166360"/>
            <a:ext cx="2880360" cy="64008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Public Sans" pitchFamily="34" charset="0"/>
                <a:ea typeface="Public Sans" pitchFamily="34" charset="-122"/>
                <a:cs typeface="Public Sans" pitchFamily="34" charset="-120"/>
              </a:rPr>
              <a:t>Invitations, factures, accusés. Envoyés par Resend, depuis send.quantinvo.com. Jamais de code d’accès par e-mail.</a:t>
            </a:r>
            <a:endParaRPr lang="en-US" sz="1050" dirty="0"/>
          </a:p>
        </p:txBody>
      </p:sp>
      <p:sp>
        <p:nvSpPr>
          <p:cNvPr id="26" name="Shape 23"/>
          <p:cNvSpPr/>
          <p:nvPr/>
        </p:nvSpPr>
        <p:spPr>
          <a:xfrm>
            <a:off x="8759952" y="4709160"/>
            <a:ext cx="2697480" cy="1188720"/>
          </a:xfrm>
          <a:prstGeom prst="roundRect">
            <a:avLst>
              <a:gd name="adj" fmla="val 3077"/>
            </a:avLst>
          </a:prstGeom>
          <a:solidFill>
            <a:srgbClr val="F2F3F1"/>
          </a:solidFill>
          <a:ln w="12700">
            <a:solidFill>
              <a:srgbClr val="E2E5E1"/>
            </a:solidFill>
            <a:prstDash val="solid"/>
          </a:ln>
        </p:spPr>
      </p:sp>
      <p:sp>
        <p:nvSpPr>
          <p:cNvPr id="27" name="Text 24"/>
          <p:cNvSpPr/>
          <p:nvPr/>
        </p:nvSpPr>
        <p:spPr>
          <a:xfrm>
            <a:off x="8942832" y="4846320"/>
            <a:ext cx="2331720" cy="274320"/>
          </a:xfrm>
          <a:prstGeom prst="rect">
            <a:avLst/>
          </a:prstGeom>
          <a:noFill/>
          <a:ln/>
        </p:spPr>
        <p:txBody>
          <a:bodyPr wrap="square" lIns="0" tIns="0" rIns="0" bIns="0" rtlCol="0" anchor="t"/>
          <a:lstStyle/>
          <a:p>
            <a:pPr indent="0" marL="0">
              <a:buNone/>
            </a:pPr>
            <a:r>
              <a:rPr lang="en-US" sz="1250" b="1" dirty="0">
                <a:solidFill>
                  <a:srgbClr val="14181A"/>
                </a:solidFill>
                <a:latin typeface="Archivo" pitchFamily="34" charset="0"/>
                <a:ea typeface="Archivo" pitchFamily="34" charset="-122"/>
                <a:cs typeface="Archivo" pitchFamily="34" charset="-120"/>
              </a:rPr>
              <a:t>Ce qui n’existe pas</a:t>
            </a:r>
            <a:endParaRPr lang="en-US" sz="1250" dirty="0"/>
          </a:p>
        </p:txBody>
      </p:sp>
      <p:sp>
        <p:nvSpPr>
          <p:cNvPr id="28" name="Text 25"/>
          <p:cNvSpPr/>
          <p:nvPr/>
        </p:nvSpPr>
        <p:spPr>
          <a:xfrm>
            <a:off x="8942832"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Public Sans" pitchFamily="34" charset="0"/>
                <a:ea typeface="Public Sans" pitchFamily="34" charset="-122"/>
                <a:cs typeface="Public Sans" pitchFamily="34" charset="-120"/>
              </a:rPr>
              <a:t>Pas d’API publique, pas de connecteur ERP, pas de SSO. L’échange se fait par fichiers.</a:t>
            </a:r>
            <a:endParaRPr lang="en-US" sz="1050" dirty="0"/>
          </a:p>
        </p:txBody>
      </p:sp>
      <p:sp>
        <p:nvSpPr>
          <p:cNvPr id="29" name="Shape 26"/>
          <p:cNvSpPr/>
          <p:nvPr/>
        </p:nvSpPr>
        <p:spPr>
          <a:xfrm>
            <a:off x="2080260" y="4069080"/>
            <a:ext cx="0" cy="640080"/>
          </a:xfrm>
          <a:prstGeom prst="line">
            <a:avLst/>
          </a:prstGeom>
          <a:noFill/>
          <a:ln w="12700">
            <a:solidFill>
              <a:srgbClr val="575F5C"/>
            </a:solidFill>
            <a:prstDash val="dash"/>
          </a:ln>
        </p:spPr>
      </p:sp>
      <p:sp>
        <p:nvSpPr>
          <p:cNvPr id="30" name="Shape 27"/>
          <p:cNvSpPr/>
          <p:nvPr/>
        </p:nvSpPr>
        <p:spPr>
          <a:xfrm>
            <a:off x="6094476" y="4069080"/>
            <a:ext cx="0" cy="640080"/>
          </a:xfrm>
          <a:prstGeom prst="line">
            <a:avLst/>
          </a:prstGeom>
          <a:noFill/>
          <a:ln w="12700">
            <a:solidFill>
              <a:srgbClr val="575F5C"/>
            </a:solidFill>
            <a:prstDash val="dash"/>
          </a:ln>
        </p:spPr>
      </p:sp>
      <p:sp>
        <p:nvSpPr>
          <p:cNvPr id="31" name="Text 28"/>
          <p:cNvSpPr/>
          <p:nvPr/>
        </p:nvSpPr>
        <p:spPr>
          <a:xfrm>
            <a:off x="731520" y="5943600"/>
            <a:ext cx="10725912" cy="365760"/>
          </a:xfrm>
          <a:prstGeom prst="rect">
            <a:avLst/>
          </a:prstGeom>
          <a:noFill/>
          <a:ln/>
        </p:spPr>
        <p:txBody>
          <a:bodyPr wrap="square" lIns="0" tIns="0" rIns="0" bIns="0" rtlCol="0" anchor="t"/>
          <a:lstStyle/>
          <a:p>
            <a:pPr algn="l" indent="0" marL="0">
              <a:lnSpc>
                <a:spcPct val="118000"/>
              </a:lnSpc>
              <a:buNone/>
            </a:pPr>
            <a:r>
              <a:rPr lang="en-US" sz="1150" i="1" dirty="0">
                <a:solidFill>
                  <a:srgbClr val="575F5C"/>
                </a:solidFill>
                <a:latin typeface="Public Sans" pitchFamily="34" charset="0"/>
                <a:ea typeface="Public Sans" pitchFamily="34" charset="-122"/>
                <a:cs typeface="Public Sans" pitchFamily="34" charset="-120"/>
              </a:rPr>
              <a:t>Tout le trafic sort de chez vous en HTTPS sur le port 443. Rien n'entre. Aucun composant n'est installé sur votre réseau.</a:t>
            </a:r>
            <a:endParaRPr lang="en-US" sz="1150" dirty="0"/>
          </a:p>
        </p:txBody>
      </p:sp>
      <p:sp>
        <p:nvSpPr>
          <p:cNvPr id="32" name="Text 2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33" name="Text 3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Hébergement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Où sont les données, et qui les traite.</a:t>
            </a:r>
            <a:endParaRPr lang="en-US" sz="2600" dirty="0"/>
          </a:p>
        </p:txBody>
      </p:sp>
      <p:sp>
        <p:nvSpPr>
          <p:cNvPr id="7" name="Text 4"/>
          <p:cNvSpPr/>
          <p:nvPr/>
        </p:nvSpPr>
        <p:spPr>
          <a:xfrm>
            <a:off x="731520" y="3474720"/>
            <a:ext cx="4206240" cy="201168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Les données d'inventaire, les comptes et les journaux sont stockés en Irlande et n'en sortent pas. Les services annexes (site, e-mails, notifications, paiement) font appel à des prestataires établis aux États-Unis, sur la base de leurs clauses contractuelles types.</a:t>
            </a:r>
            <a:endParaRPr lang="en-US" sz="1200" dirty="0"/>
          </a:p>
        </p:txBody>
      </p:sp>
      <p:sp>
        <p:nvSpPr>
          <p:cNvPr id="8" name="Text 5"/>
          <p:cNvSpPr/>
          <p:nvPr/>
        </p:nvSpPr>
        <p:spPr>
          <a:xfrm>
            <a:off x="5394960" y="1371600"/>
            <a:ext cx="201168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Prestataire</a:t>
            </a:r>
            <a:endParaRPr lang="en-US" sz="1000" dirty="0"/>
          </a:p>
        </p:txBody>
      </p:sp>
      <p:sp>
        <p:nvSpPr>
          <p:cNvPr id="9" name="Text 6"/>
          <p:cNvSpPr/>
          <p:nvPr/>
        </p:nvSpPr>
        <p:spPr>
          <a:xfrm>
            <a:off x="7406640" y="1371600"/>
            <a:ext cx="301752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Rôle</a:t>
            </a:r>
            <a:endParaRPr lang="en-US" sz="1000" dirty="0"/>
          </a:p>
        </p:txBody>
      </p:sp>
      <p:sp>
        <p:nvSpPr>
          <p:cNvPr id="10" name="Text 7"/>
          <p:cNvSpPr/>
          <p:nvPr/>
        </p:nvSpPr>
        <p:spPr>
          <a:xfrm>
            <a:off x="10424160" y="1371600"/>
            <a:ext cx="155448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Localisation</a:t>
            </a:r>
            <a:endParaRPr lang="en-US" sz="1000" dirty="0"/>
          </a:p>
        </p:txBody>
      </p:sp>
      <p:sp>
        <p:nvSpPr>
          <p:cNvPr id="11" name="Shape 8"/>
          <p:cNvSpPr/>
          <p:nvPr/>
        </p:nvSpPr>
        <p:spPr>
          <a:xfrm>
            <a:off x="5394960" y="1700784"/>
            <a:ext cx="6062472" cy="0"/>
          </a:xfrm>
          <a:prstGeom prst="line">
            <a:avLst/>
          </a:prstGeom>
          <a:noFill/>
          <a:ln w="9525">
            <a:solidFill>
              <a:srgbClr val="E2E5E1"/>
            </a:solidFill>
            <a:prstDash val="solid"/>
          </a:ln>
        </p:spPr>
      </p:sp>
      <p:sp>
        <p:nvSpPr>
          <p:cNvPr id="12" name="Text 9"/>
          <p:cNvSpPr/>
          <p:nvPr/>
        </p:nvSpPr>
        <p:spPr>
          <a:xfrm>
            <a:off x="5394960" y="18013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Supabase</a:t>
            </a:r>
            <a:endParaRPr lang="en-US" sz="1150" dirty="0"/>
          </a:p>
        </p:txBody>
      </p:sp>
      <p:sp>
        <p:nvSpPr>
          <p:cNvPr id="13" name="Text 10"/>
          <p:cNvSpPr/>
          <p:nvPr/>
        </p:nvSpPr>
        <p:spPr>
          <a:xfrm>
            <a:off x="7406640" y="18013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Base de données, authentification, temps réel, fonctions</a:t>
            </a:r>
            <a:endParaRPr lang="en-US" sz="1150" dirty="0"/>
          </a:p>
        </p:txBody>
      </p:sp>
      <p:sp>
        <p:nvSpPr>
          <p:cNvPr id="14" name="Text 11"/>
          <p:cNvSpPr/>
          <p:nvPr/>
        </p:nvSpPr>
        <p:spPr>
          <a:xfrm>
            <a:off x="10424160" y="18013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Irlande (eu-west-1)</a:t>
            </a:r>
            <a:endParaRPr lang="en-US" sz="1150" dirty="0"/>
          </a:p>
        </p:txBody>
      </p:sp>
      <p:sp>
        <p:nvSpPr>
          <p:cNvPr id="15" name="Shape 12"/>
          <p:cNvSpPr/>
          <p:nvPr/>
        </p:nvSpPr>
        <p:spPr>
          <a:xfrm>
            <a:off x="5394960" y="2203704"/>
            <a:ext cx="6062472" cy="0"/>
          </a:xfrm>
          <a:prstGeom prst="line">
            <a:avLst/>
          </a:prstGeom>
          <a:noFill/>
          <a:ln w="9525">
            <a:solidFill>
              <a:srgbClr val="E2E5E1"/>
            </a:solidFill>
            <a:prstDash val="solid"/>
          </a:ln>
        </p:spPr>
      </p:sp>
      <p:sp>
        <p:nvSpPr>
          <p:cNvPr id="16" name="Text 13"/>
          <p:cNvSpPr/>
          <p:nvPr/>
        </p:nvSpPr>
        <p:spPr>
          <a:xfrm>
            <a:off x="5394960" y="230428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Vercel</a:t>
            </a:r>
            <a:endParaRPr lang="en-US" sz="1150" dirty="0"/>
          </a:p>
        </p:txBody>
      </p:sp>
      <p:sp>
        <p:nvSpPr>
          <p:cNvPr id="17" name="Text 14"/>
          <p:cNvSpPr/>
          <p:nvPr/>
        </p:nvSpPr>
        <p:spPr>
          <a:xfrm>
            <a:off x="7406640" y="230428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Hébergement du site www.quantinvo.com</a:t>
            </a:r>
            <a:endParaRPr lang="en-US" sz="1150" dirty="0"/>
          </a:p>
        </p:txBody>
      </p:sp>
      <p:sp>
        <p:nvSpPr>
          <p:cNvPr id="18" name="Text 15"/>
          <p:cNvSpPr/>
          <p:nvPr/>
        </p:nvSpPr>
        <p:spPr>
          <a:xfrm>
            <a:off x="10424160" y="230428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États-Unis</a:t>
            </a:r>
            <a:endParaRPr lang="en-US" sz="1150" dirty="0"/>
          </a:p>
        </p:txBody>
      </p:sp>
      <p:sp>
        <p:nvSpPr>
          <p:cNvPr id="19" name="Shape 16"/>
          <p:cNvSpPr/>
          <p:nvPr/>
        </p:nvSpPr>
        <p:spPr>
          <a:xfrm>
            <a:off x="5394960" y="2706624"/>
            <a:ext cx="6062472" cy="0"/>
          </a:xfrm>
          <a:prstGeom prst="line">
            <a:avLst/>
          </a:prstGeom>
          <a:noFill/>
          <a:ln w="9525">
            <a:solidFill>
              <a:srgbClr val="E2E5E1"/>
            </a:solidFill>
            <a:prstDash val="solid"/>
          </a:ln>
        </p:spPr>
      </p:sp>
      <p:sp>
        <p:nvSpPr>
          <p:cNvPr id="20" name="Text 17"/>
          <p:cNvSpPr/>
          <p:nvPr/>
        </p:nvSpPr>
        <p:spPr>
          <a:xfrm>
            <a:off x="5394960" y="280720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Resend</a:t>
            </a:r>
            <a:endParaRPr lang="en-US" sz="1150" dirty="0"/>
          </a:p>
        </p:txBody>
      </p:sp>
      <p:sp>
        <p:nvSpPr>
          <p:cNvPr id="21" name="Text 18"/>
          <p:cNvSpPr/>
          <p:nvPr/>
        </p:nvSpPr>
        <p:spPr>
          <a:xfrm>
            <a:off x="7406640" y="280720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Acheminement des e-mails de service</a:t>
            </a:r>
            <a:endParaRPr lang="en-US" sz="1150" dirty="0"/>
          </a:p>
        </p:txBody>
      </p:sp>
      <p:sp>
        <p:nvSpPr>
          <p:cNvPr id="22" name="Text 19"/>
          <p:cNvSpPr/>
          <p:nvPr/>
        </p:nvSpPr>
        <p:spPr>
          <a:xfrm>
            <a:off x="10424160" y="280720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États-Unis</a:t>
            </a:r>
            <a:endParaRPr lang="en-US" sz="1150" dirty="0"/>
          </a:p>
        </p:txBody>
      </p:sp>
      <p:sp>
        <p:nvSpPr>
          <p:cNvPr id="23" name="Shape 20"/>
          <p:cNvSpPr/>
          <p:nvPr/>
        </p:nvSpPr>
        <p:spPr>
          <a:xfrm>
            <a:off x="5394960" y="3209544"/>
            <a:ext cx="6062472" cy="0"/>
          </a:xfrm>
          <a:prstGeom prst="line">
            <a:avLst/>
          </a:prstGeom>
          <a:noFill/>
          <a:ln w="9525">
            <a:solidFill>
              <a:srgbClr val="E2E5E1"/>
            </a:solidFill>
            <a:prstDash val="solid"/>
          </a:ln>
        </p:spPr>
      </p:sp>
      <p:sp>
        <p:nvSpPr>
          <p:cNvPr id="24" name="Text 21"/>
          <p:cNvSpPr/>
          <p:nvPr/>
        </p:nvSpPr>
        <p:spPr>
          <a:xfrm>
            <a:off x="5394960" y="331012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Stripe</a:t>
            </a:r>
            <a:endParaRPr lang="en-US" sz="1150" dirty="0"/>
          </a:p>
        </p:txBody>
      </p:sp>
      <p:sp>
        <p:nvSpPr>
          <p:cNvPr id="25" name="Text 22"/>
          <p:cNvSpPr/>
          <p:nvPr/>
        </p:nvSpPr>
        <p:spPr>
          <a:xfrm>
            <a:off x="7406640" y="331012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Paiement de la licence et facturation</a:t>
            </a:r>
            <a:endParaRPr lang="en-US" sz="1150" dirty="0"/>
          </a:p>
        </p:txBody>
      </p:sp>
      <p:sp>
        <p:nvSpPr>
          <p:cNvPr id="26" name="Text 23"/>
          <p:cNvSpPr/>
          <p:nvPr/>
        </p:nvSpPr>
        <p:spPr>
          <a:xfrm>
            <a:off x="10424160" y="331012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Irlande, États-Unis</a:t>
            </a:r>
            <a:endParaRPr lang="en-US" sz="1150" dirty="0"/>
          </a:p>
        </p:txBody>
      </p:sp>
      <p:sp>
        <p:nvSpPr>
          <p:cNvPr id="27" name="Shape 24"/>
          <p:cNvSpPr/>
          <p:nvPr/>
        </p:nvSpPr>
        <p:spPr>
          <a:xfrm>
            <a:off x="5394960" y="3712464"/>
            <a:ext cx="6062472" cy="0"/>
          </a:xfrm>
          <a:prstGeom prst="line">
            <a:avLst/>
          </a:prstGeom>
          <a:noFill/>
          <a:ln w="9525">
            <a:solidFill>
              <a:srgbClr val="E2E5E1"/>
            </a:solidFill>
            <a:prstDash val="solid"/>
          </a:ln>
        </p:spPr>
      </p:sp>
      <p:sp>
        <p:nvSpPr>
          <p:cNvPr id="28" name="Text 25"/>
          <p:cNvSpPr/>
          <p:nvPr/>
        </p:nvSpPr>
        <p:spPr>
          <a:xfrm>
            <a:off x="5394960" y="381304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Expo</a:t>
            </a:r>
            <a:endParaRPr lang="en-US" sz="1150" dirty="0"/>
          </a:p>
        </p:txBody>
      </p:sp>
      <p:sp>
        <p:nvSpPr>
          <p:cNvPr id="29" name="Text 26"/>
          <p:cNvSpPr/>
          <p:nvPr/>
        </p:nvSpPr>
        <p:spPr>
          <a:xfrm>
            <a:off x="7406640" y="381304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Obtention du jeton de notification de l'appareil</a:t>
            </a:r>
            <a:endParaRPr lang="en-US" sz="1150" dirty="0"/>
          </a:p>
        </p:txBody>
      </p:sp>
      <p:sp>
        <p:nvSpPr>
          <p:cNvPr id="30" name="Text 27"/>
          <p:cNvSpPr/>
          <p:nvPr/>
        </p:nvSpPr>
        <p:spPr>
          <a:xfrm>
            <a:off x="10424160" y="381304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États-Unis</a:t>
            </a:r>
            <a:endParaRPr lang="en-US" sz="1150" dirty="0"/>
          </a:p>
        </p:txBody>
      </p:sp>
      <p:sp>
        <p:nvSpPr>
          <p:cNvPr id="31" name="Shape 28"/>
          <p:cNvSpPr/>
          <p:nvPr/>
        </p:nvSpPr>
        <p:spPr>
          <a:xfrm>
            <a:off x="5394960" y="4215384"/>
            <a:ext cx="6062472" cy="0"/>
          </a:xfrm>
          <a:prstGeom prst="line">
            <a:avLst/>
          </a:prstGeom>
          <a:noFill/>
          <a:ln w="9525">
            <a:solidFill>
              <a:srgbClr val="E2E5E1"/>
            </a:solidFill>
            <a:prstDash val="solid"/>
          </a:ln>
        </p:spPr>
      </p:sp>
      <p:sp>
        <p:nvSpPr>
          <p:cNvPr id="32" name="Text 29"/>
          <p:cNvSpPr/>
          <p:nvPr/>
        </p:nvSpPr>
        <p:spPr>
          <a:xfrm>
            <a:off x="5394960" y="43159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Apple, Google</a:t>
            </a:r>
            <a:endParaRPr lang="en-US" sz="1150" dirty="0"/>
          </a:p>
        </p:txBody>
      </p:sp>
      <p:sp>
        <p:nvSpPr>
          <p:cNvPr id="33" name="Text 30"/>
          <p:cNvSpPr/>
          <p:nvPr/>
        </p:nvSpPr>
        <p:spPr>
          <a:xfrm>
            <a:off x="7406640" y="43159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Distribution de l'application mobile</a:t>
            </a:r>
            <a:endParaRPr lang="en-US" sz="1150" dirty="0"/>
          </a:p>
        </p:txBody>
      </p:sp>
      <p:sp>
        <p:nvSpPr>
          <p:cNvPr id="34" name="Text 31"/>
          <p:cNvSpPr/>
          <p:nvPr/>
        </p:nvSpPr>
        <p:spPr>
          <a:xfrm>
            <a:off x="10424160" y="43159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États-Unis</a:t>
            </a:r>
            <a:endParaRPr lang="en-US" sz="1150" dirty="0"/>
          </a:p>
        </p:txBody>
      </p:sp>
      <p:sp>
        <p:nvSpPr>
          <p:cNvPr id="35" name="Shape 32"/>
          <p:cNvSpPr/>
          <p:nvPr/>
        </p:nvSpPr>
        <p:spPr>
          <a:xfrm>
            <a:off x="5394960" y="4718304"/>
            <a:ext cx="6062472" cy="0"/>
          </a:xfrm>
          <a:prstGeom prst="line">
            <a:avLst/>
          </a:prstGeom>
          <a:noFill/>
          <a:ln w="9525">
            <a:solidFill>
              <a:srgbClr val="E2E5E1"/>
            </a:solidFill>
            <a:prstDash val="solid"/>
          </a:ln>
        </p:spPr>
      </p:sp>
      <p:sp>
        <p:nvSpPr>
          <p:cNvPr id="36" name="Shape 33"/>
          <p:cNvSpPr/>
          <p:nvPr/>
        </p:nvSpPr>
        <p:spPr>
          <a:xfrm>
            <a:off x="5394960" y="4846320"/>
            <a:ext cx="6062472" cy="1097280"/>
          </a:xfrm>
          <a:prstGeom prst="roundRect">
            <a:avLst>
              <a:gd name="adj" fmla="val 3333"/>
            </a:avLst>
          </a:prstGeom>
          <a:solidFill>
            <a:srgbClr val="F2F3F1"/>
          </a:solidFill>
          <a:ln w="12700">
            <a:solidFill>
              <a:srgbClr val="F2F3F1"/>
            </a:solidFill>
            <a:prstDash val="solid"/>
          </a:ln>
        </p:spPr>
      </p:sp>
      <p:sp>
        <p:nvSpPr>
          <p:cNvPr id="37" name="Text 34"/>
          <p:cNvSpPr/>
          <p:nvPr/>
        </p:nvSpPr>
        <p:spPr>
          <a:xfrm>
            <a:off x="5669280" y="5010912"/>
            <a:ext cx="551383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À savoir</a:t>
            </a:r>
            <a:endParaRPr lang="en-US" sz="950" dirty="0"/>
          </a:p>
        </p:txBody>
      </p:sp>
      <p:sp>
        <p:nvSpPr>
          <p:cNvPr id="38" name="Text 35"/>
          <p:cNvSpPr/>
          <p:nvPr/>
        </p:nvSpPr>
        <p:spPr>
          <a:xfrm>
            <a:off x="5669280" y="5266944"/>
            <a:ext cx="5513832" cy="54864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La liste est celle de la politique de confidentialité publiée. Un test automatique empêche d'ajouter un prestataire au produit sans le déclarer. Aucune donnée bancaire ne transite par nos serveurs : la carte se saisit chez Stripe.</a:t>
            </a:r>
            <a:endParaRPr lang="en-US" sz="1150" dirty="0"/>
          </a:p>
        </p:txBody>
      </p:sp>
      <p:sp>
        <p:nvSpPr>
          <p:cNvPr id="39" name="Text 3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40" name="Text 3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Où prendre l’application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400" b="1" dirty="0">
                <a:solidFill>
                  <a:srgbClr val="14181A"/>
                </a:solidFill>
                <a:latin typeface="Archivo" pitchFamily="34" charset="0"/>
                <a:ea typeface="Archivo" pitchFamily="34" charset="-122"/>
                <a:cs typeface="Archivo" pitchFamily="34" charset="-120"/>
              </a:rPr>
              <a:t>Une seule adresse, quel que soit l’appareil.</a:t>
            </a:r>
            <a:endParaRPr lang="en-US" sz="2400" dirty="0"/>
          </a:p>
        </p:txBody>
      </p:sp>
      <p:sp>
        <p:nvSpPr>
          <p:cNvPr id="7" name="Text 4"/>
          <p:cNvSpPr/>
          <p:nvPr/>
        </p:nvSpPr>
        <p:spPr>
          <a:xfrm>
            <a:off x="731520" y="2788920"/>
            <a:ext cx="4206240" cy="301752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www.quantinvo.com/open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L'adresse à diffuser à vos équipes. Ouverte depuis un téléphone, elle lance l'application si elle est installée, et propose les deux boutiques sinon. Depuis un poste, elle mène à l'espace web.</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Le lien d’invitation y mène tout seul.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Chaque personne invitée reçoit un e-mail qui la conduit à choisir son mot de passe, puis à l'application. Il n'y a pas de notice à écrire, pas de code à faire circuler.</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Par votre catalogue, l’étape disparaît.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Si vous distribuez par MDM, l'application est déjà là quand la personne ouvre son lien. C'est le chemin recommandé pour un parc géré — la page suivante le détaille.</a:t>
            </a:r>
            <a:endParaRPr lang="en-US" sz="1200" dirty="0"/>
          </a:p>
        </p:txBody>
      </p:sp>
      <p:pic>
        <p:nvPicPr>
          <p:cNvPr id="8" name="Image 1" descr="preencoded.png">    </p:cNvPr>
          <p:cNvPicPr>
            <a:picLocks noChangeAspect="1"/>
          </p:cNvPicPr>
          <p:nvPr/>
        </p:nvPicPr>
        <p:blipFill>
          <a:blip r:embed="rId2"/>
          <a:stretch>
            <a:fillRect/>
          </a:stretch>
        </p:blipFill>
        <p:spPr>
          <a:xfrm>
            <a:off x="6858000" y="1371600"/>
            <a:ext cx="2044624" cy="4297680"/>
          </a:xfrm>
          <a:prstGeom prst="rect">
            <a:avLst/>
          </a:prstGeom>
        </p:spPr>
      </p:pic>
      <p:sp>
        <p:nvSpPr>
          <p:cNvPr id="9" name="Text 5"/>
          <p:cNvSpPr/>
          <p:nvPr/>
        </p:nvSpPr>
        <p:spPr>
          <a:xfrm>
            <a:off x="6400800" y="5797296"/>
            <a:ext cx="2959024"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Public Sans" pitchFamily="34" charset="0"/>
                <a:ea typeface="Public Sans" pitchFamily="34" charset="-122"/>
                <a:cs typeface="Public Sans" pitchFamily="34" charset="-120"/>
              </a:rPr>
              <a:t>www.quantinvo.com/open, vu d’un téléphone.</a:t>
            </a:r>
            <a:endParaRPr lang="en-US" sz="1000" dirty="0"/>
          </a:p>
        </p:txBody>
      </p:sp>
      <p:sp>
        <p:nvSpPr>
          <p:cNvPr id="10"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1"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Déploiement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Par votre catalogue d’entreprise, comme n’importe quelle application.</a:t>
            </a:r>
            <a:endParaRPr lang="en-US" sz="2600" dirty="0"/>
          </a:p>
        </p:txBody>
      </p:sp>
      <p:sp>
        <p:nvSpPr>
          <p:cNvPr id="7" name="Text 4"/>
          <p:cNvSpPr/>
          <p:nvPr/>
        </p:nvSpPr>
        <p:spPr>
          <a:xfrm>
            <a:off x="731520" y="3474720"/>
            <a:ext cx="4206240" cy="164592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Workspace ONE, Intune, SOTI, Ivanti, Jamf ou autre : il n'y a pas de version spéciale à demander, pas d'installation manuelle, pas de compte Apple ou Google personnel sur les appareils.</a:t>
            </a:r>
            <a:endParaRPr lang="en-US" sz="1200" dirty="0"/>
          </a:p>
        </p:txBody>
      </p:sp>
      <p:sp>
        <p:nvSpPr>
          <p:cNvPr id="8" name="Text 5"/>
          <p:cNvSpPr/>
          <p:nvPr/>
        </p:nvSpPr>
        <p:spPr>
          <a:xfrm>
            <a:off x="5394960" y="1371600"/>
            <a:ext cx="237744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Identifiants de l'application</a:t>
            </a:r>
            <a:endParaRPr lang="en-US" sz="1000" dirty="0"/>
          </a:p>
        </p:txBody>
      </p:sp>
      <p:sp>
        <p:nvSpPr>
          <p:cNvPr id="9" name="Text 6"/>
          <p:cNvSpPr/>
          <p:nvPr/>
        </p:nvSpPr>
        <p:spPr>
          <a:xfrm>
            <a:off x="7772400" y="1371600"/>
            <a:ext cx="4206240" cy="274320"/>
          </a:xfrm>
          <a:prstGeom prst="rect">
            <a:avLst/>
          </a:prstGeom>
          <a:noFill/>
          <a:ln/>
        </p:spPr>
        <p:txBody>
          <a:bodyPr wrap="square" lIns="0" tIns="0" rIns="0" bIns="0" rtlCol="0" anchor="t"/>
          <a:lstStyle/>
          <a:p>
            <a:pPr indent="0" marL="0">
              <a:buNone/>
            </a:pPr>
            <a:endParaRPr lang="en-US" sz="1000" dirty="0"/>
          </a:p>
        </p:txBody>
      </p:sp>
      <p:sp>
        <p:nvSpPr>
          <p:cNvPr id="10" name="Shape 7"/>
          <p:cNvSpPr/>
          <p:nvPr/>
        </p:nvSpPr>
        <p:spPr>
          <a:xfrm>
            <a:off x="5394960" y="1700784"/>
            <a:ext cx="6062472" cy="0"/>
          </a:xfrm>
          <a:prstGeom prst="line">
            <a:avLst/>
          </a:prstGeom>
          <a:noFill/>
          <a:ln w="9525">
            <a:solidFill>
              <a:srgbClr val="E2E5E1"/>
            </a:solidFill>
            <a:prstDash val="solid"/>
          </a:ln>
        </p:spPr>
      </p:sp>
      <p:sp>
        <p:nvSpPr>
          <p:cNvPr id="11" name="Text 8"/>
          <p:cNvSpPr/>
          <p:nvPr/>
        </p:nvSpPr>
        <p:spPr>
          <a:xfrm>
            <a:off x="5394960" y="18013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chivo" pitchFamily="34" charset="0"/>
                <a:ea typeface="Archivo" pitchFamily="34" charset="-122"/>
                <a:cs typeface="Archivo" pitchFamily="34" charset="-120"/>
              </a:rPr>
              <a:t>Nom</a:t>
            </a:r>
            <a:endParaRPr lang="en-US" sz="1100" dirty="0"/>
          </a:p>
        </p:txBody>
      </p:sp>
      <p:sp>
        <p:nvSpPr>
          <p:cNvPr id="12" name="Text 9"/>
          <p:cNvSpPr/>
          <p:nvPr/>
        </p:nvSpPr>
        <p:spPr>
          <a:xfrm>
            <a:off x="7772400" y="18013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Quantinvo</a:t>
            </a:r>
            <a:endParaRPr lang="en-US" sz="1100" dirty="0"/>
          </a:p>
        </p:txBody>
      </p:sp>
      <p:sp>
        <p:nvSpPr>
          <p:cNvPr id="13" name="Shape 10"/>
          <p:cNvSpPr/>
          <p:nvPr/>
        </p:nvSpPr>
        <p:spPr>
          <a:xfrm>
            <a:off x="5394960" y="2066544"/>
            <a:ext cx="6062472" cy="0"/>
          </a:xfrm>
          <a:prstGeom prst="line">
            <a:avLst/>
          </a:prstGeom>
          <a:noFill/>
          <a:ln w="9525">
            <a:solidFill>
              <a:srgbClr val="E2E5E1"/>
            </a:solidFill>
            <a:prstDash val="solid"/>
          </a:ln>
        </p:spPr>
      </p:sp>
      <p:sp>
        <p:nvSpPr>
          <p:cNvPr id="14" name="Text 11"/>
          <p:cNvSpPr/>
          <p:nvPr/>
        </p:nvSpPr>
        <p:spPr>
          <a:xfrm>
            <a:off x="5394960" y="216712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chivo" pitchFamily="34" charset="0"/>
                <a:ea typeface="Archivo" pitchFamily="34" charset="-122"/>
                <a:cs typeface="Archivo" pitchFamily="34" charset="-120"/>
              </a:rPr>
              <a:t>Identifiant iOS</a:t>
            </a:r>
            <a:endParaRPr lang="en-US" sz="1100" dirty="0"/>
          </a:p>
        </p:txBody>
      </p:sp>
      <p:sp>
        <p:nvSpPr>
          <p:cNvPr id="15" name="Text 12"/>
          <p:cNvSpPr/>
          <p:nvPr/>
        </p:nvSpPr>
        <p:spPr>
          <a:xfrm>
            <a:off x="7772400" y="216712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com.quantinvo.app</a:t>
            </a:r>
            <a:endParaRPr lang="en-US" sz="1100" dirty="0"/>
          </a:p>
        </p:txBody>
      </p:sp>
      <p:sp>
        <p:nvSpPr>
          <p:cNvPr id="16" name="Shape 13"/>
          <p:cNvSpPr/>
          <p:nvPr/>
        </p:nvSpPr>
        <p:spPr>
          <a:xfrm>
            <a:off x="5394960" y="2432304"/>
            <a:ext cx="6062472" cy="0"/>
          </a:xfrm>
          <a:prstGeom prst="line">
            <a:avLst/>
          </a:prstGeom>
          <a:noFill/>
          <a:ln w="9525">
            <a:solidFill>
              <a:srgbClr val="E2E5E1"/>
            </a:solidFill>
            <a:prstDash val="solid"/>
          </a:ln>
        </p:spPr>
      </p:sp>
      <p:sp>
        <p:nvSpPr>
          <p:cNvPr id="17" name="Text 14"/>
          <p:cNvSpPr/>
          <p:nvPr/>
        </p:nvSpPr>
        <p:spPr>
          <a:xfrm>
            <a:off x="5394960" y="253288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chivo" pitchFamily="34" charset="0"/>
                <a:ea typeface="Archivo" pitchFamily="34" charset="-122"/>
                <a:cs typeface="Archivo" pitchFamily="34" charset="-120"/>
              </a:rPr>
              <a:t>Identifiant Android</a:t>
            </a:r>
            <a:endParaRPr lang="en-US" sz="1100" dirty="0"/>
          </a:p>
        </p:txBody>
      </p:sp>
      <p:sp>
        <p:nvSpPr>
          <p:cNvPr id="18" name="Text 15"/>
          <p:cNvSpPr/>
          <p:nvPr/>
        </p:nvSpPr>
        <p:spPr>
          <a:xfrm>
            <a:off x="7772400" y="253288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com.quantinvo.app</a:t>
            </a:r>
            <a:endParaRPr lang="en-US" sz="1100" dirty="0"/>
          </a:p>
        </p:txBody>
      </p:sp>
      <p:sp>
        <p:nvSpPr>
          <p:cNvPr id="19" name="Shape 16"/>
          <p:cNvSpPr/>
          <p:nvPr/>
        </p:nvSpPr>
        <p:spPr>
          <a:xfrm>
            <a:off x="5394960" y="2798064"/>
            <a:ext cx="6062472" cy="0"/>
          </a:xfrm>
          <a:prstGeom prst="line">
            <a:avLst/>
          </a:prstGeom>
          <a:noFill/>
          <a:ln w="9525">
            <a:solidFill>
              <a:srgbClr val="E2E5E1"/>
            </a:solidFill>
            <a:prstDash val="solid"/>
          </a:ln>
        </p:spPr>
      </p:sp>
      <p:sp>
        <p:nvSpPr>
          <p:cNvPr id="20" name="Text 17"/>
          <p:cNvSpPr/>
          <p:nvPr/>
        </p:nvSpPr>
        <p:spPr>
          <a:xfrm>
            <a:off x="5394960" y="289864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chivo" pitchFamily="34" charset="0"/>
                <a:ea typeface="Archivo" pitchFamily="34" charset="-122"/>
                <a:cs typeface="Archivo" pitchFamily="34" charset="-120"/>
              </a:rPr>
              <a:t>Version minimale iOS</a:t>
            </a:r>
            <a:endParaRPr lang="en-US" sz="1100" dirty="0"/>
          </a:p>
        </p:txBody>
      </p:sp>
      <p:sp>
        <p:nvSpPr>
          <p:cNvPr id="21" name="Text 18"/>
          <p:cNvSpPr/>
          <p:nvPr/>
        </p:nvSpPr>
        <p:spPr>
          <a:xfrm>
            <a:off x="7772400" y="289864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16.4</a:t>
            </a:r>
            <a:endParaRPr lang="en-US" sz="1100" dirty="0"/>
          </a:p>
        </p:txBody>
      </p:sp>
      <p:sp>
        <p:nvSpPr>
          <p:cNvPr id="22" name="Shape 19"/>
          <p:cNvSpPr/>
          <p:nvPr/>
        </p:nvSpPr>
        <p:spPr>
          <a:xfrm>
            <a:off x="5394960" y="3163824"/>
            <a:ext cx="6062472" cy="0"/>
          </a:xfrm>
          <a:prstGeom prst="line">
            <a:avLst/>
          </a:prstGeom>
          <a:noFill/>
          <a:ln w="9525">
            <a:solidFill>
              <a:srgbClr val="E2E5E1"/>
            </a:solidFill>
            <a:prstDash val="solid"/>
          </a:ln>
        </p:spPr>
      </p:sp>
      <p:sp>
        <p:nvSpPr>
          <p:cNvPr id="23" name="Text 20"/>
          <p:cNvSpPr/>
          <p:nvPr/>
        </p:nvSpPr>
        <p:spPr>
          <a:xfrm>
            <a:off x="5394960" y="326440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chivo" pitchFamily="34" charset="0"/>
                <a:ea typeface="Archivo" pitchFamily="34" charset="-122"/>
                <a:cs typeface="Archivo" pitchFamily="34" charset="-120"/>
              </a:rPr>
              <a:t>Version minimale Android</a:t>
            </a:r>
            <a:endParaRPr lang="en-US" sz="1100" dirty="0"/>
          </a:p>
        </p:txBody>
      </p:sp>
      <p:sp>
        <p:nvSpPr>
          <p:cNvPr id="24" name="Text 21"/>
          <p:cNvSpPr/>
          <p:nvPr/>
        </p:nvSpPr>
        <p:spPr>
          <a:xfrm>
            <a:off x="7772400" y="326440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7.0, à confirmer</a:t>
            </a:r>
            <a:endParaRPr lang="en-US" sz="1100" dirty="0"/>
          </a:p>
        </p:txBody>
      </p:sp>
      <p:sp>
        <p:nvSpPr>
          <p:cNvPr id="25" name="Shape 22"/>
          <p:cNvSpPr/>
          <p:nvPr/>
        </p:nvSpPr>
        <p:spPr>
          <a:xfrm>
            <a:off x="5394960" y="3529584"/>
            <a:ext cx="6062472" cy="0"/>
          </a:xfrm>
          <a:prstGeom prst="line">
            <a:avLst/>
          </a:prstGeom>
          <a:noFill/>
          <a:ln w="9525">
            <a:solidFill>
              <a:srgbClr val="E2E5E1"/>
            </a:solidFill>
            <a:prstDash val="solid"/>
          </a:ln>
        </p:spPr>
      </p:sp>
      <p:sp>
        <p:nvSpPr>
          <p:cNvPr id="26" name="Text 23"/>
          <p:cNvSpPr/>
          <p:nvPr/>
        </p:nvSpPr>
        <p:spPr>
          <a:xfrm>
            <a:off x="5394960" y="36301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chivo" pitchFamily="34" charset="0"/>
                <a:ea typeface="Archivo" pitchFamily="34" charset="-122"/>
                <a:cs typeface="Archivo" pitchFamily="34" charset="-120"/>
              </a:rPr>
              <a:t>Éditeur</a:t>
            </a:r>
            <a:endParaRPr lang="en-US" sz="1100" dirty="0"/>
          </a:p>
        </p:txBody>
      </p:sp>
      <p:sp>
        <p:nvSpPr>
          <p:cNvPr id="27" name="Text 24"/>
          <p:cNvSpPr/>
          <p:nvPr/>
        </p:nvSpPr>
        <p:spPr>
          <a:xfrm>
            <a:off x="7772400" y="36301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Devkaylab</a:t>
            </a:r>
            <a:endParaRPr lang="en-US" sz="1100" dirty="0"/>
          </a:p>
        </p:txBody>
      </p:sp>
      <p:sp>
        <p:nvSpPr>
          <p:cNvPr id="28" name="Shape 25"/>
          <p:cNvSpPr/>
          <p:nvPr/>
        </p:nvSpPr>
        <p:spPr>
          <a:xfrm>
            <a:off x="5394960" y="3895344"/>
            <a:ext cx="6062472" cy="0"/>
          </a:xfrm>
          <a:prstGeom prst="line">
            <a:avLst/>
          </a:prstGeom>
          <a:noFill/>
          <a:ln w="9525">
            <a:solidFill>
              <a:srgbClr val="E2E5E1"/>
            </a:solidFill>
            <a:prstDash val="solid"/>
          </a:ln>
        </p:spPr>
      </p:sp>
      <p:sp>
        <p:nvSpPr>
          <p:cNvPr id="29" name="Text 26"/>
          <p:cNvSpPr/>
          <p:nvPr/>
        </p:nvSpPr>
        <p:spPr>
          <a:xfrm>
            <a:off x="5394960" y="4160520"/>
            <a:ext cx="6062472" cy="2011680"/>
          </a:xfrm>
          <a:prstGeom prst="rect">
            <a:avLst/>
          </a:prstGeom>
          <a:noFill/>
          <a:ln/>
        </p:spPr>
        <p:txBody>
          <a:bodyPr wrap="square" lIns="0" tIns="0" rIns="0" bIns="0" rtlCol="0" anchor="t"/>
          <a:lstStyle/>
          <a:p>
            <a:pPr indent="0" marL="0">
              <a:lnSpc>
                <a:spcPct val="118000"/>
              </a:lnSpc>
              <a:spcAft>
                <a:spcPts val="800"/>
              </a:spcAft>
              <a:buNone/>
            </a:pPr>
            <a:r>
              <a:rPr lang="en-US" sz="1150" b="1" dirty="0">
                <a:solidFill>
                  <a:srgbClr val="14181A"/>
                </a:solidFill>
                <a:latin typeface="Public Sans" pitchFamily="34" charset="0"/>
                <a:ea typeface="Public Sans" pitchFamily="34" charset="-122"/>
                <a:cs typeface="Public Sans" pitchFamily="34" charset="-120"/>
              </a:rPr>
              <a:t>iPhone et iPad. </a:t>
            </a:r>
            <a:pPr indent="0" marL="0">
              <a:lnSpc>
                <a:spcPct val="118000"/>
              </a:lnSpc>
              <a:spcAft>
                <a:spcPts val="800"/>
              </a:spcAft>
              <a:buNone/>
            </a:pPr>
            <a:r>
              <a:rPr lang="en-US" sz="1150" dirty="0">
                <a:solidFill>
                  <a:srgbClr val="3A423F"/>
                </a:solidFill>
                <a:latin typeface="Public Sans" pitchFamily="34" charset="0"/>
                <a:ea typeface="Public Sans" pitchFamily="34" charset="-122"/>
                <a:cs typeface="Public Sans" pitchFamily="34" charset="-120"/>
              </a:rPr>
              <a:t>Depuis Apple Business Manager, « Apps et livres » : vous attribuez les licences, votre MDM distribue, l'installation est silencieuse. Si votre politique interdit les applications publiques, nous publions une application personnalisée réservée à votre organisation.</a:t>
            </a:r>
            <a:endParaRPr lang="en-US" sz="1150" dirty="0"/>
          </a:p>
          <a:p>
            <a:pPr indent="0" marL="0">
              <a:lnSpc>
                <a:spcPct val="118000"/>
              </a:lnSpc>
              <a:spcAft>
                <a:spcPts val="800"/>
              </a:spcAft>
              <a:buNone/>
            </a:pPr>
            <a:r>
              <a:rPr lang="en-US" sz="1150" b="1" dirty="0">
                <a:solidFill>
                  <a:srgbClr val="14181A"/>
                </a:solidFill>
                <a:latin typeface="Public Sans" pitchFamily="34" charset="0"/>
                <a:ea typeface="Public Sans" pitchFamily="34" charset="-122"/>
                <a:cs typeface="Public Sans" pitchFamily="34" charset="-120"/>
              </a:rPr>
              <a:t>Android et terminaux durcis. </a:t>
            </a:r>
            <a:pPr indent="0" marL="0">
              <a:lnSpc>
                <a:spcPct val="118000"/>
              </a:lnSpc>
              <a:spcAft>
                <a:spcPts val="800"/>
              </a:spcAft>
              <a:buNone/>
            </a:pPr>
            <a:r>
              <a:rPr lang="en-US" sz="1150" dirty="0">
                <a:solidFill>
                  <a:srgbClr val="3A423F"/>
                </a:solidFill>
                <a:latin typeface="Public Sans" pitchFamily="34" charset="0"/>
                <a:ea typeface="Public Sans" pitchFamily="34" charset="-122"/>
                <a:cs typeface="Public Sans" pitchFamily="34" charset="-120"/>
              </a:rPr>
              <a:t>Par Managed Google Play, ou en chargeant l'APK que nous vous remettons comme application interne. Le mode « application unique » est compatible. Nous n'avons pas éprouvé nous-mêmes les terminaux durcis du marché.</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Profil de restrictions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Quatre points à vérifier. Trois bloquent en silence.</a:t>
            </a:r>
            <a:endParaRPr lang="en-US" sz="2600" dirty="0"/>
          </a:p>
        </p:txBody>
      </p:sp>
      <p:sp>
        <p:nvSpPr>
          <p:cNvPr id="7" name="Text 4"/>
          <p:cNvSpPr/>
          <p:nvPr/>
        </p:nvSpPr>
        <p:spPr>
          <a:xfrm>
            <a:off x="731520" y="3474720"/>
            <a:ext cx="4206240" cy="146304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Sans les trois premiers, l'application s'installe et ne sert à rien. Personne ne vous le dira : le compteur verra juste un écran noir, ou un téléphone qui ne synchronise pas.</a:t>
            </a:r>
            <a:endParaRPr lang="en-US" sz="1200" dirty="0"/>
          </a:p>
        </p:txBody>
      </p:sp>
      <p:sp>
        <p:nvSpPr>
          <p:cNvPr id="8" name="Text 5"/>
          <p:cNvSpPr/>
          <p:nvPr/>
        </p:nvSpPr>
        <p:spPr>
          <a:xfrm>
            <a:off x="5394960" y="1389888"/>
            <a:ext cx="329184" cy="329184"/>
          </a:xfrm>
          <a:prstGeom prst="ellipse">
            <a:avLst/>
          </a:prstGeom>
          <a:solidFill>
            <a:srgbClr val="14181A"/>
          </a:solidFill>
          <a:ln>
            <a:solidFill>
              <a:srgbClr val="14181A"/>
            </a:solidFill>
          </a:ln>
        </p:spPr>
        <p:txBody>
          <a:bodyPr wrap="square" lIns="0" tIns="0" rIns="0" bIns="0" rtlCol="0" anchor="ctr"/>
          <a:lstStyle/>
          <a:p>
            <a:pPr algn="ctr" indent="0" marL="0">
              <a:buNone/>
            </a:pPr>
            <a:r>
              <a:rPr lang="en-US" sz="1000" b="1" dirty="0">
                <a:solidFill>
                  <a:srgbClr val="FFFFFF"/>
                </a:solidFill>
                <a:latin typeface="Archivo" pitchFamily="34" charset="0"/>
                <a:ea typeface="Archivo" pitchFamily="34" charset="-122"/>
                <a:cs typeface="Archivo" pitchFamily="34" charset="-120"/>
              </a:rPr>
              <a:t>1</a:t>
            </a:r>
            <a:endParaRPr lang="en-US" sz="1000" dirty="0"/>
          </a:p>
        </p:txBody>
      </p:sp>
      <p:sp>
        <p:nvSpPr>
          <p:cNvPr id="9" name="Text 6"/>
          <p:cNvSpPr/>
          <p:nvPr/>
        </p:nvSpPr>
        <p:spPr>
          <a:xfrm>
            <a:off x="5897880" y="1371600"/>
            <a:ext cx="5559552" cy="292608"/>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La caméra reste autorisée.</a:t>
            </a:r>
            <a:endParaRPr lang="en-US" sz="1300" dirty="0"/>
          </a:p>
        </p:txBody>
      </p:sp>
      <p:sp>
        <p:nvSpPr>
          <p:cNvPr id="10" name="Text 7"/>
          <p:cNvSpPr/>
          <p:nvPr/>
        </p:nvSpPr>
        <p:spPr>
          <a:xfrm>
            <a:off x="5897880" y="170078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C'est le lecteur de codes-barres. Une restriction qui coupe l'appareil photo rend le comptage impossible. Les douchettes Bluetooth marchent aussi, en complément.</a:t>
            </a:r>
            <a:endParaRPr lang="en-US" sz="1150" dirty="0"/>
          </a:p>
        </p:txBody>
      </p:sp>
      <p:sp>
        <p:nvSpPr>
          <p:cNvPr id="11" name="Text 8"/>
          <p:cNvSpPr/>
          <p:nvPr/>
        </p:nvSpPr>
        <p:spPr>
          <a:xfrm>
            <a:off x="5394960" y="2441448"/>
            <a:ext cx="329184" cy="329184"/>
          </a:xfrm>
          <a:prstGeom prst="ellipse">
            <a:avLst/>
          </a:prstGeom>
          <a:solidFill>
            <a:srgbClr val="14181A"/>
          </a:solidFill>
          <a:ln>
            <a:solidFill>
              <a:srgbClr val="14181A"/>
            </a:solidFill>
          </a:ln>
        </p:spPr>
        <p:txBody>
          <a:bodyPr wrap="square" lIns="0" tIns="0" rIns="0" bIns="0" rtlCol="0" anchor="ctr"/>
          <a:lstStyle/>
          <a:p>
            <a:pPr algn="ctr" indent="0" marL="0">
              <a:buNone/>
            </a:pPr>
            <a:r>
              <a:rPr lang="en-US" sz="1000" b="1" dirty="0">
                <a:solidFill>
                  <a:srgbClr val="FFFFFF"/>
                </a:solidFill>
                <a:latin typeface="Archivo" pitchFamily="34" charset="0"/>
                <a:ea typeface="Archivo" pitchFamily="34" charset="-122"/>
                <a:cs typeface="Archivo" pitchFamily="34" charset="-120"/>
              </a:rPr>
              <a:t>2</a:t>
            </a:r>
            <a:endParaRPr lang="en-US" sz="1000" dirty="0"/>
          </a:p>
        </p:txBody>
      </p:sp>
      <p:sp>
        <p:nvSpPr>
          <p:cNvPr id="12" name="Text 9"/>
          <p:cNvSpPr/>
          <p:nvPr/>
        </p:nvSpPr>
        <p:spPr>
          <a:xfrm>
            <a:off x="5897880" y="2423160"/>
            <a:ext cx="5559552" cy="292608"/>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Trois adresses joignables en HTTPS, port 443.</a:t>
            </a:r>
            <a:endParaRPr lang="en-US" sz="1300" dirty="0"/>
          </a:p>
        </p:txBody>
      </p:sp>
      <p:sp>
        <p:nvSpPr>
          <p:cNvPr id="13" name="Text 10"/>
          <p:cNvSpPr/>
          <p:nvPr/>
        </p:nvSpPr>
        <p:spPr>
          <a:xfrm>
            <a:off x="5897880" y="275234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heabesqvlinzarqenymj.supabase.co (données, authentification, temps réel, WebSocket compris) · exp.host (jeton de notification, au premier lancement) · www.quantinvo.com (liens reçus par e-mail). APNs et FCM sont ouverts par défaut presque partout.</a:t>
            </a:r>
            <a:endParaRPr lang="en-US" sz="1150" dirty="0"/>
          </a:p>
        </p:txBody>
      </p:sp>
      <p:sp>
        <p:nvSpPr>
          <p:cNvPr id="14" name="Text 11"/>
          <p:cNvSpPr/>
          <p:nvPr/>
        </p:nvSpPr>
        <p:spPr>
          <a:xfrm>
            <a:off x="5394960" y="3721608"/>
            <a:ext cx="329184" cy="329184"/>
          </a:xfrm>
          <a:prstGeom prst="ellipse">
            <a:avLst/>
          </a:prstGeom>
          <a:solidFill>
            <a:srgbClr val="14181A"/>
          </a:solidFill>
          <a:ln>
            <a:solidFill>
              <a:srgbClr val="14181A"/>
            </a:solidFill>
          </a:ln>
        </p:spPr>
        <p:txBody>
          <a:bodyPr wrap="square" lIns="0" tIns="0" rIns="0" bIns="0" rtlCol="0" anchor="ctr"/>
          <a:lstStyle/>
          <a:p>
            <a:pPr algn="ctr" indent="0" marL="0">
              <a:buNone/>
            </a:pPr>
            <a:r>
              <a:rPr lang="en-US" sz="1000" b="1" dirty="0">
                <a:solidFill>
                  <a:srgbClr val="FFFFFF"/>
                </a:solidFill>
                <a:latin typeface="Archivo" pitchFamily="34" charset="0"/>
                <a:ea typeface="Archivo" pitchFamily="34" charset="-122"/>
                <a:cs typeface="Archivo" pitchFamily="34" charset="-120"/>
              </a:rPr>
              <a:t>3</a:t>
            </a:r>
            <a:endParaRPr lang="en-US" sz="1000" dirty="0"/>
          </a:p>
        </p:txBody>
      </p:sp>
      <p:sp>
        <p:nvSpPr>
          <p:cNvPr id="15" name="Text 12"/>
          <p:cNvSpPr/>
          <p:nvPr/>
        </p:nvSpPr>
        <p:spPr>
          <a:xfrm>
            <a:off x="5897880" y="3703320"/>
            <a:ext cx="5559552" cy="292608"/>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Pas d'effacement à distance pendant un inventaire.</a:t>
            </a:r>
            <a:endParaRPr lang="en-US" sz="1300" dirty="0"/>
          </a:p>
        </p:txBody>
      </p:sp>
      <p:sp>
        <p:nvSpPr>
          <p:cNvPr id="16" name="Text 13"/>
          <p:cNvSpPr/>
          <p:nvPr/>
        </p:nvSpPr>
        <p:spPr>
          <a:xfrm>
            <a:off x="5897880" y="403250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L'application fonctionne hors ligne : en réserve, en chambre froide, les comptages attendent sur l'appareil et partent au retour du réseau. Un effacement ou une désinstallation pendant cette fenêtre perd ce travail. C'est propre à Quantinvo, et c'est le point qu'on oublie.</a:t>
            </a:r>
            <a:endParaRPr lang="en-US" sz="1150" dirty="0"/>
          </a:p>
        </p:txBody>
      </p:sp>
      <p:sp>
        <p:nvSpPr>
          <p:cNvPr id="17" name="Text 14"/>
          <p:cNvSpPr/>
          <p:nvPr/>
        </p:nvSpPr>
        <p:spPr>
          <a:xfrm>
            <a:off x="5394960" y="5001768"/>
            <a:ext cx="329184" cy="329184"/>
          </a:xfrm>
          <a:prstGeom prst="ellipse">
            <a:avLst/>
          </a:prstGeom>
          <a:solidFill>
            <a:srgbClr val="575F5C"/>
          </a:solidFill>
          <a:ln>
            <a:solidFill>
              <a:srgbClr val="575F5C"/>
            </a:solidFill>
          </a:ln>
        </p:spPr>
        <p:txBody>
          <a:bodyPr wrap="square" lIns="0" tIns="0" rIns="0" bIns="0" rtlCol="0" anchor="ctr"/>
          <a:lstStyle/>
          <a:p>
            <a:pPr algn="ctr" indent="0" marL="0">
              <a:buNone/>
            </a:pPr>
            <a:r>
              <a:rPr lang="en-US" sz="1000" b="1" dirty="0">
                <a:solidFill>
                  <a:srgbClr val="FFFFFF"/>
                </a:solidFill>
                <a:latin typeface="Archivo" pitchFamily="34" charset="0"/>
                <a:ea typeface="Archivo" pitchFamily="34" charset="-122"/>
                <a:cs typeface="Archivo" pitchFamily="34" charset="-120"/>
              </a:rPr>
              <a:t>4</a:t>
            </a:r>
            <a:endParaRPr lang="en-US" sz="1000" dirty="0"/>
          </a:p>
        </p:txBody>
      </p:sp>
      <p:sp>
        <p:nvSpPr>
          <p:cNvPr id="18" name="Text 15"/>
          <p:cNvSpPr/>
          <p:nvPr/>
        </p:nvSpPr>
        <p:spPr>
          <a:xfrm>
            <a:off x="5897880" y="4983480"/>
            <a:ext cx="5559552" cy="292608"/>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Les notifications, recommandées.</a:t>
            </a:r>
            <a:endParaRPr lang="en-US" sz="1300" dirty="0"/>
          </a:p>
        </p:txBody>
      </p:sp>
      <p:sp>
        <p:nvSpPr>
          <p:cNvPr id="19" name="Text 16"/>
          <p:cNvSpPr/>
          <p:nvPr/>
        </p:nvSpPr>
        <p:spPr>
          <a:xfrm>
            <a:off x="5897880" y="531266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Elles servent à prévenir quelqu'un qu'il a été invité à un inventaire. Sans elles, tout fonctionne ; la personne ouvre simplement l'application pour voir.</a:t>
            </a:r>
            <a:endParaRPr lang="en-US" sz="1150" dirty="0"/>
          </a:p>
        </p:txBody>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La mise en place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De la signature au premier comptage</a:t>
            </a:r>
            <a:endParaRPr lang="en-US" sz="2600" dirty="0"/>
          </a:p>
        </p:txBody>
      </p:sp>
      <p:sp>
        <p:nvSpPr>
          <p:cNvPr id="7" name="Shape 4"/>
          <p:cNvSpPr/>
          <p:nvPr/>
        </p:nvSpPr>
        <p:spPr>
          <a:xfrm>
            <a:off x="914400" y="2478024"/>
            <a:ext cx="10360152" cy="0"/>
          </a:xfrm>
          <a:prstGeom prst="line">
            <a:avLst/>
          </a:prstGeom>
          <a:noFill/>
          <a:ln w="9525">
            <a:solidFill>
              <a:srgbClr val="E2E5E1"/>
            </a:solidFill>
            <a:prstDash val="solid"/>
          </a:ln>
        </p:spPr>
      </p:sp>
      <p:sp>
        <p:nvSpPr>
          <p:cNvPr id="8" name="Text 5"/>
          <p:cNvSpPr/>
          <p:nvPr/>
        </p:nvSpPr>
        <p:spPr>
          <a:xfrm>
            <a:off x="731520" y="22860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1</a:t>
            </a:r>
            <a:endParaRPr lang="en-US" sz="1200" dirty="0"/>
          </a:p>
        </p:txBody>
      </p:sp>
      <p:sp>
        <p:nvSpPr>
          <p:cNvPr id="9" name="Text 6"/>
          <p:cNvSpPr/>
          <p:nvPr/>
        </p:nvSpPr>
        <p:spPr>
          <a:xfrm>
            <a:off x="731520" y="288036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Les comptes</a:t>
            </a:r>
            <a:endParaRPr lang="en-US" sz="1600" dirty="0"/>
          </a:p>
        </p:txBody>
      </p:sp>
      <p:sp>
        <p:nvSpPr>
          <p:cNvPr id="10" name="Text 7"/>
          <p:cNvSpPr/>
          <p:nvPr/>
        </p:nvSpPr>
        <p:spPr>
          <a:xfrm>
            <a:off x="731520"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A423F"/>
                </a:solidFill>
                <a:latin typeface="Public Sans" pitchFamily="34" charset="0"/>
                <a:ea typeface="Public Sans" pitchFamily="34" charset="-122"/>
                <a:cs typeface="Public Sans" pitchFamily="34" charset="-120"/>
              </a:rPr>
              <a:t>L'administrateur d'entreprise est créé à la souscription. Il invite ses superviseurs, qui invitent leurs compteurs : prénom, nom, adresse professionnelle. Chacun reçoit son lien et choisit son mot de passe.</a:t>
            </a:r>
            <a:endParaRPr lang="en-US" sz="1150" dirty="0"/>
          </a:p>
        </p:txBody>
      </p:sp>
      <p:sp>
        <p:nvSpPr>
          <p:cNvPr id="11" name="Text 8"/>
          <p:cNvSpPr/>
          <p:nvPr/>
        </p:nvSpPr>
        <p:spPr>
          <a:xfrm>
            <a:off x="3504438" y="22860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2</a:t>
            </a:r>
            <a:endParaRPr lang="en-US" sz="1200" dirty="0"/>
          </a:p>
        </p:txBody>
      </p:sp>
      <p:sp>
        <p:nvSpPr>
          <p:cNvPr id="12" name="Text 9"/>
          <p:cNvSpPr/>
          <p:nvPr/>
        </p:nvSpPr>
        <p:spPr>
          <a:xfrm>
            <a:off x="3504438" y="288036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L'application</a:t>
            </a:r>
            <a:endParaRPr lang="en-US" sz="1600" dirty="0"/>
          </a:p>
        </p:txBody>
      </p:sp>
      <p:sp>
        <p:nvSpPr>
          <p:cNvPr id="13" name="Text 10"/>
          <p:cNvSpPr/>
          <p:nvPr/>
        </p:nvSpPr>
        <p:spPr>
          <a:xfrm>
            <a:off x="3504438"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A423F"/>
                </a:solidFill>
                <a:latin typeface="Public Sans" pitchFamily="34" charset="0"/>
                <a:ea typeface="Public Sans" pitchFamily="34" charset="-122"/>
                <a:cs typeface="Public Sans" pitchFamily="34" charset="-120"/>
              </a:rPr>
              <a:t>Vous la poussez par votre catalogue, ou chacun l'installe depuis /open. Rien à configurer à l'ouverture : adresse e-mail et mot de passe.</a:t>
            </a:r>
            <a:endParaRPr lang="en-US" sz="1150" dirty="0"/>
          </a:p>
        </p:txBody>
      </p:sp>
      <p:sp>
        <p:nvSpPr>
          <p:cNvPr id="14" name="Text 11"/>
          <p:cNvSpPr/>
          <p:nvPr/>
        </p:nvSpPr>
        <p:spPr>
          <a:xfrm>
            <a:off x="6277356" y="22860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3</a:t>
            </a:r>
            <a:endParaRPr lang="en-US" sz="1200" dirty="0"/>
          </a:p>
        </p:txBody>
      </p:sp>
      <p:sp>
        <p:nvSpPr>
          <p:cNvPr id="15" name="Text 12"/>
          <p:cNvSpPr/>
          <p:nvPr/>
        </p:nvSpPr>
        <p:spPr>
          <a:xfrm>
            <a:off x="6277356" y="288036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Les fichiers</a:t>
            </a:r>
            <a:endParaRPr lang="en-US" sz="1600" dirty="0"/>
          </a:p>
        </p:txBody>
      </p:sp>
      <p:sp>
        <p:nvSpPr>
          <p:cNvPr id="16" name="Text 13"/>
          <p:cNvSpPr/>
          <p:nvPr/>
        </p:nvSpPr>
        <p:spPr>
          <a:xfrm>
            <a:off x="6277356"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A423F"/>
                </a:solidFill>
                <a:latin typeface="Public Sans" pitchFamily="34" charset="0"/>
                <a:ea typeface="Public Sans" pitchFamily="34" charset="-122"/>
                <a:cs typeface="Public Sans" pitchFamily="34" charset="-120"/>
              </a:rPr>
              <a:t>Le superviseur importe le référentiel articles et le stock théorique, en CSV ou Excel, tels qu'ils sortent de votre système. Les noms de colonnes usuels sont reconnus.</a:t>
            </a:r>
            <a:endParaRPr lang="en-US" sz="1150" dirty="0"/>
          </a:p>
        </p:txBody>
      </p:sp>
      <p:sp>
        <p:nvSpPr>
          <p:cNvPr id="17" name="Text 14"/>
          <p:cNvSpPr/>
          <p:nvPr/>
        </p:nvSpPr>
        <p:spPr>
          <a:xfrm>
            <a:off x="9050274" y="22860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4</a:t>
            </a:r>
            <a:endParaRPr lang="en-US" sz="1200" dirty="0"/>
          </a:p>
        </p:txBody>
      </p:sp>
      <p:sp>
        <p:nvSpPr>
          <p:cNvPr id="18" name="Text 15"/>
          <p:cNvSpPr/>
          <p:nvPr/>
        </p:nvSpPr>
        <p:spPr>
          <a:xfrm>
            <a:off x="9050274" y="288036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Les zones</a:t>
            </a:r>
            <a:endParaRPr lang="en-US" sz="1600" dirty="0"/>
          </a:p>
        </p:txBody>
      </p:sp>
      <p:sp>
        <p:nvSpPr>
          <p:cNvPr id="19" name="Text 16"/>
          <p:cNvSpPr/>
          <p:nvPr/>
        </p:nvSpPr>
        <p:spPr>
          <a:xfrm>
            <a:off x="9050274"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A423F"/>
                </a:solidFill>
                <a:latin typeface="Public Sans" pitchFamily="34" charset="0"/>
                <a:ea typeface="Public Sans" pitchFamily="34" charset="-122"/>
                <a:cs typeface="Public Sans" pitchFamily="34" charset="-120"/>
              </a:rPr>
              <a:t>Il imprime une planche de balises — des étiquettes numérotées en PDF —, les colle en rayon et affecte les plages aux emplacements.</a:t>
            </a:r>
            <a:endParaRPr lang="en-US" sz="1150" dirty="0"/>
          </a:p>
        </p:txBody>
      </p:sp>
      <p:sp>
        <p:nvSpPr>
          <p:cNvPr id="20" name="Shape 17"/>
          <p:cNvSpPr/>
          <p:nvPr/>
        </p:nvSpPr>
        <p:spPr>
          <a:xfrm>
            <a:off x="731520" y="5120640"/>
            <a:ext cx="10725912" cy="960120"/>
          </a:xfrm>
          <a:prstGeom prst="roundRect">
            <a:avLst>
              <a:gd name="adj" fmla="val 3810"/>
            </a:avLst>
          </a:prstGeom>
          <a:solidFill>
            <a:srgbClr val="F2F3F1"/>
          </a:solidFill>
          <a:ln w="12700">
            <a:solidFill>
              <a:srgbClr val="F2F3F1"/>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Ce que ça vous coûte en temps</a:t>
            </a:r>
            <a:endParaRPr lang="en-US" sz="950" dirty="0"/>
          </a:p>
        </p:txBody>
      </p:sp>
      <p:sp>
        <p:nvSpPr>
          <p:cNvPr id="22" name="Text 19"/>
          <p:cNvSpPr/>
          <p:nvPr/>
        </p:nvSpPr>
        <p:spPr>
          <a:xfrm>
            <a:off x="1005840" y="5541264"/>
            <a:ext cx="10177272" cy="41148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Une demi-journée pour un premier magasin, le plus long étant l'export de vos fichiers depuis votre système. Il n'y a ni serveur à provisionner, ni recette à organiser, ni fenêtre de bascule à réserver.</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La préparation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280160"/>
          </a:xfrm>
          <a:prstGeom prst="rect">
            <a:avLst/>
          </a:prstGeom>
          <a:noFill/>
          <a:ln/>
        </p:spPr>
        <p:txBody>
          <a:bodyPr wrap="square" lIns="0" tIns="0" rIns="0" bIns="0" rtlCol="0" anchor="t"/>
          <a:lstStyle/>
          <a:p>
            <a:pPr indent="0" marL="0">
              <a:lnSpc>
                <a:spcPct val="105000"/>
              </a:lnSpc>
              <a:buNone/>
            </a:pPr>
            <a:r>
              <a:rPr lang="en-US" sz="2400" b="1" dirty="0">
                <a:solidFill>
                  <a:srgbClr val="14181A"/>
                </a:solidFill>
                <a:latin typeface="Archivo" pitchFamily="34" charset="0"/>
                <a:ea typeface="Archivo" pitchFamily="34" charset="-122"/>
                <a:cs typeface="Archivo" pitchFamily="34" charset="-120"/>
              </a:rPr>
              <a:t>Tout se prépare depuis le navigateur.</a:t>
            </a:r>
            <a:endParaRPr lang="en-US" sz="2400" dirty="0"/>
          </a:p>
        </p:txBody>
      </p:sp>
      <p:sp>
        <p:nvSpPr>
          <p:cNvPr id="7" name="Text 4"/>
          <p:cNvSpPr/>
          <p:nvPr/>
        </p:nvSpPr>
        <p:spPr>
          <a:xfrm>
            <a:off x="731520" y="2651760"/>
            <a:ext cx="420624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Aucune installation sur les postes.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Le superviseur travaille sur www.quantinvo.com, dans le navigateur qu'il a déjà. Rien à déployer, rien à mettre à jour, rien à ouvrir sur le poste.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Deux fichiers, et c’est prêt.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Le référentiel articles donne les libellés et les prix d'achat ; le stock théorique donne l'attendu. L'écran indique ce qui manque encore avant de pouvoir commencer.</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Les balises sortent en PDF.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Une planche d'étiquettes numérotées, imprimée sur des feuilles autocollantes du commerce. Aucun consommable spécifique.</a:t>
            </a:r>
            <a:endParaRPr lang="en-US" sz="1200" dirty="0"/>
          </a:p>
        </p:txBody>
      </p:sp>
      <p:sp>
        <p:nvSpPr>
          <p:cNvPr id="8" name="Shape 5"/>
          <p:cNvSpPr/>
          <p:nvPr/>
        </p:nvSpPr>
        <p:spPr>
          <a:xfrm>
            <a:off x="5340096" y="1316736"/>
            <a:ext cx="6172200" cy="4008828"/>
          </a:xfrm>
          <a:prstGeom prst="roundRect">
            <a:avLst>
              <a:gd name="adj" fmla="val 912"/>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3899100"/>
          </a:xfrm>
          <a:prstGeom prst="rect">
            <a:avLst/>
          </a:prstGeom>
        </p:spPr>
      </p:pic>
      <p:sp>
        <p:nvSpPr>
          <p:cNvPr id="10" name="Text 6"/>
          <p:cNvSpPr/>
          <p:nvPr/>
        </p:nvSpPr>
        <p:spPr>
          <a:xfrm>
            <a:off x="5394960" y="5398716"/>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Set up,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La prise en main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chivo" pitchFamily="34" charset="0"/>
                <a:ea typeface="Archivo" pitchFamily="34" charset="-122"/>
                <a:cs typeface="Archivo" pitchFamily="34" charset="-120"/>
              </a:rPr>
              <a:t>Ce que la personne qui compte a à apprendre</a:t>
            </a:r>
            <a:endParaRPr lang="en-US" sz="25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1 — Rejoindre l’inventaire</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Elle ouvre l'application, choisit l'inventaire du jour, et se met en comptage ou en audit.</a:t>
            </a:r>
            <a:endParaRPr lang="en-US" sz="1100" dirty="0"/>
          </a:p>
        </p:txBody>
      </p:sp>
      <p:sp>
        <p:nvSpPr>
          <p:cNvPr id="9" name="Shape 6"/>
          <p:cNvSpPr/>
          <p:nvPr/>
        </p:nvSpPr>
        <p:spPr>
          <a:xfrm>
            <a:off x="731520" y="2880360"/>
            <a:ext cx="3392424" cy="3319272"/>
          </a:xfrm>
          <a:prstGeom prst="roundRect">
            <a:avLst>
              <a:gd name="adj" fmla="val 1102"/>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2 — Scanner la balise du rayon</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L'étiquette numérotée ouvre la zone. Tout ce qui suit s'y rattache.</a:t>
            </a:r>
            <a:endParaRPr lang="en-US" sz="1100" dirty="0"/>
          </a:p>
        </p:txBody>
      </p:sp>
      <p:sp>
        <p:nvSpPr>
          <p:cNvPr id="13" name="Shape 9"/>
          <p:cNvSpPr/>
          <p:nvPr/>
        </p:nvSpPr>
        <p:spPr>
          <a:xfrm>
            <a:off x="4398264" y="2880360"/>
            <a:ext cx="3392424" cy="3319272"/>
          </a:xfrm>
          <a:prstGeom prst="roundRect">
            <a:avLst>
              <a:gd name="adj" fmla="val 1102"/>
            </a:avLst>
          </a:prstGeom>
          <a:solidFill>
            <a:srgbClr val="E7EDE9"/>
          </a:solidFill>
          <a:ln w="12700">
            <a:solidFill>
              <a:srgbClr val="E7EDE9"/>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3 — Scanner les articles</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Caméra, saisie manuelle ou douchette. La quantité se corrige d'un appui, la zone se clôture à la fin.</a:t>
            </a:r>
            <a:endParaRPr lang="en-US" sz="1100" dirty="0"/>
          </a:p>
        </p:txBody>
      </p:sp>
      <p:sp>
        <p:nvSpPr>
          <p:cNvPr id="17" name="Shape 12"/>
          <p:cNvSpPr/>
          <p:nvPr/>
        </p:nvSpPr>
        <p:spPr>
          <a:xfrm>
            <a:off x="8065008" y="2880360"/>
            <a:ext cx="3392424" cy="3319272"/>
          </a:xfrm>
          <a:prstGeom prst="roundRect">
            <a:avLst>
              <a:gd name="adj" fmla="val 1102"/>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Comptes et accès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Des comptes nominatifs, créés sur invitation. Personne ne s’inscrit.</a:t>
            </a:r>
            <a:endParaRPr lang="en-US" sz="2600" dirty="0"/>
          </a:p>
        </p:txBody>
      </p:sp>
      <p:sp>
        <p:nvSpPr>
          <p:cNvPr id="7" name="Text 4"/>
          <p:cNvSpPr/>
          <p:nvPr/>
        </p:nvSpPr>
        <p:spPr>
          <a:xfrm>
            <a:off x="731520" y="3474720"/>
            <a:ext cx="4206240" cy="137160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Savoir qui a compté quoi est nécessaire pour arbitrer un écart. C'est pour cela que chaque personne a son compte, et qu'il n'y a pas d'inscription libre.</a:t>
            </a:r>
            <a:endParaRPr lang="en-US" sz="1200" dirty="0"/>
          </a:p>
        </p:txBody>
      </p:sp>
      <p:sp>
        <p:nvSpPr>
          <p:cNvPr id="8" name="Text 5"/>
          <p:cNvSpPr/>
          <p:nvPr/>
        </p:nvSpPr>
        <p:spPr>
          <a:xfrm>
            <a:off x="5394960" y="1371600"/>
            <a:ext cx="210312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Rôle</a:t>
            </a:r>
            <a:endParaRPr lang="en-US" sz="1000" dirty="0"/>
          </a:p>
        </p:txBody>
      </p:sp>
      <p:sp>
        <p:nvSpPr>
          <p:cNvPr id="9" name="Text 6"/>
          <p:cNvSpPr/>
          <p:nvPr/>
        </p:nvSpPr>
        <p:spPr>
          <a:xfrm>
            <a:off x="7498080" y="1371600"/>
            <a:ext cx="448056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Ce qu’il voit et ce qu’il fait</a:t>
            </a:r>
            <a:endParaRPr lang="en-US" sz="1000" dirty="0"/>
          </a:p>
        </p:txBody>
      </p:sp>
      <p:sp>
        <p:nvSpPr>
          <p:cNvPr id="10" name="Shape 7"/>
          <p:cNvSpPr/>
          <p:nvPr/>
        </p:nvSpPr>
        <p:spPr>
          <a:xfrm>
            <a:off x="5394960" y="1700784"/>
            <a:ext cx="6062472" cy="0"/>
          </a:xfrm>
          <a:prstGeom prst="line">
            <a:avLst/>
          </a:prstGeom>
          <a:noFill/>
          <a:ln w="9525">
            <a:solidFill>
              <a:srgbClr val="E2E5E1"/>
            </a:solidFill>
            <a:prstDash val="solid"/>
          </a:ln>
        </p:spPr>
      </p:sp>
      <p:sp>
        <p:nvSpPr>
          <p:cNvPr id="11" name="Text 8"/>
          <p:cNvSpPr/>
          <p:nvPr/>
        </p:nvSpPr>
        <p:spPr>
          <a:xfrm>
            <a:off x="5394960" y="1801368"/>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Administrateur d'entreprise</a:t>
            </a:r>
            <a:endParaRPr lang="en-US" sz="1150" dirty="0"/>
          </a:p>
        </p:txBody>
      </p:sp>
      <p:sp>
        <p:nvSpPr>
          <p:cNvPr id="12" name="Text 9"/>
          <p:cNvSpPr/>
          <p:nvPr/>
        </p:nvSpPr>
        <p:spPr>
          <a:xfrm>
            <a:off x="7498080" y="1801368"/>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Tous les magasins, toutes les personnes, tous les inventaires de son entreprise. Invite, retire, supprime, lit le journal des actions.</a:t>
            </a:r>
            <a:endParaRPr lang="en-US" sz="1150" dirty="0"/>
          </a:p>
        </p:txBody>
      </p:sp>
      <p:sp>
        <p:nvSpPr>
          <p:cNvPr id="13" name="Shape 10"/>
          <p:cNvSpPr/>
          <p:nvPr/>
        </p:nvSpPr>
        <p:spPr>
          <a:xfrm>
            <a:off x="5394960" y="2304288"/>
            <a:ext cx="6062472" cy="0"/>
          </a:xfrm>
          <a:prstGeom prst="line">
            <a:avLst/>
          </a:prstGeom>
          <a:noFill/>
          <a:ln w="9525">
            <a:solidFill>
              <a:srgbClr val="E2E5E1"/>
            </a:solidFill>
            <a:prstDash val="solid"/>
          </a:ln>
        </p:spPr>
      </p:sp>
      <p:sp>
        <p:nvSpPr>
          <p:cNvPr id="14" name="Text 11"/>
          <p:cNvSpPr/>
          <p:nvPr/>
        </p:nvSpPr>
        <p:spPr>
          <a:xfrm>
            <a:off x="5394960" y="2404872"/>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Superviseur</a:t>
            </a:r>
            <a:endParaRPr lang="en-US" sz="1150" dirty="0"/>
          </a:p>
        </p:txBody>
      </p:sp>
      <p:sp>
        <p:nvSpPr>
          <p:cNvPr id="15" name="Text 12"/>
          <p:cNvSpPr/>
          <p:nvPr/>
        </p:nvSpPr>
        <p:spPr>
          <a:xfrm>
            <a:off x="7498080" y="2404872"/>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Ses magasins. Crée et pilote les inventaires, constitue son équipe, arbitre les écarts, lit les rapports.</a:t>
            </a:r>
            <a:endParaRPr lang="en-US" sz="1150" dirty="0"/>
          </a:p>
        </p:txBody>
      </p:sp>
      <p:sp>
        <p:nvSpPr>
          <p:cNvPr id="16" name="Shape 13"/>
          <p:cNvSpPr/>
          <p:nvPr/>
        </p:nvSpPr>
        <p:spPr>
          <a:xfrm>
            <a:off x="5394960" y="2907792"/>
            <a:ext cx="6062472" cy="0"/>
          </a:xfrm>
          <a:prstGeom prst="line">
            <a:avLst/>
          </a:prstGeom>
          <a:noFill/>
          <a:ln w="9525">
            <a:solidFill>
              <a:srgbClr val="E2E5E1"/>
            </a:solidFill>
            <a:prstDash val="solid"/>
          </a:ln>
        </p:spPr>
      </p:sp>
      <p:sp>
        <p:nvSpPr>
          <p:cNvPr id="17" name="Text 14"/>
          <p:cNvSpPr/>
          <p:nvPr/>
        </p:nvSpPr>
        <p:spPr>
          <a:xfrm>
            <a:off x="5394960" y="3008376"/>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Compteur</a:t>
            </a:r>
            <a:endParaRPr lang="en-US" sz="1150" dirty="0"/>
          </a:p>
        </p:txBody>
      </p:sp>
      <p:sp>
        <p:nvSpPr>
          <p:cNvPr id="18" name="Text 15"/>
          <p:cNvSpPr/>
          <p:nvPr/>
        </p:nvSpPr>
        <p:spPr>
          <a:xfrm>
            <a:off x="7498080" y="3008376"/>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Les inventaires auxquels il est invité. Il scanne, il compte, il audite. Aucun accès au site.</a:t>
            </a:r>
            <a:endParaRPr lang="en-US" sz="1150" dirty="0"/>
          </a:p>
        </p:txBody>
      </p:sp>
      <p:sp>
        <p:nvSpPr>
          <p:cNvPr id="19" name="Shape 16"/>
          <p:cNvSpPr/>
          <p:nvPr/>
        </p:nvSpPr>
        <p:spPr>
          <a:xfrm>
            <a:off x="5394960" y="3511296"/>
            <a:ext cx="6062472" cy="0"/>
          </a:xfrm>
          <a:prstGeom prst="line">
            <a:avLst/>
          </a:prstGeom>
          <a:noFill/>
          <a:ln w="9525">
            <a:solidFill>
              <a:srgbClr val="E2E5E1"/>
            </a:solidFill>
            <a:prstDash val="solid"/>
          </a:ln>
        </p:spPr>
      </p:sp>
      <p:sp>
        <p:nvSpPr>
          <p:cNvPr id="20" name="Text 17"/>
          <p:cNvSpPr/>
          <p:nvPr/>
        </p:nvSpPr>
        <p:spPr>
          <a:xfrm>
            <a:off x="5394960" y="3703320"/>
            <a:ext cx="6062472" cy="2468880"/>
          </a:xfrm>
          <a:prstGeom prst="rect">
            <a:avLst/>
          </a:prstGeom>
          <a:noFill/>
          <a:ln/>
        </p:spPr>
        <p:txBody>
          <a:bodyPr wrap="square" lIns="0" tIns="0" rIns="0" bIns="0" rtlCol="0" anchor="t"/>
          <a:lstStyle/>
          <a:p>
            <a:pPr indent="0" marL="0">
              <a:lnSpc>
                <a:spcPct val="118000"/>
              </a:lnSpc>
              <a:spcAft>
                <a:spcPts val="700"/>
              </a:spcAft>
              <a:buNone/>
            </a:pPr>
            <a:r>
              <a:rPr lang="en-US" sz="1150" b="1" dirty="0">
                <a:solidFill>
                  <a:srgbClr val="14181A"/>
                </a:solidFill>
                <a:latin typeface="Public Sans" pitchFamily="34" charset="0"/>
                <a:ea typeface="Public Sans" pitchFamily="34" charset="-122"/>
                <a:cs typeface="Public Sans" pitchFamily="34" charset="-120"/>
              </a:rPr>
              <a:t>Mot de passe. </a:t>
            </a:r>
            <a:pPr indent="0" marL="0">
              <a:lnSpc>
                <a:spcPct val="118000"/>
              </a:lnSpc>
              <a:spcAft>
                <a:spcPts val="700"/>
              </a:spcAft>
              <a:buNone/>
            </a:pPr>
            <a:r>
              <a:rPr lang="en-US" sz="1150" dirty="0">
                <a:solidFill>
                  <a:srgbClr val="3A423F"/>
                </a:solidFill>
                <a:latin typeface="Public Sans" pitchFamily="34" charset="0"/>
                <a:ea typeface="Public Sans" pitchFamily="34" charset="-122"/>
                <a:cs typeface="Public Sans" pitchFamily="34" charset="-120"/>
              </a:rPr>
              <a:t>Douze caractères minimum, majuscule, minuscule, chiffre, symbole ; refus des mots de passe présents dans les fuites connues. Changer le sien exige l'ancien.</a:t>
            </a:r>
            <a:endParaRPr lang="en-US" sz="1150" dirty="0"/>
          </a:p>
          <a:p>
            <a:pPr indent="0" marL="0">
              <a:lnSpc>
                <a:spcPct val="118000"/>
              </a:lnSpc>
              <a:spcAft>
                <a:spcPts val="700"/>
              </a:spcAft>
              <a:buNone/>
            </a:pPr>
            <a:r>
              <a:rPr lang="en-US" sz="1150" b="1" dirty="0">
                <a:solidFill>
                  <a:srgbClr val="14181A"/>
                </a:solidFill>
                <a:latin typeface="Public Sans" pitchFamily="34" charset="0"/>
                <a:ea typeface="Public Sans" pitchFamily="34" charset="-122"/>
                <a:cs typeface="Public Sans" pitchFamily="34" charset="-120"/>
              </a:rPr>
              <a:t>Double authentification. </a:t>
            </a:r>
            <a:pPr indent="0" marL="0">
              <a:lnSpc>
                <a:spcPct val="118000"/>
              </a:lnSpc>
              <a:spcAft>
                <a:spcPts val="700"/>
              </a:spcAft>
              <a:buNone/>
            </a:pPr>
            <a:r>
              <a:rPr lang="en-US" sz="1150" dirty="0">
                <a:solidFill>
                  <a:srgbClr val="3A423F"/>
                </a:solidFill>
                <a:latin typeface="Public Sans" pitchFamily="34" charset="0"/>
                <a:ea typeface="Public Sans" pitchFamily="34" charset="-122"/>
                <a:cs typeface="Public Sans" pitchFamily="34" charset="-120"/>
              </a:rPr>
              <a:t>Par code à usage unique (TOTP), activable par chacun depuis son compte. Quand elle est activée, le serveur la vérifie, pas seulement l'écran.</a:t>
            </a:r>
            <a:endParaRPr lang="en-US" sz="1150" dirty="0"/>
          </a:p>
          <a:p>
            <a:pPr indent="0" marL="0">
              <a:lnSpc>
                <a:spcPct val="118000"/>
              </a:lnSpc>
              <a:spcAft>
                <a:spcPts val="700"/>
              </a:spcAft>
              <a:buNone/>
            </a:pPr>
            <a:r>
              <a:rPr lang="en-US" sz="1150" b="1" dirty="0">
                <a:solidFill>
                  <a:srgbClr val="14181A"/>
                </a:solidFill>
                <a:latin typeface="Public Sans" pitchFamily="34" charset="0"/>
                <a:ea typeface="Public Sans" pitchFamily="34" charset="-122"/>
                <a:cs typeface="Public Sans" pitchFamily="34" charset="-120"/>
              </a:rPr>
              <a:t>Sessions. </a:t>
            </a:r>
            <a:pPr indent="0" marL="0">
              <a:lnSpc>
                <a:spcPct val="118000"/>
              </a:lnSpc>
              <a:spcAft>
                <a:spcPts val="700"/>
              </a:spcAft>
              <a:buNone/>
            </a:pPr>
            <a:r>
              <a:rPr lang="en-US" sz="1150" dirty="0">
                <a:solidFill>
                  <a:srgbClr val="3A423F"/>
                </a:solidFill>
                <a:latin typeface="Public Sans" pitchFamily="34" charset="0"/>
                <a:ea typeface="Public Sans" pitchFamily="34" charset="-122"/>
                <a:cs typeface="Public Sans" pitchFamily="34" charset="-120"/>
              </a:rPr>
              <a:t>Expiration après 30 jours sans usage, et au plus 180 jours depuis la connexion. Un téléphone perdu cesse d'être connecté.</a:t>
            </a:r>
            <a:endParaRPr lang="en-US" sz="1150" dirty="0"/>
          </a:p>
          <a:p>
            <a:pPr indent="0" marL="0">
              <a:lnSpc>
                <a:spcPct val="118000"/>
              </a:lnSpc>
              <a:spcAft>
                <a:spcPts val="700"/>
              </a:spcAft>
              <a:buNone/>
            </a:pPr>
            <a:r>
              <a:rPr lang="en-US" sz="1150" b="1" dirty="0">
                <a:solidFill>
                  <a:srgbClr val="14181A"/>
                </a:solidFill>
                <a:latin typeface="Public Sans" pitchFamily="34" charset="0"/>
                <a:ea typeface="Public Sans" pitchFamily="34" charset="-122"/>
                <a:cs typeface="Public Sans" pitchFamily="34" charset="-120"/>
              </a:rPr>
              <a:t>Cloisonnement. </a:t>
            </a:r>
            <a:pPr indent="0" marL="0">
              <a:lnSpc>
                <a:spcPct val="118000"/>
              </a:lnSpc>
              <a:spcAft>
                <a:spcPts val="700"/>
              </a:spcAft>
              <a:buNone/>
            </a:pPr>
            <a:r>
              <a:rPr lang="en-US" sz="1150" dirty="0">
                <a:solidFill>
                  <a:srgbClr val="3A423F"/>
                </a:solidFill>
                <a:latin typeface="Public Sans" pitchFamily="34" charset="0"/>
                <a:ea typeface="Public Sans" pitchFamily="34" charset="-122"/>
                <a:cs typeface="Public Sans" pitchFamily="34" charset="-120"/>
              </a:rPr>
              <a:t>Le filtrage par entreprise et par rôle est fait dans la base, à chaque requête. Un écran contourné ne donne rien.</a:t>
            </a:r>
            <a:endParaRPr lang="en-US" sz="1150" dirty="0"/>
          </a:p>
        </p:txBody>
      </p:sp>
      <p:sp>
        <p:nvSpPr>
          <p:cNvPr id="21" name="Text 1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22" name="Text 1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Sécurité</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qui est en place.</a:t>
            </a:r>
            <a:endParaRPr lang="en-US" sz="2600" dirty="0"/>
          </a:p>
        </p:txBody>
      </p:sp>
      <p:sp>
        <p:nvSpPr>
          <p:cNvPr id="7" name="Text 4"/>
          <p:cNvSpPr/>
          <p:nvPr/>
        </p:nvSpPr>
        <p:spPr>
          <a:xfrm>
            <a:off x="731520" y="3383280"/>
            <a:ext cx="4206240" cy="4572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Public Sans" pitchFamily="34" charset="0"/>
                <a:ea typeface="Public Sans" pitchFamily="34" charset="-122"/>
                <a:cs typeface="Public Sans" pitchFamily="34" charset="-120"/>
              </a:rPr>
              <a:t>Le détail des audits est en page suivante.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14181A"/>
                </a:solidFill>
                <a:latin typeface="Public Sans" pitchFamily="34" charset="0"/>
                <a:ea typeface="Public Sans" pitchFamily="34" charset="-122"/>
                <a:cs typeface="Public Sans" pitchFamily="34" charset="-120"/>
              </a:rPr>
              <a:t>En transit et au repos. </a:t>
            </a:r>
            <a:pPr indent="0" marL="0">
              <a:lnSpc>
                <a:spcPct val="118000"/>
              </a:lnSpc>
              <a:spcAft>
                <a:spcPts val="900"/>
              </a:spcAft>
              <a:buNone/>
            </a:pPr>
            <a:r>
              <a:rPr lang="en-US" sz="1200" dirty="0">
                <a:solidFill>
                  <a:srgbClr val="3A423F"/>
                </a:solidFill>
                <a:latin typeface="Public Sans" pitchFamily="34" charset="0"/>
                <a:ea typeface="Public Sans" pitchFamily="34" charset="-122"/>
                <a:cs typeface="Public Sans" pitchFamily="34" charset="-120"/>
              </a:rPr>
              <a:t>Tout le trafic est chiffré (TLS). Les données sont chiffrées au repos par l'hébergeur, qui en assure aussi les sauvegardes quotidiennes.</a:t>
            </a:r>
            <a:endParaRPr lang="en-US" sz="1200" dirty="0"/>
          </a:p>
          <a:p>
            <a:pPr indent="0" marL="0">
              <a:lnSpc>
                <a:spcPct val="118000"/>
              </a:lnSpc>
              <a:spcAft>
                <a:spcPts val="900"/>
              </a:spcAft>
              <a:buNone/>
            </a:pPr>
            <a:r>
              <a:rPr lang="en-US" sz="1200" b="1" dirty="0">
                <a:solidFill>
                  <a:srgbClr val="14181A"/>
                </a:solidFill>
                <a:latin typeface="Public Sans" pitchFamily="34" charset="0"/>
                <a:ea typeface="Public Sans" pitchFamily="34" charset="-122"/>
                <a:cs typeface="Public Sans" pitchFamily="34" charset="-120"/>
              </a:rPr>
              <a:t>Sur le téléphone. </a:t>
            </a:r>
            <a:pPr indent="0" marL="0">
              <a:lnSpc>
                <a:spcPct val="118000"/>
              </a:lnSpc>
              <a:spcAft>
                <a:spcPts val="900"/>
              </a:spcAft>
              <a:buNone/>
            </a:pPr>
            <a:r>
              <a:rPr lang="en-US" sz="1200" dirty="0">
                <a:solidFill>
                  <a:srgbClr val="3A423F"/>
                </a:solidFill>
                <a:latin typeface="Public Sans" pitchFamily="34" charset="0"/>
                <a:ea typeface="Public Sans" pitchFamily="34" charset="-122"/>
                <a:cs typeface="Public Sans" pitchFamily="34" charset="-120"/>
              </a:rPr>
              <a:t>Le jeton de session est rangé dans le trousseau du système — Keychain sur iOS, Keystore sur Android — chiffré par l'appareil, pas dans un fichier de l'application.</a:t>
            </a:r>
            <a:endParaRPr lang="en-US" sz="1200" dirty="0"/>
          </a:p>
          <a:p>
            <a:pPr indent="0" marL="0">
              <a:lnSpc>
                <a:spcPct val="118000"/>
              </a:lnSpc>
              <a:spcAft>
                <a:spcPts val="900"/>
              </a:spcAft>
              <a:buNone/>
            </a:pPr>
            <a:r>
              <a:rPr lang="en-US" sz="1200" b="1" dirty="0">
                <a:solidFill>
                  <a:srgbClr val="14181A"/>
                </a:solidFill>
                <a:latin typeface="Public Sans" pitchFamily="34" charset="0"/>
                <a:ea typeface="Public Sans" pitchFamily="34" charset="-122"/>
                <a:cs typeface="Public Sans" pitchFamily="34" charset="-120"/>
              </a:rPr>
              <a:t>Site. </a:t>
            </a:r>
            <a:pPr indent="0" marL="0">
              <a:lnSpc>
                <a:spcPct val="118000"/>
              </a:lnSpc>
              <a:spcAft>
                <a:spcPts val="900"/>
              </a:spcAft>
              <a:buNone/>
            </a:pPr>
            <a:r>
              <a:rPr lang="en-US" sz="1200" dirty="0">
                <a:solidFill>
                  <a:srgbClr val="3A423F"/>
                </a:solidFill>
                <a:latin typeface="Public Sans" pitchFamily="34" charset="0"/>
                <a:ea typeface="Public Sans" pitchFamily="34" charset="-122"/>
                <a:cs typeface="Public Sans" pitchFamily="34" charset="-120"/>
              </a:rPr>
              <a:t>En-têtes de sécurité posés (politique de contenu, interdiction d'intégration dans un cadre, restriction des destinations réseau). Aucun traceur, aucune mesure d'audience : il n'y a pas de bandeau cookies parce qu'il n'y a pas de cookie à déclarer.</a:t>
            </a:r>
            <a:endParaRPr lang="en-US" sz="1200" dirty="0"/>
          </a:p>
          <a:p>
            <a:pPr indent="0" marL="0">
              <a:lnSpc>
                <a:spcPct val="118000"/>
              </a:lnSpc>
              <a:spcAft>
                <a:spcPts val="900"/>
              </a:spcAft>
              <a:buNone/>
            </a:pPr>
            <a:r>
              <a:rPr lang="en-US" sz="1200" b="1" dirty="0">
                <a:solidFill>
                  <a:srgbClr val="14181A"/>
                </a:solidFill>
                <a:latin typeface="Public Sans" pitchFamily="34" charset="0"/>
                <a:ea typeface="Public Sans" pitchFamily="34" charset="-122"/>
                <a:cs typeface="Public Sans" pitchFamily="34" charset="-120"/>
              </a:rPr>
              <a:t>Journal. </a:t>
            </a:r>
            <a:pPr indent="0" marL="0">
              <a:lnSpc>
                <a:spcPct val="118000"/>
              </a:lnSpc>
              <a:spcAft>
                <a:spcPts val="900"/>
              </a:spcAft>
              <a:buNone/>
            </a:pPr>
            <a:r>
              <a:rPr lang="en-US" sz="1200" dirty="0">
                <a:solidFill>
                  <a:srgbClr val="3A423F"/>
                </a:solidFill>
                <a:latin typeface="Public Sans" pitchFamily="34" charset="0"/>
                <a:ea typeface="Public Sans" pitchFamily="34" charset="-122"/>
                <a:cs typeface="Public Sans" pitchFamily="34" charset="-120"/>
              </a:rPr>
              <a:t>Chaque action d'administration — création d'un compte, retrait d'un accès, suppression — est journalisée avec son auteur, et conservée un an. Votre administrateur lit le sien depuis son espace.</a:t>
            </a:r>
            <a:endParaRPr lang="en-US" sz="1200" dirty="0"/>
          </a:p>
          <a:p>
            <a:pPr indent="0" marL="0">
              <a:lnSpc>
                <a:spcPct val="118000"/>
              </a:lnSpc>
              <a:spcAft>
                <a:spcPts val="900"/>
              </a:spcAft>
              <a:buNone/>
            </a:pPr>
            <a:r>
              <a:rPr lang="en-US" sz="1200" b="1" dirty="0">
                <a:solidFill>
                  <a:srgbClr val="14181A"/>
                </a:solidFill>
                <a:latin typeface="Public Sans" pitchFamily="34" charset="0"/>
                <a:ea typeface="Public Sans" pitchFamily="34" charset="-122"/>
                <a:cs typeface="Public Sans" pitchFamily="34" charset="-120"/>
              </a:rPr>
              <a:t>Suivi d’activité. </a:t>
            </a:r>
            <a:pPr indent="0" marL="0">
              <a:lnSpc>
                <a:spcPct val="118000"/>
              </a:lnSpc>
              <a:spcAft>
                <a:spcPts val="900"/>
              </a:spcAft>
              <a:buNone/>
            </a:pPr>
            <a:r>
              <a:rPr lang="en-US" sz="1200" dirty="0">
                <a:solidFill>
                  <a:srgbClr val="3A423F"/>
                </a:solidFill>
                <a:latin typeface="Public Sans" pitchFamily="34" charset="0"/>
                <a:ea typeface="Public Sans" pitchFamily="34" charset="-122"/>
                <a:cs typeface="Public Sans" pitchFamily="34" charset="-120"/>
              </a:rPr>
              <a:t>Le tableau de bord voit des compteurs (appareils connectés, en comptage, en audit), jamais qui fait quoi en direct. Ce qui reste nominatif, c'est l'auteur d'un comptage, pour l'arbitrage.</a:t>
            </a:r>
            <a:endParaRPr lang="en-US" sz="1200" dirty="0"/>
          </a:p>
          <a:p>
            <a:pPr indent="0" marL="0">
              <a:lnSpc>
                <a:spcPct val="118000"/>
              </a:lnSpc>
              <a:spcAft>
                <a:spcPts val="900"/>
              </a:spcAft>
              <a:buNone/>
            </a:pPr>
            <a:r>
              <a:rPr lang="en-US" sz="1200" b="1" dirty="0">
                <a:solidFill>
                  <a:srgbClr val="14181A"/>
                </a:solidFill>
                <a:latin typeface="Public Sans" pitchFamily="34" charset="0"/>
                <a:ea typeface="Public Sans" pitchFamily="34" charset="-122"/>
                <a:cs typeface="Public Sans" pitchFamily="34" charset="-120"/>
              </a:rPr>
              <a:t>Effacement. </a:t>
            </a:r>
            <a:pPr indent="0" marL="0">
              <a:lnSpc>
                <a:spcPct val="118000"/>
              </a:lnSpc>
              <a:spcAft>
                <a:spcPts val="900"/>
              </a:spcAft>
              <a:buNone/>
            </a:pPr>
            <a:r>
              <a:rPr lang="en-US" sz="1200" dirty="0">
                <a:solidFill>
                  <a:srgbClr val="3A423F"/>
                </a:solidFill>
                <a:latin typeface="Public Sans" pitchFamily="34" charset="0"/>
                <a:ea typeface="Public Sans" pitchFamily="34" charset="-122"/>
                <a:cs typeface="Public Sans" pitchFamily="34" charset="-120"/>
              </a:rPr>
              <a:t>Les durées de conservation sont appliquées automatiquement, chaque nuit : journaux à un an, demandes et invitations traitées à trois mois, et purge des données expirées.</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Les audits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qui a été audité, et par quelle méthode.</a:t>
            </a:r>
            <a:endParaRPr lang="en-US" sz="2600" dirty="0"/>
          </a:p>
        </p:txBody>
      </p:sp>
      <p:sp>
        <p:nvSpPr>
          <p:cNvPr id="7" name="Text 4"/>
          <p:cNvSpPr/>
          <p:nvPr/>
        </p:nvSpPr>
        <p:spPr>
          <a:xfrm>
            <a:off x="731520" y="3200400"/>
            <a:ext cx="4206240" cy="868680"/>
          </a:xfrm>
          <a:prstGeom prst="rect">
            <a:avLst/>
          </a:prstGeom>
          <a:noFill/>
          <a:ln/>
        </p:spPr>
        <p:txBody>
          <a:bodyPr wrap="square" lIns="0" tIns="0" rIns="0" bIns="0" rtlCol="0" anchor="t"/>
          <a:lstStyle/>
          <a:p>
            <a:pPr indent="0" marL="0">
              <a:buNone/>
            </a:pPr>
            <a:r>
              <a:rPr lang="en-US" sz="4600" b="1" dirty="0">
                <a:solidFill>
                  <a:srgbClr val="1E4D3B"/>
                </a:solidFill>
                <a:latin typeface="Archivo" pitchFamily="34" charset="0"/>
                <a:ea typeface="Archivo" pitchFamily="34" charset="-122"/>
                <a:cs typeface="Archivo" pitchFamily="34" charset="-120"/>
              </a:rPr>
              <a:t>3</a:t>
            </a:r>
            <a:endParaRPr lang="en-US" sz="4600" dirty="0"/>
          </a:p>
        </p:txBody>
      </p:sp>
      <p:sp>
        <p:nvSpPr>
          <p:cNvPr id="8" name="Text 5"/>
          <p:cNvSpPr/>
          <p:nvPr/>
        </p:nvSpPr>
        <p:spPr>
          <a:xfrm>
            <a:off x="731520" y="41148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75F5C"/>
                </a:solidFill>
                <a:latin typeface="Public Sans" pitchFamily="34" charset="0"/>
                <a:ea typeface="Public Sans" pitchFamily="34" charset="-122"/>
                <a:cs typeface="Public Sans" pitchFamily="34" charset="-120"/>
              </a:rPr>
              <a:t>revues conduites en août 2026 : conformité, parcours de paiement, et l'ensemble des surfaces serveur.</a:t>
            </a:r>
            <a:endParaRPr lang="en-US" sz="1200" dirty="0"/>
          </a:p>
        </p:txBody>
      </p:sp>
      <p:sp>
        <p:nvSpPr>
          <p:cNvPr id="9" name="Text 6"/>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Conformité RGPD et sécurité.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Quinze constats relevés le 13 août, treize clos au 19. Les deux restants sont des documents juridiques en relecture — registre des traitements et clauses de sous-traitance.</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Modélisation de menaces du parcours de l’argent.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Méthode STRIDE, appliquée au chemin complet — demande, devis, acceptation, paiement, création des accès. Quatre constats, tous corrigés le jour même, avec des tests qui empêchent leur retour.</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Revue des surfaces serveur.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Balayage des fonctions de base de données, des règles d'accès et des fonctions distantes, par motif de défaut connu. Cinq constats, tous corrigés le jour même. Trois l'ont été par retrait : une permission dont personne ne se sert n'a pas besoin d'un contrôle, elle a besoin d'être injoignable.</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Ce que nous ne faisons pas.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Pas de test d'intrusion externe à ce jour, et pas de certification ISO. Si votre politique l'exige, nous accueillons le vôtre.</a:t>
            </a:r>
            <a:endParaRPr lang="en-US" sz="12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Hors ligne et charge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Le réseau tombe en réserve. Le comptage continue.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Public Sans" pitchFamily="34" charset="0"/>
                <a:ea typeface="Public Sans" pitchFamily="34" charset="-122"/>
                <a:cs typeface="Public Sans" pitchFamily="34" charset="-120"/>
              </a:rPr>
              <a:t>C'est le cas le plus fréquent sur le terrain, et celui pour lequel l'application a été construite.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Hors ligne.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Les scans sont enregistrés sur le téléphone et renvoyés automatiquement au retour du réseau, dans l'ordre. Le compteur voit ce qui attend et ce qui est parti. Une session expirée n'efface rien : la file attend la reconnexion.</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Plusieurs compteurs par magasin.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Chaque téléphone envoie un signal toutes les 5 à 30 secondes ; il n'écoute rien. Seul le tableau de bord écoute. Le coût du suivi croît avec le nombre de téléphones, pas avec son carré.</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Tableau de bord.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Les totaux sont calculés par la base, pas téléchargés. Un tableau de bord ouvert recalcule au plus une fois par minute, et se met au repos quand personne ne scanne.</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Volumes.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Un référentiel de plusieurs dizaines de milliers de références s'importe par lots. Pour un réseau de plusieurs centaines de magasins comptant le même jour, nous montons la capacité de la base : c'est un réglage, pas un chantier.</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Protection des données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Qui est responsable de quoi</a:t>
            </a:r>
            <a:endParaRPr lang="en-US" sz="2600" dirty="0"/>
          </a:p>
        </p:txBody>
      </p:sp>
      <p:sp>
        <p:nvSpPr>
          <p:cNvPr id="7" name="Text 4"/>
          <p:cNvSpPr/>
          <p:nvPr/>
        </p:nvSpPr>
        <p:spPr>
          <a:xfrm>
            <a:off x="731520" y="2240280"/>
            <a:ext cx="5088636" cy="320040"/>
          </a:xfrm>
          <a:prstGeom prst="rect">
            <a:avLst/>
          </a:prstGeom>
          <a:noFill/>
          <a:ln/>
        </p:spPr>
        <p:txBody>
          <a:bodyPr wrap="square" lIns="0" tIns="0" rIns="0" bIns="0" rtlCol="0" anchor="t"/>
          <a:lstStyle/>
          <a:p>
            <a:pPr indent="0" marL="0">
              <a:buNone/>
            </a:pPr>
            <a:r>
              <a:rPr lang="en-US" sz="1350" b="1" dirty="0">
                <a:solidFill>
                  <a:srgbClr val="14181A"/>
                </a:solidFill>
                <a:latin typeface="Archivo" pitchFamily="34" charset="0"/>
                <a:ea typeface="Archivo" pitchFamily="34" charset="-122"/>
                <a:cs typeface="Archivo" pitchFamily="34" charset="-120"/>
              </a:rPr>
              <a:t>Vous, responsable de traitement</a:t>
            </a:r>
            <a:endParaRPr lang="en-US" sz="1350" dirty="0"/>
          </a:p>
        </p:txBody>
      </p:sp>
      <p:sp>
        <p:nvSpPr>
          <p:cNvPr id="8" name="Text 5"/>
          <p:cNvSpPr/>
          <p:nvPr/>
        </p:nvSpPr>
        <p:spPr>
          <a:xfrm>
            <a:off x="6368796" y="2240280"/>
            <a:ext cx="5088636" cy="320040"/>
          </a:xfrm>
          <a:prstGeom prst="rect">
            <a:avLst/>
          </a:prstGeom>
          <a:noFill/>
          <a:ln/>
        </p:spPr>
        <p:txBody>
          <a:bodyPr wrap="square" lIns="0" tIns="0" rIns="0" bIns="0" rtlCol="0" anchor="t"/>
          <a:lstStyle/>
          <a:p>
            <a:pPr indent="0" marL="0">
              <a:buNone/>
            </a:pPr>
            <a:r>
              <a:rPr lang="en-US" sz="1350" b="1" dirty="0">
                <a:solidFill>
                  <a:srgbClr val="14181A"/>
                </a:solidFill>
                <a:latin typeface="Archivo" pitchFamily="34" charset="0"/>
                <a:ea typeface="Archivo" pitchFamily="34" charset="-122"/>
                <a:cs typeface="Archivo" pitchFamily="34" charset="-120"/>
              </a:rPr>
              <a:t>Devkaylab, sous-traitant</a:t>
            </a:r>
            <a:endParaRPr lang="en-US" sz="1350" dirty="0"/>
          </a:p>
        </p:txBody>
      </p:sp>
      <p:sp>
        <p:nvSpPr>
          <p:cNvPr id="9" name="Shape 6"/>
          <p:cNvSpPr/>
          <p:nvPr/>
        </p:nvSpPr>
        <p:spPr>
          <a:xfrm>
            <a:off x="731520" y="2651760"/>
            <a:ext cx="10725912" cy="0"/>
          </a:xfrm>
          <a:prstGeom prst="line">
            <a:avLst/>
          </a:prstGeom>
          <a:noFill/>
          <a:ln w="9525">
            <a:solidFill>
              <a:srgbClr val="E2E5E1"/>
            </a:solidFill>
            <a:prstDash val="solid"/>
          </a:ln>
        </p:spPr>
      </p:sp>
      <p:sp>
        <p:nvSpPr>
          <p:cNvPr id="10" name="Text 7"/>
          <p:cNvSpPr/>
          <p:nvPr/>
        </p:nvSpPr>
        <p:spPr>
          <a:xfrm>
            <a:off x="731520" y="2788920"/>
            <a:ext cx="5088636" cy="274320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A423F"/>
                </a:solidFill>
                <a:latin typeface="Public Sans" pitchFamily="34" charset="0"/>
                <a:ea typeface="Public Sans" pitchFamily="34" charset="-122"/>
                <a:cs typeface="Public Sans" pitchFamily="34" charset="-120"/>
              </a:rPr>
              <a:t>Vous décidez des inventaires, de qui compte, et de la durée de conservation des données d'inventaire.</a:t>
            </a:r>
            <a:endParaRPr lang="en-US" sz="1150" dirty="0"/>
          </a:p>
          <a:p>
            <a:pPr marL="203200" indent="-203200">
              <a:lnSpc>
                <a:spcPct val="115000"/>
              </a:lnSpc>
              <a:spcAft>
                <a:spcPts val="800"/>
              </a:spcAft>
              <a:buSzPct val="100000"/>
              <a:buChar char="–"/>
            </a:pPr>
            <a:r>
              <a:rPr lang="en-US" sz="1150" dirty="0">
                <a:solidFill>
                  <a:srgbClr val="3A423F"/>
                </a:solidFill>
                <a:latin typeface="Public Sans" pitchFamily="34" charset="0"/>
                <a:ea typeface="Public Sans" pitchFamily="34" charset="-122"/>
                <a:cs typeface="Public Sans" pitchFamily="34" charset="-120"/>
              </a:rPr>
              <a:t>Vous informez vos salariés (une note type vous est fournie) et consultez votre CSE si votre organisation le prévoit.</a:t>
            </a:r>
            <a:endParaRPr lang="en-US" sz="1150" dirty="0"/>
          </a:p>
          <a:p>
            <a:pPr marL="203200" indent="-203200">
              <a:lnSpc>
                <a:spcPct val="115000"/>
              </a:lnSpc>
              <a:spcAft>
                <a:spcPts val="800"/>
              </a:spcAft>
              <a:buSzPct val="100000"/>
              <a:buChar char="–"/>
            </a:pPr>
            <a:r>
              <a:rPr lang="en-US" sz="1150" dirty="0">
                <a:solidFill>
                  <a:srgbClr val="3A423F"/>
                </a:solidFill>
                <a:latin typeface="Public Sans" pitchFamily="34" charset="0"/>
                <a:ea typeface="Public Sans" pitchFamily="34" charset="-122"/>
                <a:cs typeface="Public Sans" pitchFamily="34" charset="-120"/>
              </a:rPr>
              <a:t>En cas de violation, c'est vous qui notifiez la CNIL sous 72 heures ; nous vous prévenons sans délai et vous donnons les éléments.</a:t>
            </a:r>
            <a:endParaRPr lang="en-US" sz="1150" dirty="0"/>
          </a:p>
        </p:txBody>
      </p:sp>
      <p:sp>
        <p:nvSpPr>
          <p:cNvPr id="11" name="Text 8"/>
          <p:cNvSpPr/>
          <p:nvPr/>
        </p:nvSpPr>
        <p:spPr>
          <a:xfrm>
            <a:off x="6368796" y="2788920"/>
            <a:ext cx="5088636" cy="310896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A423F"/>
                </a:solidFill>
                <a:latin typeface="Public Sans" pitchFamily="34" charset="0"/>
                <a:ea typeface="Public Sans" pitchFamily="34" charset="-122"/>
                <a:cs typeface="Public Sans" pitchFamily="34" charset="-120"/>
              </a:rPr>
              <a:t>Nous hébergeons, sécurisons, sauvegardons, et n'utilisons les données que pour rendre le service. Rien n'est vendu ni réutilisé.</a:t>
            </a:r>
            <a:endParaRPr lang="en-US" sz="1150" dirty="0"/>
          </a:p>
          <a:p>
            <a:pPr marL="203200" indent="-203200">
              <a:lnSpc>
                <a:spcPct val="115000"/>
              </a:lnSpc>
              <a:spcAft>
                <a:spcPts val="800"/>
              </a:spcAft>
              <a:buSzPct val="100000"/>
              <a:buChar char="–"/>
            </a:pPr>
            <a:r>
              <a:rPr lang="en-US" sz="1150" dirty="0">
                <a:solidFill>
                  <a:srgbClr val="3A423F"/>
                </a:solidFill>
                <a:latin typeface="Public Sans" pitchFamily="34" charset="0"/>
                <a:ea typeface="Public Sans" pitchFamily="34" charset="-122"/>
                <a:cs typeface="Public Sans" pitchFamily="34" charset="-120"/>
              </a:rPr>
              <a:t>Les clauses de sous-traitance (article 28) sont fournies à la signature, avec la liste des sous-traitants ultérieurs.</a:t>
            </a:r>
            <a:endParaRPr lang="en-US" sz="1150" dirty="0"/>
          </a:p>
          <a:p>
            <a:pPr marL="203200" indent="-203200">
              <a:lnSpc>
                <a:spcPct val="115000"/>
              </a:lnSpc>
              <a:spcAft>
                <a:spcPts val="800"/>
              </a:spcAft>
              <a:buSzPct val="100000"/>
              <a:buChar char="–"/>
            </a:pPr>
            <a:r>
              <a:rPr lang="en-US" sz="1150" dirty="0">
                <a:solidFill>
                  <a:srgbClr val="3A423F"/>
                </a:solidFill>
                <a:latin typeface="Public Sans" pitchFamily="34" charset="0"/>
                <a:ea typeface="Public Sans" pitchFamily="34" charset="-122"/>
                <a:cs typeface="Public Sans" pitchFamily="34" charset="-120"/>
              </a:rPr>
              <a:t>Les droits sont outillés : chaque personne télécharge ses données depuis son compte ; la suppression d'un compte conserve les comptages mais les détache du nom.</a:t>
            </a:r>
            <a:endParaRPr lang="en-US" sz="1150" dirty="0"/>
          </a:p>
          <a:p>
            <a:pPr marL="203200" indent="-203200">
              <a:lnSpc>
                <a:spcPct val="115000"/>
              </a:lnSpc>
              <a:spcAft>
                <a:spcPts val="800"/>
              </a:spcAft>
              <a:buSzPct val="100000"/>
              <a:buChar char="–"/>
            </a:pPr>
            <a:r>
              <a:rPr lang="en-US" sz="1150" dirty="0">
                <a:solidFill>
                  <a:srgbClr val="3A423F"/>
                </a:solidFill>
                <a:latin typeface="Public Sans" pitchFamily="34" charset="0"/>
                <a:ea typeface="Public Sans" pitchFamily="34" charset="-122"/>
                <a:cs typeface="Public Sans" pitchFamily="34" charset="-120"/>
              </a:rPr>
              <a:t>Durées : comptes tant qu'ils sont actifs, journaux un an, demandes et invitations purgées. Le suivi en direct n'est jamais enregistré.</a:t>
            </a:r>
            <a:endParaRPr lang="en-US" sz="1150" dirty="0"/>
          </a:p>
        </p:txBody>
      </p:sp>
      <p:sp>
        <p:nvSpPr>
          <p:cNvPr id="12" name="Shape 9"/>
          <p:cNvSpPr/>
          <p:nvPr/>
        </p:nvSpPr>
        <p:spPr>
          <a:xfrm>
            <a:off x="731520" y="5212080"/>
            <a:ext cx="10725912" cy="868680"/>
          </a:xfrm>
          <a:prstGeom prst="roundRect">
            <a:avLst>
              <a:gd name="adj" fmla="val 4211"/>
            </a:avLst>
          </a:prstGeom>
          <a:solidFill>
            <a:srgbClr val="F2F3F1"/>
          </a:solidFill>
          <a:ln w="12700">
            <a:solidFill>
              <a:srgbClr val="F2F3F1"/>
            </a:solidFill>
            <a:prstDash val="solid"/>
          </a:ln>
        </p:spPr>
      </p:sp>
      <p:sp>
        <p:nvSpPr>
          <p:cNvPr id="13" name="Text 10"/>
          <p:cNvSpPr/>
          <p:nvPr/>
        </p:nvSpPr>
        <p:spPr>
          <a:xfrm>
            <a:off x="1005840" y="537667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Documents remis</a:t>
            </a:r>
            <a:endParaRPr lang="en-US" sz="950" dirty="0"/>
          </a:p>
        </p:txBody>
      </p:sp>
      <p:sp>
        <p:nvSpPr>
          <p:cNvPr id="14" name="Text 11"/>
          <p:cNvSpPr/>
          <p:nvPr/>
        </p:nvSpPr>
        <p:spPr>
          <a:xfrm>
            <a:off x="1005840" y="563270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Politique de confidentialité (publique), clauses article 28, synthèses d'audit, note d'information aux salariés, registre des traitements sur demande de votre DPO.</a:t>
            </a:r>
            <a:endParaRPr lang="en-US" sz="1150" dirty="0"/>
          </a:p>
        </p:txBody>
      </p:sp>
      <p:sp>
        <p:nvSpPr>
          <p:cNvPr id="15" name="Text 1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6" name="Text 1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Pour être clair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qui n'existe pas encore.</a:t>
            </a:r>
            <a:endParaRPr lang="en-US" sz="2600" dirty="0"/>
          </a:p>
        </p:txBody>
      </p:sp>
      <p:sp>
        <p:nvSpPr>
          <p:cNvPr id="7" name="Text 4"/>
          <p:cNvSpPr/>
          <p:nvPr/>
        </p:nvSpPr>
        <p:spPr>
          <a:xfrm>
            <a:off x="731520" y="3383280"/>
            <a:ext cx="4206240" cy="1097280"/>
          </a:xfrm>
          <a:prstGeom prst="rect">
            <a:avLst/>
          </a:prstGeom>
          <a:noFill/>
          <a:ln/>
        </p:spPr>
        <p:txBody>
          <a:bodyPr wrap="square" lIns="0" tIns="0" rIns="0" bIns="0" rtlCol="0" anchor="t"/>
          <a:lstStyle/>
          <a:p>
            <a:pPr algn="l" indent="0" marL="0">
              <a:lnSpc>
                <a:spcPct val="118000"/>
              </a:lnSpc>
              <a:buNone/>
            </a:pPr>
            <a:r>
              <a:rPr lang="en-US" sz="1250" i="1" dirty="0">
                <a:solidFill>
                  <a:srgbClr val="575F5C"/>
                </a:solidFill>
                <a:latin typeface="Public Sans" pitchFamily="34" charset="0"/>
                <a:ea typeface="Public Sans" pitchFamily="34" charset="-122"/>
                <a:cs typeface="Public Sans" pitchFamily="34" charset="-120"/>
              </a:rPr>
              <a:t>Rien de tout cela n'empêche de déployer. Dites-nous ce qui est une exigence chez vous, et dans quel ordre.</a:t>
            </a:r>
            <a:endParaRPr lang="en-US" sz="125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Connexion par votre annuaire (SAML 2.0, Entra ID).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Les comptes sont locaux, créés par invitation. Techniquement possible ; pas planifié tant qu'un client ne le demande pas.</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Configuration administrée (AppConfig).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Pré-remplir l'adresse e-mail ou le magasin depuis votre MDM, pour que la personne n'ait rien à saisir au premier lancement.</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Publication sur Google Play.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L'application tourne sur Android ; sa mise en ligne est en cours. En attendant, l'APK se distribue par votre catalogue — ce qui est de toute façon le chemin d'un parc géré.</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API et connecteur ERP.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L'échange se fait par fichiers : import CSV ou Excel, export Excel. Un connecteur viendra avec le premier client qui en a besoin, pas avant.</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Codes de secours pour la double authentification.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Un téléphone perdu se dépanne par nous, sur demande de votre administrateur. C'est dit avant l'activation, pas après la perte.</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chivo" pitchFamily="34" charset="0"/>
                <a:ea typeface="Archivo" pitchFamily="34" charset="-122"/>
                <a:cs typeface="Archivo" pitchFamily="34" charset="-120"/>
              </a:rPr>
              <a:t>Ce qu’on vous remet, et à qui.</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Public Sans" pitchFamily="34" charset="0"/>
                <a:ea typeface="Public Sans" pitchFamily="34" charset="-122"/>
                <a:cs typeface="Public Sans" pitchFamily="34" charset="-120"/>
              </a:rPr>
              <a:t>La fiche de déploiement MDM pour l'équipe parc. La politique de confidentialité, les clauses article 28 et les synthèses d'audit pour votre DPO. Le guide de prise en main pour vos superviseurs — remis en présentation, et consultable à tout moment depuis leur espace, où il s'imprime pour la réserve. La note d'information aux salariés pour vos RH. Et un interlocuteur qui répond.</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dossier technique</dc:title>
  <dc:subject>PptxGenJS Presentation</dc:subject>
  <dc:creator>Devkaylab</dc:creator>
  <cp:lastModifiedBy>Devkaylab</cp:lastModifiedBy>
  <cp:revision>1</cp:revision>
  <dcterms:created xsi:type="dcterms:W3CDTF">2026-09-09T21:04:18Z</dcterms:created>
  <dcterms:modified xsi:type="dcterms:W3CDTF">2026-09-09T21:04:18Z</dcterms:modified>
</cp:coreProperties>
</file>