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dossier accompagne la présentation commerciale. Il répond aux questions qu'une DSI pose avant signature, et se remet avec la fiche de déploiement MDM.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page à lire si on n'en lit qu'une. Tout le reste la détaille.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blocs, deux flux. Le point qui rassure une DSI : rien n'entre, tout sort en 443, aucun composant sur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Être précis sur la frontière : les données d'inventaire restent en Irlande ; ce qui passe par les États-Unis, c'est l'acheminement des e-mails et des notifications, et le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fiche de déploiement MDM reprend ces éléments en une page, à remettre telle quelle à l'équipe qui administre le parc.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troisième point est celui qu'aucune autre application ne pose. Le dire explicitement à l'équipe parc, pas seulement à la DSI.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à retenir pour un RSSI : les droits sont appliqués par le serveur (policies de base de données), pas par l'interface. La double authentification est vérifiée côté serveur.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synthèse d'audit est un document séparé, remis au DPO. Le dernier alinéa est volontaire : un pentest n'a pas été fait, autant le dire.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d'architecture qui compte : les téléphones n'écoutent pas le canal temps réel. C'est ce qui permet cent compteurs dans le même magasin.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répartition des rôles est ce qui évite un malentendu plus tard : pour les données d'inventaire, le client est responsable de traitement, nous sommes sous-traitant.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volontairement franche. Une DSI qui découvre un manque après signature se souvient du manque ; une DSI prévenue se souvient de la franchise.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Finir sur les documents concrets. Chacun a un destinataire chez le client ; le dire évite que tout parte à la même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Sora" pitchFamily="34" charset="0"/>
                <a:ea typeface="Sora" pitchFamily="34" charset="-122"/>
                <a:cs typeface="Sora"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B6475"/>
                </a:solidFill>
                <a:latin typeface="Inter" pitchFamily="34" charset="0"/>
                <a:ea typeface="Inter" pitchFamily="34" charset="-122"/>
                <a:cs typeface="Inter" pitchFamily="34" charset="-120"/>
              </a:rPr>
              <a:t>Dossier technique, pour la direction informatique</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4636B0"/>
                </a:solidFill>
                <a:latin typeface="Sora" pitchFamily="34" charset="0"/>
                <a:ea typeface="Sora" pitchFamily="34" charset="-122"/>
                <a:cs typeface="Sora" pitchFamily="34" charset="-120"/>
              </a:rPr>
              <a:t>Ce qu’il faut savoir avant de déployer Quantinvo.</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D4556"/>
                </a:solidFill>
                <a:latin typeface="Inter" pitchFamily="34" charset="0"/>
                <a:ea typeface="Inter" pitchFamily="34" charset="-122"/>
                <a:cs typeface="Inter" pitchFamily="34" charset="-120"/>
              </a:rPr>
              <a:t>Architecture, hébergement, déploiement par votre catalogue d'entreprise, comptes, sécurité, protection des données. Et ce qui n'existe pas encore, dit tel quel.</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Devkaylab  ·  état au 23 août 2026  ·  www.quantinvo.com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En une page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Une application mobile, un site web, et rien à installer chez vous.</a:t>
            </a:r>
            <a:endParaRPr lang="en-US" sz="2600" dirty="0"/>
          </a:p>
        </p:txBody>
      </p:sp>
      <p:sp>
        <p:nvSpPr>
          <p:cNvPr id="7" name="Text 4"/>
          <p:cNvSpPr/>
          <p:nvPr/>
        </p:nvSpPr>
        <p:spPr>
          <a:xfrm>
            <a:off x="5394960" y="1371600"/>
            <a:ext cx="6062472" cy="4572000"/>
          </a:xfrm>
          <a:prstGeom prst="rect">
            <a:avLst/>
          </a:prstGeom>
          <a:noFill/>
          <a:ln/>
        </p:spPr>
        <p:txBody>
          <a:bodyPr wrap="square" lIns="0" tIns="0" rIns="0" bIns="0" rtlCol="0" anchor="t"/>
          <a:lstStyle/>
          <a:p>
            <a:pPr indent="0" marL="0">
              <a:lnSpc>
                <a:spcPct val="118000"/>
              </a:lnSpc>
              <a:spcAft>
                <a:spcPts val="1300"/>
              </a:spcAft>
              <a:buNone/>
            </a:pPr>
            <a:r>
              <a:rPr lang="en-US" sz="1300" b="1" dirty="0">
                <a:solidFill>
                  <a:srgbClr val="0B0F19"/>
                </a:solidFill>
                <a:latin typeface="Inter" pitchFamily="34" charset="0"/>
                <a:ea typeface="Inter" pitchFamily="34" charset="-122"/>
                <a:cs typeface="Inter" pitchFamily="34" charset="-120"/>
              </a:rPr>
              <a:t>Ce que c’est. </a:t>
            </a:r>
            <a:pPr indent="0" marL="0">
              <a:lnSpc>
                <a:spcPct val="118000"/>
              </a:lnSpc>
              <a:spcAft>
                <a:spcPts val="1300"/>
              </a:spcAft>
              <a:buNone/>
            </a:pPr>
            <a:r>
              <a:rPr lang="en-US" sz="1300" dirty="0">
                <a:solidFill>
                  <a:srgbClr val="3D4556"/>
                </a:solidFill>
                <a:latin typeface="Inter" pitchFamily="34" charset="0"/>
                <a:ea typeface="Inter" pitchFamily="34" charset="-122"/>
                <a:cs typeface="Inter" pitchFamily="34" charset="-120"/>
              </a:rPr>
              <a:t>Une application sur iPhone (Android en cours) pour les personnes qui comptent, un site web pour celles qui pilotent, et une base de données hébergée en Irlande qui relie les deux.</a:t>
            </a:r>
            <a:endParaRPr lang="en-US" sz="1300" dirty="0"/>
          </a:p>
          <a:p>
            <a:pPr indent="0" marL="0">
              <a:lnSpc>
                <a:spcPct val="118000"/>
              </a:lnSpc>
              <a:spcAft>
                <a:spcPts val="1300"/>
              </a:spcAft>
              <a:buNone/>
            </a:pPr>
            <a:r>
              <a:rPr lang="en-US" sz="1300" b="1" dirty="0">
                <a:solidFill>
                  <a:srgbClr val="0B0F19"/>
                </a:solidFill>
                <a:latin typeface="Inter" pitchFamily="34" charset="0"/>
                <a:ea typeface="Inter" pitchFamily="34" charset="-122"/>
                <a:cs typeface="Inter" pitchFamily="34" charset="-120"/>
              </a:rPr>
              <a:t>Ce que ça touche chez vous. </a:t>
            </a:r>
            <a:pPr indent="0" marL="0">
              <a:lnSpc>
                <a:spcPct val="118000"/>
              </a:lnSpc>
              <a:spcAft>
                <a:spcPts val="1300"/>
              </a:spcAft>
              <a:buNone/>
            </a:pPr>
            <a:r>
              <a:rPr lang="en-US" sz="1300" dirty="0">
                <a:solidFill>
                  <a:srgbClr val="3D4556"/>
                </a:solidFill>
                <a:latin typeface="Inter" pitchFamily="34" charset="0"/>
                <a:ea typeface="Inter" pitchFamily="34" charset="-122"/>
                <a:cs typeface="Inter" pitchFamily="34" charset="-120"/>
              </a:rPr>
              <a:t>Les téléphones qui comptent, votre réseau sortant en HTTPS, et un compte nominatif par personne. C'est tout.</a:t>
            </a:r>
            <a:endParaRPr lang="en-US" sz="1300" dirty="0"/>
          </a:p>
          <a:p>
            <a:pPr indent="0" marL="0">
              <a:lnSpc>
                <a:spcPct val="118000"/>
              </a:lnSpc>
              <a:spcAft>
                <a:spcPts val="1300"/>
              </a:spcAft>
              <a:buNone/>
            </a:pPr>
            <a:r>
              <a:rPr lang="en-US" sz="1300" b="1" dirty="0">
                <a:solidFill>
                  <a:srgbClr val="0B0F19"/>
                </a:solidFill>
                <a:latin typeface="Inter" pitchFamily="34" charset="0"/>
                <a:ea typeface="Inter" pitchFamily="34" charset="-122"/>
                <a:cs typeface="Inter" pitchFamily="34" charset="-120"/>
              </a:rPr>
              <a:t>Ce que ça n'exige pas. </a:t>
            </a:r>
            <a:pPr indent="0" marL="0">
              <a:lnSpc>
                <a:spcPct val="118000"/>
              </a:lnSpc>
              <a:spcAft>
                <a:spcPts val="1300"/>
              </a:spcAft>
              <a:buNone/>
            </a:pPr>
            <a:r>
              <a:rPr lang="en-US" sz="1300" dirty="0">
                <a:solidFill>
                  <a:srgbClr val="3D4556"/>
                </a:solidFill>
                <a:latin typeface="Inter" pitchFamily="34" charset="0"/>
                <a:ea typeface="Inter" pitchFamily="34" charset="-122"/>
                <a:cs typeface="Inter" pitchFamily="34" charset="-120"/>
              </a:rPr>
              <a:t>Aucun serveur chez vous, aucun VPN, aucun terminal dédié, aucune intégration obligatoire avec votre système de gestion. On importe un fichier, on rend un Excel.</a:t>
            </a:r>
            <a:endParaRPr lang="en-US" sz="1300" dirty="0"/>
          </a:p>
          <a:p>
            <a:pPr indent="0" marL="0">
              <a:lnSpc>
                <a:spcPct val="118000"/>
              </a:lnSpc>
              <a:spcAft>
                <a:spcPts val="1300"/>
              </a:spcAft>
              <a:buNone/>
            </a:pPr>
            <a:r>
              <a:rPr lang="en-US" sz="1300" b="1" dirty="0">
                <a:solidFill>
                  <a:srgbClr val="0B0F19"/>
                </a:solidFill>
                <a:latin typeface="Inter" pitchFamily="34" charset="0"/>
                <a:ea typeface="Inter" pitchFamily="34" charset="-122"/>
                <a:cs typeface="Inter" pitchFamily="34" charset="-120"/>
              </a:rPr>
              <a:t>Ce que ça demande de votre part. </a:t>
            </a:r>
            <a:pPr indent="0" marL="0">
              <a:lnSpc>
                <a:spcPct val="118000"/>
              </a:lnSpc>
              <a:spcAft>
                <a:spcPts val="1300"/>
              </a:spcAft>
              <a:buNone/>
            </a:pPr>
            <a:r>
              <a:rPr lang="en-US" sz="1300" dirty="0">
                <a:solidFill>
                  <a:srgbClr val="3D4556"/>
                </a:solidFill>
                <a:latin typeface="Inter" pitchFamily="34" charset="0"/>
                <a:ea typeface="Inter" pitchFamily="34" charset="-122"/>
                <a:cs typeface="Inter" pitchFamily="34" charset="-120"/>
              </a:rPr>
              <a:t>Autoriser l'application dans votre catalogue, laisser la caméra et trois adresses réseau accessibles, et ne pas effacer un téléphone pendant un comptage hors ligne. Les pages suivantes détaillent chacun de ces points.</a:t>
            </a:r>
            <a:endParaRPr lang="en-US" sz="1300" dirty="0"/>
          </a:p>
        </p:txBody>
      </p:sp>
      <p:sp>
        <p:nvSpPr>
          <p:cNvPr id="8" name="Text 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août 2026</a:t>
            </a:r>
            <a:endParaRPr lang="en-US" sz="900" dirty="0"/>
          </a:p>
        </p:txBody>
      </p:sp>
      <p:sp>
        <p:nvSpPr>
          <p:cNvPr id="9" name="Text 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Architecture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Comment les pièces se parlent</a:t>
            </a:r>
            <a:endParaRPr lang="en-US" sz="2600" dirty="0"/>
          </a:p>
        </p:txBody>
      </p:sp>
      <p:sp>
        <p:nvSpPr>
          <p:cNvPr id="7" name="Shape 4"/>
          <p:cNvSpPr/>
          <p:nvPr/>
        </p:nvSpPr>
        <p:spPr>
          <a:xfrm>
            <a:off x="731520" y="2377440"/>
            <a:ext cx="2697480" cy="1691640"/>
          </a:xfrm>
          <a:prstGeom prst="roundRect">
            <a:avLst>
              <a:gd name="adj" fmla="val 5405"/>
            </a:avLst>
          </a:prstGeom>
          <a:solidFill>
            <a:srgbClr val="F4F5F9"/>
          </a:solidFill>
          <a:ln w="12700">
            <a:solidFill>
              <a:srgbClr val="E3E6EE"/>
            </a:solidFill>
            <a:prstDash val="solid"/>
          </a:ln>
        </p:spPr>
      </p:sp>
      <p:sp>
        <p:nvSpPr>
          <p:cNvPr id="8" name="Text 5"/>
          <p:cNvSpPr/>
          <p:nvPr/>
        </p:nvSpPr>
        <p:spPr>
          <a:xfrm>
            <a:off x="914400" y="2514600"/>
            <a:ext cx="2331720" cy="274320"/>
          </a:xfrm>
          <a:prstGeom prst="rect">
            <a:avLst/>
          </a:prstGeom>
          <a:noFill/>
          <a:ln/>
        </p:spPr>
        <p:txBody>
          <a:bodyPr wrap="square" lIns="0" tIns="0" rIns="0" bIns="0" rtlCol="0" anchor="t"/>
          <a:lstStyle/>
          <a:p>
            <a:pPr indent="0" marL="0">
              <a:buNone/>
            </a:pPr>
            <a:r>
              <a:rPr lang="en-US" sz="1250" b="1" dirty="0">
                <a:solidFill>
                  <a:srgbClr val="0B0F19"/>
                </a:solidFill>
                <a:latin typeface="Sora" pitchFamily="34" charset="0"/>
                <a:ea typeface="Sora" pitchFamily="34" charset="-122"/>
                <a:cs typeface="Sora" pitchFamily="34" charset="-120"/>
              </a:rPr>
              <a:t>Téléphones des compteurs</a:t>
            </a:r>
            <a:endParaRPr lang="en-US" sz="1250" dirty="0"/>
          </a:p>
        </p:txBody>
      </p:sp>
      <p:sp>
        <p:nvSpPr>
          <p:cNvPr id="9" name="Text 6"/>
          <p:cNvSpPr/>
          <p:nvPr/>
        </p:nvSpPr>
        <p:spPr>
          <a:xfrm>
            <a:off x="914400" y="2834640"/>
            <a:ext cx="2331720" cy="114300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Inter" pitchFamily="34" charset="0"/>
                <a:ea typeface="Inter" pitchFamily="34" charset="-122"/>
                <a:cs typeface="Inter" pitchFamily="34" charset="-120"/>
              </a:rPr>
              <a:t>Application Quantinvo (iOS, Android à venir).</a:t>
            </a:r>
            <a:endParaRPr lang="en-US" sz="1050" dirty="0"/>
          </a:p>
          <a:p>
            <a:pPr indent="0" marL="0">
              <a:lnSpc>
                <a:spcPct val="115000"/>
              </a:lnSpc>
              <a:buNone/>
            </a:pPr>
            <a:r>
              <a:rPr lang="en-US" sz="1050" dirty="0">
                <a:solidFill>
                  <a:srgbClr val="3D4556"/>
                </a:solidFill>
                <a:latin typeface="Inter" pitchFamily="34" charset="0"/>
                <a:ea typeface="Inter" pitchFamily="34" charset="-122"/>
                <a:cs typeface="Inter" pitchFamily="34" charset="-120"/>
              </a:rPr>
              <a:t>Scan par la caméra ; comptages gardés sur l’appareil hors réseau, renvoyés au retour.</a:t>
            </a:r>
            <a:endParaRPr lang="en-US" sz="1050" dirty="0"/>
          </a:p>
        </p:txBody>
      </p:sp>
      <p:sp>
        <p:nvSpPr>
          <p:cNvPr id="10" name="Shape 7"/>
          <p:cNvSpPr/>
          <p:nvPr/>
        </p:nvSpPr>
        <p:spPr>
          <a:xfrm>
            <a:off x="4471416" y="2377440"/>
            <a:ext cx="3246120" cy="1691640"/>
          </a:xfrm>
          <a:prstGeom prst="roundRect">
            <a:avLst>
              <a:gd name="adj" fmla="val 5405"/>
            </a:avLst>
          </a:prstGeom>
          <a:solidFill>
            <a:srgbClr val="EEEEFC"/>
          </a:solidFill>
          <a:ln w="12700">
            <a:solidFill>
              <a:srgbClr val="6366F1"/>
            </a:solidFill>
            <a:prstDash val="solid"/>
          </a:ln>
        </p:spPr>
      </p:sp>
      <p:sp>
        <p:nvSpPr>
          <p:cNvPr id="11" name="Text 8"/>
          <p:cNvSpPr/>
          <p:nvPr/>
        </p:nvSpPr>
        <p:spPr>
          <a:xfrm>
            <a:off x="4654296" y="2514600"/>
            <a:ext cx="2880360" cy="274320"/>
          </a:xfrm>
          <a:prstGeom prst="rect">
            <a:avLst/>
          </a:prstGeom>
          <a:noFill/>
          <a:ln/>
        </p:spPr>
        <p:txBody>
          <a:bodyPr wrap="square" lIns="0" tIns="0" rIns="0" bIns="0" rtlCol="0" anchor="t"/>
          <a:lstStyle/>
          <a:p>
            <a:pPr indent="0" marL="0">
              <a:buNone/>
            </a:pPr>
            <a:r>
              <a:rPr lang="en-US" sz="1250" b="1" dirty="0">
                <a:solidFill>
                  <a:srgbClr val="0B0F19"/>
                </a:solidFill>
                <a:latin typeface="Sora" pitchFamily="34" charset="0"/>
                <a:ea typeface="Sora" pitchFamily="34" charset="-122"/>
                <a:cs typeface="Sora" pitchFamily="34" charset="-120"/>
              </a:rPr>
              <a:t>Base et services, Irlande</a:t>
            </a:r>
            <a:endParaRPr lang="en-US" sz="1250" dirty="0"/>
          </a:p>
        </p:txBody>
      </p:sp>
      <p:sp>
        <p:nvSpPr>
          <p:cNvPr id="12" name="Text 9"/>
          <p:cNvSpPr/>
          <p:nvPr/>
        </p:nvSpPr>
        <p:spPr>
          <a:xfrm>
            <a:off x="4654296" y="2834640"/>
            <a:ext cx="2880360" cy="114300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Inter" pitchFamily="34" charset="0"/>
                <a:ea typeface="Inter" pitchFamily="34" charset="-122"/>
                <a:cs typeface="Inter" pitchFamily="34" charset="-120"/>
              </a:rPr>
              <a:t>Postgres, authentification, temps réel, fonctions serveur. Hébergé par Supabase, région eu-west-1.</a:t>
            </a:r>
            <a:endParaRPr lang="en-US" sz="1050" dirty="0"/>
          </a:p>
          <a:p>
            <a:pPr indent="0" marL="0">
              <a:lnSpc>
                <a:spcPct val="115000"/>
              </a:lnSpc>
              <a:buNone/>
            </a:pPr>
            <a:r>
              <a:rPr lang="en-US" sz="1050" dirty="0">
                <a:solidFill>
                  <a:srgbClr val="3D4556"/>
                </a:solidFill>
                <a:latin typeface="Inter" pitchFamily="34" charset="0"/>
                <a:ea typeface="Inter" pitchFamily="34" charset="-122"/>
                <a:cs typeface="Inter" pitchFamily="34" charset="-120"/>
              </a:rPr>
              <a:t>Chaque requête est filtrée côté serveur, par entreprise et par rôle.</a:t>
            </a:r>
            <a:endParaRPr lang="en-US" sz="1050" dirty="0"/>
          </a:p>
        </p:txBody>
      </p:sp>
      <p:sp>
        <p:nvSpPr>
          <p:cNvPr id="13" name="Shape 10"/>
          <p:cNvSpPr/>
          <p:nvPr/>
        </p:nvSpPr>
        <p:spPr>
          <a:xfrm>
            <a:off x="8759952" y="2377440"/>
            <a:ext cx="2697480" cy="1691640"/>
          </a:xfrm>
          <a:prstGeom prst="roundRect">
            <a:avLst>
              <a:gd name="adj" fmla="val 5405"/>
            </a:avLst>
          </a:prstGeom>
          <a:solidFill>
            <a:srgbClr val="F4F5F9"/>
          </a:solidFill>
          <a:ln w="12700">
            <a:solidFill>
              <a:srgbClr val="E3E6EE"/>
            </a:solidFill>
            <a:prstDash val="solid"/>
          </a:ln>
        </p:spPr>
      </p:sp>
      <p:sp>
        <p:nvSpPr>
          <p:cNvPr id="14" name="Text 11"/>
          <p:cNvSpPr/>
          <p:nvPr/>
        </p:nvSpPr>
        <p:spPr>
          <a:xfrm>
            <a:off x="8942832" y="2514600"/>
            <a:ext cx="2331720" cy="274320"/>
          </a:xfrm>
          <a:prstGeom prst="rect">
            <a:avLst/>
          </a:prstGeom>
          <a:noFill/>
          <a:ln/>
        </p:spPr>
        <p:txBody>
          <a:bodyPr wrap="square" lIns="0" tIns="0" rIns="0" bIns="0" rtlCol="0" anchor="t"/>
          <a:lstStyle/>
          <a:p>
            <a:pPr indent="0" marL="0">
              <a:buNone/>
            </a:pPr>
            <a:r>
              <a:rPr lang="en-US" sz="1250" b="1" dirty="0">
                <a:solidFill>
                  <a:srgbClr val="0B0F19"/>
                </a:solidFill>
                <a:latin typeface="Sora" pitchFamily="34" charset="0"/>
                <a:ea typeface="Sora" pitchFamily="34" charset="-122"/>
                <a:cs typeface="Sora" pitchFamily="34" charset="-120"/>
              </a:rPr>
              <a:t>Postes des superviseurs</a:t>
            </a:r>
            <a:endParaRPr lang="en-US" sz="1250" dirty="0"/>
          </a:p>
        </p:txBody>
      </p:sp>
      <p:sp>
        <p:nvSpPr>
          <p:cNvPr id="15" name="Text 12"/>
          <p:cNvSpPr/>
          <p:nvPr/>
        </p:nvSpPr>
        <p:spPr>
          <a:xfrm>
            <a:off x="8942832" y="2834640"/>
            <a:ext cx="2331720" cy="114300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Inter" pitchFamily="34" charset="0"/>
                <a:ea typeface="Inter" pitchFamily="34" charset="-122"/>
                <a:cs typeface="Inter" pitchFamily="34" charset="-120"/>
              </a:rPr>
              <a:t>Site web www.quantinvo.com, sans installation.</a:t>
            </a:r>
            <a:endParaRPr lang="en-US" sz="1050" dirty="0"/>
          </a:p>
          <a:p>
            <a:pPr indent="0" marL="0">
              <a:lnSpc>
                <a:spcPct val="115000"/>
              </a:lnSpc>
              <a:buNone/>
            </a:pPr>
            <a:r>
              <a:rPr lang="en-US" sz="1050" dirty="0">
                <a:solidFill>
                  <a:srgbClr val="3D4556"/>
                </a:solidFill>
                <a:latin typeface="Inter" pitchFamily="34" charset="0"/>
                <a:ea typeface="Inter" pitchFamily="34" charset="-122"/>
                <a:cs typeface="Inter" pitchFamily="34" charset="-120"/>
              </a:rPr>
              <a:t>Tableau de bord, imports, rapports. Hébergé par Vercel.</a:t>
            </a:r>
            <a:endParaRPr lang="en-US" sz="1050" dirty="0"/>
          </a:p>
        </p:txBody>
      </p:sp>
      <p:sp>
        <p:nvSpPr>
          <p:cNvPr id="16" name="Shape 13"/>
          <p:cNvSpPr/>
          <p:nvPr/>
        </p:nvSpPr>
        <p:spPr>
          <a:xfrm>
            <a:off x="3429000" y="3218688"/>
            <a:ext cx="1042416" cy="0"/>
          </a:xfrm>
          <a:prstGeom prst="line">
            <a:avLst/>
          </a:prstGeom>
          <a:noFill/>
          <a:ln w="12700">
            <a:solidFill>
              <a:srgbClr val="5B6475"/>
            </a:solidFill>
            <a:prstDash val="dash"/>
          </a:ln>
        </p:spPr>
      </p:sp>
      <p:sp>
        <p:nvSpPr>
          <p:cNvPr id="17" name="Text 14"/>
          <p:cNvSpPr/>
          <p:nvPr/>
        </p:nvSpPr>
        <p:spPr>
          <a:xfrm>
            <a:off x="3429000" y="2761488"/>
            <a:ext cx="1042416" cy="411480"/>
          </a:xfrm>
          <a:prstGeom prst="rect">
            <a:avLst/>
          </a:prstGeom>
          <a:noFill/>
          <a:ln/>
        </p:spPr>
        <p:txBody>
          <a:bodyPr wrap="square" lIns="0" tIns="0" rIns="0" bIns="0" rtlCol="0" anchor="b"/>
          <a:lstStyle/>
          <a:p>
            <a:pPr algn="ctr" indent="0" marL="0">
              <a:buNone/>
            </a:pPr>
            <a:r>
              <a:rPr lang="en-US" sz="850" dirty="0">
                <a:solidFill>
                  <a:srgbClr val="5B6475"/>
                </a:solidFill>
                <a:latin typeface="Inter" pitchFamily="34" charset="0"/>
                <a:ea typeface="Inter" pitchFamily="34" charset="-122"/>
                <a:cs typeface="Inter" pitchFamily="34" charset="-120"/>
              </a:rPr>
              <a:t>HTTPS 443</a:t>
            </a:r>
            <a:endParaRPr lang="en-US" sz="850" dirty="0"/>
          </a:p>
        </p:txBody>
      </p:sp>
      <p:sp>
        <p:nvSpPr>
          <p:cNvPr id="18" name="Shape 15"/>
          <p:cNvSpPr/>
          <p:nvPr/>
        </p:nvSpPr>
        <p:spPr>
          <a:xfrm>
            <a:off x="7717536" y="3218688"/>
            <a:ext cx="1042416" cy="0"/>
          </a:xfrm>
          <a:prstGeom prst="line">
            <a:avLst/>
          </a:prstGeom>
          <a:noFill/>
          <a:ln w="12700">
            <a:solidFill>
              <a:srgbClr val="5B6475"/>
            </a:solidFill>
            <a:prstDash val="dash"/>
          </a:ln>
        </p:spPr>
      </p:sp>
      <p:sp>
        <p:nvSpPr>
          <p:cNvPr id="19" name="Text 16"/>
          <p:cNvSpPr/>
          <p:nvPr/>
        </p:nvSpPr>
        <p:spPr>
          <a:xfrm>
            <a:off x="7717536" y="2761488"/>
            <a:ext cx="1042416" cy="411480"/>
          </a:xfrm>
          <a:prstGeom prst="rect">
            <a:avLst/>
          </a:prstGeom>
          <a:noFill/>
          <a:ln/>
        </p:spPr>
        <p:txBody>
          <a:bodyPr wrap="square" lIns="0" tIns="0" rIns="0" bIns="0" rtlCol="0" anchor="b"/>
          <a:lstStyle/>
          <a:p>
            <a:pPr algn="ctr" indent="0" marL="0">
              <a:buNone/>
            </a:pPr>
            <a:r>
              <a:rPr lang="en-US" sz="850" dirty="0">
                <a:solidFill>
                  <a:srgbClr val="5B6475"/>
                </a:solidFill>
                <a:latin typeface="Inter" pitchFamily="34" charset="0"/>
                <a:ea typeface="Inter" pitchFamily="34" charset="-122"/>
                <a:cs typeface="Inter" pitchFamily="34" charset="-120"/>
              </a:rPr>
              <a:t>HTTPS, WebSocket</a:t>
            </a:r>
            <a:endParaRPr lang="en-US" sz="850" dirty="0"/>
          </a:p>
        </p:txBody>
      </p:sp>
      <p:sp>
        <p:nvSpPr>
          <p:cNvPr id="20" name="Shape 17"/>
          <p:cNvSpPr/>
          <p:nvPr/>
        </p:nvSpPr>
        <p:spPr>
          <a:xfrm>
            <a:off x="731520" y="4709160"/>
            <a:ext cx="2697480" cy="1188720"/>
          </a:xfrm>
          <a:prstGeom prst="roundRect">
            <a:avLst>
              <a:gd name="adj" fmla="val 7692"/>
            </a:avLst>
          </a:prstGeom>
          <a:solidFill>
            <a:srgbClr val="F4F5F9"/>
          </a:solidFill>
          <a:ln w="12700">
            <a:solidFill>
              <a:srgbClr val="E3E6EE"/>
            </a:solidFill>
            <a:prstDash val="solid"/>
          </a:ln>
        </p:spPr>
      </p:sp>
      <p:sp>
        <p:nvSpPr>
          <p:cNvPr id="21" name="Text 18"/>
          <p:cNvSpPr/>
          <p:nvPr/>
        </p:nvSpPr>
        <p:spPr>
          <a:xfrm>
            <a:off x="914400" y="4846320"/>
            <a:ext cx="2331720" cy="274320"/>
          </a:xfrm>
          <a:prstGeom prst="rect">
            <a:avLst/>
          </a:prstGeom>
          <a:noFill/>
          <a:ln/>
        </p:spPr>
        <p:txBody>
          <a:bodyPr wrap="square" lIns="0" tIns="0" rIns="0" bIns="0" rtlCol="0" anchor="t"/>
          <a:lstStyle/>
          <a:p>
            <a:pPr indent="0" marL="0">
              <a:buNone/>
            </a:pPr>
            <a:r>
              <a:rPr lang="en-US" sz="1250" b="1" dirty="0">
                <a:solidFill>
                  <a:srgbClr val="0B0F19"/>
                </a:solidFill>
                <a:latin typeface="Sora" pitchFamily="34" charset="0"/>
                <a:ea typeface="Sora" pitchFamily="34" charset="-122"/>
                <a:cs typeface="Sora" pitchFamily="34" charset="-120"/>
              </a:rPr>
              <a:t>Notifications</a:t>
            </a:r>
            <a:endParaRPr lang="en-US" sz="1250" dirty="0"/>
          </a:p>
        </p:txBody>
      </p:sp>
      <p:sp>
        <p:nvSpPr>
          <p:cNvPr id="22" name="Text 19"/>
          <p:cNvSpPr/>
          <p:nvPr/>
        </p:nvSpPr>
        <p:spPr>
          <a:xfrm>
            <a:off x="914400" y="5166360"/>
            <a:ext cx="2331720" cy="64008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Inter" pitchFamily="34" charset="0"/>
                <a:ea typeface="Inter" pitchFamily="34" charset="-122"/>
                <a:cs typeface="Inter" pitchFamily="34" charset="-120"/>
              </a:rPr>
              <a:t>Jeton obtenu via Expo (exp.host), puis APNs / FCM. Sert à prévenir d’une invitation.</a:t>
            </a:r>
            <a:endParaRPr lang="en-US" sz="1050" dirty="0"/>
          </a:p>
        </p:txBody>
      </p:sp>
      <p:sp>
        <p:nvSpPr>
          <p:cNvPr id="23" name="Shape 20"/>
          <p:cNvSpPr/>
          <p:nvPr/>
        </p:nvSpPr>
        <p:spPr>
          <a:xfrm>
            <a:off x="4471416" y="4709160"/>
            <a:ext cx="3246120" cy="1188720"/>
          </a:xfrm>
          <a:prstGeom prst="roundRect">
            <a:avLst>
              <a:gd name="adj" fmla="val 7692"/>
            </a:avLst>
          </a:prstGeom>
          <a:solidFill>
            <a:srgbClr val="F4F5F9"/>
          </a:solidFill>
          <a:ln w="12700">
            <a:solidFill>
              <a:srgbClr val="E3E6EE"/>
            </a:solidFill>
            <a:prstDash val="solid"/>
          </a:ln>
        </p:spPr>
      </p:sp>
      <p:sp>
        <p:nvSpPr>
          <p:cNvPr id="24" name="Text 21"/>
          <p:cNvSpPr/>
          <p:nvPr/>
        </p:nvSpPr>
        <p:spPr>
          <a:xfrm>
            <a:off x="4654296" y="4846320"/>
            <a:ext cx="2880360" cy="274320"/>
          </a:xfrm>
          <a:prstGeom prst="rect">
            <a:avLst/>
          </a:prstGeom>
          <a:noFill/>
          <a:ln/>
        </p:spPr>
        <p:txBody>
          <a:bodyPr wrap="square" lIns="0" tIns="0" rIns="0" bIns="0" rtlCol="0" anchor="t"/>
          <a:lstStyle/>
          <a:p>
            <a:pPr indent="0" marL="0">
              <a:buNone/>
            </a:pPr>
            <a:r>
              <a:rPr lang="en-US" sz="1250" b="1" dirty="0">
                <a:solidFill>
                  <a:srgbClr val="0B0F19"/>
                </a:solidFill>
                <a:latin typeface="Sora" pitchFamily="34" charset="0"/>
                <a:ea typeface="Sora" pitchFamily="34" charset="-122"/>
                <a:cs typeface="Sora" pitchFamily="34" charset="-120"/>
              </a:rPr>
              <a:t>E-mails de service</a:t>
            </a:r>
            <a:endParaRPr lang="en-US" sz="1250" dirty="0"/>
          </a:p>
        </p:txBody>
      </p:sp>
      <p:sp>
        <p:nvSpPr>
          <p:cNvPr id="25" name="Text 22"/>
          <p:cNvSpPr/>
          <p:nvPr/>
        </p:nvSpPr>
        <p:spPr>
          <a:xfrm>
            <a:off x="4654296" y="5166360"/>
            <a:ext cx="2880360" cy="64008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Inter" pitchFamily="34" charset="0"/>
                <a:ea typeface="Inter" pitchFamily="34" charset="-122"/>
                <a:cs typeface="Inter" pitchFamily="34" charset="-120"/>
              </a:rPr>
              <a:t>Invitations, devis, accusés. Envoyés par Resend, depuis send.quantinvo.com. Jamais de code d’accès par e-mail.</a:t>
            </a:r>
            <a:endParaRPr lang="en-US" sz="1050" dirty="0"/>
          </a:p>
        </p:txBody>
      </p:sp>
      <p:sp>
        <p:nvSpPr>
          <p:cNvPr id="26" name="Shape 23"/>
          <p:cNvSpPr/>
          <p:nvPr/>
        </p:nvSpPr>
        <p:spPr>
          <a:xfrm>
            <a:off x="8759952" y="4709160"/>
            <a:ext cx="2697480" cy="1188720"/>
          </a:xfrm>
          <a:prstGeom prst="roundRect">
            <a:avLst>
              <a:gd name="adj" fmla="val 7692"/>
            </a:avLst>
          </a:prstGeom>
          <a:solidFill>
            <a:srgbClr val="F4F5F9"/>
          </a:solidFill>
          <a:ln w="12700">
            <a:solidFill>
              <a:srgbClr val="E3E6EE"/>
            </a:solidFill>
            <a:prstDash val="solid"/>
          </a:ln>
        </p:spPr>
      </p:sp>
      <p:sp>
        <p:nvSpPr>
          <p:cNvPr id="27" name="Text 24"/>
          <p:cNvSpPr/>
          <p:nvPr/>
        </p:nvSpPr>
        <p:spPr>
          <a:xfrm>
            <a:off x="8942832" y="4846320"/>
            <a:ext cx="2331720" cy="274320"/>
          </a:xfrm>
          <a:prstGeom prst="rect">
            <a:avLst/>
          </a:prstGeom>
          <a:noFill/>
          <a:ln/>
        </p:spPr>
        <p:txBody>
          <a:bodyPr wrap="square" lIns="0" tIns="0" rIns="0" bIns="0" rtlCol="0" anchor="t"/>
          <a:lstStyle/>
          <a:p>
            <a:pPr indent="0" marL="0">
              <a:buNone/>
            </a:pPr>
            <a:r>
              <a:rPr lang="en-US" sz="1250" b="1" dirty="0">
                <a:solidFill>
                  <a:srgbClr val="0B0F19"/>
                </a:solidFill>
                <a:latin typeface="Sora" pitchFamily="34" charset="0"/>
                <a:ea typeface="Sora" pitchFamily="34" charset="-122"/>
                <a:cs typeface="Sora" pitchFamily="34" charset="-120"/>
              </a:rPr>
              <a:t>Ce qui n’existe pas</a:t>
            </a:r>
            <a:endParaRPr lang="en-US" sz="1250" dirty="0"/>
          </a:p>
        </p:txBody>
      </p:sp>
      <p:sp>
        <p:nvSpPr>
          <p:cNvPr id="28" name="Text 25"/>
          <p:cNvSpPr/>
          <p:nvPr/>
        </p:nvSpPr>
        <p:spPr>
          <a:xfrm>
            <a:off x="8942832" y="5166360"/>
            <a:ext cx="2331720" cy="64008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Inter" pitchFamily="34" charset="0"/>
                <a:ea typeface="Inter" pitchFamily="34" charset="-122"/>
                <a:cs typeface="Inter" pitchFamily="34" charset="-120"/>
              </a:rPr>
              <a:t>Pas d’API publique, pas de connecteur ERP, pas de SSO. L’échange se fait par fichiers.</a:t>
            </a:r>
            <a:endParaRPr lang="en-US" sz="1050" dirty="0"/>
          </a:p>
        </p:txBody>
      </p:sp>
      <p:sp>
        <p:nvSpPr>
          <p:cNvPr id="29" name="Shape 26"/>
          <p:cNvSpPr/>
          <p:nvPr/>
        </p:nvSpPr>
        <p:spPr>
          <a:xfrm>
            <a:off x="2080260" y="4069080"/>
            <a:ext cx="0" cy="640080"/>
          </a:xfrm>
          <a:prstGeom prst="line">
            <a:avLst/>
          </a:prstGeom>
          <a:noFill/>
          <a:ln w="12700">
            <a:solidFill>
              <a:srgbClr val="5B6475"/>
            </a:solidFill>
            <a:prstDash val="dash"/>
          </a:ln>
        </p:spPr>
      </p:sp>
      <p:sp>
        <p:nvSpPr>
          <p:cNvPr id="30" name="Shape 27"/>
          <p:cNvSpPr/>
          <p:nvPr/>
        </p:nvSpPr>
        <p:spPr>
          <a:xfrm>
            <a:off x="6094476" y="4069080"/>
            <a:ext cx="0" cy="640080"/>
          </a:xfrm>
          <a:prstGeom prst="line">
            <a:avLst/>
          </a:prstGeom>
          <a:noFill/>
          <a:ln w="12700">
            <a:solidFill>
              <a:srgbClr val="5B6475"/>
            </a:solidFill>
            <a:prstDash val="dash"/>
          </a:ln>
        </p:spPr>
      </p:sp>
      <p:sp>
        <p:nvSpPr>
          <p:cNvPr id="31" name="Text 28"/>
          <p:cNvSpPr/>
          <p:nvPr/>
        </p:nvSpPr>
        <p:spPr>
          <a:xfrm>
            <a:off x="731520" y="5943600"/>
            <a:ext cx="10725912" cy="365760"/>
          </a:xfrm>
          <a:prstGeom prst="rect">
            <a:avLst/>
          </a:prstGeom>
          <a:noFill/>
          <a:ln/>
        </p:spPr>
        <p:txBody>
          <a:bodyPr wrap="square" lIns="0" tIns="0" rIns="0" bIns="0" rtlCol="0" anchor="t"/>
          <a:lstStyle/>
          <a:p>
            <a:pPr algn="l" indent="0" marL="0">
              <a:lnSpc>
                <a:spcPct val="118000"/>
              </a:lnSpc>
              <a:buNone/>
            </a:pPr>
            <a:r>
              <a:rPr lang="en-US" sz="1150" i="1" dirty="0">
                <a:solidFill>
                  <a:srgbClr val="5B6475"/>
                </a:solidFill>
                <a:latin typeface="Inter" pitchFamily="34" charset="0"/>
                <a:ea typeface="Inter" pitchFamily="34" charset="-122"/>
                <a:cs typeface="Inter" pitchFamily="34" charset="-120"/>
              </a:rPr>
              <a:t>Tout le trafic sort de chez vous en HTTPS sur le port 443. Rien n'entre. Aucun composant n'est installé sur votre réseau.</a:t>
            </a:r>
            <a:endParaRPr lang="en-US" sz="1150" dirty="0"/>
          </a:p>
        </p:txBody>
      </p:sp>
      <p:sp>
        <p:nvSpPr>
          <p:cNvPr id="32" name="Text 29"/>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août 2026</a:t>
            </a:r>
            <a:endParaRPr lang="en-US" sz="900" dirty="0"/>
          </a:p>
        </p:txBody>
      </p:sp>
      <p:sp>
        <p:nvSpPr>
          <p:cNvPr id="33" name="Text 30"/>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Hébergement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Où sont les données, et qui les traite.</a:t>
            </a:r>
            <a:endParaRPr lang="en-US" sz="2600" dirty="0"/>
          </a:p>
        </p:txBody>
      </p:sp>
      <p:sp>
        <p:nvSpPr>
          <p:cNvPr id="7" name="Text 4"/>
          <p:cNvSpPr/>
          <p:nvPr/>
        </p:nvSpPr>
        <p:spPr>
          <a:xfrm>
            <a:off x="731520" y="3474720"/>
            <a:ext cx="4206240" cy="2011680"/>
          </a:xfrm>
          <a:prstGeom prst="rect">
            <a:avLst/>
          </a:prstGeom>
          <a:noFill/>
          <a:ln/>
        </p:spPr>
        <p:txBody>
          <a:bodyPr wrap="square" lIns="0" tIns="0" rIns="0" bIns="0" rtlCol="0" anchor="t"/>
          <a:lstStyle/>
          <a:p>
            <a:pPr algn="l" indent="0" marL="0">
              <a:lnSpc>
                <a:spcPct val="118000"/>
              </a:lnSpc>
              <a:buNone/>
            </a:pPr>
            <a:r>
              <a:rPr lang="en-US" sz="1200" dirty="0">
                <a:solidFill>
                  <a:srgbClr val="3D4556"/>
                </a:solidFill>
                <a:latin typeface="Inter" pitchFamily="34" charset="0"/>
                <a:ea typeface="Inter" pitchFamily="34" charset="-122"/>
                <a:cs typeface="Inter" pitchFamily="34" charset="-120"/>
              </a:rPr>
              <a:t>Les données d'inventaire, les comptes et les journaux sont stockés en Irlande et n'en sortent pas. Les services annexes (site, e-mails, notifications) font appel à des prestataires établis aux États-Unis, sur la base de leurs clauses contractuelles types.</a:t>
            </a:r>
            <a:endParaRPr lang="en-US" sz="1200" dirty="0"/>
          </a:p>
        </p:txBody>
      </p:sp>
      <p:sp>
        <p:nvSpPr>
          <p:cNvPr id="8" name="Text 5"/>
          <p:cNvSpPr/>
          <p:nvPr/>
        </p:nvSpPr>
        <p:spPr>
          <a:xfrm>
            <a:off x="5394960" y="1371600"/>
            <a:ext cx="2011680" cy="274320"/>
          </a:xfrm>
          <a:prstGeom prst="rect">
            <a:avLst/>
          </a:prstGeom>
          <a:noFill/>
          <a:ln/>
        </p:spPr>
        <p:txBody>
          <a:bodyPr wrap="square" lIns="0" tIns="0" rIns="0" bIns="0" rtlCol="0" anchor="t"/>
          <a:lstStyle/>
          <a:p>
            <a:pPr indent="0" marL="0">
              <a:buNone/>
            </a:pPr>
            <a:r>
              <a:rPr lang="en-US" sz="1000" b="1" dirty="0">
                <a:solidFill>
                  <a:srgbClr val="5B6475"/>
                </a:solidFill>
                <a:latin typeface="Inter" pitchFamily="34" charset="0"/>
                <a:ea typeface="Inter" pitchFamily="34" charset="-122"/>
                <a:cs typeface="Inter" pitchFamily="34" charset="-120"/>
              </a:rPr>
              <a:t>Prestataire</a:t>
            </a:r>
            <a:endParaRPr lang="en-US" sz="1000" dirty="0"/>
          </a:p>
        </p:txBody>
      </p:sp>
      <p:sp>
        <p:nvSpPr>
          <p:cNvPr id="9" name="Text 6"/>
          <p:cNvSpPr/>
          <p:nvPr/>
        </p:nvSpPr>
        <p:spPr>
          <a:xfrm>
            <a:off x="7406640" y="1371600"/>
            <a:ext cx="3017520" cy="274320"/>
          </a:xfrm>
          <a:prstGeom prst="rect">
            <a:avLst/>
          </a:prstGeom>
          <a:noFill/>
          <a:ln/>
        </p:spPr>
        <p:txBody>
          <a:bodyPr wrap="square" lIns="0" tIns="0" rIns="0" bIns="0" rtlCol="0" anchor="t"/>
          <a:lstStyle/>
          <a:p>
            <a:pPr indent="0" marL="0">
              <a:buNone/>
            </a:pPr>
            <a:r>
              <a:rPr lang="en-US" sz="1000" b="1" dirty="0">
                <a:solidFill>
                  <a:srgbClr val="5B6475"/>
                </a:solidFill>
                <a:latin typeface="Inter" pitchFamily="34" charset="0"/>
                <a:ea typeface="Inter" pitchFamily="34" charset="-122"/>
                <a:cs typeface="Inter" pitchFamily="34" charset="-120"/>
              </a:rPr>
              <a:t>Rôle</a:t>
            </a:r>
            <a:endParaRPr lang="en-US" sz="1000" dirty="0"/>
          </a:p>
        </p:txBody>
      </p:sp>
      <p:sp>
        <p:nvSpPr>
          <p:cNvPr id="10" name="Text 7"/>
          <p:cNvSpPr/>
          <p:nvPr/>
        </p:nvSpPr>
        <p:spPr>
          <a:xfrm>
            <a:off x="10424160" y="1371600"/>
            <a:ext cx="1554480" cy="274320"/>
          </a:xfrm>
          <a:prstGeom prst="rect">
            <a:avLst/>
          </a:prstGeom>
          <a:noFill/>
          <a:ln/>
        </p:spPr>
        <p:txBody>
          <a:bodyPr wrap="square" lIns="0" tIns="0" rIns="0" bIns="0" rtlCol="0" anchor="t"/>
          <a:lstStyle/>
          <a:p>
            <a:pPr indent="0" marL="0">
              <a:buNone/>
            </a:pPr>
            <a:r>
              <a:rPr lang="en-US" sz="1000" b="1" dirty="0">
                <a:solidFill>
                  <a:srgbClr val="5B6475"/>
                </a:solidFill>
                <a:latin typeface="Inter" pitchFamily="34" charset="0"/>
                <a:ea typeface="Inter" pitchFamily="34" charset="-122"/>
                <a:cs typeface="Inter" pitchFamily="34" charset="-120"/>
              </a:rPr>
              <a:t>Localisation</a:t>
            </a:r>
            <a:endParaRPr lang="en-US" sz="1000" dirty="0"/>
          </a:p>
        </p:txBody>
      </p:sp>
      <p:sp>
        <p:nvSpPr>
          <p:cNvPr id="11" name="Shape 8"/>
          <p:cNvSpPr/>
          <p:nvPr/>
        </p:nvSpPr>
        <p:spPr>
          <a:xfrm>
            <a:off x="5394960" y="1700784"/>
            <a:ext cx="6062472" cy="0"/>
          </a:xfrm>
          <a:prstGeom prst="line">
            <a:avLst/>
          </a:prstGeom>
          <a:noFill/>
          <a:ln w="9525">
            <a:solidFill>
              <a:srgbClr val="E3E6EE"/>
            </a:solidFill>
            <a:prstDash val="solid"/>
          </a:ln>
        </p:spPr>
      </p:sp>
      <p:sp>
        <p:nvSpPr>
          <p:cNvPr id="12" name="Text 9"/>
          <p:cNvSpPr/>
          <p:nvPr/>
        </p:nvSpPr>
        <p:spPr>
          <a:xfrm>
            <a:off x="5394960" y="1801368"/>
            <a:ext cx="1874520" cy="475488"/>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Sora" pitchFamily="34" charset="0"/>
                <a:ea typeface="Sora" pitchFamily="34" charset="-122"/>
                <a:cs typeface="Sora" pitchFamily="34" charset="-120"/>
              </a:rPr>
              <a:t>Supabase</a:t>
            </a:r>
            <a:endParaRPr lang="en-US" sz="1150" dirty="0"/>
          </a:p>
        </p:txBody>
      </p:sp>
      <p:sp>
        <p:nvSpPr>
          <p:cNvPr id="13" name="Text 10"/>
          <p:cNvSpPr/>
          <p:nvPr/>
        </p:nvSpPr>
        <p:spPr>
          <a:xfrm>
            <a:off x="7406640" y="1801368"/>
            <a:ext cx="2880360" cy="475488"/>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Base de données, authentification, temps réel, fonctions</a:t>
            </a:r>
            <a:endParaRPr lang="en-US" sz="1150" dirty="0"/>
          </a:p>
        </p:txBody>
      </p:sp>
      <p:sp>
        <p:nvSpPr>
          <p:cNvPr id="14" name="Text 11"/>
          <p:cNvSpPr/>
          <p:nvPr/>
        </p:nvSpPr>
        <p:spPr>
          <a:xfrm>
            <a:off x="10424160" y="1801368"/>
            <a:ext cx="1417320" cy="475488"/>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Irlande (eu-west-1)</a:t>
            </a:r>
            <a:endParaRPr lang="en-US" sz="1150" dirty="0"/>
          </a:p>
        </p:txBody>
      </p:sp>
      <p:sp>
        <p:nvSpPr>
          <p:cNvPr id="15" name="Shape 12"/>
          <p:cNvSpPr/>
          <p:nvPr/>
        </p:nvSpPr>
        <p:spPr>
          <a:xfrm>
            <a:off x="5394960" y="2267712"/>
            <a:ext cx="6062472" cy="0"/>
          </a:xfrm>
          <a:prstGeom prst="line">
            <a:avLst/>
          </a:prstGeom>
          <a:noFill/>
          <a:ln w="9525">
            <a:solidFill>
              <a:srgbClr val="E3E6EE"/>
            </a:solidFill>
            <a:prstDash val="solid"/>
          </a:ln>
        </p:spPr>
      </p:sp>
      <p:sp>
        <p:nvSpPr>
          <p:cNvPr id="16" name="Text 13"/>
          <p:cNvSpPr/>
          <p:nvPr/>
        </p:nvSpPr>
        <p:spPr>
          <a:xfrm>
            <a:off x="5394960" y="2368296"/>
            <a:ext cx="1874520" cy="475488"/>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Sora" pitchFamily="34" charset="0"/>
                <a:ea typeface="Sora" pitchFamily="34" charset="-122"/>
                <a:cs typeface="Sora" pitchFamily="34" charset="-120"/>
              </a:rPr>
              <a:t>Vercel</a:t>
            </a:r>
            <a:endParaRPr lang="en-US" sz="1150" dirty="0"/>
          </a:p>
        </p:txBody>
      </p:sp>
      <p:sp>
        <p:nvSpPr>
          <p:cNvPr id="17" name="Text 14"/>
          <p:cNvSpPr/>
          <p:nvPr/>
        </p:nvSpPr>
        <p:spPr>
          <a:xfrm>
            <a:off x="7406640" y="2368296"/>
            <a:ext cx="2880360" cy="475488"/>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Hébergement du site www.quantinvo.com</a:t>
            </a:r>
            <a:endParaRPr lang="en-US" sz="1150" dirty="0"/>
          </a:p>
        </p:txBody>
      </p:sp>
      <p:sp>
        <p:nvSpPr>
          <p:cNvPr id="18" name="Text 15"/>
          <p:cNvSpPr/>
          <p:nvPr/>
        </p:nvSpPr>
        <p:spPr>
          <a:xfrm>
            <a:off x="10424160" y="2368296"/>
            <a:ext cx="1417320" cy="475488"/>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États-Unis</a:t>
            </a:r>
            <a:endParaRPr lang="en-US" sz="1150" dirty="0"/>
          </a:p>
        </p:txBody>
      </p:sp>
      <p:sp>
        <p:nvSpPr>
          <p:cNvPr id="19" name="Shape 16"/>
          <p:cNvSpPr/>
          <p:nvPr/>
        </p:nvSpPr>
        <p:spPr>
          <a:xfrm>
            <a:off x="5394960" y="2834640"/>
            <a:ext cx="6062472" cy="0"/>
          </a:xfrm>
          <a:prstGeom prst="line">
            <a:avLst/>
          </a:prstGeom>
          <a:noFill/>
          <a:ln w="9525">
            <a:solidFill>
              <a:srgbClr val="E3E6EE"/>
            </a:solidFill>
            <a:prstDash val="solid"/>
          </a:ln>
        </p:spPr>
      </p:sp>
      <p:sp>
        <p:nvSpPr>
          <p:cNvPr id="20" name="Text 17"/>
          <p:cNvSpPr/>
          <p:nvPr/>
        </p:nvSpPr>
        <p:spPr>
          <a:xfrm>
            <a:off x="5394960" y="2935224"/>
            <a:ext cx="1874520" cy="475488"/>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Sora" pitchFamily="34" charset="0"/>
                <a:ea typeface="Sora" pitchFamily="34" charset="-122"/>
                <a:cs typeface="Sora" pitchFamily="34" charset="-120"/>
              </a:rPr>
              <a:t>Resend</a:t>
            </a:r>
            <a:endParaRPr lang="en-US" sz="1150" dirty="0"/>
          </a:p>
        </p:txBody>
      </p:sp>
      <p:sp>
        <p:nvSpPr>
          <p:cNvPr id="21" name="Text 18"/>
          <p:cNvSpPr/>
          <p:nvPr/>
        </p:nvSpPr>
        <p:spPr>
          <a:xfrm>
            <a:off x="7406640" y="2935224"/>
            <a:ext cx="2880360" cy="475488"/>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Acheminement des e-mails de service</a:t>
            </a:r>
            <a:endParaRPr lang="en-US" sz="1150" dirty="0"/>
          </a:p>
        </p:txBody>
      </p:sp>
      <p:sp>
        <p:nvSpPr>
          <p:cNvPr id="22" name="Text 19"/>
          <p:cNvSpPr/>
          <p:nvPr/>
        </p:nvSpPr>
        <p:spPr>
          <a:xfrm>
            <a:off x="10424160" y="2935224"/>
            <a:ext cx="1417320" cy="475488"/>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États-Unis</a:t>
            </a:r>
            <a:endParaRPr lang="en-US" sz="1150" dirty="0"/>
          </a:p>
        </p:txBody>
      </p:sp>
      <p:sp>
        <p:nvSpPr>
          <p:cNvPr id="23" name="Shape 20"/>
          <p:cNvSpPr/>
          <p:nvPr/>
        </p:nvSpPr>
        <p:spPr>
          <a:xfrm>
            <a:off x="5394960" y="3401568"/>
            <a:ext cx="6062472" cy="0"/>
          </a:xfrm>
          <a:prstGeom prst="line">
            <a:avLst/>
          </a:prstGeom>
          <a:noFill/>
          <a:ln w="9525">
            <a:solidFill>
              <a:srgbClr val="E3E6EE"/>
            </a:solidFill>
            <a:prstDash val="solid"/>
          </a:ln>
        </p:spPr>
      </p:sp>
      <p:sp>
        <p:nvSpPr>
          <p:cNvPr id="24" name="Text 21"/>
          <p:cNvSpPr/>
          <p:nvPr/>
        </p:nvSpPr>
        <p:spPr>
          <a:xfrm>
            <a:off x="5394960" y="3502152"/>
            <a:ext cx="1874520" cy="475488"/>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Sora" pitchFamily="34" charset="0"/>
                <a:ea typeface="Sora" pitchFamily="34" charset="-122"/>
                <a:cs typeface="Sora" pitchFamily="34" charset="-120"/>
              </a:rPr>
              <a:t>Expo</a:t>
            </a:r>
            <a:endParaRPr lang="en-US" sz="1150" dirty="0"/>
          </a:p>
        </p:txBody>
      </p:sp>
      <p:sp>
        <p:nvSpPr>
          <p:cNvPr id="25" name="Text 22"/>
          <p:cNvSpPr/>
          <p:nvPr/>
        </p:nvSpPr>
        <p:spPr>
          <a:xfrm>
            <a:off x="7406640" y="3502152"/>
            <a:ext cx="2880360" cy="475488"/>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Obtention du jeton de notification de l'appareil</a:t>
            </a:r>
            <a:endParaRPr lang="en-US" sz="1150" dirty="0"/>
          </a:p>
        </p:txBody>
      </p:sp>
      <p:sp>
        <p:nvSpPr>
          <p:cNvPr id="26" name="Text 23"/>
          <p:cNvSpPr/>
          <p:nvPr/>
        </p:nvSpPr>
        <p:spPr>
          <a:xfrm>
            <a:off x="10424160" y="3502152"/>
            <a:ext cx="1417320" cy="475488"/>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États-Unis</a:t>
            </a:r>
            <a:endParaRPr lang="en-US" sz="1150" dirty="0"/>
          </a:p>
        </p:txBody>
      </p:sp>
      <p:sp>
        <p:nvSpPr>
          <p:cNvPr id="27" name="Shape 24"/>
          <p:cNvSpPr/>
          <p:nvPr/>
        </p:nvSpPr>
        <p:spPr>
          <a:xfrm>
            <a:off x="5394960" y="3968496"/>
            <a:ext cx="6062472" cy="0"/>
          </a:xfrm>
          <a:prstGeom prst="line">
            <a:avLst/>
          </a:prstGeom>
          <a:noFill/>
          <a:ln w="9525">
            <a:solidFill>
              <a:srgbClr val="E3E6EE"/>
            </a:solidFill>
            <a:prstDash val="solid"/>
          </a:ln>
        </p:spPr>
      </p:sp>
      <p:sp>
        <p:nvSpPr>
          <p:cNvPr id="28" name="Text 25"/>
          <p:cNvSpPr/>
          <p:nvPr/>
        </p:nvSpPr>
        <p:spPr>
          <a:xfrm>
            <a:off x="5394960" y="4069080"/>
            <a:ext cx="1874520" cy="475488"/>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Sora" pitchFamily="34" charset="0"/>
                <a:ea typeface="Sora" pitchFamily="34" charset="-122"/>
                <a:cs typeface="Sora" pitchFamily="34" charset="-120"/>
              </a:rPr>
              <a:t>Apple, Google</a:t>
            </a:r>
            <a:endParaRPr lang="en-US" sz="1150" dirty="0"/>
          </a:p>
        </p:txBody>
      </p:sp>
      <p:sp>
        <p:nvSpPr>
          <p:cNvPr id="29" name="Text 26"/>
          <p:cNvSpPr/>
          <p:nvPr/>
        </p:nvSpPr>
        <p:spPr>
          <a:xfrm>
            <a:off x="7406640" y="4069080"/>
            <a:ext cx="2880360" cy="475488"/>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Distribution de l'application mobile</a:t>
            </a:r>
            <a:endParaRPr lang="en-US" sz="1150" dirty="0"/>
          </a:p>
        </p:txBody>
      </p:sp>
      <p:sp>
        <p:nvSpPr>
          <p:cNvPr id="30" name="Text 27"/>
          <p:cNvSpPr/>
          <p:nvPr/>
        </p:nvSpPr>
        <p:spPr>
          <a:xfrm>
            <a:off x="10424160" y="4069080"/>
            <a:ext cx="1417320" cy="475488"/>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États-Unis</a:t>
            </a:r>
            <a:endParaRPr lang="en-US" sz="1150" dirty="0"/>
          </a:p>
        </p:txBody>
      </p:sp>
      <p:sp>
        <p:nvSpPr>
          <p:cNvPr id="31" name="Shape 28"/>
          <p:cNvSpPr/>
          <p:nvPr/>
        </p:nvSpPr>
        <p:spPr>
          <a:xfrm>
            <a:off x="5394960" y="4535424"/>
            <a:ext cx="6062472" cy="0"/>
          </a:xfrm>
          <a:prstGeom prst="line">
            <a:avLst/>
          </a:prstGeom>
          <a:noFill/>
          <a:ln w="9525">
            <a:solidFill>
              <a:srgbClr val="E3E6EE"/>
            </a:solidFill>
            <a:prstDash val="solid"/>
          </a:ln>
        </p:spPr>
      </p:sp>
      <p:sp>
        <p:nvSpPr>
          <p:cNvPr id="32" name="Shape 29"/>
          <p:cNvSpPr/>
          <p:nvPr/>
        </p:nvSpPr>
        <p:spPr>
          <a:xfrm>
            <a:off x="5394960" y="4846320"/>
            <a:ext cx="6062472" cy="1005840"/>
          </a:xfrm>
          <a:prstGeom prst="roundRect">
            <a:avLst>
              <a:gd name="adj" fmla="val 7273"/>
            </a:avLst>
          </a:prstGeom>
          <a:solidFill>
            <a:srgbClr val="F4F5F9"/>
          </a:solidFill>
          <a:ln w="12700">
            <a:solidFill>
              <a:srgbClr val="F4F5F9"/>
            </a:solidFill>
            <a:prstDash val="solid"/>
          </a:ln>
        </p:spPr>
      </p:sp>
      <p:sp>
        <p:nvSpPr>
          <p:cNvPr id="33" name="Text 30"/>
          <p:cNvSpPr/>
          <p:nvPr/>
        </p:nvSpPr>
        <p:spPr>
          <a:xfrm>
            <a:off x="5669280" y="5010912"/>
            <a:ext cx="5513832" cy="228600"/>
          </a:xfrm>
          <a:prstGeom prst="rect">
            <a:avLst/>
          </a:prstGeom>
          <a:noFill/>
          <a:ln/>
        </p:spPr>
        <p:txBody>
          <a:bodyPr wrap="square" lIns="0" tIns="0" rIns="0" bIns="0" rtlCol="0" anchor="t"/>
          <a:lstStyle/>
          <a:p>
            <a:pPr indent="0" marL="0">
              <a:buNone/>
            </a:pPr>
            <a:r>
              <a:rPr lang="en-US" sz="950" b="1" dirty="0">
                <a:solidFill>
                  <a:srgbClr val="5B6475"/>
                </a:solidFill>
                <a:latin typeface="Inter" pitchFamily="34" charset="0"/>
                <a:ea typeface="Inter" pitchFamily="34" charset="-122"/>
                <a:cs typeface="Inter" pitchFamily="34" charset="-120"/>
              </a:rPr>
              <a:t>À savoir</a:t>
            </a:r>
            <a:endParaRPr lang="en-US" sz="950" dirty="0"/>
          </a:p>
        </p:txBody>
      </p:sp>
      <p:sp>
        <p:nvSpPr>
          <p:cNvPr id="34" name="Text 31"/>
          <p:cNvSpPr/>
          <p:nvPr/>
        </p:nvSpPr>
        <p:spPr>
          <a:xfrm>
            <a:off x="5669280" y="5266944"/>
            <a:ext cx="5513832" cy="45720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Inter" pitchFamily="34" charset="0"/>
                <a:ea typeface="Inter" pitchFamily="34" charset="-122"/>
                <a:cs typeface="Inter" pitchFamily="34" charset="-120"/>
              </a:rPr>
              <a:t>La liste est la même que celle de la politique de confidentialité publiée. Un test automatique empêche d'ajouter un prestataire au produit sans le déclarer.</a:t>
            </a:r>
            <a:endParaRPr lang="en-US" sz="1150" dirty="0"/>
          </a:p>
        </p:txBody>
      </p:sp>
      <p:sp>
        <p:nvSpPr>
          <p:cNvPr id="35" name="Text 32"/>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août 2026</a:t>
            </a:r>
            <a:endParaRPr lang="en-US" sz="900" dirty="0"/>
          </a:p>
        </p:txBody>
      </p:sp>
      <p:sp>
        <p:nvSpPr>
          <p:cNvPr id="36" name="Text 33"/>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Déploiement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Par votre catalogue d’entreprise, comme n’importe quelle application.</a:t>
            </a:r>
            <a:endParaRPr lang="en-US" sz="2600" dirty="0"/>
          </a:p>
        </p:txBody>
      </p:sp>
      <p:sp>
        <p:nvSpPr>
          <p:cNvPr id="7" name="Text 4"/>
          <p:cNvSpPr/>
          <p:nvPr/>
        </p:nvSpPr>
        <p:spPr>
          <a:xfrm>
            <a:off x="731520" y="3474720"/>
            <a:ext cx="4206240" cy="1645920"/>
          </a:xfrm>
          <a:prstGeom prst="rect">
            <a:avLst/>
          </a:prstGeom>
          <a:noFill/>
          <a:ln/>
        </p:spPr>
        <p:txBody>
          <a:bodyPr wrap="square" lIns="0" tIns="0" rIns="0" bIns="0" rtlCol="0" anchor="t"/>
          <a:lstStyle/>
          <a:p>
            <a:pPr algn="l" indent="0" marL="0">
              <a:lnSpc>
                <a:spcPct val="118000"/>
              </a:lnSpc>
              <a:buNone/>
            </a:pPr>
            <a:r>
              <a:rPr lang="en-US" sz="1200" dirty="0">
                <a:solidFill>
                  <a:srgbClr val="3D4556"/>
                </a:solidFill>
                <a:latin typeface="Inter" pitchFamily="34" charset="0"/>
                <a:ea typeface="Inter" pitchFamily="34" charset="-122"/>
                <a:cs typeface="Inter" pitchFamily="34" charset="-120"/>
              </a:rPr>
              <a:t>Workspace ONE, Intune, SOTI, Ivanti, Jamf ou autre : il n'y a pas de version spéciale à demander, pas d'installation manuelle, pas de compte Apple ou Google personnel sur les appareils.</a:t>
            </a:r>
            <a:endParaRPr lang="en-US" sz="1200" dirty="0"/>
          </a:p>
        </p:txBody>
      </p:sp>
      <p:sp>
        <p:nvSpPr>
          <p:cNvPr id="8" name="Text 5"/>
          <p:cNvSpPr/>
          <p:nvPr/>
        </p:nvSpPr>
        <p:spPr>
          <a:xfrm>
            <a:off x="5394960" y="1371600"/>
            <a:ext cx="2377440" cy="274320"/>
          </a:xfrm>
          <a:prstGeom prst="rect">
            <a:avLst/>
          </a:prstGeom>
          <a:noFill/>
          <a:ln/>
        </p:spPr>
        <p:txBody>
          <a:bodyPr wrap="square" lIns="0" tIns="0" rIns="0" bIns="0" rtlCol="0" anchor="t"/>
          <a:lstStyle/>
          <a:p>
            <a:pPr indent="0" marL="0">
              <a:buNone/>
            </a:pPr>
            <a:r>
              <a:rPr lang="en-US" sz="1000" b="1" dirty="0">
                <a:solidFill>
                  <a:srgbClr val="5B6475"/>
                </a:solidFill>
                <a:latin typeface="Inter" pitchFamily="34" charset="0"/>
                <a:ea typeface="Inter" pitchFamily="34" charset="-122"/>
                <a:cs typeface="Inter" pitchFamily="34" charset="-120"/>
              </a:rPr>
              <a:t>Identifiants de l'application</a:t>
            </a:r>
            <a:endParaRPr lang="en-US" sz="1000" dirty="0"/>
          </a:p>
        </p:txBody>
      </p:sp>
      <p:sp>
        <p:nvSpPr>
          <p:cNvPr id="9" name="Text 6"/>
          <p:cNvSpPr/>
          <p:nvPr/>
        </p:nvSpPr>
        <p:spPr>
          <a:xfrm>
            <a:off x="7772400" y="1371600"/>
            <a:ext cx="4206240" cy="274320"/>
          </a:xfrm>
          <a:prstGeom prst="rect">
            <a:avLst/>
          </a:prstGeom>
          <a:noFill/>
          <a:ln/>
        </p:spPr>
        <p:txBody>
          <a:bodyPr wrap="square" lIns="0" tIns="0" rIns="0" bIns="0" rtlCol="0" anchor="t"/>
          <a:lstStyle/>
          <a:p>
            <a:pPr indent="0" marL="0">
              <a:buNone/>
            </a:pPr>
            <a:endParaRPr lang="en-US" sz="1000" dirty="0"/>
          </a:p>
        </p:txBody>
      </p:sp>
      <p:sp>
        <p:nvSpPr>
          <p:cNvPr id="10" name="Shape 7"/>
          <p:cNvSpPr/>
          <p:nvPr/>
        </p:nvSpPr>
        <p:spPr>
          <a:xfrm>
            <a:off x="5394960" y="1700784"/>
            <a:ext cx="6062472" cy="0"/>
          </a:xfrm>
          <a:prstGeom prst="line">
            <a:avLst/>
          </a:prstGeom>
          <a:noFill/>
          <a:ln w="9525">
            <a:solidFill>
              <a:srgbClr val="E3E6EE"/>
            </a:solidFill>
            <a:prstDash val="solid"/>
          </a:ln>
        </p:spPr>
      </p:sp>
      <p:sp>
        <p:nvSpPr>
          <p:cNvPr id="11" name="Text 8"/>
          <p:cNvSpPr/>
          <p:nvPr/>
        </p:nvSpPr>
        <p:spPr>
          <a:xfrm>
            <a:off x="5394960" y="180136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Sora" pitchFamily="34" charset="0"/>
                <a:ea typeface="Sora" pitchFamily="34" charset="-122"/>
                <a:cs typeface="Sora" pitchFamily="34" charset="-120"/>
              </a:rPr>
              <a:t>Nom</a:t>
            </a:r>
            <a:endParaRPr lang="en-US" sz="1100" dirty="0"/>
          </a:p>
        </p:txBody>
      </p:sp>
      <p:sp>
        <p:nvSpPr>
          <p:cNvPr id="12" name="Text 9"/>
          <p:cNvSpPr/>
          <p:nvPr/>
        </p:nvSpPr>
        <p:spPr>
          <a:xfrm>
            <a:off x="7772400" y="180136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Inter" pitchFamily="34" charset="0"/>
                <a:ea typeface="Inter" pitchFamily="34" charset="-122"/>
                <a:cs typeface="Inter" pitchFamily="34" charset="-120"/>
              </a:rPr>
              <a:t>Quantinvo</a:t>
            </a:r>
            <a:endParaRPr lang="en-US" sz="1100" dirty="0"/>
          </a:p>
        </p:txBody>
      </p:sp>
      <p:sp>
        <p:nvSpPr>
          <p:cNvPr id="13" name="Shape 10"/>
          <p:cNvSpPr/>
          <p:nvPr/>
        </p:nvSpPr>
        <p:spPr>
          <a:xfrm>
            <a:off x="5394960" y="2066544"/>
            <a:ext cx="6062472" cy="0"/>
          </a:xfrm>
          <a:prstGeom prst="line">
            <a:avLst/>
          </a:prstGeom>
          <a:noFill/>
          <a:ln w="9525">
            <a:solidFill>
              <a:srgbClr val="E3E6EE"/>
            </a:solidFill>
            <a:prstDash val="solid"/>
          </a:ln>
        </p:spPr>
      </p:sp>
      <p:sp>
        <p:nvSpPr>
          <p:cNvPr id="14" name="Text 11"/>
          <p:cNvSpPr/>
          <p:nvPr/>
        </p:nvSpPr>
        <p:spPr>
          <a:xfrm>
            <a:off x="5394960" y="216712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Sora" pitchFamily="34" charset="0"/>
                <a:ea typeface="Sora" pitchFamily="34" charset="-122"/>
                <a:cs typeface="Sora" pitchFamily="34" charset="-120"/>
              </a:rPr>
              <a:t>Identifiant iOS</a:t>
            </a:r>
            <a:endParaRPr lang="en-US" sz="1100" dirty="0"/>
          </a:p>
        </p:txBody>
      </p:sp>
      <p:sp>
        <p:nvSpPr>
          <p:cNvPr id="15" name="Text 12"/>
          <p:cNvSpPr/>
          <p:nvPr/>
        </p:nvSpPr>
        <p:spPr>
          <a:xfrm>
            <a:off x="7772400" y="216712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Inter" pitchFamily="34" charset="0"/>
                <a:ea typeface="Inter" pitchFamily="34" charset="-122"/>
                <a:cs typeface="Inter" pitchFamily="34" charset="-120"/>
              </a:rPr>
              <a:t>com.quantinvo.app</a:t>
            </a:r>
            <a:endParaRPr lang="en-US" sz="1100" dirty="0"/>
          </a:p>
        </p:txBody>
      </p:sp>
      <p:sp>
        <p:nvSpPr>
          <p:cNvPr id="16" name="Shape 13"/>
          <p:cNvSpPr/>
          <p:nvPr/>
        </p:nvSpPr>
        <p:spPr>
          <a:xfrm>
            <a:off x="5394960" y="2432304"/>
            <a:ext cx="6062472" cy="0"/>
          </a:xfrm>
          <a:prstGeom prst="line">
            <a:avLst/>
          </a:prstGeom>
          <a:noFill/>
          <a:ln w="9525">
            <a:solidFill>
              <a:srgbClr val="E3E6EE"/>
            </a:solidFill>
            <a:prstDash val="solid"/>
          </a:ln>
        </p:spPr>
      </p:sp>
      <p:sp>
        <p:nvSpPr>
          <p:cNvPr id="17" name="Text 14"/>
          <p:cNvSpPr/>
          <p:nvPr/>
        </p:nvSpPr>
        <p:spPr>
          <a:xfrm>
            <a:off x="5394960" y="253288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Sora" pitchFamily="34" charset="0"/>
                <a:ea typeface="Sora" pitchFamily="34" charset="-122"/>
                <a:cs typeface="Sora" pitchFamily="34" charset="-120"/>
              </a:rPr>
              <a:t>Identifiant Android</a:t>
            </a:r>
            <a:endParaRPr lang="en-US" sz="1100" dirty="0"/>
          </a:p>
        </p:txBody>
      </p:sp>
      <p:sp>
        <p:nvSpPr>
          <p:cNvPr id="18" name="Text 15"/>
          <p:cNvSpPr/>
          <p:nvPr/>
        </p:nvSpPr>
        <p:spPr>
          <a:xfrm>
            <a:off x="7772400" y="253288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Inter" pitchFamily="34" charset="0"/>
                <a:ea typeface="Inter" pitchFamily="34" charset="-122"/>
                <a:cs typeface="Inter" pitchFamily="34" charset="-120"/>
              </a:rPr>
              <a:t>com.quantinvo.app</a:t>
            </a:r>
            <a:endParaRPr lang="en-US" sz="1100" dirty="0"/>
          </a:p>
        </p:txBody>
      </p:sp>
      <p:sp>
        <p:nvSpPr>
          <p:cNvPr id="19" name="Shape 16"/>
          <p:cNvSpPr/>
          <p:nvPr/>
        </p:nvSpPr>
        <p:spPr>
          <a:xfrm>
            <a:off x="5394960" y="2798064"/>
            <a:ext cx="6062472" cy="0"/>
          </a:xfrm>
          <a:prstGeom prst="line">
            <a:avLst/>
          </a:prstGeom>
          <a:noFill/>
          <a:ln w="9525">
            <a:solidFill>
              <a:srgbClr val="E3E6EE"/>
            </a:solidFill>
            <a:prstDash val="solid"/>
          </a:ln>
        </p:spPr>
      </p:sp>
      <p:sp>
        <p:nvSpPr>
          <p:cNvPr id="20" name="Text 17"/>
          <p:cNvSpPr/>
          <p:nvPr/>
        </p:nvSpPr>
        <p:spPr>
          <a:xfrm>
            <a:off x="5394960" y="289864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Sora" pitchFamily="34" charset="0"/>
                <a:ea typeface="Sora" pitchFamily="34" charset="-122"/>
                <a:cs typeface="Sora" pitchFamily="34" charset="-120"/>
              </a:rPr>
              <a:t>Version minimale iOS</a:t>
            </a:r>
            <a:endParaRPr lang="en-US" sz="1100" dirty="0"/>
          </a:p>
        </p:txBody>
      </p:sp>
      <p:sp>
        <p:nvSpPr>
          <p:cNvPr id="21" name="Text 18"/>
          <p:cNvSpPr/>
          <p:nvPr/>
        </p:nvSpPr>
        <p:spPr>
          <a:xfrm>
            <a:off x="7772400" y="289864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Inter" pitchFamily="34" charset="0"/>
                <a:ea typeface="Inter" pitchFamily="34" charset="-122"/>
                <a:cs typeface="Inter" pitchFamily="34" charset="-120"/>
              </a:rPr>
              <a:t>16.4</a:t>
            </a:r>
            <a:endParaRPr lang="en-US" sz="1100" dirty="0"/>
          </a:p>
        </p:txBody>
      </p:sp>
      <p:sp>
        <p:nvSpPr>
          <p:cNvPr id="22" name="Shape 19"/>
          <p:cNvSpPr/>
          <p:nvPr/>
        </p:nvSpPr>
        <p:spPr>
          <a:xfrm>
            <a:off x="5394960" y="3163824"/>
            <a:ext cx="6062472" cy="0"/>
          </a:xfrm>
          <a:prstGeom prst="line">
            <a:avLst/>
          </a:prstGeom>
          <a:noFill/>
          <a:ln w="9525">
            <a:solidFill>
              <a:srgbClr val="E3E6EE"/>
            </a:solidFill>
            <a:prstDash val="solid"/>
          </a:ln>
        </p:spPr>
      </p:sp>
      <p:sp>
        <p:nvSpPr>
          <p:cNvPr id="23" name="Text 20"/>
          <p:cNvSpPr/>
          <p:nvPr/>
        </p:nvSpPr>
        <p:spPr>
          <a:xfrm>
            <a:off x="5394960" y="326440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Sora" pitchFamily="34" charset="0"/>
                <a:ea typeface="Sora" pitchFamily="34" charset="-122"/>
                <a:cs typeface="Sora" pitchFamily="34" charset="-120"/>
              </a:rPr>
              <a:t>Version minimale Android</a:t>
            </a:r>
            <a:endParaRPr lang="en-US" sz="1100" dirty="0"/>
          </a:p>
        </p:txBody>
      </p:sp>
      <p:sp>
        <p:nvSpPr>
          <p:cNvPr id="24" name="Text 21"/>
          <p:cNvSpPr/>
          <p:nvPr/>
        </p:nvSpPr>
        <p:spPr>
          <a:xfrm>
            <a:off x="7772400" y="326440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Inter" pitchFamily="34" charset="0"/>
                <a:ea typeface="Inter" pitchFamily="34" charset="-122"/>
                <a:cs typeface="Inter" pitchFamily="34" charset="-120"/>
              </a:rPr>
              <a:t>7.0, à confirmer au premier build</a:t>
            </a:r>
            <a:endParaRPr lang="en-US" sz="1100" dirty="0"/>
          </a:p>
        </p:txBody>
      </p:sp>
      <p:sp>
        <p:nvSpPr>
          <p:cNvPr id="25" name="Shape 22"/>
          <p:cNvSpPr/>
          <p:nvPr/>
        </p:nvSpPr>
        <p:spPr>
          <a:xfrm>
            <a:off x="5394960" y="3529584"/>
            <a:ext cx="6062472" cy="0"/>
          </a:xfrm>
          <a:prstGeom prst="line">
            <a:avLst/>
          </a:prstGeom>
          <a:noFill/>
          <a:ln w="9525">
            <a:solidFill>
              <a:srgbClr val="E3E6EE"/>
            </a:solidFill>
            <a:prstDash val="solid"/>
          </a:ln>
        </p:spPr>
      </p:sp>
      <p:sp>
        <p:nvSpPr>
          <p:cNvPr id="26" name="Text 23"/>
          <p:cNvSpPr/>
          <p:nvPr/>
        </p:nvSpPr>
        <p:spPr>
          <a:xfrm>
            <a:off x="5394960" y="363016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Sora" pitchFamily="34" charset="0"/>
                <a:ea typeface="Sora" pitchFamily="34" charset="-122"/>
                <a:cs typeface="Sora" pitchFamily="34" charset="-120"/>
              </a:rPr>
              <a:t>Éditeur</a:t>
            </a:r>
            <a:endParaRPr lang="en-US" sz="1100" dirty="0"/>
          </a:p>
        </p:txBody>
      </p:sp>
      <p:sp>
        <p:nvSpPr>
          <p:cNvPr id="27" name="Text 24"/>
          <p:cNvSpPr/>
          <p:nvPr/>
        </p:nvSpPr>
        <p:spPr>
          <a:xfrm>
            <a:off x="7772400" y="363016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Inter" pitchFamily="34" charset="0"/>
                <a:ea typeface="Inter" pitchFamily="34" charset="-122"/>
                <a:cs typeface="Inter" pitchFamily="34" charset="-120"/>
              </a:rPr>
              <a:t>Devkaylab</a:t>
            </a:r>
            <a:endParaRPr lang="en-US" sz="1100" dirty="0"/>
          </a:p>
        </p:txBody>
      </p:sp>
      <p:sp>
        <p:nvSpPr>
          <p:cNvPr id="28" name="Shape 25"/>
          <p:cNvSpPr/>
          <p:nvPr/>
        </p:nvSpPr>
        <p:spPr>
          <a:xfrm>
            <a:off x="5394960" y="3895344"/>
            <a:ext cx="6062472" cy="0"/>
          </a:xfrm>
          <a:prstGeom prst="line">
            <a:avLst/>
          </a:prstGeom>
          <a:noFill/>
          <a:ln w="9525">
            <a:solidFill>
              <a:srgbClr val="E3E6EE"/>
            </a:solidFill>
            <a:prstDash val="solid"/>
          </a:ln>
        </p:spPr>
      </p:sp>
      <p:sp>
        <p:nvSpPr>
          <p:cNvPr id="29" name="Text 26"/>
          <p:cNvSpPr/>
          <p:nvPr/>
        </p:nvSpPr>
        <p:spPr>
          <a:xfrm>
            <a:off x="5394960" y="4160520"/>
            <a:ext cx="6062472" cy="2011680"/>
          </a:xfrm>
          <a:prstGeom prst="rect">
            <a:avLst/>
          </a:prstGeom>
          <a:noFill/>
          <a:ln/>
        </p:spPr>
        <p:txBody>
          <a:bodyPr wrap="square" lIns="0" tIns="0" rIns="0" bIns="0" rtlCol="0" anchor="t"/>
          <a:lstStyle/>
          <a:p>
            <a:pPr indent="0" marL="0">
              <a:lnSpc>
                <a:spcPct val="118000"/>
              </a:lnSpc>
              <a:spcAft>
                <a:spcPts val="800"/>
              </a:spcAft>
              <a:buNone/>
            </a:pPr>
            <a:r>
              <a:rPr lang="en-US" sz="1150" b="1" dirty="0">
                <a:solidFill>
                  <a:srgbClr val="0B0F19"/>
                </a:solidFill>
                <a:latin typeface="Inter" pitchFamily="34" charset="0"/>
                <a:ea typeface="Inter" pitchFamily="34" charset="-122"/>
                <a:cs typeface="Inter" pitchFamily="34" charset="-120"/>
              </a:rPr>
              <a:t>iPhone et iPad. </a:t>
            </a:r>
            <a:pPr indent="0" marL="0">
              <a:lnSpc>
                <a:spcPct val="118000"/>
              </a:lnSpc>
              <a:spcAft>
                <a:spcPts val="800"/>
              </a:spcAft>
              <a:buNone/>
            </a:pPr>
            <a:r>
              <a:rPr lang="en-US" sz="1150" dirty="0">
                <a:solidFill>
                  <a:srgbClr val="3D4556"/>
                </a:solidFill>
                <a:latin typeface="Inter" pitchFamily="34" charset="0"/>
                <a:ea typeface="Inter" pitchFamily="34" charset="-122"/>
                <a:cs typeface="Inter" pitchFamily="34" charset="-120"/>
              </a:rPr>
              <a:t>Depuis Apple Business Manager, « Apps et livres » : vous attribuez les licences, votre MDM distribue, l'installation est silencieuse. Si votre politique interdit les applications publiques, nous publions une application personnalisée réservée à votre organisation.</a:t>
            </a:r>
            <a:endParaRPr lang="en-US" sz="1150" dirty="0"/>
          </a:p>
          <a:p>
            <a:pPr indent="0" marL="0">
              <a:lnSpc>
                <a:spcPct val="118000"/>
              </a:lnSpc>
              <a:spcAft>
                <a:spcPts val="800"/>
              </a:spcAft>
              <a:buNone/>
            </a:pPr>
            <a:r>
              <a:rPr lang="en-US" sz="1150" b="1" dirty="0">
                <a:solidFill>
                  <a:srgbClr val="0B0F19"/>
                </a:solidFill>
                <a:latin typeface="Inter" pitchFamily="34" charset="0"/>
                <a:ea typeface="Inter" pitchFamily="34" charset="-122"/>
                <a:cs typeface="Inter" pitchFamily="34" charset="-120"/>
              </a:rPr>
              <a:t>Android et terminaux durcis. </a:t>
            </a:r>
            <a:pPr indent="0" marL="0">
              <a:lnSpc>
                <a:spcPct val="118000"/>
              </a:lnSpc>
              <a:spcAft>
                <a:spcPts val="800"/>
              </a:spcAft>
              <a:buNone/>
            </a:pPr>
            <a:r>
              <a:rPr lang="en-US" sz="1150" dirty="0">
                <a:solidFill>
                  <a:srgbClr val="3D4556"/>
                </a:solidFill>
                <a:latin typeface="Inter" pitchFamily="34" charset="0"/>
                <a:ea typeface="Inter" pitchFamily="34" charset="-122"/>
                <a:cs typeface="Inter" pitchFamily="34" charset="-120"/>
              </a:rPr>
              <a:t>Par Managed Google Play, ou en chargeant l'APK que nous vous remettons comme application interne. Zebra, Honeywell et Datalogic fonctionnent ; le mode « application unique » est compatible.</a:t>
            </a:r>
            <a:endParaRPr lang="en-US" sz="1150" dirty="0"/>
          </a:p>
        </p:txBody>
      </p:sp>
      <p:sp>
        <p:nvSpPr>
          <p:cNvPr id="30" name="Text 2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août 2026</a:t>
            </a:r>
            <a:endParaRPr lang="en-US" sz="900" dirty="0"/>
          </a:p>
        </p:txBody>
      </p:sp>
      <p:sp>
        <p:nvSpPr>
          <p:cNvPr id="31" name="Text 2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Profil de restrictions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Quatre points à vérifier. Trois bloquent en silence.</a:t>
            </a:r>
            <a:endParaRPr lang="en-US" sz="2600" dirty="0"/>
          </a:p>
        </p:txBody>
      </p:sp>
      <p:sp>
        <p:nvSpPr>
          <p:cNvPr id="7" name="Text 4"/>
          <p:cNvSpPr/>
          <p:nvPr/>
        </p:nvSpPr>
        <p:spPr>
          <a:xfrm>
            <a:off x="731520" y="3474720"/>
            <a:ext cx="4206240" cy="1463040"/>
          </a:xfrm>
          <a:prstGeom prst="rect">
            <a:avLst/>
          </a:prstGeom>
          <a:noFill/>
          <a:ln/>
        </p:spPr>
        <p:txBody>
          <a:bodyPr wrap="square" lIns="0" tIns="0" rIns="0" bIns="0" rtlCol="0" anchor="t"/>
          <a:lstStyle/>
          <a:p>
            <a:pPr algn="l" indent="0" marL="0">
              <a:lnSpc>
                <a:spcPct val="118000"/>
              </a:lnSpc>
              <a:buNone/>
            </a:pPr>
            <a:r>
              <a:rPr lang="en-US" sz="1200" dirty="0">
                <a:solidFill>
                  <a:srgbClr val="3D4556"/>
                </a:solidFill>
                <a:latin typeface="Inter" pitchFamily="34" charset="0"/>
                <a:ea typeface="Inter" pitchFamily="34" charset="-122"/>
                <a:cs typeface="Inter" pitchFamily="34" charset="-120"/>
              </a:rPr>
              <a:t>Sans les trois premiers, l'application s'installe et ne sert à rien. Personne ne vous le dira : le compteur verra juste un écran noir, ou un téléphone qui ne synchronise pas.</a:t>
            </a:r>
            <a:endParaRPr lang="en-US" sz="1200" dirty="0"/>
          </a:p>
        </p:txBody>
      </p:sp>
      <p:sp>
        <p:nvSpPr>
          <p:cNvPr id="8" name="Text 5"/>
          <p:cNvSpPr/>
          <p:nvPr/>
        </p:nvSpPr>
        <p:spPr>
          <a:xfrm>
            <a:off x="5394960" y="1389888"/>
            <a:ext cx="329184" cy="329184"/>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000" b="1" dirty="0">
                <a:solidFill>
                  <a:srgbClr val="FFFFFF"/>
                </a:solidFill>
                <a:latin typeface="Sora" pitchFamily="34" charset="0"/>
                <a:ea typeface="Sora" pitchFamily="34" charset="-122"/>
                <a:cs typeface="Sora" pitchFamily="34" charset="-120"/>
              </a:rPr>
              <a:t>1</a:t>
            </a:r>
            <a:endParaRPr lang="en-US" sz="1000" dirty="0"/>
          </a:p>
        </p:txBody>
      </p:sp>
      <p:sp>
        <p:nvSpPr>
          <p:cNvPr id="9" name="Text 6"/>
          <p:cNvSpPr/>
          <p:nvPr/>
        </p:nvSpPr>
        <p:spPr>
          <a:xfrm>
            <a:off x="5897880" y="1371600"/>
            <a:ext cx="5559552" cy="292608"/>
          </a:xfrm>
          <a:prstGeom prst="rect">
            <a:avLst/>
          </a:prstGeom>
          <a:noFill/>
          <a:ln/>
        </p:spPr>
        <p:txBody>
          <a:bodyPr wrap="square" lIns="0" tIns="0" rIns="0" bIns="0" rtlCol="0" anchor="t"/>
          <a:lstStyle/>
          <a:p>
            <a:pPr indent="0" marL="0">
              <a:buNone/>
            </a:pPr>
            <a:r>
              <a:rPr lang="en-US" sz="1300" b="1" dirty="0">
                <a:solidFill>
                  <a:srgbClr val="0B0F19"/>
                </a:solidFill>
                <a:latin typeface="Sora" pitchFamily="34" charset="0"/>
                <a:ea typeface="Sora" pitchFamily="34" charset="-122"/>
                <a:cs typeface="Sora" pitchFamily="34" charset="-120"/>
              </a:rPr>
              <a:t>La caméra reste autorisée.</a:t>
            </a:r>
            <a:endParaRPr lang="en-US" sz="1300" dirty="0"/>
          </a:p>
        </p:txBody>
      </p:sp>
      <p:sp>
        <p:nvSpPr>
          <p:cNvPr id="10" name="Text 7"/>
          <p:cNvSpPr/>
          <p:nvPr/>
        </p:nvSpPr>
        <p:spPr>
          <a:xfrm>
            <a:off x="5897880" y="170078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Inter" pitchFamily="34" charset="0"/>
                <a:ea typeface="Inter" pitchFamily="34" charset="-122"/>
                <a:cs typeface="Inter" pitchFamily="34" charset="-120"/>
              </a:rPr>
              <a:t>C'est le lecteur de codes-barres. Une restriction qui coupe l'appareil photo rend le comptage impossible. Les douchettes Bluetooth marchent aussi, en complément.</a:t>
            </a:r>
            <a:endParaRPr lang="en-US" sz="1150" dirty="0"/>
          </a:p>
        </p:txBody>
      </p:sp>
      <p:sp>
        <p:nvSpPr>
          <p:cNvPr id="11" name="Text 8"/>
          <p:cNvSpPr/>
          <p:nvPr/>
        </p:nvSpPr>
        <p:spPr>
          <a:xfrm>
            <a:off x="5394960" y="2441448"/>
            <a:ext cx="329184" cy="329184"/>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000" b="1" dirty="0">
                <a:solidFill>
                  <a:srgbClr val="FFFFFF"/>
                </a:solidFill>
                <a:latin typeface="Sora" pitchFamily="34" charset="0"/>
                <a:ea typeface="Sora" pitchFamily="34" charset="-122"/>
                <a:cs typeface="Sora" pitchFamily="34" charset="-120"/>
              </a:rPr>
              <a:t>2</a:t>
            </a:r>
            <a:endParaRPr lang="en-US" sz="1000" dirty="0"/>
          </a:p>
        </p:txBody>
      </p:sp>
      <p:sp>
        <p:nvSpPr>
          <p:cNvPr id="12" name="Text 9"/>
          <p:cNvSpPr/>
          <p:nvPr/>
        </p:nvSpPr>
        <p:spPr>
          <a:xfrm>
            <a:off x="5897880" y="2423160"/>
            <a:ext cx="5559552" cy="292608"/>
          </a:xfrm>
          <a:prstGeom prst="rect">
            <a:avLst/>
          </a:prstGeom>
          <a:noFill/>
          <a:ln/>
        </p:spPr>
        <p:txBody>
          <a:bodyPr wrap="square" lIns="0" tIns="0" rIns="0" bIns="0" rtlCol="0" anchor="t"/>
          <a:lstStyle/>
          <a:p>
            <a:pPr indent="0" marL="0">
              <a:buNone/>
            </a:pPr>
            <a:r>
              <a:rPr lang="en-US" sz="1300" b="1" dirty="0">
                <a:solidFill>
                  <a:srgbClr val="0B0F19"/>
                </a:solidFill>
                <a:latin typeface="Sora" pitchFamily="34" charset="0"/>
                <a:ea typeface="Sora" pitchFamily="34" charset="-122"/>
                <a:cs typeface="Sora" pitchFamily="34" charset="-120"/>
              </a:rPr>
              <a:t>Trois adresses joignables en HTTPS, port 443.</a:t>
            </a:r>
            <a:endParaRPr lang="en-US" sz="1300" dirty="0"/>
          </a:p>
        </p:txBody>
      </p:sp>
      <p:sp>
        <p:nvSpPr>
          <p:cNvPr id="13" name="Text 10"/>
          <p:cNvSpPr/>
          <p:nvPr/>
        </p:nvSpPr>
        <p:spPr>
          <a:xfrm>
            <a:off x="5897880" y="275234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Inter" pitchFamily="34" charset="0"/>
                <a:ea typeface="Inter" pitchFamily="34" charset="-122"/>
                <a:cs typeface="Inter" pitchFamily="34" charset="-120"/>
              </a:rPr>
              <a:t>heabesqvlinzarqenymj.supabase.co (données, authentification, temps réel, WebSocket compris) · exp.host (jeton de notification, au premier lancement) · www.quantinvo.com (liens reçus par e-mail). APNs et FCM sont ouverts par défaut presque partout.</a:t>
            </a:r>
            <a:endParaRPr lang="en-US" sz="1150" dirty="0"/>
          </a:p>
        </p:txBody>
      </p:sp>
      <p:sp>
        <p:nvSpPr>
          <p:cNvPr id="14" name="Text 11"/>
          <p:cNvSpPr/>
          <p:nvPr/>
        </p:nvSpPr>
        <p:spPr>
          <a:xfrm>
            <a:off x="5394960" y="3721608"/>
            <a:ext cx="329184" cy="329184"/>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000" b="1" dirty="0">
                <a:solidFill>
                  <a:srgbClr val="FFFFFF"/>
                </a:solidFill>
                <a:latin typeface="Sora" pitchFamily="34" charset="0"/>
                <a:ea typeface="Sora" pitchFamily="34" charset="-122"/>
                <a:cs typeface="Sora" pitchFamily="34" charset="-120"/>
              </a:rPr>
              <a:t>3</a:t>
            </a:r>
            <a:endParaRPr lang="en-US" sz="1000" dirty="0"/>
          </a:p>
        </p:txBody>
      </p:sp>
      <p:sp>
        <p:nvSpPr>
          <p:cNvPr id="15" name="Text 12"/>
          <p:cNvSpPr/>
          <p:nvPr/>
        </p:nvSpPr>
        <p:spPr>
          <a:xfrm>
            <a:off x="5897880" y="3703320"/>
            <a:ext cx="5559552" cy="292608"/>
          </a:xfrm>
          <a:prstGeom prst="rect">
            <a:avLst/>
          </a:prstGeom>
          <a:noFill/>
          <a:ln/>
        </p:spPr>
        <p:txBody>
          <a:bodyPr wrap="square" lIns="0" tIns="0" rIns="0" bIns="0" rtlCol="0" anchor="t"/>
          <a:lstStyle/>
          <a:p>
            <a:pPr indent="0" marL="0">
              <a:buNone/>
            </a:pPr>
            <a:r>
              <a:rPr lang="en-US" sz="1300" b="1" dirty="0">
                <a:solidFill>
                  <a:srgbClr val="0B0F19"/>
                </a:solidFill>
                <a:latin typeface="Sora" pitchFamily="34" charset="0"/>
                <a:ea typeface="Sora" pitchFamily="34" charset="-122"/>
                <a:cs typeface="Sora" pitchFamily="34" charset="-120"/>
              </a:rPr>
              <a:t>Pas d'effacement à distance pendant un inventaire.</a:t>
            </a:r>
            <a:endParaRPr lang="en-US" sz="1300" dirty="0"/>
          </a:p>
        </p:txBody>
      </p:sp>
      <p:sp>
        <p:nvSpPr>
          <p:cNvPr id="16" name="Text 13"/>
          <p:cNvSpPr/>
          <p:nvPr/>
        </p:nvSpPr>
        <p:spPr>
          <a:xfrm>
            <a:off x="5897880" y="403250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Inter" pitchFamily="34" charset="0"/>
                <a:ea typeface="Inter" pitchFamily="34" charset="-122"/>
                <a:cs typeface="Inter" pitchFamily="34" charset="-120"/>
              </a:rPr>
              <a:t>L'application fonctionne hors ligne : en réserve, en chambre froide, les comptages attendent sur l'appareil et partent au retour du réseau. Un effacement ou une désinstallation pendant cette fenêtre perd ce travail. C'est propre à Quantinvo, et c'est le point qu'on oublie.</a:t>
            </a:r>
            <a:endParaRPr lang="en-US" sz="1150" dirty="0"/>
          </a:p>
        </p:txBody>
      </p:sp>
      <p:sp>
        <p:nvSpPr>
          <p:cNvPr id="17" name="Text 14"/>
          <p:cNvSpPr/>
          <p:nvPr/>
        </p:nvSpPr>
        <p:spPr>
          <a:xfrm>
            <a:off x="5394960" y="5001768"/>
            <a:ext cx="329184" cy="329184"/>
          </a:xfrm>
          <a:prstGeom prst="ellipse">
            <a:avLst/>
          </a:prstGeom>
          <a:solidFill>
            <a:srgbClr val="5B6475"/>
          </a:solidFill>
          <a:ln>
            <a:solidFill>
              <a:srgbClr val="5B6475"/>
            </a:solidFill>
          </a:ln>
        </p:spPr>
        <p:txBody>
          <a:bodyPr wrap="square" lIns="0" tIns="0" rIns="0" bIns="0" rtlCol="0" anchor="ctr"/>
          <a:lstStyle/>
          <a:p>
            <a:pPr algn="ctr" indent="0" marL="0">
              <a:buNone/>
            </a:pPr>
            <a:r>
              <a:rPr lang="en-US" sz="1000" b="1" dirty="0">
                <a:solidFill>
                  <a:srgbClr val="FFFFFF"/>
                </a:solidFill>
                <a:latin typeface="Sora" pitchFamily="34" charset="0"/>
                <a:ea typeface="Sora" pitchFamily="34" charset="-122"/>
                <a:cs typeface="Sora" pitchFamily="34" charset="-120"/>
              </a:rPr>
              <a:t>4</a:t>
            </a:r>
            <a:endParaRPr lang="en-US" sz="1000" dirty="0"/>
          </a:p>
        </p:txBody>
      </p:sp>
      <p:sp>
        <p:nvSpPr>
          <p:cNvPr id="18" name="Text 15"/>
          <p:cNvSpPr/>
          <p:nvPr/>
        </p:nvSpPr>
        <p:spPr>
          <a:xfrm>
            <a:off x="5897880" y="4983480"/>
            <a:ext cx="5559552" cy="292608"/>
          </a:xfrm>
          <a:prstGeom prst="rect">
            <a:avLst/>
          </a:prstGeom>
          <a:noFill/>
          <a:ln/>
        </p:spPr>
        <p:txBody>
          <a:bodyPr wrap="square" lIns="0" tIns="0" rIns="0" bIns="0" rtlCol="0" anchor="t"/>
          <a:lstStyle/>
          <a:p>
            <a:pPr indent="0" marL="0">
              <a:buNone/>
            </a:pPr>
            <a:r>
              <a:rPr lang="en-US" sz="1300" b="1" dirty="0">
                <a:solidFill>
                  <a:srgbClr val="0B0F19"/>
                </a:solidFill>
                <a:latin typeface="Sora" pitchFamily="34" charset="0"/>
                <a:ea typeface="Sora" pitchFamily="34" charset="-122"/>
                <a:cs typeface="Sora" pitchFamily="34" charset="-120"/>
              </a:rPr>
              <a:t>Les notifications, recommandées.</a:t>
            </a:r>
            <a:endParaRPr lang="en-US" sz="1300" dirty="0"/>
          </a:p>
        </p:txBody>
      </p:sp>
      <p:sp>
        <p:nvSpPr>
          <p:cNvPr id="19" name="Text 16"/>
          <p:cNvSpPr/>
          <p:nvPr/>
        </p:nvSpPr>
        <p:spPr>
          <a:xfrm>
            <a:off x="5897880" y="531266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Inter" pitchFamily="34" charset="0"/>
                <a:ea typeface="Inter" pitchFamily="34" charset="-122"/>
                <a:cs typeface="Inter" pitchFamily="34" charset="-120"/>
              </a:rPr>
              <a:t>Elles servent à prévenir quelqu'un qu'il a été invité à un inventaire. Sans elles, tout fonctionne ; la personne ouvre simplement l'application pour voir.</a:t>
            </a:r>
            <a:endParaRPr lang="en-US" sz="1150" dirty="0"/>
          </a:p>
        </p:txBody>
      </p:sp>
      <p:sp>
        <p:nvSpPr>
          <p:cNvPr id="20" name="Text 1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août 2026</a:t>
            </a:r>
            <a:endParaRPr lang="en-US" sz="900" dirty="0"/>
          </a:p>
        </p:txBody>
      </p:sp>
      <p:sp>
        <p:nvSpPr>
          <p:cNvPr id="21" name="Text 1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Comptes et accès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Des comptes nominatifs, créés sur invitation. Personne ne s’inscrit.</a:t>
            </a:r>
            <a:endParaRPr lang="en-US" sz="2600" dirty="0"/>
          </a:p>
        </p:txBody>
      </p:sp>
      <p:sp>
        <p:nvSpPr>
          <p:cNvPr id="7" name="Text 4"/>
          <p:cNvSpPr/>
          <p:nvPr/>
        </p:nvSpPr>
        <p:spPr>
          <a:xfrm>
            <a:off x="731520" y="3474720"/>
            <a:ext cx="4206240" cy="1371600"/>
          </a:xfrm>
          <a:prstGeom prst="rect">
            <a:avLst/>
          </a:prstGeom>
          <a:noFill/>
          <a:ln/>
        </p:spPr>
        <p:txBody>
          <a:bodyPr wrap="square" lIns="0" tIns="0" rIns="0" bIns="0" rtlCol="0" anchor="t"/>
          <a:lstStyle/>
          <a:p>
            <a:pPr algn="l" indent="0" marL="0">
              <a:lnSpc>
                <a:spcPct val="118000"/>
              </a:lnSpc>
              <a:buNone/>
            </a:pPr>
            <a:r>
              <a:rPr lang="en-US" sz="1200" dirty="0">
                <a:solidFill>
                  <a:srgbClr val="3D4556"/>
                </a:solidFill>
                <a:latin typeface="Inter" pitchFamily="34" charset="0"/>
                <a:ea typeface="Inter" pitchFamily="34" charset="-122"/>
                <a:cs typeface="Inter" pitchFamily="34" charset="-120"/>
              </a:rPr>
              <a:t>Savoir qui a compté quoi est nécessaire pour arbitrer un écart. C'est pour cela que chaque personne a son compte, et qu'il n'y a pas d'inscription libre.</a:t>
            </a:r>
            <a:endParaRPr lang="en-US" sz="1200" dirty="0"/>
          </a:p>
        </p:txBody>
      </p:sp>
      <p:sp>
        <p:nvSpPr>
          <p:cNvPr id="8" name="Text 5"/>
          <p:cNvSpPr/>
          <p:nvPr/>
        </p:nvSpPr>
        <p:spPr>
          <a:xfrm>
            <a:off x="5394960" y="1371600"/>
            <a:ext cx="2103120" cy="274320"/>
          </a:xfrm>
          <a:prstGeom prst="rect">
            <a:avLst/>
          </a:prstGeom>
          <a:noFill/>
          <a:ln/>
        </p:spPr>
        <p:txBody>
          <a:bodyPr wrap="square" lIns="0" tIns="0" rIns="0" bIns="0" rtlCol="0" anchor="t"/>
          <a:lstStyle/>
          <a:p>
            <a:pPr indent="0" marL="0">
              <a:buNone/>
            </a:pPr>
            <a:r>
              <a:rPr lang="en-US" sz="1000" b="1" dirty="0">
                <a:solidFill>
                  <a:srgbClr val="5B6475"/>
                </a:solidFill>
                <a:latin typeface="Inter" pitchFamily="34" charset="0"/>
                <a:ea typeface="Inter" pitchFamily="34" charset="-122"/>
                <a:cs typeface="Inter" pitchFamily="34" charset="-120"/>
              </a:rPr>
              <a:t>Rôle</a:t>
            </a:r>
            <a:endParaRPr lang="en-US" sz="1000" dirty="0"/>
          </a:p>
        </p:txBody>
      </p:sp>
      <p:sp>
        <p:nvSpPr>
          <p:cNvPr id="9" name="Text 6"/>
          <p:cNvSpPr/>
          <p:nvPr/>
        </p:nvSpPr>
        <p:spPr>
          <a:xfrm>
            <a:off x="7498080" y="1371600"/>
            <a:ext cx="4480560" cy="274320"/>
          </a:xfrm>
          <a:prstGeom prst="rect">
            <a:avLst/>
          </a:prstGeom>
          <a:noFill/>
          <a:ln/>
        </p:spPr>
        <p:txBody>
          <a:bodyPr wrap="square" lIns="0" tIns="0" rIns="0" bIns="0" rtlCol="0" anchor="t"/>
          <a:lstStyle/>
          <a:p>
            <a:pPr indent="0" marL="0">
              <a:buNone/>
            </a:pPr>
            <a:r>
              <a:rPr lang="en-US" sz="1000" b="1" dirty="0">
                <a:solidFill>
                  <a:srgbClr val="5B6475"/>
                </a:solidFill>
                <a:latin typeface="Inter" pitchFamily="34" charset="0"/>
                <a:ea typeface="Inter" pitchFamily="34" charset="-122"/>
                <a:cs typeface="Inter" pitchFamily="34" charset="-120"/>
              </a:rPr>
              <a:t>Ce qu’il voit et ce qu’il fait</a:t>
            </a:r>
            <a:endParaRPr lang="en-US" sz="1000" dirty="0"/>
          </a:p>
        </p:txBody>
      </p:sp>
      <p:sp>
        <p:nvSpPr>
          <p:cNvPr id="10" name="Shape 7"/>
          <p:cNvSpPr/>
          <p:nvPr/>
        </p:nvSpPr>
        <p:spPr>
          <a:xfrm>
            <a:off x="5394960" y="1700784"/>
            <a:ext cx="6062472" cy="0"/>
          </a:xfrm>
          <a:prstGeom prst="line">
            <a:avLst/>
          </a:prstGeom>
          <a:noFill/>
          <a:ln w="9525">
            <a:solidFill>
              <a:srgbClr val="E3E6EE"/>
            </a:solidFill>
            <a:prstDash val="solid"/>
          </a:ln>
        </p:spPr>
      </p:sp>
      <p:sp>
        <p:nvSpPr>
          <p:cNvPr id="11" name="Text 8"/>
          <p:cNvSpPr/>
          <p:nvPr/>
        </p:nvSpPr>
        <p:spPr>
          <a:xfrm>
            <a:off x="5394960" y="1801368"/>
            <a:ext cx="1965960" cy="512064"/>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Sora" pitchFamily="34" charset="0"/>
                <a:ea typeface="Sora" pitchFamily="34" charset="-122"/>
                <a:cs typeface="Sora" pitchFamily="34" charset="-120"/>
              </a:rPr>
              <a:t>Administrateur d'entreprise</a:t>
            </a:r>
            <a:endParaRPr lang="en-US" sz="1150" dirty="0"/>
          </a:p>
        </p:txBody>
      </p:sp>
      <p:sp>
        <p:nvSpPr>
          <p:cNvPr id="12" name="Text 9"/>
          <p:cNvSpPr/>
          <p:nvPr/>
        </p:nvSpPr>
        <p:spPr>
          <a:xfrm>
            <a:off x="7498080" y="1801368"/>
            <a:ext cx="4343400" cy="512064"/>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Tous les magasins, toutes les personnes, tous les inventaires de son entreprise. Invite, retire, supprime. Nommé par Quantinvo.</a:t>
            </a:r>
            <a:endParaRPr lang="en-US" sz="1150" dirty="0"/>
          </a:p>
        </p:txBody>
      </p:sp>
      <p:sp>
        <p:nvSpPr>
          <p:cNvPr id="13" name="Shape 10"/>
          <p:cNvSpPr/>
          <p:nvPr/>
        </p:nvSpPr>
        <p:spPr>
          <a:xfrm>
            <a:off x="5394960" y="2304288"/>
            <a:ext cx="6062472" cy="0"/>
          </a:xfrm>
          <a:prstGeom prst="line">
            <a:avLst/>
          </a:prstGeom>
          <a:noFill/>
          <a:ln w="9525">
            <a:solidFill>
              <a:srgbClr val="E3E6EE"/>
            </a:solidFill>
            <a:prstDash val="solid"/>
          </a:ln>
        </p:spPr>
      </p:sp>
      <p:sp>
        <p:nvSpPr>
          <p:cNvPr id="14" name="Text 11"/>
          <p:cNvSpPr/>
          <p:nvPr/>
        </p:nvSpPr>
        <p:spPr>
          <a:xfrm>
            <a:off x="5394960" y="2404872"/>
            <a:ext cx="1965960" cy="512064"/>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Sora" pitchFamily="34" charset="0"/>
                <a:ea typeface="Sora" pitchFamily="34" charset="-122"/>
                <a:cs typeface="Sora" pitchFamily="34" charset="-120"/>
              </a:rPr>
              <a:t>Superviseur</a:t>
            </a:r>
            <a:endParaRPr lang="en-US" sz="1150" dirty="0"/>
          </a:p>
        </p:txBody>
      </p:sp>
      <p:sp>
        <p:nvSpPr>
          <p:cNvPr id="15" name="Text 12"/>
          <p:cNvSpPr/>
          <p:nvPr/>
        </p:nvSpPr>
        <p:spPr>
          <a:xfrm>
            <a:off x="7498080" y="2404872"/>
            <a:ext cx="4343400" cy="512064"/>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Ses magasins. Crée et pilote les inventaires, constitue son équipe, lit les rapports.</a:t>
            </a:r>
            <a:endParaRPr lang="en-US" sz="1150" dirty="0"/>
          </a:p>
        </p:txBody>
      </p:sp>
      <p:sp>
        <p:nvSpPr>
          <p:cNvPr id="16" name="Shape 13"/>
          <p:cNvSpPr/>
          <p:nvPr/>
        </p:nvSpPr>
        <p:spPr>
          <a:xfrm>
            <a:off x="5394960" y="2907792"/>
            <a:ext cx="6062472" cy="0"/>
          </a:xfrm>
          <a:prstGeom prst="line">
            <a:avLst/>
          </a:prstGeom>
          <a:noFill/>
          <a:ln w="9525">
            <a:solidFill>
              <a:srgbClr val="E3E6EE"/>
            </a:solidFill>
            <a:prstDash val="solid"/>
          </a:ln>
        </p:spPr>
      </p:sp>
      <p:sp>
        <p:nvSpPr>
          <p:cNvPr id="17" name="Text 14"/>
          <p:cNvSpPr/>
          <p:nvPr/>
        </p:nvSpPr>
        <p:spPr>
          <a:xfrm>
            <a:off x="5394960" y="3008376"/>
            <a:ext cx="1965960" cy="512064"/>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Sora" pitchFamily="34" charset="0"/>
                <a:ea typeface="Sora" pitchFamily="34" charset="-122"/>
                <a:cs typeface="Sora" pitchFamily="34" charset="-120"/>
              </a:rPr>
              <a:t>Compteur</a:t>
            </a:r>
            <a:endParaRPr lang="en-US" sz="1150" dirty="0"/>
          </a:p>
        </p:txBody>
      </p:sp>
      <p:sp>
        <p:nvSpPr>
          <p:cNvPr id="18" name="Text 15"/>
          <p:cNvSpPr/>
          <p:nvPr/>
        </p:nvSpPr>
        <p:spPr>
          <a:xfrm>
            <a:off x="7498080" y="3008376"/>
            <a:ext cx="4343400" cy="512064"/>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Inter" pitchFamily="34" charset="0"/>
                <a:ea typeface="Inter" pitchFamily="34" charset="-122"/>
                <a:cs typeface="Inter" pitchFamily="34" charset="-120"/>
              </a:rPr>
              <a:t>Les inventaires auxquels il est invité. Il scanne, il compte, il audite. Rien d'autre.</a:t>
            </a:r>
            <a:endParaRPr lang="en-US" sz="1150" dirty="0"/>
          </a:p>
        </p:txBody>
      </p:sp>
      <p:sp>
        <p:nvSpPr>
          <p:cNvPr id="19" name="Shape 16"/>
          <p:cNvSpPr/>
          <p:nvPr/>
        </p:nvSpPr>
        <p:spPr>
          <a:xfrm>
            <a:off x="5394960" y="3511296"/>
            <a:ext cx="6062472" cy="0"/>
          </a:xfrm>
          <a:prstGeom prst="line">
            <a:avLst/>
          </a:prstGeom>
          <a:noFill/>
          <a:ln w="9525">
            <a:solidFill>
              <a:srgbClr val="E3E6EE"/>
            </a:solidFill>
            <a:prstDash val="solid"/>
          </a:ln>
        </p:spPr>
      </p:sp>
      <p:sp>
        <p:nvSpPr>
          <p:cNvPr id="20" name="Text 17"/>
          <p:cNvSpPr/>
          <p:nvPr/>
        </p:nvSpPr>
        <p:spPr>
          <a:xfrm>
            <a:off x="5394960" y="3703320"/>
            <a:ext cx="6062472" cy="2468880"/>
          </a:xfrm>
          <a:prstGeom prst="rect">
            <a:avLst/>
          </a:prstGeom>
          <a:noFill/>
          <a:ln/>
        </p:spPr>
        <p:txBody>
          <a:bodyPr wrap="square" lIns="0" tIns="0" rIns="0" bIns="0" rtlCol="0" anchor="t"/>
          <a:lstStyle/>
          <a:p>
            <a:pPr indent="0" marL="0">
              <a:lnSpc>
                <a:spcPct val="118000"/>
              </a:lnSpc>
              <a:spcAft>
                <a:spcPts val="700"/>
              </a:spcAft>
              <a:buNone/>
            </a:pPr>
            <a:r>
              <a:rPr lang="en-US" sz="1150" b="1" dirty="0">
                <a:solidFill>
                  <a:srgbClr val="0B0F19"/>
                </a:solidFill>
                <a:latin typeface="Inter" pitchFamily="34" charset="0"/>
                <a:ea typeface="Inter" pitchFamily="34" charset="-122"/>
                <a:cs typeface="Inter" pitchFamily="34" charset="-120"/>
              </a:rPr>
              <a:t>Mot de passe. </a:t>
            </a:r>
            <a:pPr indent="0" marL="0">
              <a:lnSpc>
                <a:spcPct val="118000"/>
              </a:lnSpc>
              <a:spcAft>
                <a:spcPts val="700"/>
              </a:spcAft>
              <a:buNone/>
            </a:pPr>
            <a:r>
              <a:rPr lang="en-US" sz="1150" dirty="0">
                <a:solidFill>
                  <a:srgbClr val="3D4556"/>
                </a:solidFill>
                <a:latin typeface="Inter" pitchFamily="34" charset="0"/>
                <a:ea typeface="Inter" pitchFamily="34" charset="-122"/>
                <a:cs typeface="Inter" pitchFamily="34" charset="-120"/>
              </a:rPr>
              <a:t>Douze caractères minimum, majuscule, minuscule, chiffre, symbole ; refus des mots de passe présents dans les fuites connues. Changer le sien exige l'ancien.</a:t>
            </a:r>
            <a:endParaRPr lang="en-US" sz="1150" dirty="0"/>
          </a:p>
          <a:p>
            <a:pPr indent="0" marL="0">
              <a:lnSpc>
                <a:spcPct val="118000"/>
              </a:lnSpc>
              <a:spcAft>
                <a:spcPts val="700"/>
              </a:spcAft>
              <a:buNone/>
            </a:pPr>
            <a:r>
              <a:rPr lang="en-US" sz="1150" b="1" dirty="0">
                <a:solidFill>
                  <a:srgbClr val="0B0F19"/>
                </a:solidFill>
                <a:latin typeface="Inter" pitchFamily="34" charset="0"/>
                <a:ea typeface="Inter" pitchFamily="34" charset="-122"/>
                <a:cs typeface="Inter" pitchFamily="34" charset="-120"/>
              </a:rPr>
              <a:t>Double authentification. </a:t>
            </a:r>
            <a:pPr indent="0" marL="0">
              <a:lnSpc>
                <a:spcPct val="118000"/>
              </a:lnSpc>
              <a:spcAft>
                <a:spcPts val="700"/>
              </a:spcAft>
              <a:buNone/>
            </a:pPr>
            <a:r>
              <a:rPr lang="en-US" sz="1150" dirty="0">
                <a:solidFill>
                  <a:srgbClr val="3D4556"/>
                </a:solidFill>
                <a:latin typeface="Inter" pitchFamily="34" charset="0"/>
                <a:ea typeface="Inter" pitchFamily="34" charset="-122"/>
                <a:cs typeface="Inter" pitchFamily="34" charset="-120"/>
              </a:rPr>
              <a:t>Par code à usage unique (TOTP), activable par chacun depuis son compte. Quand elle est activée, le serveur la vérifie, pas seulement l'écran.</a:t>
            </a:r>
            <a:endParaRPr lang="en-US" sz="1150" dirty="0"/>
          </a:p>
          <a:p>
            <a:pPr indent="0" marL="0">
              <a:lnSpc>
                <a:spcPct val="118000"/>
              </a:lnSpc>
              <a:spcAft>
                <a:spcPts val="700"/>
              </a:spcAft>
              <a:buNone/>
            </a:pPr>
            <a:r>
              <a:rPr lang="en-US" sz="1150" b="1" dirty="0">
                <a:solidFill>
                  <a:srgbClr val="0B0F19"/>
                </a:solidFill>
                <a:latin typeface="Inter" pitchFamily="34" charset="0"/>
                <a:ea typeface="Inter" pitchFamily="34" charset="-122"/>
                <a:cs typeface="Inter" pitchFamily="34" charset="-120"/>
              </a:rPr>
              <a:t>Sessions. </a:t>
            </a:r>
            <a:pPr indent="0" marL="0">
              <a:lnSpc>
                <a:spcPct val="118000"/>
              </a:lnSpc>
              <a:spcAft>
                <a:spcPts val="700"/>
              </a:spcAft>
              <a:buNone/>
            </a:pPr>
            <a:r>
              <a:rPr lang="en-US" sz="1150" dirty="0">
                <a:solidFill>
                  <a:srgbClr val="3D4556"/>
                </a:solidFill>
                <a:latin typeface="Inter" pitchFamily="34" charset="0"/>
                <a:ea typeface="Inter" pitchFamily="34" charset="-122"/>
                <a:cs typeface="Inter" pitchFamily="34" charset="-120"/>
              </a:rPr>
              <a:t>Expiration après 30 jours sans usage, et au plus 180 jours depuis la connexion. Un téléphone perdu cesse d'être connecté.</a:t>
            </a:r>
            <a:endParaRPr lang="en-US" sz="1150" dirty="0"/>
          </a:p>
          <a:p>
            <a:pPr indent="0" marL="0">
              <a:lnSpc>
                <a:spcPct val="118000"/>
              </a:lnSpc>
              <a:spcAft>
                <a:spcPts val="700"/>
              </a:spcAft>
              <a:buNone/>
            </a:pPr>
            <a:r>
              <a:rPr lang="en-US" sz="1150" b="1" dirty="0">
                <a:solidFill>
                  <a:srgbClr val="0B0F19"/>
                </a:solidFill>
                <a:latin typeface="Inter" pitchFamily="34" charset="0"/>
                <a:ea typeface="Inter" pitchFamily="34" charset="-122"/>
                <a:cs typeface="Inter" pitchFamily="34" charset="-120"/>
              </a:rPr>
              <a:t>Cloisonnement. </a:t>
            </a:r>
            <a:pPr indent="0" marL="0">
              <a:lnSpc>
                <a:spcPct val="118000"/>
              </a:lnSpc>
              <a:spcAft>
                <a:spcPts val="700"/>
              </a:spcAft>
              <a:buNone/>
            </a:pPr>
            <a:r>
              <a:rPr lang="en-US" sz="1150" dirty="0">
                <a:solidFill>
                  <a:srgbClr val="3D4556"/>
                </a:solidFill>
                <a:latin typeface="Inter" pitchFamily="34" charset="0"/>
                <a:ea typeface="Inter" pitchFamily="34" charset="-122"/>
                <a:cs typeface="Inter" pitchFamily="34" charset="-120"/>
              </a:rPr>
              <a:t>Le filtrage par entreprise et par rôle est fait dans la base, à chaque requête. Un écran contourné ne donne rien.</a:t>
            </a:r>
            <a:endParaRPr lang="en-US" sz="1150" dirty="0"/>
          </a:p>
        </p:txBody>
      </p:sp>
      <p:sp>
        <p:nvSpPr>
          <p:cNvPr id="21" name="Text 1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août 2026</a:t>
            </a:r>
            <a:endParaRPr lang="en-US" sz="900" dirty="0"/>
          </a:p>
        </p:txBody>
      </p:sp>
      <p:sp>
        <p:nvSpPr>
          <p:cNvPr id="22" name="Text 1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Sécurité</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Ce qui est en place, et ce qui a été audité.</a:t>
            </a:r>
            <a:endParaRPr lang="en-US" sz="2600" dirty="0"/>
          </a:p>
        </p:txBody>
      </p:sp>
      <p:sp>
        <p:nvSpPr>
          <p:cNvPr id="7" name="Text 4"/>
          <p:cNvSpPr/>
          <p:nvPr/>
        </p:nvSpPr>
        <p:spPr>
          <a:xfrm>
            <a:off x="731520" y="3291840"/>
            <a:ext cx="4206240" cy="868680"/>
          </a:xfrm>
          <a:prstGeom prst="rect">
            <a:avLst/>
          </a:prstGeom>
          <a:noFill/>
          <a:ln/>
        </p:spPr>
        <p:txBody>
          <a:bodyPr wrap="square" lIns="0" tIns="0" rIns="0" bIns="0" rtlCol="0" anchor="t"/>
          <a:lstStyle/>
          <a:p>
            <a:pPr indent="0" marL="0">
              <a:buNone/>
            </a:pPr>
            <a:r>
              <a:rPr lang="en-US" sz="4000" b="1" dirty="0">
                <a:solidFill>
                  <a:srgbClr val="4636B0"/>
                </a:solidFill>
                <a:latin typeface="Sora" pitchFamily="34" charset="0"/>
                <a:ea typeface="Sora" pitchFamily="34" charset="-122"/>
                <a:cs typeface="Sora" pitchFamily="34" charset="-120"/>
              </a:rPr>
              <a:t>13 / 15</a:t>
            </a:r>
            <a:endParaRPr lang="en-US" sz="4000" dirty="0"/>
          </a:p>
        </p:txBody>
      </p:sp>
      <p:sp>
        <p:nvSpPr>
          <p:cNvPr id="8" name="Text 5"/>
          <p:cNvSpPr/>
          <p:nvPr/>
        </p:nvSpPr>
        <p:spPr>
          <a:xfrm>
            <a:off x="731520" y="4206240"/>
            <a:ext cx="4206240" cy="731520"/>
          </a:xfrm>
          <a:prstGeom prst="rect">
            <a:avLst/>
          </a:prstGeom>
          <a:noFill/>
          <a:ln/>
        </p:spPr>
        <p:txBody>
          <a:bodyPr wrap="square" lIns="0" tIns="0" rIns="0" bIns="0" rtlCol="0" anchor="t"/>
          <a:lstStyle/>
          <a:p>
            <a:pPr indent="0" marL="0">
              <a:lnSpc>
                <a:spcPct val="115000"/>
              </a:lnSpc>
              <a:buNone/>
            </a:pPr>
            <a:r>
              <a:rPr lang="en-US" sz="1200" dirty="0">
                <a:solidFill>
                  <a:srgbClr val="5B6475"/>
                </a:solidFill>
                <a:latin typeface="Inter" pitchFamily="34" charset="0"/>
                <a:ea typeface="Inter" pitchFamily="34" charset="-122"/>
                <a:cs typeface="Inter" pitchFamily="34" charset="-120"/>
              </a:rPr>
              <a:t>constats de l'audit RGPD et sécurité du 13 août 2026 clos au 19 août. Les deux restants sont des documents juridiques en relecture.</a:t>
            </a:r>
            <a:endParaRPr lang="en-US" sz="1200" dirty="0"/>
          </a:p>
        </p:txBody>
      </p:sp>
      <p:sp>
        <p:nvSpPr>
          <p:cNvPr id="9" name="Text 6"/>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000"/>
              </a:spcAft>
              <a:buNone/>
            </a:pPr>
            <a:r>
              <a:rPr lang="en-US" sz="1250" b="1" dirty="0">
                <a:solidFill>
                  <a:srgbClr val="0B0F19"/>
                </a:solidFill>
                <a:latin typeface="Inter" pitchFamily="34" charset="0"/>
                <a:ea typeface="Inter" pitchFamily="34" charset="-122"/>
                <a:cs typeface="Inter" pitchFamily="34" charset="-120"/>
              </a:rPr>
              <a:t>En transit et au repos. </a:t>
            </a:r>
            <a:pPr indent="0" marL="0">
              <a:lnSpc>
                <a:spcPct val="118000"/>
              </a:lnSpc>
              <a:spcAft>
                <a:spcPts val="1000"/>
              </a:spcAft>
              <a:buNone/>
            </a:pPr>
            <a:r>
              <a:rPr lang="en-US" sz="1250" dirty="0">
                <a:solidFill>
                  <a:srgbClr val="3D4556"/>
                </a:solidFill>
                <a:latin typeface="Inter" pitchFamily="34" charset="0"/>
                <a:ea typeface="Inter" pitchFamily="34" charset="-122"/>
                <a:cs typeface="Inter" pitchFamily="34" charset="-120"/>
              </a:rPr>
              <a:t>Tout le trafic est chiffré (TLS). Les données sont chiffrées au repos par l'hébergeur, qui en assure aussi les sauvegardes quotidiennes.</a:t>
            </a:r>
            <a:endParaRPr lang="en-US" sz="1250" dirty="0"/>
          </a:p>
          <a:p>
            <a:pPr indent="0" marL="0">
              <a:lnSpc>
                <a:spcPct val="118000"/>
              </a:lnSpc>
              <a:spcAft>
                <a:spcPts val="1000"/>
              </a:spcAft>
              <a:buNone/>
            </a:pPr>
            <a:r>
              <a:rPr lang="en-US" sz="1250" b="1" dirty="0">
                <a:solidFill>
                  <a:srgbClr val="0B0F19"/>
                </a:solidFill>
                <a:latin typeface="Inter" pitchFamily="34" charset="0"/>
                <a:ea typeface="Inter" pitchFamily="34" charset="-122"/>
                <a:cs typeface="Inter" pitchFamily="34" charset="-120"/>
              </a:rPr>
              <a:t>Site. </a:t>
            </a:r>
            <a:pPr indent="0" marL="0">
              <a:lnSpc>
                <a:spcPct val="118000"/>
              </a:lnSpc>
              <a:spcAft>
                <a:spcPts val="1000"/>
              </a:spcAft>
              <a:buNone/>
            </a:pPr>
            <a:r>
              <a:rPr lang="en-US" sz="1250" dirty="0">
                <a:solidFill>
                  <a:srgbClr val="3D4556"/>
                </a:solidFill>
                <a:latin typeface="Inter" pitchFamily="34" charset="0"/>
                <a:ea typeface="Inter" pitchFamily="34" charset="-122"/>
                <a:cs typeface="Inter" pitchFamily="34" charset="-120"/>
              </a:rPr>
              <a:t>En-têtes de sécurité posés (politique de contenu, interdiction d'intégration dans un cadre, etc.). Aucun traceur, aucune mesure d'audience : il n'y a pas de bandeau cookies parce qu'il n'y a pas de cookies à déclarer.</a:t>
            </a:r>
            <a:endParaRPr lang="en-US" sz="1250" dirty="0"/>
          </a:p>
          <a:p>
            <a:pPr indent="0" marL="0">
              <a:lnSpc>
                <a:spcPct val="118000"/>
              </a:lnSpc>
              <a:spcAft>
                <a:spcPts val="1000"/>
              </a:spcAft>
              <a:buNone/>
            </a:pPr>
            <a:r>
              <a:rPr lang="en-US" sz="1250" b="1" dirty="0">
                <a:solidFill>
                  <a:srgbClr val="0B0F19"/>
                </a:solidFill>
                <a:latin typeface="Inter" pitchFamily="34" charset="0"/>
                <a:ea typeface="Inter" pitchFamily="34" charset="-122"/>
                <a:cs typeface="Inter" pitchFamily="34" charset="-120"/>
              </a:rPr>
              <a:t>Journal. </a:t>
            </a:r>
            <a:pPr indent="0" marL="0">
              <a:lnSpc>
                <a:spcPct val="118000"/>
              </a:lnSpc>
              <a:spcAft>
                <a:spcPts val="1000"/>
              </a:spcAft>
              <a:buNone/>
            </a:pPr>
            <a:r>
              <a:rPr lang="en-US" sz="1250" dirty="0">
                <a:solidFill>
                  <a:srgbClr val="3D4556"/>
                </a:solidFill>
                <a:latin typeface="Inter" pitchFamily="34" charset="0"/>
                <a:ea typeface="Inter" pitchFamily="34" charset="-122"/>
                <a:cs typeface="Inter" pitchFamily="34" charset="-120"/>
              </a:rPr>
              <a:t>Chaque action d'administration (création d'un compte, retrait d'un accès, suppression) est journalisée, avec son auteur, et conservée un an. Votre administrateur lit le sien.</a:t>
            </a:r>
            <a:endParaRPr lang="en-US" sz="1250" dirty="0"/>
          </a:p>
          <a:p>
            <a:pPr indent="0" marL="0">
              <a:lnSpc>
                <a:spcPct val="118000"/>
              </a:lnSpc>
              <a:spcAft>
                <a:spcPts val="1000"/>
              </a:spcAft>
              <a:buNone/>
            </a:pPr>
            <a:r>
              <a:rPr lang="en-US" sz="1250" b="1" dirty="0">
                <a:solidFill>
                  <a:srgbClr val="0B0F19"/>
                </a:solidFill>
                <a:latin typeface="Inter" pitchFamily="34" charset="0"/>
                <a:ea typeface="Inter" pitchFamily="34" charset="-122"/>
                <a:cs typeface="Inter" pitchFamily="34" charset="-120"/>
              </a:rPr>
              <a:t>Suivi d’activité. </a:t>
            </a:r>
            <a:pPr indent="0" marL="0">
              <a:lnSpc>
                <a:spcPct val="118000"/>
              </a:lnSpc>
              <a:spcAft>
                <a:spcPts val="1000"/>
              </a:spcAft>
              <a:buNone/>
            </a:pPr>
            <a:r>
              <a:rPr lang="en-US" sz="1250" dirty="0">
                <a:solidFill>
                  <a:srgbClr val="3D4556"/>
                </a:solidFill>
                <a:latin typeface="Inter" pitchFamily="34" charset="0"/>
                <a:ea typeface="Inter" pitchFamily="34" charset="-122"/>
                <a:cs typeface="Inter" pitchFamily="34" charset="-120"/>
              </a:rPr>
              <a:t>Le tableau de bord voit des compteurs (appareils connectés, en comptage, en audit), jamais qui fait quoi en direct. Ce qui reste nominatif, c'est l'auteur d'un comptage, pour l'arbitrage.</a:t>
            </a:r>
            <a:endParaRPr lang="en-US" sz="1250" dirty="0"/>
          </a:p>
          <a:p>
            <a:pPr indent="0" marL="0">
              <a:lnSpc>
                <a:spcPct val="118000"/>
              </a:lnSpc>
              <a:spcAft>
                <a:spcPts val="1000"/>
              </a:spcAft>
              <a:buNone/>
            </a:pPr>
            <a:r>
              <a:rPr lang="en-US" sz="1250" b="1" dirty="0">
                <a:solidFill>
                  <a:srgbClr val="0B0F19"/>
                </a:solidFill>
                <a:latin typeface="Inter" pitchFamily="34" charset="0"/>
                <a:ea typeface="Inter" pitchFamily="34" charset="-122"/>
                <a:cs typeface="Inter" pitchFamily="34" charset="-120"/>
              </a:rPr>
              <a:t>Ce que nous ne faisons pas. </a:t>
            </a:r>
            <a:pPr indent="0" marL="0">
              <a:lnSpc>
                <a:spcPct val="118000"/>
              </a:lnSpc>
              <a:spcAft>
                <a:spcPts val="1000"/>
              </a:spcAft>
              <a:buNone/>
            </a:pPr>
            <a:r>
              <a:rPr lang="en-US" sz="1250" dirty="0">
                <a:solidFill>
                  <a:srgbClr val="3D4556"/>
                </a:solidFill>
                <a:latin typeface="Inter" pitchFamily="34" charset="0"/>
                <a:ea typeface="Inter" pitchFamily="34" charset="-122"/>
                <a:cs typeface="Inter" pitchFamily="34" charset="-120"/>
              </a:rPr>
              <a:t>Pas de test d'intrusion externe à ce jour. Si votre politique l'exige, nous l'accueillons.</a:t>
            </a:r>
            <a:endParaRPr lang="en-US" sz="1250" dirty="0"/>
          </a:p>
        </p:txBody>
      </p:sp>
      <p:sp>
        <p:nvSpPr>
          <p:cNvPr id="10"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août 2026</a:t>
            </a:r>
            <a:endParaRPr lang="en-US" sz="900" dirty="0"/>
          </a:p>
        </p:txBody>
      </p:sp>
      <p:sp>
        <p:nvSpPr>
          <p:cNvPr id="11"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Hors ligne et charge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Le réseau tombe en réserve. Le comptage continue.</a:t>
            </a:r>
            <a:endParaRPr lang="en-US" sz="2600" dirty="0"/>
          </a:p>
        </p:txBody>
      </p:sp>
      <p:sp>
        <p:nvSpPr>
          <p:cNvPr id="7" name="Text 4"/>
          <p:cNvSpPr/>
          <p:nvPr/>
        </p:nvSpPr>
        <p:spPr>
          <a:xfrm>
            <a:off x="731520" y="3474720"/>
            <a:ext cx="4206240" cy="91440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Inter" pitchFamily="34" charset="0"/>
                <a:ea typeface="Inter" pitchFamily="34" charset="-122"/>
                <a:cs typeface="Inter" pitchFamily="34" charset="-120"/>
              </a:rPr>
              <a:t>C'est le cas le plus fréquent sur le terrain, et celui pour lequel l'application a été construite.</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Hors ligne.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Les scans sont enregistrés sur le téléphone et renvoyés automatiquement au retour du réseau, dans l'ordre. Le compteur voit ce qui attend et ce qui est parti. Une session expirée n'efface rien : la file attend la reconnexion.</a:t>
            </a:r>
            <a:endParaRPr lang="en-US" sz="1200" dirty="0"/>
          </a:p>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Plusieurs compteurs par magasin.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Chaque téléphone envoie un signal toutes les 5 à 30 secondes ; il n'écoute rien. Seul le tableau de bord écoute. Le coût du suivi croît avec le nombre de téléphones, pas avec son carré.</a:t>
            </a:r>
            <a:endParaRPr lang="en-US" sz="1200" dirty="0"/>
          </a:p>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Tableau de bord.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Les totaux sont calculés par la base, pas téléchargés. Un tableau de bord ouvert recalcule au plus une fois par minute, et se met au repos quand personne ne scanne.</a:t>
            </a:r>
            <a:endParaRPr lang="en-US" sz="1200" dirty="0"/>
          </a:p>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Volumes.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Un référentiel de plusieurs dizaines de milliers de références s'importe par lots. Pour un réseau de plusieurs centaines de magasins comptant le même jour, nous montons la capacité de la base : c'est un réglage, pas un chantier.</a:t>
            </a:r>
            <a:endParaRPr lang="en-US" sz="12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août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Protection des données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Qui est responsable de quoi</a:t>
            </a:r>
            <a:endParaRPr lang="en-US" sz="2600" dirty="0"/>
          </a:p>
        </p:txBody>
      </p:sp>
      <p:sp>
        <p:nvSpPr>
          <p:cNvPr id="7" name="Text 4"/>
          <p:cNvSpPr/>
          <p:nvPr/>
        </p:nvSpPr>
        <p:spPr>
          <a:xfrm>
            <a:off x="731520" y="2240280"/>
            <a:ext cx="5088636" cy="320040"/>
          </a:xfrm>
          <a:prstGeom prst="rect">
            <a:avLst/>
          </a:prstGeom>
          <a:noFill/>
          <a:ln/>
        </p:spPr>
        <p:txBody>
          <a:bodyPr wrap="square" lIns="0" tIns="0" rIns="0" bIns="0" rtlCol="0" anchor="t"/>
          <a:lstStyle/>
          <a:p>
            <a:pPr indent="0" marL="0">
              <a:buNone/>
            </a:pPr>
            <a:r>
              <a:rPr lang="en-US" sz="1350" b="1" dirty="0">
                <a:solidFill>
                  <a:srgbClr val="4636B0"/>
                </a:solidFill>
                <a:latin typeface="Sora" pitchFamily="34" charset="0"/>
                <a:ea typeface="Sora" pitchFamily="34" charset="-122"/>
                <a:cs typeface="Sora" pitchFamily="34" charset="-120"/>
              </a:rPr>
              <a:t>Vous, responsable de traitement</a:t>
            </a:r>
            <a:endParaRPr lang="en-US" sz="1350" dirty="0"/>
          </a:p>
        </p:txBody>
      </p:sp>
      <p:sp>
        <p:nvSpPr>
          <p:cNvPr id="8" name="Text 5"/>
          <p:cNvSpPr/>
          <p:nvPr/>
        </p:nvSpPr>
        <p:spPr>
          <a:xfrm>
            <a:off x="6368796" y="2240280"/>
            <a:ext cx="5088636" cy="320040"/>
          </a:xfrm>
          <a:prstGeom prst="rect">
            <a:avLst/>
          </a:prstGeom>
          <a:noFill/>
          <a:ln/>
        </p:spPr>
        <p:txBody>
          <a:bodyPr wrap="square" lIns="0" tIns="0" rIns="0" bIns="0" rtlCol="0" anchor="t"/>
          <a:lstStyle/>
          <a:p>
            <a:pPr indent="0" marL="0">
              <a:buNone/>
            </a:pPr>
            <a:r>
              <a:rPr lang="en-US" sz="1350" b="1" dirty="0">
                <a:solidFill>
                  <a:srgbClr val="4636B0"/>
                </a:solidFill>
                <a:latin typeface="Sora" pitchFamily="34" charset="0"/>
                <a:ea typeface="Sora" pitchFamily="34" charset="-122"/>
                <a:cs typeface="Sora" pitchFamily="34" charset="-120"/>
              </a:rPr>
              <a:t>Devkaylab, sous-traitant</a:t>
            </a:r>
            <a:endParaRPr lang="en-US" sz="1350" dirty="0"/>
          </a:p>
        </p:txBody>
      </p:sp>
      <p:sp>
        <p:nvSpPr>
          <p:cNvPr id="9" name="Shape 6"/>
          <p:cNvSpPr/>
          <p:nvPr/>
        </p:nvSpPr>
        <p:spPr>
          <a:xfrm>
            <a:off x="731520" y="2651760"/>
            <a:ext cx="10725912" cy="0"/>
          </a:xfrm>
          <a:prstGeom prst="line">
            <a:avLst/>
          </a:prstGeom>
          <a:noFill/>
          <a:ln w="9525">
            <a:solidFill>
              <a:srgbClr val="E3E6EE"/>
            </a:solidFill>
            <a:prstDash val="solid"/>
          </a:ln>
        </p:spPr>
      </p:sp>
      <p:sp>
        <p:nvSpPr>
          <p:cNvPr id="10" name="Text 7"/>
          <p:cNvSpPr/>
          <p:nvPr/>
        </p:nvSpPr>
        <p:spPr>
          <a:xfrm>
            <a:off x="731520" y="2788920"/>
            <a:ext cx="5088636" cy="274320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1150" dirty="0">
                <a:solidFill>
                  <a:srgbClr val="3D4556"/>
                </a:solidFill>
                <a:latin typeface="Inter" pitchFamily="34" charset="0"/>
                <a:ea typeface="Inter" pitchFamily="34" charset="-122"/>
                <a:cs typeface="Inter" pitchFamily="34" charset="-120"/>
              </a:rPr>
              <a:t>Vous décidez des inventaires, de qui compte, et de la durée de conservation des données d'inventaire.</a:t>
            </a:r>
            <a:endParaRPr lang="en-US" sz="1150" dirty="0"/>
          </a:p>
          <a:p>
            <a:pPr marL="203200" indent="-203200">
              <a:lnSpc>
                <a:spcPct val="115000"/>
              </a:lnSpc>
              <a:spcAft>
                <a:spcPts val="800"/>
              </a:spcAft>
              <a:buSzPct val="100000"/>
              <a:buChar char="–"/>
            </a:pPr>
            <a:r>
              <a:rPr lang="en-US" sz="1150" dirty="0">
                <a:solidFill>
                  <a:srgbClr val="3D4556"/>
                </a:solidFill>
                <a:latin typeface="Inter" pitchFamily="34" charset="0"/>
                <a:ea typeface="Inter" pitchFamily="34" charset="-122"/>
                <a:cs typeface="Inter" pitchFamily="34" charset="-120"/>
              </a:rPr>
              <a:t>Vous informez vos salariés (une note type vous est fournie) et consultez votre CSE si votre organisation le prévoit.</a:t>
            </a:r>
            <a:endParaRPr lang="en-US" sz="1150" dirty="0"/>
          </a:p>
          <a:p>
            <a:pPr marL="203200" indent="-203200">
              <a:lnSpc>
                <a:spcPct val="115000"/>
              </a:lnSpc>
              <a:spcAft>
                <a:spcPts val="800"/>
              </a:spcAft>
              <a:buSzPct val="100000"/>
              <a:buChar char="–"/>
            </a:pPr>
            <a:r>
              <a:rPr lang="en-US" sz="1150" dirty="0">
                <a:solidFill>
                  <a:srgbClr val="3D4556"/>
                </a:solidFill>
                <a:latin typeface="Inter" pitchFamily="34" charset="0"/>
                <a:ea typeface="Inter" pitchFamily="34" charset="-122"/>
                <a:cs typeface="Inter" pitchFamily="34" charset="-120"/>
              </a:rPr>
              <a:t>En cas de violation, c'est vous qui notifiez la CNIL sous 72 heures ; nous vous prévenons sans délai et vous donnons les éléments.</a:t>
            </a:r>
            <a:endParaRPr lang="en-US" sz="1150" dirty="0"/>
          </a:p>
        </p:txBody>
      </p:sp>
      <p:sp>
        <p:nvSpPr>
          <p:cNvPr id="11" name="Text 8"/>
          <p:cNvSpPr/>
          <p:nvPr/>
        </p:nvSpPr>
        <p:spPr>
          <a:xfrm>
            <a:off x="6368796" y="2788920"/>
            <a:ext cx="5088636" cy="310896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1150" dirty="0">
                <a:solidFill>
                  <a:srgbClr val="3D4556"/>
                </a:solidFill>
                <a:latin typeface="Inter" pitchFamily="34" charset="0"/>
                <a:ea typeface="Inter" pitchFamily="34" charset="-122"/>
                <a:cs typeface="Inter" pitchFamily="34" charset="-120"/>
              </a:rPr>
              <a:t>Nous hébergeons, sécurisons, sauvegardons, et n'utilisons les données que pour rendre le service. Rien n'est vendu ni réutilisé.</a:t>
            </a:r>
            <a:endParaRPr lang="en-US" sz="1150" dirty="0"/>
          </a:p>
          <a:p>
            <a:pPr marL="203200" indent="-203200">
              <a:lnSpc>
                <a:spcPct val="115000"/>
              </a:lnSpc>
              <a:spcAft>
                <a:spcPts val="800"/>
              </a:spcAft>
              <a:buSzPct val="100000"/>
              <a:buChar char="–"/>
            </a:pPr>
            <a:r>
              <a:rPr lang="en-US" sz="1150" dirty="0">
                <a:solidFill>
                  <a:srgbClr val="3D4556"/>
                </a:solidFill>
                <a:latin typeface="Inter" pitchFamily="34" charset="0"/>
                <a:ea typeface="Inter" pitchFamily="34" charset="-122"/>
                <a:cs typeface="Inter" pitchFamily="34" charset="-120"/>
              </a:rPr>
              <a:t>Les clauses de sous-traitance (article 28) sont fournies à la signature, avec la liste des sous-traitants ultérieurs.</a:t>
            </a:r>
            <a:endParaRPr lang="en-US" sz="1150" dirty="0"/>
          </a:p>
          <a:p>
            <a:pPr marL="203200" indent="-203200">
              <a:lnSpc>
                <a:spcPct val="115000"/>
              </a:lnSpc>
              <a:spcAft>
                <a:spcPts val="800"/>
              </a:spcAft>
              <a:buSzPct val="100000"/>
              <a:buChar char="–"/>
            </a:pPr>
            <a:r>
              <a:rPr lang="en-US" sz="1150" dirty="0">
                <a:solidFill>
                  <a:srgbClr val="3D4556"/>
                </a:solidFill>
                <a:latin typeface="Inter" pitchFamily="34" charset="0"/>
                <a:ea typeface="Inter" pitchFamily="34" charset="-122"/>
                <a:cs typeface="Inter" pitchFamily="34" charset="-120"/>
              </a:rPr>
              <a:t>Les droits sont outillés : chaque personne télécharge ses données depuis son compte ; la suppression d'un compte conserve les comptages mais les détache du nom.</a:t>
            </a:r>
            <a:endParaRPr lang="en-US" sz="1150" dirty="0"/>
          </a:p>
          <a:p>
            <a:pPr marL="203200" indent="-203200">
              <a:lnSpc>
                <a:spcPct val="115000"/>
              </a:lnSpc>
              <a:spcAft>
                <a:spcPts val="800"/>
              </a:spcAft>
              <a:buSzPct val="100000"/>
              <a:buChar char="–"/>
            </a:pPr>
            <a:r>
              <a:rPr lang="en-US" sz="1150" dirty="0">
                <a:solidFill>
                  <a:srgbClr val="3D4556"/>
                </a:solidFill>
                <a:latin typeface="Inter" pitchFamily="34" charset="0"/>
                <a:ea typeface="Inter" pitchFamily="34" charset="-122"/>
                <a:cs typeface="Inter" pitchFamily="34" charset="-120"/>
              </a:rPr>
              <a:t>Durées : comptes tant qu'ils sont actifs, journaux un an, demandes et invitations purgées. Le suivi en direct n'est jamais enregistré.</a:t>
            </a:r>
            <a:endParaRPr lang="en-US" sz="1150" dirty="0"/>
          </a:p>
        </p:txBody>
      </p:sp>
      <p:sp>
        <p:nvSpPr>
          <p:cNvPr id="12" name="Shape 9"/>
          <p:cNvSpPr/>
          <p:nvPr/>
        </p:nvSpPr>
        <p:spPr>
          <a:xfrm>
            <a:off x="731520" y="5212080"/>
            <a:ext cx="10725912" cy="868680"/>
          </a:xfrm>
          <a:prstGeom prst="roundRect">
            <a:avLst>
              <a:gd name="adj" fmla="val 8421"/>
            </a:avLst>
          </a:prstGeom>
          <a:solidFill>
            <a:srgbClr val="F4F5F9"/>
          </a:solidFill>
          <a:ln w="12700">
            <a:solidFill>
              <a:srgbClr val="F4F5F9"/>
            </a:solidFill>
            <a:prstDash val="solid"/>
          </a:ln>
        </p:spPr>
      </p:sp>
      <p:sp>
        <p:nvSpPr>
          <p:cNvPr id="13" name="Text 10"/>
          <p:cNvSpPr/>
          <p:nvPr/>
        </p:nvSpPr>
        <p:spPr>
          <a:xfrm>
            <a:off x="1005840" y="537667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Inter" pitchFamily="34" charset="0"/>
                <a:ea typeface="Inter" pitchFamily="34" charset="-122"/>
                <a:cs typeface="Inter" pitchFamily="34" charset="-120"/>
              </a:rPr>
              <a:t>Documents remis</a:t>
            </a:r>
            <a:endParaRPr lang="en-US" sz="950" dirty="0"/>
          </a:p>
        </p:txBody>
      </p:sp>
      <p:sp>
        <p:nvSpPr>
          <p:cNvPr id="14" name="Text 11"/>
          <p:cNvSpPr/>
          <p:nvPr/>
        </p:nvSpPr>
        <p:spPr>
          <a:xfrm>
            <a:off x="1005840" y="5632704"/>
            <a:ext cx="10177272" cy="32004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Inter" pitchFamily="34" charset="0"/>
                <a:ea typeface="Inter" pitchFamily="34" charset="-122"/>
                <a:cs typeface="Inter" pitchFamily="34" charset="-120"/>
              </a:rPr>
              <a:t>Politique de confidentialité (publique), clauses article 28, synthèse de l'audit, note d'information aux salariés, registre des traitements sur demande de votre DPO.</a:t>
            </a:r>
            <a:endParaRPr lang="en-US" sz="1150" dirty="0"/>
          </a:p>
        </p:txBody>
      </p:sp>
      <p:sp>
        <p:nvSpPr>
          <p:cNvPr id="15" name="Text 12"/>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août 2026</a:t>
            </a:r>
            <a:endParaRPr lang="en-US" sz="900" dirty="0"/>
          </a:p>
        </p:txBody>
      </p:sp>
      <p:sp>
        <p:nvSpPr>
          <p:cNvPr id="16" name="Text 13"/>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Pour être clair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Ce qui n'existe pas encore.</a:t>
            </a:r>
            <a:endParaRPr lang="en-US" sz="2600" dirty="0"/>
          </a:p>
        </p:txBody>
      </p:sp>
      <p:sp>
        <p:nvSpPr>
          <p:cNvPr id="7" name="Text 4"/>
          <p:cNvSpPr/>
          <p:nvPr/>
        </p:nvSpPr>
        <p:spPr>
          <a:xfrm>
            <a:off x="731520" y="3383280"/>
            <a:ext cx="4206240" cy="1097280"/>
          </a:xfrm>
          <a:prstGeom prst="rect">
            <a:avLst/>
          </a:prstGeom>
          <a:noFill/>
          <a:ln/>
        </p:spPr>
        <p:txBody>
          <a:bodyPr wrap="square" lIns="0" tIns="0" rIns="0" bIns="0" rtlCol="0" anchor="t"/>
          <a:lstStyle/>
          <a:p>
            <a:pPr algn="l" indent="0" marL="0">
              <a:lnSpc>
                <a:spcPct val="118000"/>
              </a:lnSpc>
              <a:buNone/>
            </a:pPr>
            <a:r>
              <a:rPr lang="en-US" sz="1250" i="1" dirty="0">
                <a:solidFill>
                  <a:srgbClr val="5B6475"/>
                </a:solidFill>
                <a:latin typeface="Inter" pitchFamily="34" charset="0"/>
                <a:ea typeface="Inter" pitchFamily="34" charset="-122"/>
                <a:cs typeface="Inter" pitchFamily="34" charset="-120"/>
              </a:rPr>
              <a:t>Rien de tout cela n'empêche de déployer. Dites-nous ce qui est une exigence chez vous, et dans quel ordre.</a:t>
            </a:r>
            <a:endParaRPr lang="en-US" sz="125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Connexion par votre annuaire (SAML 2.0, Entra ID).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Les comptes sont locaux, créés par invitation. Techniquement possible ; pas planifié tant qu'un client ne le demande pas.</a:t>
            </a:r>
            <a:endParaRPr lang="en-US" sz="1200" dirty="0"/>
          </a:p>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Configuration administrée (AppConfig).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Pré-remplir l'adresse e-mail ou le magasin depuis votre MDM, pour que la personne n'ait rien à saisir au premier lancement.</a:t>
            </a:r>
            <a:endParaRPr lang="en-US" sz="1200" dirty="0"/>
          </a:p>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Android.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Le build est en cours. Les identifiants sont réservés ; la fiche MDM le signale.</a:t>
            </a:r>
            <a:endParaRPr lang="en-US" sz="1200" dirty="0"/>
          </a:p>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API et connecteur ERP.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L'échange se fait par fichiers : import CSV ou Excel, export Excel. Un connecteur viendra avec le premier client qui en a besoin, pas avant.</a:t>
            </a:r>
            <a:endParaRPr lang="en-US" sz="1200" dirty="0"/>
          </a:p>
          <a:p>
            <a:pPr indent="0" marL="0">
              <a:lnSpc>
                <a:spcPct val="118000"/>
              </a:lnSpc>
              <a:spcAft>
                <a:spcPts val="1000"/>
              </a:spcAft>
              <a:buNone/>
            </a:pPr>
            <a:r>
              <a:rPr lang="en-US" sz="1200" b="1" dirty="0">
                <a:solidFill>
                  <a:srgbClr val="0B0F19"/>
                </a:solidFill>
                <a:latin typeface="Inter" pitchFamily="34" charset="0"/>
                <a:ea typeface="Inter" pitchFamily="34" charset="-122"/>
                <a:cs typeface="Inter" pitchFamily="34" charset="-120"/>
              </a:rPr>
              <a:t>Codes de secours pour la double authentification. </a:t>
            </a:r>
            <a:pPr indent="0" marL="0">
              <a:lnSpc>
                <a:spcPct val="118000"/>
              </a:lnSpc>
              <a:spcAft>
                <a:spcPts val="1000"/>
              </a:spcAft>
              <a:buNone/>
            </a:pPr>
            <a:r>
              <a:rPr lang="en-US" sz="1200" dirty="0">
                <a:solidFill>
                  <a:srgbClr val="3D4556"/>
                </a:solidFill>
                <a:latin typeface="Inter" pitchFamily="34" charset="0"/>
                <a:ea typeface="Inter" pitchFamily="34" charset="-122"/>
                <a:cs typeface="Inter" pitchFamily="34" charset="-120"/>
              </a:rPr>
              <a:t>Un téléphone perdu se dépanne par nous, sur demande de votre administrateur. C'est dit avant l'activation, pas après la perte.</a:t>
            </a:r>
            <a:endParaRPr lang="en-US" sz="12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dossier technique · août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Sora" pitchFamily="34" charset="0"/>
                <a:ea typeface="Sora" pitchFamily="34" charset="-122"/>
                <a:cs typeface="Sora"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4636B0"/>
                </a:solidFill>
                <a:latin typeface="Sora" pitchFamily="34" charset="0"/>
                <a:ea typeface="Sora" pitchFamily="34" charset="-122"/>
                <a:cs typeface="Sora" pitchFamily="34" charset="-120"/>
              </a:rPr>
              <a:t>Ce qu’on vous remet, et à qui.</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D4556"/>
                </a:solidFill>
                <a:latin typeface="Inter" pitchFamily="34" charset="0"/>
                <a:ea typeface="Inter" pitchFamily="34" charset="-122"/>
                <a:cs typeface="Inter" pitchFamily="34" charset="-120"/>
              </a:rPr>
              <a:t>La fiche de déploiement MDM pour l'équipe parc. La politique de confidentialité, les clauses article 28 et la synthèse d'audit pour votre DPO. La note d'information aux salariés pour vos RH. Et un interlocuteur qui répond.</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4636B0"/>
                </a:solidFill>
                <a:latin typeface="Sora" pitchFamily="34" charset="0"/>
                <a:ea typeface="Sora" pitchFamily="34" charset="-122"/>
                <a:cs typeface="Sora"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dossier technique</dc:title>
  <dc:subject>PptxGenJS Presentation</dc:subject>
  <dc:creator>Devkaylab</dc:creator>
  <cp:lastModifiedBy>Devkaylab</cp:lastModifiedBy>
  <cp:revision>1</cp:revision>
  <dcterms:created xsi:type="dcterms:W3CDTF">2026-08-24T10:49:16Z</dcterms:created>
  <dcterms:modified xsi:type="dcterms:W3CDTF">2026-08-24T10:49:16Z</dcterms:modified>
</cp:coreProperties>
</file>