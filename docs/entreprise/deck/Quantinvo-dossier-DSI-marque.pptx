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685800"/>
            <a:ext cx="566928" cy="566928"/>
          </a:xfrm>
          <a:prstGeom prst="rect">
            <a:avLst/>
          </a:prstGeom>
        </p:spPr>
      </p:pic>
      <p:sp>
        <p:nvSpPr>
          <p:cNvPr id="3" name="Text 0"/>
          <p:cNvSpPr/>
          <p:nvPr/>
        </p:nvSpPr>
        <p:spPr>
          <a:xfrm>
            <a:off x="1444752" y="658368"/>
            <a:ext cx="4572000" cy="621792"/>
          </a:xfrm>
          <a:prstGeom prst="rect">
            <a:avLst/>
          </a:prstGeom>
          <a:noFill/>
          <a:ln/>
        </p:spPr>
        <p:txBody>
          <a:bodyPr wrap="square" lIns="0" tIns="0" rIns="0" bIns="0" rtlCol="0" anchor="ctr"/>
          <a:lstStyle/>
          <a:p>
            <a:pPr indent="0" marL="0">
              <a:buNone/>
            </a:pPr>
            <a:r>
              <a:rPr lang="en-US" sz="2400" b="1" dirty="0">
                <a:solidFill>
                  <a:srgbClr val="14181A"/>
                </a:solidFill>
                <a:latin typeface="Archivo" pitchFamily="34" charset="0"/>
                <a:ea typeface="Archivo" pitchFamily="34" charset="-122"/>
                <a:cs typeface="Archivo" pitchFamily="34" charset="-120"/>
              </a:rPr>
              <a:t>Quantinvo</a:t>
            </a:r>
            <a:endParaRPr lang="en-US" sz="2400" dirty="0"/>
          </a:p>
        </p:txBody>
      </p:sp>
      <p:sp>
        <p:nvSpPr>
          <p:cNvPr id="4" name="Shape 1"/>
          <p:cNvSpPr/>
          <p:nvPr/>
        </p:nvSpPr>
        <p:spPr>
          <a:xfrm>
            <a:off x="731520" y="1481328"/>
            <a:ext cx="2011680" cy="20117"/>
          </a:xfrm>
          <a:prstGeom prst="rect">
            <a:avLst/>
          </a:prstGeom>
          <a:solidFill>
            <a:srgbClr val="14181A"/>
          </a:solidFill>
          <a:ln w="12700">
            <a:solidFill>
              <a:srgbClr val="14181A"/>
            </a:solidFill>
            <a:prstDash val="solid"/>
          </a:ln>
        </p:spPr>
      </p:sp>
      <p:sp>
        <p:nvSpPr>
          <p:cNvPr id="5" name="Text 2"/>
          <p:cNvSpPr/>
          <p:nvPr/>
        </p:nvSpPr>
        <p:spPr>
          <a:xfrm>
            <a:off x="731520" y="2331720"/>
            <a:ext cx="8229600" cy="365760"/>
          </a:xfrm>
          <a:prstGeom prst="rect">
            <a:avLst/>
          </a:prstGeom>
          <a:noFill/>
          <a:ln/>
        </p:spPr>
        <p:txBody>
          <a:bodyPr wrap="square" lIns="0" tIns="0" rIns="0" bIns="0" rtlCol="0" anchor="t"/>
          <a:lstStyle/>
          <a:p>
            <a:pPr indent="0" marL="0">
              <a:buNone/>
            </a:pPr>
            <a:r>
              <a:rPr lang="en-US" sz="1300" dirty="0">
                <a:solidFill>
                  <a:srgbClr val="575F5C"/>
                </a:solidFill>
                <a:latin typeface="Public Sans" pitchFamily="34" charset="0"/>
                <a:ea typeface="Public Sans" pitchFamily="34" charset="-122"/>
                <a:cs typeface="Public Sans" pitchFamily="34" charset="-120"/>
              </a:rPr>
              <a:t>Dossier technique pour la direction informatique</a:t>
            </a:r>
            <a:endParaRPr lang="en-US" sz="1300" dirty="0"/>
          </a:p>
        </p:txBody>
      </p:sp>
      <p:sp>
        <p:nvSpPr>
          <p:cNvPr id="6" name="Text 3"/>
          <p:cNvSpPr/>
          <p:nvPr/>
        </p:nvSpPr>
        <p:spPr>
          <a:xfrm>
            <a:off x="731520" y="2743200"/>
            <a:ext cx="8686800" cy="1737360"/>
          </a:xfrm>
          <a:prstGeom prst="rect">
            <a:avLst/>
          </a:prstGeom>
          <a:noFill/>
          <a:ln/>
        </p:spPr>
        <p:txBody>
          <a:bodyPr wrap="square" lIns="0" tIns="0" rIns="0" bIns="0" rtlCol="0" anchor="t"/>
          <a:lstStyle/>
          <a:p>
            <a:pPr indent="0" marL="0">
              <a:lnSpc>
                <a:spcPct val="105000"/>
              </a:lnSpc>
              <a:buNone/>
            </a:pPr>
            <a:r>
              <a:rPr lang="en-US" sz="4000" b="1" dirty="0">
                <a:solidFill>
                  <a:srgbClr val="14181A"/>
                </a:solidFill>
                <a:latin typeface="Archivo" pitchFamily="34" charset="0"/>
                <a:ea typeface="Archivo" pitchFamily="34" charset="-122"/>
                <a:cs typeface="Archivo" pitchFamily="34" charset="-120"/>
              </a:rPr>
              <a:t>Ce qu’il faut valider avant de déployer Quantinvo.</a:t>
            </a:r>
            <a:endParaRPr lang="en-US" sz="4000" dirty="0"/>
          </a:p>
        </p:txBody>
      </p:sp>
      <p:sp>
        <p:nvSpPr>
          <p:cNvPr id="7" name="Text 4"/>
          <p:cNvSpPr/>
          <p:nvPr/>
        </p:nvSpPr>
        <p:spPr>
          <a:xfrm>
            <a:off x="731520" y="4572000"/>
            <a:ext cx="7498080" cy="822960"/>
          </a:xfrm>
          <a:prstGeom prst="rect">
            <a:avLst/>
          </a:prstGeom>
          <a:noFill/>
          <a:ln/>
        </p:spPr>
        <p:txBody>
          <a:bodyPr wrap="square" lIns="0" tIns="0" rIns="0" bIns="0" rtlCol="0" anchor="t"/>
          <a:lstStyle/>
          <a:p>
            <a:pPr indent="0" marL="0">
              <a:lnSpc>
                <a:spcPct val="120000"/>
              </a:lnSpc>
              <a:buNone/>
            </a:pPr>
            <a:r>
              <a:rPr lang="en-US" sz="1500" dirty="0">
                <a:solidFill>
                  <a:srgbClr val="3A423F"/>
                </a:solidFill>
                <a:latin typeface="Public Sans" pitchFamily="34" charset="0"/>
                <a:ea typeface="Public Sans" pitchFamily="34" charset="-122"/>
                <a:cs typeface="Public Sans" pitchFamily="34" charset="-120"/>
              </a:rPr>
              <a:t>Architecture, données, accès, réseau, appareils, conformité. Ce qui n’existe pas encore est dit sur la page concernée.</a:t>
            </a:r>
            <a:endParaRPr lang="en-US" sz="1500" dirty="0"/>
          </a:p>
        </p:txBody>
      </p:sp>
      <p:sp>
        <p:nvSpPr>
          <p:cNvPr id="8" name="Text 5"/>
          <p:cNvSpPr/>
          <p:nvPr/>
        </p:nvSpPr>
        <p:spPr>
          <a:xfrm>
            <a:off x="731520" y="6080760"/>
            <a:ext cx="9144000" cy="320040"/>
          </a:xfrm>
          <a:prstGeom prst="rect">
            <a:avLst/>
          </a:prstGeom>
          <a:noFill/>
          <a:ln/>
        </p:spPr>
        <p:txBody>
          <a:bodyPr wrap="square" lIns="0" tIns="0" rIns="0" bIns="0" rtlCol="0" anchor="t"/>
          <a:lstStyle/>
          <a:p>
            <a:pPr indent="0" marL="0">
              <a:buNone/>
            </a:pPr>
            <a:r>
              <a:rPr lang="en-US" sz="1050" dirty="0">
                <a:solidFill>
                  <a:srgbClr val="575F5C"/>
                </a:solidFill>
                <a:latin typeface="Public Sans" pitchFamily="34" charset="0"/>
                <a:ea typeface="Public Sans" pitchFamily="34" charset="-122"/>
                <a:cs typeface="Public Sans" pitchFamily="34" charset="-120"/>
              </a:rPr>
              <a:t>Devkaylab · état au 19 septembre 2026 · www.quantinvo.com</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Architecture</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206240" cy="201168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chivo" pitchFamily="34" charset="0"/>
                <a:ea typeface="Archivo" pitchFamily="34" charset="-122"/>
                <a:cs typeface="Archivo" pitchFamily="34" charset="-120"/>
              </a:rPr>
              <a:t>Une application, un site, une seule base.</a:t>
            </a:r>
            <a:endParaRPr lang="en-US" sz="2600" dirty="0"/>
          </a:p>
        </p:txBody>
      </p:sp>
      <p:sp>
        <p:nvSpPr>
          <p:cNvPr id="7" name="Text 4"/>
          <p:cNvSpPr/>
          <p:nvPr/>
        </p:nvSpPr>
        <p:spPr>
          <a:xfrm>
            <a:off x="731520" y="2514600"/>
            <a:ext cx="4206240" cy="1097280"/>
          </a:xfrm>
          <a:prstGeom prst="rect">
            <a:avLst/>
          </a:prstGeom>
          <a:noFill/>
          <a:ln/>
        </p:spPr>
        <p:txBody>
          <a:bodyPr wrap="square" lIns="0" tIns="0" rIns="0" bIns="0" rtlCol="0" anchor="t"/>
          <a:lstStyle/>
          <a:p>
            <a:pPr algn="l" indent="0" marL="0">
              <a:lnSpc>
                <a:spcPct val="118000"/>
              </a:lnSpc>
              <a:buNone/>
            </a:pPr>
            <a:r>
              <a:rPr lang="en-US" sz="1200" dirty="0">
                <a:solidFill>
                  <a:srgbClr val="3A423F"/>
                </a:solidFill>
                <a:latin typeface="Public Sans" pitchFamily="34" charset="0"/>
                <a:ea typeface="Public Sans" pitchFamily="34" charset="-122"/>
                <a:cs typeface="Public Sans" pitchFamily="34" charset="-120"/>
              </a:rPr>
              <a:t>Le téléphone et le navigateur interrogent directement la base. Le site se limite à servir ses pages.</a:t>
            </a:r>
            <a:endParaRPr lang="en-US" sz="1200" dirty="0"/>
          </a:p>
        </p:txBody>
      </p:sp>
      <p:sp>
        <p:nvSpPr>
          <p:cNvPr id="8" name="Text 5"/>
          <p:cNvSpPr/>
          <p:nvPr/>
        </p:nvSpPr>
        <p:spPr>
          <a:xfrm>
            <a:off x="5394960" y="1371600"/>
            <a:ext cx="1828800" cy="274320"/>
          </a:xfrm>
          <a:prstGeom prst="rect">
            <a:avLst/>
          </a:prstGeom>
          <a:noFill/>
          <a:ln/>
        </p:spPr>
        <p:txBody>
          <a:bodyPr wrap="square" lIns="0" tIns="0" rIns="0" bIns="0" rtlCol="0" anchor="t"/>
          <a:lstStyle/>
          <a:p>
            <a:pPr indent="0" marL="0">
              <a:buNone/>
            </a:pPr>
            <a:r>
              <a:rPr lang="en-US" sz="1000" b="1" dirty="0">
                <a:solidFill>
                  <a:srgbClr val="575F5C"/>
                </a:solidFill>
                <a:latin typeface="Public Sans" pitchFamily="34" charset="0"/>
                <a:ea typeface="Public Sans" pitchFamily="34" charset="-122"/>
                <a:cs typeface="Public Sans" pitchFamily="34" charset="-120"/>
              </a:rPr>
              <a:t>Composant</a:t>
            </a:r>
            <a:endParaRPr lang="en-US" sz="1000" dirty="0"/>
          </a:p>
        </p:txBody>
      </p:sp>
      <p:sp>
        <p:nvSpPr>
          <p:cNvPr id="9" name="Text 6"/>
          <p:cNvSpPr/>
          <p:nvPr/>
        </p:nvSpPr>
        <p:spPr>
          <a:xfrm>
            <a:off x="7223760" y="1371600"/>
            <a:ext cx="2194560" cy="274320"/>
          </a:xfrm>
          <a:prstGeom prst="rect">
            <a:avLst/>
          </a:prstGeom>
          <a:noFill/>
          <a:ln/>
        </p:spPr>
        <p:txBody>
          <a:bodyPr wrap="square" lIns="0" tIns="0" rIns="0" bIns="0" rtlCol="0" anchor="t"/>
          <a:lstStyle/>
          <a:p>
            <a:pPr indent="0" marL="0">
              <a:buNone/>
            </a:pPr>
            <a:r>
              <a:rPr lang="en-US" sz="1000" b="1" dirty="0">
                <a:solidFill>
                  <a:srgbClr val="575F5C"/>
                </a:solidFill>
                <a:latin typeface="Public Sans" pitchFamily="34" charset="0"/>
                <a:ea typeface="Public Sans" pitchFamily="34" charset="-122"/>
                <a:cs typeface="Public Sans" pitchFamily="34" charset="-120"/>
              </a:rPr>
              <a:t>Technologie</a:t>
            </a:r>
            <a:endParaRPr lang="en-US" sz="1000" dirty="0"/>
          </a:p>
        </p:txBody>
      </p:sp>
      <p:sp>
        <p:nvSpPr>
          <p:cNvPr id="10" name="Text 7"/>
          <p:cNvSpPr/>
          <p:nvPr/>
        </p:nvSpPr>
        <p:spPr>
          <a:xfrm>
            <a:off x="9418320" y="1371600"/>
            <a:ext cx="2039112" cy="274320"/>
          </a:xfrm>
          <a:prstGeom prst="rect">
            <a:avLst/>
          </a:prstGeom>
          <a:noFill/>
          <a:ln/>
        </p:spPr>
        <p:txBody>
          <a:bodyPr wrap="square" lIns="0" tIns="0" rIns="0" bIns="0" rtlCol="0" anchor="t"/>
          <a:lstStyle/>
          <a:p>
            <a:pPr indent="0" marL="0">
              <a:buNone/>
            </a:pPr>
            <a:r>
              <a:rPr lang="en-US" sz="1000" b="1" dirty="0">
                <a:solidFill>
                  <a:srgbClr val="575F5C"/>
                </a:solidFill>
                <a:latin typeface="Public Sans" pitchFamily="34" charset="0"/>
                <a:ea typeface="Public Sans" pitchFamily="34" charset="-122"/>
                <a:cs typeface="Public Sans" pitchFamily="34" charset="-120"/>
              </a:rPr>
              <a:t>Usage</a:t>
            </a:r>
            <a:endParaRPr lang="en-US" sz="1000" dirty="0"/>
          </a:p>
        </p:txBody>
      </p:sp>
      <p:sp>
        <p:nvSpPr>
          <p:cNvPr id="11" name="Shape 8"/>
          <p:cNvSpPr/>
          <p:nvPr/>
        </p:nvSpPr>
        <p:spPr>
          <a:xfrm>
            <a:off x="5394960" y="1700784"/>
            <a:ext cx="6062472" cy="0"/>
          </a:xfrm>
          <a:prstGeom prst="line">
            <a:avLst/>
          </a:prstGeom>
          <a:noFill/>
          <a:ln w="9525">
            <a:solidFill>
              <a:srgbClr val="E2E5E1"/>
            </a:solidFill>
            <a:prstDash val="solid"/>
          </a:ln>
        </p:spPr>
      </p:sp>
      <p:sp>
        <p:nvSpPr>
          <p:cNvPr id="12" name="Text 9"/>
          <p:cNvSpPr/>
          <p:nvPr/>
        </p:nvSpPr>
        <p:spPr>
          <a:xfrm>
            <a:off x="5394960" y="1801368"/>
            <a:ext cx="1691640" cy="804672"/>
          </a:xfrm>
          <a:prstGeom prst="rect">
            <a:avLst/>
          </a:prstGeom>
          <a:noFill/>
          <a:ln/>
        </p:spPr>
        <p:txBody>
          <a:bodyPr wrap="square" lIns="0" tIns="0" rIns="0" bIns="0" rtlCol="0" anchor="t"/>
          <a:lstStyle/>
          <a:p>
            <a:pPr indent="0" marL="0">
              <a:lnSpc>
                <a:spcPct val="112000"/>
              </a:lnSpc>
              <a:buNone/>
            </a:pPr>
            <a:r>
              <a:rPr lang="en-US" sz="1200" b="1" dirty="0">
                <a:solidFill>
                  <a:srgbClr val="14181A"/>
                </a:solidFill>
                <a:latin typeface="Archivo" pitchFamily="34" charset="0"/>
                <a:ea typeface="Archivo" pitchFamily="34" charset="-122"/>
                <a:cs typeface="Archivo" pitchFamily="34" charset="-120"/>
              </a:rPr>
              <a:t>Application mobile</a:t>
            </a:r>
            <a:endParaRPr lang="en-US" sz="1200" dirty="0"/>
          </a:p>
        </p:txBody>
      </p:sp>
      <p:sp>
        <p:nvSpPr>
          <p:cNvPr id="13" name="Text 10"/>
          <p:cNvSpPr/>
          <p:nvPr/>
        </p:nvSpPr>
        <p:spPr>
          <a:xfrm>
            <a:off x="7223760" y="1801368"/>
            <a:ext cx="2057400" cy="804672"/>
          </a:xfrm>
          <a:prstGeom prst="rect">
            <a:avLst/>
          </a:prstGeom>
          <a:noFill/>
          <a:ln/>
        </p:spPr>
        <p:txBody>
          <a:bodyPr wrap="square" lIns="0" tIns="0" rIns="0" bIns="0" rtlCol="0" anchor="t"/>
          <a:lstStyle/>
          <a:p>
            <a:pPr indent="0" marL="0">
              <a:lnSpc>
                <a:spcPct val="112000"/>
              </a:lnSpc>
              <a:buNone/>
            </a:pPr>
            <a:r>
              <a:rPr lang="en-US" sz="1200" dirty="0">
                <a:solidFill>
                  <a:srgbClr val="3A423F"/>
                </a:solidFill>
                <a:latin typeface="Public Sans" pitchFamily="34" charset="0"/>
                <a:ea typeface="Public Sans" pitchFamily="34" charset="-122"/>
                <a:cs typeface="Public Sans" pitchFamily="34" charset="-120"/>
              </a:rPr>
              <a:t>Expo (React Native), pour iOS et Android</a:t>
            </a:r>
            <a:endParaRPr lang="en-US" sz="1200" dirty="0"/>
          </a:p>
        </p:txBody>
      </p:sp>
      <p:sp>
        <p:nvSpPr>
          <p:cNvPr id="14" name="Text 11"/>
          <p:cNvSpPr/>
          <p:nvPr/>
        </p:nvSpPr>
        <p:spPr>
          <a:xfrm>
            <a:off x="9418320" y="1801368"/>
            <a:ext cx="1901952" cy="804672"/>
          </a:xfrm>
          <a:prstGeom prst="rect">
            <a:avLst/>
          </a:prstGeom>
          <a:noFill/>
          <a:ln/>
        </p:spPr>
        <p:txBody>
          <a:bodyPr wrap="square" lIns="0" tIns="0" rIns="0" bIns="0" rtlCol="0" anchor="t"/>
          <a:lstStyle/>
          <a:p>
            <a:pPr indent="0" marL="0">
              <a:lnSpc>
                <a:spcPct val="112000"/>
              </a:lnSpc>
              <a:buNone/>
            </a:pPr>
            <a:r>
              <a:rPr lang="en-US" sz="1200" dirty="0">
                <a:solidFill>
                  <a:srgbClr val="3A423F"/>
                </a:solidFill>
                <a:latin typeface="Public Sans" pitchFamily="34" charset="0"/>
                <a:ea typeface="Public Sans" pitchFamily="34" charset="-122"/>
                <a:cs typeface="Public Sans" pitchFamily="34" charset="-120"/>
              </a:rPr>
              <a:t>Comptage sur le terrain. Le superviseur peut aussi y préparer et suivre.</a:t>
            </a:r>
            <a:endParaRPr lang="en-US" sz="1200" dirty="0"/>
          </a:p>
        </p:txBody>
      </p:sp>
      <p:sp>
        <p:nvSpPr>
          <p:cNvPr id="15" name="Shape 12"/>
          <p:cNvSpPr/>
          <p:nvPr/>
        </p:nvSpPr>
        <p:spPr>
          <a:xfrm>
            <a:off x="5394960" y="2633472"/>
            <a:ext cx="6062472" cy="0"/>
          </a:xfrm>
          <a:prstGeom prst="line">
            <a:avLst/>
          </a:prstGeom>
          <a:noFill/>
          <a:ln w="9525">
            <a:solidFill>
              <a:srgbClr val="E2E5E1"/>
            </a:solidFill>
            <a:prstDash val="solid"/>
          </a:ln>
        </p:spPr>
      </p:sp>
      <p:sp>
        <p:nvSpPr>
          <p:cNvPr id="16" name="Text 13"/>
          <p:cNvSpPr/>
          <p:nvPr/>
        </p:nvSpPr>
        <p:spPr>
          <a:xfrm>
            <a:off x="5394960" y="2734056"/>
            <a:ext cx="1691640" cy="603504"/>
          </a:xfrm>
          <a:prstGeom prst="rect">
            <a:avLst/>
          </a:prstGeom>
          <a:noFill/>
          <a:ln/>
        </p:spPr>
        <p:txBody>
          <a:bodyPr wrap="square" lIns="0" tIns="0" rIns="0" bIns="0" rtlCol="0" anchor="t"/>
          <a:lstStyle/>
          <a:p>
            <a:pPr indent="0" marL="0">
              <a:lnSpc>
                <a:spcPct val="112000"/>
              </a:lnSpc>
              <a:buNone/>
            </a:pPr>
            <a:r>
              <a:rPr lang="en-US" sz="1200" b="1" dirty="0">
                <a:solidFill>
                  <a:srgbClr val="14181A"/>
                </a:solidFill>
                <a:latin typeface="Archivo" pitchFamily="34" charset="0"/>
                <a:ea typeface="Archivo" pitchFamily="34" charset="-122"/>
                <a:cs typeface="Archivo" pitchFamily="34" charset="-120"/>
              </a:rPr>
              <a:t>Site</a:t>
            </a:r>
            <a:endParaRPr lang="en-US" sz="1200" dirty="0"/>
          </a:p>
        </p:txBody>
      </p:sp>
      <p:sp>
        <p:nvSpPr>
          <p:cNvPr id="17" name="Text 14"/>
          <p:cNvSpPr/>
          <p:nvPr/>
        </p:nvSpPr>
        <p:spPr>
          <a:xfrm>
            <a:off x="7223760" y="2734056"/>
            <a:ext cx="2057400" cy="603504"/>
          </a:xfrm>
          <a:prstGeom prst="rect">
            <a:avLst/>
          </a:prstGeom>
          <a:noFill/>
          <a:ln/>
        </p:spPr>
        <p:txBody>
          <a:bodyPr wrap="square" lIns="0" tIns="0" rIns="0" bIns="0" rtlCol="0" anchor="t"/>
          <a:lstStyle/>
          <a:p>
            <a:pPr indent="0" marL="0">
              <a:lnSpc>
                <a:spcPct val="112000"/>
              </a:lnSpc>
              <a:buNone/>
            </a:pPr>
            <a:r>
              <a:rPr lang="en-US" sz="1200" dirty="0">
                <a:solidFill>
                  <a:srgbClr val="3A423F"/>
                </a:solidFill>
                <a:latin typeface="Public Sans" pitchFamily="34" charset="0"/>
                <a:ea typeface="Public Sans" pitchFamily="34" charset="-122"/>
                <a:cs typeface="Public Sans" pitchFamily="34" charset="-120"/>
              </a:rPr>
              <a:t>Next.js, hébergé par Vercel</a:t>
            </a:r>
            <a:endParaRPr lang="en-US" sz="1200" dirty="0"/>
          </a:p>
        </p:txBody>
      </p:sp>
      <p:sp>
        <p:nvSpPr>
          <p:cNvPr id="18" name="Text 15"/>
          <p:cNvSpPr/>
          <p:nvPr/>
        </p:nvSpPr>
        <p:spPr>
          <a:xfrm>
            <a:off x="9418320" y="2734056"/>
            <a:ext cx="1901952" cy="603504"/>
          </a:xfrm>
          <a:prstGeom prst="rect">
            <a:avLst/>
          </a:prstGeom>
          <a:noFill/>
          <a:ln/>
        </p:spPr>
        <p:txBody>
          <a:bodyPr wrap="square" lIns="0" tIns="0" rIns="0" bIns="0" rtlCol="0" anchor="t"/>
          <a:lstStyle/>
          <a:p>
            <a:pPr indent="0" marL="0">
              <a:lnSpc>
                <a:spcPct val="112000"/>
              </a:lnSpc>
              <a:buNone/>
            </a:pPr>
            <a:r>
              <a:rPr lang="en-US" sz="1200" dirty="0">
                <a:solidFill>
                  <a:srgbClr val="3A423F"/>
                </a:solidFill>
                <a:latin typeface="Public Sans" pitchFamily="34" charset="0"/>
                <a:ea typeface="Public Sans" pitchFamily="34" charset="-122"/>
                <a:cs typeface="Public Sans" pitchFamily="34" charset="-120"/>
              </a:rPr>
              <a:t>Préparation et suivi, sur ordinateur.</a:t>
            </a:r>
            <a:endParaRPr lang="en-US" sz="1200" dirty="0"/>
          </a:p>
        </p:txBody>
      </p:sp>
      <p:sp>
        <p:nvSpPr>
          <p:cNvPr id="19" name="Shape 16"/>
          <p:cNvSpPr/>
          <p:nvPr/>
        </p:nvSpPr>
        <p:spPr>
          <a:xfrm>
            <a:off x="5394960" y="3364992"/>
            <a:ext cx="6062472" cy="0"/>
          </a:xfrm>
          <a:prstGeom prst="line">
            <a:avLst/>
          </a:prstGeom>
          <a:noFill/>
          <a:ln w="9525">
            <a:solidFill>
              <a:srgbClr val="E2E5E1"/>
            </a:solidFill>
            <a:prstDash val="solid"/>
          </a:ln>
        </p:spPr>
      </p:sp>
      <p:sp>
        <p:nvSpPr>
          <p:cNvPr id="20" name="Text 17"/>
          <p:cNvSpPr/>
          <p:nvPr/>
        </p:nvSpPr>
        <p:spPr>
          <a:xfrm>
            <a:off x="5394960" y="3465576"/>
            <a:ext cx="1691640" cy="603504"/>
          </a:xfrm>
          <a:prstGeom prst="rect">
            <a:avLst/>
          </a:prstGeom>
          <a:noFill/>
          <a:ln/>
        </p:spPr>
        <p:txBody>
          <a:bodyPr wrap="square" lIns="0" tIns="0" rIns="0" bIns="0" rtlCol="0" anchor="t"/>
          <a:lstStyle/>
          <a:p>
            <a:pPr indent="0" marL="0">
              <a:lnSpc>
                <a:spcPct val="112000"/>
              </a:lnSpc>
              <a:buNone/>
            </a:pPr>
            <a:r>
              <a:rPr lang="en-US" sz="1200" b="1" dirty="0">
                <a:solidFill>
                  <a:srgbClr val="14181A"/>
                </a:solidFill>
                <a:latin typeface="Archivo" pitchFamily="34" charset="0"/>
                <a:ea typeface="Archivo" pitchFamily="34" charset="-122"/>
                <a:cs typeface="Archivo" pitchFamily="34" charset="-120"/>
              </a:rPr>
              <a:t>Base de données</a:t>
            </a:r>
            <a:endParaRPr lang="en-US" sz="1200" dirty="0"/>
          </a:p>
        </p:txBody>
      </p:sp>
      <p:sp>
        <p:nvSpPr>
          <p:cNvPr id="21" name="Text 18"/>
          <p:cNvSpPr/>
          <p:nvPr/>
        </p:nvSpPr>
        <p:spPr>
          <a:xfrm>
            <a:off x="7223760" y="3465576"/>
            <a:ext cx="2057400" cy="603504"/>
          </a:xfrm>
          <a:prstGeom prst="rect">
            <a:avLst/>
          </a:prstGeom>
          <a:noFill/>
          <a:ln/>
        </p:spPr>
        <p:txBody>
          <a:bodyPr wrap="square" lIns="0" tIns="0" rIns="0" bIns="0" rtlCol="0" anchor="t"/>
          <a:lstStyle/>
          <a:p>
            <a:pPr indent="0" marL="0">
              <a:lnSpc>
                <a:spcPct val="112000"/>
              </a:lnSpc>
              <a:buNone/>
            </a:pPr>
            <a:r>
              <a:rPr lang="en-US" sz="1200" dirty="0">
                <a:solidFill>
                  <a:srgbClr val="3A423F"/>
                </a:solidFill>
                <a:latin typeface="Public Sans" pitchFamily="34" charset="0"/>
                <a:ea typeface="Public Sans" pitchFamily="34" charset="-122"/>
                <a:cs typeface="Public Sans" pitchFamily="34" charset="-120"/>
              </a:rPr>
              <a:t>PostgreSQL, chez Supabase</a:t>
            </a:r>
            <a:endParaRPr lang="en-US" sz="1200" dirty="0"/>
          </a:p>
        </p:txBody>
      </p:sp>
      <p:sp>
        <p:nvSpPr>
          <p:cNvPr id="22" name="Text 19"/>
          <p:cNvSpPr/>
          <p:nvPr/>
        </p:nvSpPr>
        <p:spPr>
          <a:xfrm>
            <a:off x="9418320" y="3465576"/>
            <a:ext cx="1901952" cy="603504"/>
          </a:xfrm>
          <a:prstGeom prst="rect">
            <a:avLst/>
          </a:prstGeom>
          <a:noFill/>
          <a:ln/>
        </p:spPr>
        <p:txBody>
          <a:bodyPr wrap="square" lIns="0" tIns="0" rIns="0" bIns="0" rtlCol="0" anchor="t"/>
          <a:lstStyle/>
          <a:p>
            <a:pPr indent="0" marL="0">
              <a:lnSpc>
                <a:spcPct val="112000"/>
              </a:lnSpc>
              <a:buNone/>
            </a:pPr>
            <a:r>
              <a:rPr lang="en-US" sz="1200" dirty="0">
                <a:solidFill>
                  <a:srgbClr val="3A423F"/>
                </a:solidFill>
                <a:latin typeface="Public Sans" pitchFamily="34" charset="0"/>
                <a:ea typeface="Public Sans" pitchFamily="34" charset="-122"/>
                <a:cs typeface="Public Sans" pitchFamily="34" charset="-120"/>
              </a:rPr>
              <a:t>Données, comptes et règles d’accès.</a:t>
            </a:r>
            <a:endParaRPr lang="en-US" sz="1200" dirty="0"/>
          </a:p>
        </p:txBody>
      </p:sp>
      <p:sp>
        <p:nvSpPr>
          <p:cNvPr id="23" name="Shape 20"/>
          <p:cNvSpPr/>
          <p:nvPr/>
        </p:nvSpPr>
        <p:spPr>
          <a:xfrm>
            <a:off x="5394960" y="4096512"/>
            <a:ext cx="6062472" cy="0"/>
          </a:xfrm>
          <a:prstGeom prst="line">
            <a:avLst/>
          </a:prstGeom>
          <a:noFill/>
          <a:ln w="9525">
            <a:solidFill>
              <a:srgbClr val="E2E5E1"/>
            </a:solidFill>
            <a:prstDash val="solid"/>
          </a:ln>
        </p:spPr>
      </p:sp>
      <p:sp>
        <p:nvSpPr>
          <p:cNvPr id="24" name="Text 21"/>
          <p:cNvSpPr/>
          <p:nvPr/>
        </p:nvSpPr>
        <p:spPr>
          <a:xfrm>
            <a:off x="5394960" y="4197096"/>
            <a:ext cx="1691640" cy="603504"/>
          </a:xfrm>
          <a:prstGeom prst="rect">
            <a:avLst/>
          </a:prstGeom>
          <a:noFill/>
          <a:ln/>
        </p:spPr>
        <p:txBody>
          <a:bodyPr wrap="square" lIns="0" tIns="0" rIns="0" bIns="0" rtlCol="0" anchor="t"/>
          <a:lstStyle/>
          <a:p>
            <a:pPr indent="0" marL="0">
              <a:lnSpc>
                <a:spcPct val="112000"/>
              </a:lnSpc>
              <a:buNone/>
            </a:pPr>
            <a:r>
              <a:rPr lang="en-US" sz="1200" b="1" dirty="0">
                <a:solidFill>
                  <a:srgbClr val="14181A"/>
                </a:solidFill>
                <a:latin typeface="Archivo" pitchFamily="34" charset="0"/>
                <a:ea typeface="Archivo" pitchFamily="34" charset="-122"/>
                <a:cs typeface="Archivo" pitchFamily="34" charset="-120"/>
              </a:rPr>
              <a:t>Traitements serveur</a:t>
            </a:r>
            <a:endParaRPr lang="en-US" sz="1200" dirty="0"/>
          </a:p>
        </p:txBody>
      </p:sp>
      <p:sp>
        <p:nvSpPr>
          <p:cNvPr id="25" name="Text 22"/>
          <p:cNvSpPr/>
          <p:nvPr/>
        </p:nvSpPr>
        <p:spPr>
          <a:xfrm>
            <a:off x="7223760" y="4197096"/>
            <a:ext cx="2057400" cy="603504"/>
          </a:xfrm>
          <a:prstGeom prst="rect">
            <a:avLst/>
          </a:prstGeom>
          <a:noFill/>
          <a:ln/>
        </p:spPr>
        <p:txBody>
          <a:bodyPr wrap="square" lIns="0" tIns="0" rIns="0" bIns="0" rtlCol="0" anchor="t"/>
          <a:lstStyle/>
          <a:p>
            <a:pPr indent="0" marL="0">
              <a:lnSpc>
                <a:spcPct val="112000"/>
              </a:lnSpc>
              <a:buNone/>
            </a:pPr>
            <a:r>
              <a:rPr lang="en-US" sz="1200" dirty="0">
                <a:solidFill>
                  <a:srgbClr val="3A423F"/>
                </a:solidFill>
                <a:latin typeface="Public Sans" pitchFamily="34" charset="0"/>
                <a:ea typeface="Public Sans" pitchFamily="34" charset="-122"/>
                <a:cs typeface="Public Sans" pitchFamily="34" charset="-120"/>
              </a:rPr>
              <a:t>Supabase Edge Functions</a:t>
            </a:r>
            <a:endParaRPr lang="en-US" sz="1200" dirty="0"/>
          </a:p>
        </p:txBody>
      </p:sp>
      <p:sp>
        <p:nvSpPr>
          <p:cNvPr id="26" name="Text 23"/>
          <p:cNvSpPr/>
          <p:nvPr/>
        </p:nvSpPr>
        <p:spPr>
          <a:xfrm>
            <a:off x="9418320" y="4197096"/>
            <a:ext cx="1901952" cy="603504"/>
          </a:xfrm>
          <a:prstGeom prst="rect">
            <a:avLst/>
          </a:prstGeom>
          <a:noFill/>
          <a:ln/>
        </p:spPr>
        <p:txBody>
          <a:bodyPr wrap="square" lIns="0" tIns="0" rIns="0" bIns="0" rtlCol="0" anchor="t"/>
          <a:lstStyle/>
          <a:p>
            <a:pPr indent="0" marL="0">
              <a:lnSpc>
                <a:spcPct val="112000"/>
              </a:lnSpc>
              <a:buNone/>
            </a:pPr>
            <a:r>
              <a:rPr lang="en-US" sz="1200" dirty="0">
                <a:solidFill>
                  <a:srgbClr val="3A423F"/>
                </a:solidFill>
                <a:latin typeface="Public Sans" pitchFamily="34" charset="0"/>
                <a:ea typeface="Public Sans" pitchFamily="34" charset="-122"/>
                <a:cs typeface="Public Sans" pitchFamily="34" charset="-120"/>
              </a:rPr>
              <a:t>Invitations, e-mails, notifications, paiement.</a:t>
            </a:r>
            <a:endParaRPr lang="en-US" sz="1200" dirty="0"/>
          </a:p>
        </p:txBody>
      </p:sp>
      <p:sp>
        <p:nvSpPr>
          <p:cNvPr id="27" name="Shape 24"/>
          <p:cNvSpPr/>
          <p:nvPr/>
        </p:nvSpPr>
        <p:spPr>
          <a:xfrm>
            <a:off x="5394960" y="4828032"/>
            <a:ext cx="6062472" cy="0"/>
          </a:xfrm>
          <a:prstGeom prst="line">
            <a:avLst/>
          </a:prstGeom>
          <a:noFill/>
          <a:ln w="9525">
            <a:solidFill>
              <a:srgbClr val="E2E5E1"/>
            </a:solidFill>
            <a:prstDash val="solid"/>
          </a:ln>
        </p:spPr>
      </p:sp>
      <p:sp>
        <p:nvSpPr>
          <p:cNvPr id="28" name="Text 25"/>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dossier technique · septembre 2026</a:t>
            </a:r>
            <a:endParaRPr lang="en-US" sz="900" dirty="0"/>
          </a:p>
        </p:txBody>
      </p:sp>
      <p:sp>
        <p:nvSpPr>
          <p:cNvPr id="29" name="Text 26"/>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Hébergement</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206240" cy="201168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chivo" pitchFamily="34" charset="0"/>
                <a:ea typeface="Archivo" pitchFamily="34" charset="-122"/>
                <a:cs typeface="Archivo" pitchFamily="34" charset="-120"/>
              </a:rPr>
              <a:t>Les données d’inventaire sont stockées en Irlande.</a:t>
            </a:r>
            <a:endParaRPr lang="en-US" sz="2600" dirty="0"/>
          </a:p>
        </p:txBody>
      </p:sp>
      <p:sp>
        <p:nvSpPr>
          <p:cNvPr id="7" name="Text 4"/>
          <p:cNvSpPr/>
          <p:nvPr/>
        </p:nvSpPr>
        <p:spPr>
          <a:xfrm>
            <a:off x="731520" y="2514600"/>
            <a:ext cx="4206240" cy="914400"/>
          </a:xfrm>
          <a:prstGeom prst="rect">
            <a:avLst/>
          </a:prstGeom>
          <a:noFill/>
          <a:ln/>
        </p:spPr>
        <p:txBody>
          <a:bodyPr wrap="square" lIns="0" tIns="0" rIns="0" bIns="0" rtlCol="0" anchor="t"/>
          <a:lstStyle/>
          <a:p>
            <a:pPr algn="l" indent="0" marL="0">
              <a:lnSpc>
                <a:spcPct val="118000"/>
              </a:lnSpc>
              <a:buNone/>
            </a:pPr>
            <a:r>
              <a:rPr lang="en-US" sz="1200" dirty="0">
                <a:solidFill>
                  <a:srgbClr val="3A423F"/>
                </a:solidFill>
                <a:latin typeface="Public Sans" pitchFamily="34" charset="0"/>
                <a:ea typeface="Public Sans" pitchFamily="34" charset="-122"/>
                <a:cs typeface="Public Sans" pitchFamily="34" charset="-120"/>
              </a:rPr>
              <a:t>Certains prestataires sont établis aux États-Unis. Les transferts de données vers eux reposent sur les clauses contractuelles types de la Commission européenne.</a:t>
            </a:r>
            <a:endParaRPr lang="en-US" sz="1200" dirty="0"/>
          </a:p>
        </p:txBody>
      </p:sp>
      <p:sp>
        <p:nvSpPr>
          <p:cNvPr id="8" name="Text 5"/>
          <p:cNvSpPr/>
          <p:nvPr/>
        </p:nvSpPr>
        <p:spPr>
          <a:xfrm>
            <a:off x="731520" y="3520440"/>
            <a:ext cx="4206240" cy="457200"/>
          </a:xfrm>
          <a:prstGeom prst="rect">
            <a:avLst/>
          </a:prstGeom>
          <a:noFill/>
          <a:ln/>
        </p:spPr>
        <p:txBody>
          <a:bodyPr wrap="square" lIns="0" tIns="0" rIns="0" bIns="0" rtlCol="0" anchor="t"/>
          <a:lstStyle/>
          <a:p>
            <a:pPr algn="l" indent="0" marL="0">
              <a:lnSpc>
                <a:spcPct val="118000"/>
              </a:lnSpc>
              <a:buNone/>
            </a:pPr>
            <a:r>
              <a:rPr lang="en-US" sz="1200" dirty="0">
                <a:solidFill>
                  <a:srgbClr val="575F5C"/>
                </a:solidFill>
                <a:latin typeface="Public Sans" pitchFamily="34" charset="0"/>
                <a:ea typeface="Public Sans" pitchFamily="34" charset="-122"/>
                <a:cs typeface="Public Sans" pitchFamily="34" charset="-120"/>
              </a:rPr>
              <a:t>Liste publiée sur www.quantinvo.com/confidentialite.</a:t>
            </a:r>
            <a:endParaRPr lang="en-US" sz="1200" dirty="0"/>
          </a:p>
        </p:txBody>
      </p:sp>
      <p:sp>
        <p:nvSpPr>
          <p:cNvPr id="9" name="Text 6"/>
          <p:cNvSpPr/>
          <p:nvPr/>
        </p:nvSpPr>
        <p:spPr>
          <a:xfrm>
            <a:off x="5394960" y="1371600"/>
            <a:ext cx="1234440" cy="274320"/>
          </a:xfrm>
          <a:prstGeom prst="rect">
            <a:avLst/>
          </a:prstGeom>
          <a:noFill/>
          <a:ln/>
        </p:spPr>
        <p:txBody>
          <a:bodyPr wrap="square" lIns="0" tIns="0" rIns="0" bIns="0" rtlCol="0" anchor="t"/>
          <a:lstStyle/>
          <a:p>
            <a:pPr indent="0" marL="0">
              <a:buNone/>
            </a:pPr>
            <a:r>
              <a:rPr lang="en-US" sz="1000" b="1" dirty="0">
                <a:solidFill>
                  <a:srgbClr val="575F5C"/>
                </a:solidFill>
                <a:latin typeface="Public Sans" pitchFamily="34" charset="0"/>
                <a:ea typeface="Public Sans" pitchFamily="34" charset="-122"/>
                <a:cs typeface="Public Sans" pitchFamily="34" charset="-120"/>
              </a:rPr>
              <a:t>Prestataire</a:t>
            </a:r>
            <a:endParaRPr lang="en-US" sz="1000" dirty="0"/>
          </a:p>
        </p:txBody>
      </p:sp>
      <p:sp>
        <p:nvSpPr>
          <p:cNvPr id="10" name="Text 7"/>
          <p:cNvSpPr/>
          <p:nvPr/>
        </p:nvSpPr>
        <p:spPr>
          <a:xfrm>
            <a:off x="6629400" y="1371600"/>
            <a:ext cx="2514600" cy="274320"/>
          </a:xfrm>
          <a:prstGeom prst="rect">
            <a:avLst/>
          </a:prstGeom>
          <a:noFill/>
          <a:ln/>
        </p:spPr>
        <p:txBody>
          <a:bodyPr wrap="square" lIns="0" tIns="0" rIns="0" bIns="0" rtlCol="0" anchor="t"/>
          <a:lstStyle/>
          <a:p>
            <a:pPr indent="0" marL="0">
              <a:buNone/>
            </a:pPr>
            <a:r>
              <a:rPr lang="en-US" sz="1000" b="1" dirty="0">
                <a:solidFill>
                  <a:srgbClr val="575F5C"/>
                </a:solidFill>
                <a:latin typeface="Public Sans" pitchFamily="34" charset="0"/>
                <a:ea typeface="Public Sans" pitchFamily="34" charset="-122"/>
                <a:cs typeface="Public Sans" pitchFamily="34" charset="-120"/>
              </a:rPr>
              <a:t>Rôle</a:t>
            </a:r>
            <a:endParaRPr lang="en-US" sz="1000" dirty="0"/>
          </a:p>
        </p:txBody>
      </p:sp>
      <p:sp>
        <p:nvSpPr>
          <p:cNvPr id="11" name="Text 8"/>
          <p:cNvSpPr/>
          <p:nvPr/>
        </p:nvSpPr>
        <p:spPr>
          <a:xfrm>
            <a:off x="9144000" y="1371600"/>
            <a:ext cx="2313432" cy="274320"/>
          </a:xfrm>
          <a:prstGeom prst="rect">
            <a:avLst/>
          </a:prstGeom>
          <a:noFill/>
          <a:ln/>
        </p:spPr>
        <p:txBody>
          <a:bodyPr wrap="square" lIns="0" tIns="0" rIns="0" bIns="0" rtlCol="0" anchor="t"/>
          <a:lstStyle/>
          <a:p>
            <a:pPr indent="0" marL="0">
              <a:buNone/>
            </a:pPr>
            <a:r>
              <a:rPr lang="en-US" sz="1000" b="1" dirty="0">
                <a:solidFill>
                  <a:srgbClr val="575F5C"/>
                </a:solidFill>
                <a:latin typeface="Public Sans" pitchFamily="34" charset="0"/>
                <a:ea typeface="Public Sans" pitchFamily="34" charset="-122"/>
                <a:cs typeface="Public Sans" pitchFamily="34" charset="-120"/>
              </a:rPr>
              <a:t>Localisation</a:t>
            </a:r>
            <a:endParaRPr lang="en-US" sz="1000" dirty="0"/>
          </a:p>
        </p:txBody>
      </p:sp>
      <p:sp>
        <p:nvSpPr>
          <p:cNvPr id="12" name="Shape 9"/>
          <p:cNvSpPr/>
          <p:nvPr/>
        </p:nvSpPr>
        <p:spPr>
          <a:xfrm>
            <a:off x="5394960" y="1700784"/>
            <a:ext cx="6062472" cy="0"/>
          </a:xfrm>
          <a:prstGeom prst="line">
            <a:avLst/>
          </a:prstGeom>
          <a:noFill/>
          <a:ln w="9525">
            <a:solidFill>
              <a:srgbClr val="E2E5E1"/>
            </a:solidFill>
            <a:prstDash val="solid"/>
          </a:ln>
        </p:spPr>
      </p:sp>
      <p:sp>
        <p:nvSpPr>
          <p:cNvPr id="13" name="Text 10"/>
          <p:cNvSpPr/>
          <p:nvPr/>
        </p:nvSpPr>
        <p:spPr>
          <a:xfrm>
            <a:off x="5394960" y="1801368"/>
            <a:ext cx="1097280" cy="475488"/>
          </a:xfrm>
          <a:prstGeom prst="rect">
            <a:avLst/>
          </a:prstGeom>
          <a:noFill/>
          <a:ln/>
        </p:spPr>
        <p:txBody>
          <a:bodyPr wrap="square" lIns="0" tIns="0" rIns="0" bIns="0" rtlCol="0" anchor="t"/>
          <a:lstStyle/>
          <a:p>
            <a:pPr indent="0" marL="0">
              <a:lnSpc>
                <a:spcPct val="112000"/>
              </a:lnSpc>
              <a:buNone/>
            </a:pPr>
            <a:r>
              <a:rPr lang="en-US" sz="1100" b="1" dirty="0">
                <a:solidFill>
                  <a:srgbClr val="14181A"/>
                </a:solidFill>
                <a:latin typeface="Archivo" pitchFamily="34" charset="0"/>
                <a:ea typeface="Archivo" pitchFamily="34" charset="-122"/>
                <a:cs typeface="Archivo" pitchFamily="34" charset="-120"/>
              </a:rPr>
              <a:t>Supabase</a:t>
            </a:r>
            <a:endParaRPr lang="en-US" sz="1100" dirty="0"/>
          </a:p>
        </p:txBody>
      </p:sp>
      <p:sp>
        <p:nvSpPr>
          <p:cNvPr id="14" name="Text 11"/>
          <p:cNvSpPr/>
          <p:nvPr/>
        </p:nvSpPr>
        <p:spPr>
          <a:xfrm>
            <a:off x="6629400" y="1801368"/>
            <a:ext cx="2377440" cy="475488"/>
          </a:xfrm>
          <a:prstGeom prst="rect">
            <a:avLst/>
          </a:prstGeom>
          <a:noFill/>
          <a:ln/>
        </p:spPr>
        <p:txBody>
          <a:bodyPr wrap="square" lIns="0" tIns="0" rIns="0" bIns="0" rtlCol="0" anchor="t"/>
          <a:lstStyle/>
          <a:p>
            <a:pPr indent="0" marL="0">
              <a:lnSpc>
                <a:spcPct val="112000"/>
              </a:lnSpc>
              <a:buNone/>
            </a:pPr>
            <a:r>
              <a:rPr lang="en-US" sz="1100" dirty="0">
                <a:solidFill>
                  <a:srgbClr val="3A423F"/>
                </a:solidFill>
                <a:latin typeface="Public Sans" pitchFamily="34" charset="0"/>
                <a:ea typeface="Public Sans" pitchFamily="34" charset="-122"/>
                <a:cs typeface="Public Sans" pitchFamily="34" charset="-120"/>
              </a:rPr>
              <a:t>Base de données, authentification, temps réel</a:t>
            </a:r>
            <a:endParaRPr lang="en-US" sz="1100" dirty="0"/>
          </a:p>
        </p:txBody>
      </p:sp>
      <p:sp>
        <p:nvSpPr>
          <p:cNvPr id="15" name="Text 12"/>
          <p:cNvSpPr/>
          <p:nvPr/>
        </p:nvSpPr>
        <p:spPr>
          <a:xfrm>
            <a:off x="9144000" y="1801368"/>
            <a:ext cx="2176272" cy="475488"/>
          </a:xfrm>
          <a:prstGeom prst="rect">
            <a:avLst/>
          </a:prstGeom>
          <a:noFill/>
          <a:ln/>
        </p:spPr>
        <p:txBody>
          <a:bodyPr wrap="square" lIns="0" tIns="0" rIns="0" bIns="0" rtlCol="0" anchor="t"/>
          <a:lstStyle/>
          <a:p>
            <a:pPr indent="0" marL="0">
              <a:lnSpc>
                <a:spcPct val="112000"/>
              </a:lnSpc>
              <a:buNone/>
            </a:pPr>
            <a:r>
              <a:rPr lang="en-US" sz="1100" dirty="0">
                <a:solidFill>
                  <a:srgbClr val="3A423F"/>
                </a:solidFill>
                <a:latin typeface="Public Sans" pitchFamily="34" charset="0"/>
                <a:ea typeface="Public Sans" pitchFamily="34" charset="-122"/>
                <a:cs typeface="Public Sans" pitchFamily="34" charset="-120"/>
              </a:rPr>
              <a:t>Irlande, société américaine</a:t>
            </a:r>
            <a:endParaRPr lang="en-US" sz="1100" dirty="0"/>
          </a:p>
        </p:txBody>
      </p:sp>
      <p:sp>
        <p:nvSpPr>
          <p:cNvPr id="16" name="Shape 13"/>
          <p:cNvSpPr/>
          <p:nvPr/>
        </p:nvSpPr>
        <p:spPr>
          <a:xfrm>
            <a:off x="5394960" y="2304288"/>
            <a:ext cx="6062472" cy="0"/>
          </a:xfrm>
          <a:prstGeom prst="line">
            <a:avLst/>
          </a:prstGeom>
          <a:noFill/>
          <a:ln w="9525">
            <a:solidFill>
              <a:srgbClr val="E2E5E1"/>
            </a:solidFill>
            <a:prstDash val="solid"/>
          </a:ln>
        </p:spPr>
      </p:sp>
      <p:sp>
        <p:nvSpPr>
          <p:cNvPr id="17" name="Text 14"/>
          <p:cNvSpPr/>
          <p:nvPr/>
        </p:nvSpPr>
        <p:spPr>
          <a:xfrm>
            <a:off x="5394960" y="2404872"/>
            <a:ext cx="1097280" cy="475488"/>
          </a:xfrm>
          <a:prstGeom prst="rect">
            <a:avLst/>
          </a:prstGeom>
          <a:noFill/>
          <a:ln/>
        </p:spPr>
        <p:txBody>
          <a:bodyPr wrap="square" lIns="0" tIns="0" rIns="0" bIns="0" rtlCol="0" anchor="t"/>
          <a:lstStyle/>
          <a:p>
            <a:pPr indent="0" marL="0">
              <a:lnSpc>
                <a:spcPct val="112000"/>
              </a:lnSpc>
              <a:buNone/>
            </a:pPr>
            <a:r>
              <a:rPr lang="en-US" sz="1100" b="1" dirty="0">
                <a:solidFill>
                  <a:srgbClr val="14181A"/>
                </a:solidFill>
                <a:latin typeface="Archivo" pitchFamily="34" charset="0"/>
                <a:ea typeface="Archivo" pitchFamily="34" charset="-122"/>
                <a:cs typeface="Archivo" pitchFamily="34" charset="-120"/>
              </a:rPr>
              <a:t>Vercel</a:t>
            </a:r>
            <a:endParaRPr lang="en-US" sz="1100" dirty="0"/>
          </a:p>
        </p:txBody>
      </p:sp>
      <p:sp>
        <p:nvSpPr>
          <p:cNvPr id="18" name="Text 15"/>
          <p:cNvSpPr/>
          <p:nvPr/>
        </p:nvSpPr>
        <p:spPr>
          <a:xfrm>
            <a:off x="6629400" y="2404872"/>
            <a:ext cx="2377440" cy="475488"/>
          </a:xfrm>
          <a:prstGeom prst="rect">
            <a:avLst/>
          </a:prstGeom>
          <a:noFill/>
          <a:ln/>
        </p:spPr>
        <p:txBody>
          <a:bodyPr wrap="square" lIns="0" tIns="0" rIns="0" bIns="0" rtlCol="0" anchor="t"/>
          <a:lstStyle/>
          <a:p>
            <a:pPr indent="0" marL="0">
              <a:lnSpc>
                <a:spcPct val="112000"/>
              </a:lnSpc>
              <a:buNone/>
            </a:pPr>
            <a:r>
              <a:rPr lang="en-US" sz="1100" dirty="0">
                <a:solidFill>
                  <a:srgbClr val="3A423F"/>
                </a:solidFill>
                <a:latin typeface="Public Sans" pitchFamily="34" charset="0"/>
                <a:ea typeface="Public Sans" pitchFamily="34" charset="-122"/>
                <a:cs typeface="Public Sans" pitchFamily="34" charset="-120"/>
              </a:rPr>
              <a:t>Hébergement du site</a:t>
            </a:r>
            <a:endParaRPr lang="en-US" sz="1100" dirty="0"/>
          </a:p>
        </p:txBody>
      </p:sp>
      <p:sp>
        <p:nvSpPr>
          <p:cNvPr id="19" name="Text 16"/>
          <p:cNvSpPr/>
          <p:nvPr/>
        </p:nvSpPr>
        <p:spPr>
          <a:xfrm>
            <a:off x="9144000" y="2404872"/>
            <a:ext cx="2176272" cy="475488"/>
          </a:xfrm>
          <a:prstGeom prst="rect">
            <a:avLst/>
          </a:prstGeom>
          <a:noFill/>
          <a:ln/>
        </p:spPr>
        <p:txBody>
          <a:bodyPr wrap="square" lIns="0" tIns="0" rIns="0" bIns="0" rtlCol="0" anchor="t"/>
          <a:lstStyle/>
          <a:p>
            <a:pPr indent="0" marL="0">
              <a:lnSpc>
                <a:spcPct val="112000"/>
              </a:lnSpc>
              <a:buNone/>
            </a:pPr>
            <a:r>
              <a:rPr lang="en-US" sz="1100" dirty="0">
                <a:solidFill>
                  <a:srgbClr val="3A423F"/>
                </a:solidFill>
                <a:latin typeface="Public Sans" pitchFamily="34" charset="0"/>
                <a:ea typeface="Public Sans" pitchFamily="34" charset="-122"/>
                <a:cs typeface="Public Sans" pitchFamily="34" charset="-120"/>
              </a:rPr>
              <a:t>États-Unis</a:t>
            </a:r>
            <a:endParaRPr lang="en-US" sz="1100" dirty="0"/>
          </a:p>
        </p:txBody>
      </p:sp>
      <p:sp>
        <p:nvSpPr>
          <p:cNvPr id="20" name="Shape 17"/>
          <p:cNvSpPr/>
          <p:nvPr/>
        </p:nvSpPr>
        <p:spPr>
          <a:xfrm>
            <a:off x="5394960" y="2907792"/>
            <a:ext cx="6062472" cy="0"/>
          </a:xfrm>
          <a:prstGeom prst="line">
            <a:avLst/>
          </a:prstGeom>
          <a:noFill/>
          <a:ln w="9525">
            <a:solidFill>
              <a:srgbClr val="E2E5E1"/>
            </a:solidFill>
            <a:prstDash val="solid"/>
          </a:ln>
        </p:spPr>
      </p:sp>
      <p:sp>
        <p:nvSpPr>
          <p:cNvPr id="21" name="Text 18"/>
          <p:cNvSpPr/>
          <p:nvPr/>
        </p:nvSpPr>
        <p:spPr>
          <a:xfrm>
            <a:off x="5394960" y="3008376"/>
            <a:ext cx="1097280" cy="475488"/>
          </a:xfrm>
          <a:prstGeom prst="rect">
            <a:avLst/>
          </a:prstGeom>
          <a:noFill/>
          <a:ln/>
        </p:spPr>
        <p:txBody>
          <a:bodyPr wrap="square" lIns="0" tIns="0" rIns="0" bIns="0" rtlCol="0" anchor="t"/>
          <a:lstStyle/>
          <a:p>
            <a:pPr indent="0" marL="0">
              <a:lnSpc>
                <a:spcPct val="112000"/>
              </a:lnSpc>
              <a:buNone/>
            </a:pPr>
            <a:r>
              <a:rPr lang="en-US" sz="1100" b="1" dirty="0">
                <a:solidFill>
                  <a:srgbClr val="14181A"/>
                </a:solidFill>
                <a:latin typeface="Archivo" pitchFamily="34" charset="0"/>
                <a:ea typeface="Archivo" pitchFamily="34" charset="-122"/>
                <a:cs typeface="Archivo" pitchFamily="34" charset="-120"/>
              </a:rPr>
              <a:t>Resend</a:t>
            </a:r>
            <a:endParaRPr lang="en-US" sz="1100" dirty="0"/>
          </a:p>
        </p:txBody>
      </p:sp>
      <p:sp>
        <p:nvSpPr>
          <p:cNvPr id="22" name="Text 19"/>
          <p:cNvSpPr/>
          <p:nvPr/>
        </p:nvSpPr>
        <p:spPr>
          <a:xfrm>
            <a:off x="6629400" y="3008376"/>
            <a:ext cx="2377440" cy="475488"/>
          </a:xfrm>
          <a:prstGeom prst="rect">
            <a:avLst/>
          </a:prstGeom>
          <a:noFill/>
          <a:ln/>
        </p:spPr>
        <p:txBody>
          <a:bodyPr wrap="square" lIns="0" tIns="0" rIns="0" bIns="0" rtlCol="0" anchor="t"/>
          <a:lstStyle/>
          <a:p>
            <a:pPr indent="0" marL="0">
              <a:lnSpc>
                <a:spcPct val="112000"/>
              </a:lnSpc>
              <a:buNone/>
            </a:pPr>
            <a:r>
              <a:rPr lang="en-US" sz="1100" dirty="0">
                <a:solidFill>
                  <a:srgbClr val="3A423F"/>
                </a:solidFill>
                <a:latin typeface="Public Sans" pitchFamily="34" charset="0"/>
                <a:ea typeface="Public Sans" pitchFamily="34" charset="-122"/>
                <a:cs typeface="Public Sans" pitchFamily="34" charset="-120"/>
              </a:rPr>
              <a:t>Envoi des e-mails de service</a:t>
            </a:r>
            <a:endParaRPr lang="en-US" sz="1100" dirty="0"/>
          </a:p>
        </p:txBody>
      </p:sp>
      <p:sp>
        <p:nvSpPr>
          <p:cNvPr id="23" name="Text 20"/>
          <p:cNvSpPr/>
          <p:nvPr/>
        </p:nvSpPr>
        <p:spPr>
          <a:xfrm>
            <a:off x="9144000" y="3008376"/>
            <a:ext cx="2176272" cy="475488"/>
          </a:xfrm>
          <a:prstGeom prst="rect">
            <a:avLst/>
          </a:prstGeom>
          <a:noFill/>
          <a:ln/>
        </p:spPr>
        <p:txBody>
          <a:bodyPr wrap="square" lIns="0" tIns="0" rIns="0" bIns="0" rtlCol="0" anchor="t"/>
          <a:lstStyle/>
          <a:p>
            <a:pPr indent="0" marL="0">
              <a:lnSpc>
                <a:spcPct val="112000"/>
              </a:lnSpc>
              <a:buNone/>
            </a:pPr>
            <a:r>
              <a:rPr lang="en-US" sz="1100" dirty="0">
                <a:solidFill>
                  <a:srgbClr val="3A423F"/>
                </a:solidFill>
                <a:latin typeface="Public Sans" pitchFamily="34" charset="0"/>
                <a:ea typeface="Public Sans" pitchFamily="34" charset="-122"/>
                <a:cs typeface="Public Sans" pitchFamily="34" charset="-120"/>
              </a:rPr>
              <a:t>États-Unis</a:t>
            </a:r>
            <a:endParaRPr lang="en-US" sz="1100" dirty="0"/>
          </a:p>
        </p:txBody>
      </p:sp>
      <p:sp>
        <p:nvSpPr>
          <p:cNvPr id="24" name="Shape 21"/>
          <p:cNvSpPr/>
          <p:nvPr/>
        </p:nvSpPr>
        <p:spPr>
          <a:xfrm>
            <a:off x="5394960" y="3511296"/>
            <a:ext cx="6062472" cy="0"/>
          </a:xfrm>
          <a:prstGeom prst="line">
            <a:avLst/>
          </a:prstGeom>
          <a:noFill/>
          <a:ln w="9525">
            <a:solidFill>
              <a:srgbClr val="E2E5E1"/>
            </a:solidFill>
            <a:prstDash val="solid"/>
          </a:ln>
        </p:spPr>
      </p:sp>
      <p:sp>
        <p:nvSpPr>
          <p:cNvPr id="25" name="Text 22"/>
          <p:cNvSpPr/>
          <p:nvPr/>
        </p:nvSpPr>
        <p:spPr>
          <a:xfrm>
            <a:off x="5394960" y="3611880"/>
            <a:ext cx="1097280" cy="475488"/>
          </a:xfrm>
          <a:prstGeom prst="rect">
            <a:avLst/>
          </a:prstGeom>
          <a:noFill/>
          <a:ln/>
        </p:spPr>
        <p:txBody>
          <a:bodyPr wrap="square" lIns="0" tIns="0" rIns="0" bIns="0" rtlCol="0" anchor="t"/>
          <a:lstStyle/>
          <a:p>
            <a:pPr indent="0" marL="0">
              <a:lnSpc>
                <a:spcPct val="112000"/>
              </a:lnSpc>
              <a:buNone/>
            </a:pPr>
            <a:r>
              <a:rPr lang="en-US" sz="1100" b="1" dirty="0">
                <a:solidFill>
                  <a:srgbClr val="14181A"/>
                </a:solidFill>
                <a:latin typeface="Archivo" pitchFamily="34" charset="0"/>
                <a:ea typeface="Archivo" pitchFamily="34" charset="-122"/>
                <a:cs typeface="Archivo" pitchFamily="34" charset="-120"/>
              </a:rPr>
              <a:t>Expo</a:t>
            </a:r>
            <a:endParaRPr lang="en-US" sz="1100" dirty="0"/>
          </a:p>
        </p:txBody>
      </p:sp>
      <p:sp>
        <p:nvSpPr>
          <p:cNvPr id="26" name="Text 23"/>
          <p:cNvSpPr/>
          <p:nvPr/>
        </p:nvSpPr>
        <p:spPr>
          <a:xfrm>
            <a:off x="6629400" y="3611880"/>
            <a:ext cx="2377440" cy="475488"/>
          </a:xfrm>
          <a:prstGeom prst="rect">
            <a:avLst/>
          </a:prstGeom>
          <a:noFill/>
          <a:ln/>
        </p:spPr>
        <p:txBody>
          <a:bodyPr wrap="square" lIns="0" tIns="0" rIns="0" bIns="0" rtlCol="0" anchor="t"/>
          <a:lstStyle/>
          <a:p>
            <a:pPr indent="0" marL="0">
              <a:lnSpc>
                <a:spcPct val="112000"/>
              </a:lnSpc>
              <a:buNone/>
            </a:pPr>
            <a:r>
              <a:rPr lang="en-US" sz="1100" dirty="0">
                <a:solidFill>
                  <a:srgbClr val="3A423F"/>
                </a:solidFill>
                <a:latin typeface="Public Sans" pitchFamily="34" charset="0"/>
                <a:ea typeface="Public Sans" pitchFamily="34" charset="-122"/>
                <a:cs typeface="Public Sans" pitchFamily="34" charset="-120"/>
              </a:rPr>
              <a:t>Acheminement des notifications</a:t>
            </a:r>
            <a:endParaRPr lang="en-US" sz="1100" dirty="0"/>
          </a:p>
        </p:txBody>
      </p:sp>
      <p:sp>
        <p:nvSpPr>
          <p:cNvPr id="27" name="Text 24"/>
          <p:cNvSpPr/>
          <p:nvPr/>
        </p:nvSpPr>
        <p:spPr>
          <a:xfrm>
            <a:off x="9144000" y="3611880"/>
            <a:ext cx="2176272" cy="475488"/>
          </a:xfrm>
          <a:prstGeom prst="rect">
            <a:avLst/>
          </a:prstGeom>
          <a:noFill/>
          <a:ln/>
        </p:spPr>
        <p:txBody>
          <a:bodyPr wrap="square" lIns="0" tIns="0" rIns="0" bIns="0" rtlCol="0" anchor="t"/>
          <a:lstStyle/>
          <a:p>
            <a:pPr indent="0" marL="0">
              <a:lnSpc>
                <a:spcPct val="112000"/>
              </a:lnSpc>
              <a:buNone/>
            </a:pPr>
            <a:r>
              <a:rPr lang="en-US" sz="1100" dirty="0">
                <a:solidFill>
                  <a:srgbClr val="3A423F"/>
                </a:solidFill>
                <a:latin typeface="Public Sans" pitchFamily="34" charset="0"/>
                <a:ea typeface="Public Sans" pitchFamily="34" charset="-122"/>
                <a:cs typeface="Public Sans" pitchFamily="34" charset="-120"/>
              </a:rPr>
              <a:t>États-Unis</a:t>
            </a:r>
            <a:endParaRPr lang="en-US" sz="1100" dirty="0"/>
          </a:p>
        </p:txBody>
      </p:sp>
      <p:sp>
        <p:nvSpPr>
          <p:cNvPr id="28" name="Shape 25"/>
          <p:cNvSpPr/>
          <p:nvPr/>
        </p:nvSpPr>
        <p:spPr>
          <a:xfrm>
            <a:off x="5394960" y="4114800"/>
            <a:ext cx="6062472" cy="0"/>
          </a:xfrm>
          <a:prstGeom prst="line">
            <a:avLst/>
          </a:prstGeom>
          <a:noFill/>
          <a:ln w="9525">
            <a:solidFill>
              <a:srgbClr val="E2E5E1"/>
            </a:solidFill>
            <a:prstDash val="solid"/>
          </a:ln>
        </p:spPr>
      </p:sp>
      <p:sp>
        <p:nvSpPr>
          <p:cNvPr id="29" name="Text 26"/>
          <p:cNvSpPr/>
          <p:nvPr/>
        </p:nvSpPr>
        <p:spPr>
          <a:xfrm>
            <a:off x="5394960" y="4215384"/>
            <a:ext cx="1097280" cy="475488"/>
          </a:xfrm>
          <a:prstGeom prst="rect">
            <a:avLst/>
          </a:prstGeom>
          <a:noFill/>
          <a:ln/>
        </p:spPr>
        <p:txBody>
          <a:bodyPr wrap="square" lIns="0" tIns="0" rIns="0" bIns="0" rtlCol="0" anchor="t"/>
          <a:lstStyle/>
          <a:p>
            <a:pPr indent="0" marL="0">
              <a:lnSpc>
                <a:spcPct val="112000"/>
              </a:lnSpc>
              <a:buNone/>
            </a:pPr>
            <a:r>
              <a:rPr lang="en-US" sz="1100" b="1" dirty="0">
                <a:solidFill>
                  <a:srgbClr val="14181A"/>
                </a:solidFill>
                <a:latin typeface="Archivo" pitchFamily="34" charset="0"/>
                <a:ea typeface="Archivo" pitchFamily="34" charset="-122"/>
                <a:cs typeface="Archivo" pitchFamily="34" charset="-120"/>
              </a:rPr>
              <a:t>Stripe</a:t>
            </a:r>
            <a:endParaRPr lang="en-US" sz="1100" dirty="0"/>
          </a:p>
        </p:txBody>
      </p:sp>
      <p:sp>
        <p:nvSpPr>
          <p:cNvPr id="30" name="Text 27"/>
          <p:cNvSpPr/>
          <p:nvPr/>
        </p:nvSpPr>
        <p:spPr>
          <a:xfrm>
            <a:off x="6629400" y="4215384"/>
            <a:ext cx="2377440" cy="475488"/>
          </a:xfrm>
          <a:prstGeom prst="rect">
            <a:avLst/>
          </a:prstGeom>
          <a:noFill/>
          <a:ln/>
        </p:spPr>
        <p:txBody>
          <a:bodyPr wrap="square" lIns="0" tIns="0" rIns="0" bIns="0" rtlCol="0" anchor="t"/>
          <a:lstStyle/>
          <a:p>
            <a:pPr indent="0" marL="0">
              <a:lnSpc>
                <a:spcPct val="112000"/>
              </a:lnSpc>
              <a:buNone/>
            </a:pPr>
            <a:r>
              <a:rPr lang="en-US" sz="1100" dirty="0">
                <a:solidFill>
                  <a:srgbClr val="3A423F"/>
                </a:solidFill>
                <a:latin typeface="Public Sans" pitchFamily="34" charset="0"/>
                <a:ea typeface="Public Sans" pitchFamily="34" charset="-122"/>
                <a:cs typeface="Public Sans" pitchFamily="34" charset="-120"/>
              </a:rPr>
              <a:t>Abonnements et factures</a:t>
            </a:r>
            <a:endParaRPr lang="en-US" sz="1100" dirty="0"/>
          </a:p>
        </p:txBody>
      </p:sp>
      <p:sp>
        <p:nvSpPr>
          <p:cNvPr id="31" name="Text 28"/>
          <p:cNvSpPr/>
          <p:nvPr/>
        </p:nvSpPr>
        <p:spPr>
          <a:xfrm>
            <a:off x="9144000" y="4215384"/>
            <a:ext cx="2176272" cy="475488"/>
          </a:xfrm>
          <a:prstGeom prst="rect">
            <a:avLst/>
          </a:prstGeom>
          <a:noFill/>
          <a:ln/>
        </p:spPr>
        <p:txBody>
          <a:bodyPr wrap="square" lIns="0" tIns="0" rIns="0" bIns="0" rtlCol="0" anchor="t"/>
          <a:lstStyle/>
          <a:p>
            <a:pPr indent="0" marL="0">
              <a:lnSpc>
                <a:spcPct val="112000"/>
              </a:lnSpc>
              <a:buNone/>
            </a:pPr>
            <a:r>
              <a:rPr lang="en-US" sz="1100" dirty="0">
                <a:solidFill>
                  <a:srgbClr val="3A423F"/>
                </a:solidFill>
                <a:latin typeface="Public Sans" pitchFamily="34" charset="0"/>
                <a:ea typeface="Public Sans" pitchFamily="34" charset="-122"/>
                <a:cs typeface="Public Sans" pitchFamily="34" charset="-120"/>
              </a:rPr>
              <a:t>Irlande, groupe américain</a:t>
            </a:r>
            <a:endParaRPr lang="en-US" sz="1100" dirty="0"/>
          </a:p>
        </p:txBody>
      </p:sp>
      <p:sp>
        <p:nvSpPr>
          <p:cNvPr id="32" name="Shape 29"/>
          <p:cNvSpPr/>
          <p:nvPr/>
        </p:nvSpPr>
        <p:spPr>
          <a:xfrm>
            <a:off x="5394960" y="4718304"/>
            <a:ext cx="6062472" cy="0"/>
          </a:xfrm>
          <a:prstGeom prst="line">
            <a:avLst/>
          </a:prstGeom>
          <a:noFill/>
          <a:ln w="9525">
            <a:solidFill>
              <a:srgbClr val="E2E5E1"/>
            </a:solidFill>
            <a:prstDash val="solid"/>
          </a:ln>
        </p:spPr>
      </p:sp>
      <p:sp>
        <p:nvSpPr>
          <p:cNvPr id="33" name="Text 30"/>
          <p:cNvSpPr/>
          <p:nvPr/>
        </p:nvSpPr>
        <p:spPr>
          <a:xfrm>
            <a:off x="5394960" y="4818888"/>
            <a:ext cx="1097280" cy="475488"/>
          </a:xfrm>
          <a:prstGeom prst="rect">
            <a:avLst/>
          </a:prstGeom>
          <a:noFill/>
          <a:ln/>
        </p:spPr>
        <p:txBody>
          <a:bodyPr wrap="square" lIns="0" tIns="0" rIns="0" bIns="0" rtlCol="0" anchor="t"/>
          <a:lstStyle/>
          <a:p>
            <a:pPr indent="0" marL="0">
              <a:lnSpc>
                <a:spcPct val="112000"/>
              </a:lnSpc>
              <a:buNone/>
            </a:pPr>
            <a:r>
              <a:rPr lang="en-US" sz="1100" b="1" dirty="0">
                <a:solidFill>
                  <a:srgbClr val="14181A"/>
                </a:solidFill>
                <a:latin typeface="Archivo" pitchFamily="34" charset="0"/>
                <a:ea typeface="Archivo" pitchFamily="34" charset="-122"/>
                <a:cs typeface="Archivo" pitchFamily="34" charset="-120"/>
              </a:rPr>
              <a:t>Apple, Google</a:t>
            </a:r>
            <a:endParaRPr lang="en-US" sz="1100" dirty="0"/>
          </a:p>
        </p:txBody>
      </p:sp>
      <p:sp>
        <p:nvSpPr>
          <p:cNvPr id="34" name="Text 31"/>
          <p:cNvSpPr/>
          <p:nvPr/>
        </p:nvSpPr>
        <p:spPr>
          <a:xfrm>
            <a:off x="6629400" y="4818888"/>
            <a:ext cx="2377440" cy="475488"/>
          </a:xfrm>
          <a:prstGeom prst="rect">
            <a:avLst/>
          </a:prstGeom>
          <a:noFill/>
          <a:ln/>
        </p:spPr>
        <p:txBody>
          <a:bodyPr wrap="square" lIns="0" tIns="0" rIns="0" bIns="0" rtlCol="0" anchor="t"/>
          <a:lstStyle/>
          <a:p>
            <a:pPr indent="0" marL="0">
              <a:lnSpc>
                <a:spcPct val="112000"/>
              </a:lnSpc>
              <a:buNone/>
            </a:pPr>
            <a:r>
              <a:rPr lang="en-US" sz="1100" dirty="0">
                <a:solidFill>
                  <a:srgbClr val="3A423F"/>
                </a:solidFill>
                <a:latin typeface="Public Sans" pitchFamily="34" charset="0"/>
                <a:ea typeface="Public Sans" pitchFamily="34" charset="-122"/>
                <a:cs typeface="Public Sans" pitchFamily="34" charset="-120"/>
              </a:rPr>
              <a:t>Distribution de l’application</a:t>
            </a:r>
            <a:endParaRPr lang="en-US" sz="1100" dirty="0"/>
          </a:p>
        </p:txBody>
      </p:sp>
      <p:sp>
        <p:nvSpPr>
          <p:cNvPr id="35" name="Text 32"/>
          <p:cNvSpPr/>
          <p:nvPr/>
        </p:nvSpPr>
        <p:spPr>
          <a:xfrm>
            <a:off x="9144000" y="4818888"/>
            <a:ext cx="2176272" cy="475488"/>
          </a:xfrm>
          <a:prstGeom prst="rect">
            <a:avLst/>
          </a:prstGeom>
          <a:noFill/>
          <a:ln/>
        </p:spPr>
        <p:txBody>
          <a:bodyPr wrap="square" lIns="0" tIns="0" rIns="0" bIns="0" rtlCol="0" anchor="t"/>
          <a:lstStyle/>
          <a:p>
            <a:pPr indent="0" marL="0">
              <a:lnSpc>
                <a:spcPct val="112000"/>
              </a:lnSpc>
              <a:buNone/>
            </a:pPr>
            <a:r>
              <a:rPr lang="en-US" sz="1100" dirty="0">
                <a:solidFill>
                  <a:srgbClr val="3A423F"/>
                </a:solidFill>
                <a:latin typeface="Public Sans" pitchFamily="34" charset="0"/>
                <a:ea typeface="Public Sans" pitchFamily="34" charset="-122"/>
                <a:cs typeface="Public Sans" pitchFamily="34" charset="-120"/>
              </a:rPr>
              <a:t>États-Unis</a:t>
            </a:r>
            <a:endParaRPr lang="en-US" sz="1100" dirty="0"/>
          </a:p>
        </p:txBody>
      </p:sp>
      <p:sp>
        <p:nvSpPr>
          <p:cNvPr id="36" name="Shape 33"/>
          <p:cNvSpPr/>
          <p:nvPr/>
        </p:nvSpPr>
        <p:spPr>
          <a:xfrm>
            <a:off x="5394960" y="5321808"/>
            <a:ext cx="6062472" cy="0"/>
          </a:xfrm>
          <a:prstGeom prst="line">
            <a:avLst/>
          </a:prstGeom>
          <a:noFill/>
          <a:ln w="9525">
            <a:solidFill>
              <a:srgbClr val="E2E5E1"/>
            </a:solidFill>
            <a:prstDash val="solid"/>
          </a:ln>
        </p:spPr>
      </p:sp>
      <p:sp>
        <p:nvSpPr>
          <p:cNvPr id="37" name="Text 34"/>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dossier technique · septembre 2026</a:t>
            </a:r>
            <a:endParaRPr lang="en-US" sz="900" dirty="0"/>
          </a:p>
        </p:txBody>
      </p:sp>
      <p:sp>
        <p:nvSpPr>
          <p:cNvPr id="38" name="Text 35"/>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Réseau</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206240" cy="201168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chivo" pitchFamily="34" charset="0"/>
                <a:ea typeface="Archivo" pitchFamily="34" charset="-122"/>
                <a:cs typeface="Archivo" pitchFamily="34" charset="-120"/>
              </a:rPr>
              <a:t>Uniquement des flux sortants, en HTTPS.</a:t>
            </a:r>
            <a:endParaRPr lang="en-US" sz="2600" dirty="0"/>
          </a:p>
        </p:txBody>
      </p:sp>
      <p:sp>
        <p:nvSpPr>
          <p:cNvPr id="7" name="Text 4"/>
          <p:cNvSpPr/>
          <p:nvPr/>
        </p:nvSpPr>
        <p:spPr>
          <a:xfrm>
            <a:off x="731520" y="2514600"/>
            <a:ext cx="4206240" cy="2011680"/>
          </a:xfrm>
          <a:prstGeom prst="rect">
            <a:avLst/>
          </a:prstGeom>
          <a:noFill/>
          <a:ln/>
        </p:spPr>
        <p:txBody>
          <a:bodyPr wrap="square" lIns="0" tIns="0" rIns="0" bIns="0" rtlCol="0" anchor="t"/>
          <a:lstStyle/>
          <a:p>
            <a:pPr algn="l" indent="0" marL="0">
              <a:lnSpc>
                <a:spcPct val="118000"/>
              </a:lnSpc>
              <a:buNone/>
            </a:pPr>
            <a:r>
              <a:rPr lang="en-US" sz="1200" dirty="0">
                <a:solidFill>
                  <a:srgbClr val="3A423F"/>
                </a:solidFill>
                <a:latin typeface="Public Sans" pitchFamily="34" charset="0"/>
                <a:ea typeface="Public Sans" pitchFamily="34" charset="-122"/>
                <a:cs typeface="Public Sans" pitchFamily="34" charset="-120"/>
              </a:rPr>
              <a:t>Aucun serveur ni VPN à installer chez vous. Les flux de Quantinvo passent par le port 443, WebSocket compris. Les notifications transitent par APNs (Apple) et FCM (Google), sur les ports de ces services. L’adresse de la base est communiquée sur demande.</a:t>
            </a:r>
            <a:endParaRPr lang="en-US" sz="1200" dirty="0"/>
          </a:p>
        </p:txBody>
      </p:sp>
      <p:sp>
        <p:nvSpPr>
          <p:cNvPr id="8" name="Text 5"/>
          <p:cNvSpPr/>
          <p:nvPr/>
        </p:nvSpPr>
        <p:spPr>
          <a:xfrm>
            <a:off x="5394960" y="1371600"/>
            <a:ext cx="2331720" cy="274320"/>
          </a:xfrm>
          <a:prstGeom prst="rect">
            <a:avLst/>
          </a:prstGeom>
          <a:noFill/>
          <a:ln/>
        </p:spPr>
        <p:txBody>
          <a:bodyPr wrap="square" lIns="0" tIns="0" rIns="0" bIns="0" rtlCol="0" anchor="t"/>
          <a:lstStyle/>
          <a:p>
            <a:pPr indent="0" marL="0">
              <a:buNone/>
            </a:pPr>
            <a:r>
              <a:rPr lang="en-US" sz="1000" b="1" dirty="0">
                <a:solidFill>
                  <a:srgbClr val="575F5C"/>
                </a:solidFill>
                <a:latin typeface="Public Sans" pitchFamily="34" charset="0"/>
                <a:ea typeface="Public Sans" pitchFamily="34" charset="-122"/>
                <a:cs typeface="Public Sans" pitchFamily="34" charset="-120"/>
              </a:rPr>
              <a:t>Destination</a:t>
            </a:r>
            <a:endParaRPr lang="en-US" sz="1000" dirty="0"/>
          </a:p>
        </p:txBody>
      </p:sp>
      <p:sp>
        <p:nvSpPr>
          <p:cNvPr id="9" name="Text 6"/>
          <p:cNvSpPr/>
          <p:nvPr/>
        </p:nvSpPr>
        <p:spPr>
          <a:xfrm>
            <a:off x="7726680" y="1371600"/>
            <a:ext cx="1783080" cy="274320"/>
          </a:xfrm>
          <a:prstGeom prst="rect">
            <a:avLst/>
          </a:prstGeom>
          <a:noFill/>
          <a:ln/>
        </p:spPr>
        <p:txBody>
          <a:bodyPr wrap="square" lIns="0" tIns="0" rIns="0" bIns="0" rtlCol="0" anchor="t"/>
          <a:lstStyle/>
          <a:p>
            <a:pPr indent="0" marL="0">
              <a:buNone/>
            </a:pPr>
            <a:r>
              <a:rPr lang="en-US" sz="1000" b="1" dirty="0">
                <a:solidFill>
                  <a:srgbClr val="575F5C"/>
                </a:solidFill>
                <a:latin typeface="Public Sans" pitchFamily="34" charset="0"/>
                <a:ea typeface="Public Sans" pitchFamily="34" charset="-122"/>
                <a:cs typeface="Public Sans" pitchFamily="34" charset="-120"/>
              </a:rPr>
              <a:t>Appelée par</a:t>
            </a:r>
            <a:endParaRPr lang="en-US" sz="1000" dirty="0"/>
          </a:p>
        </p:txBody>
      </p:sp>
      <p:sp>
        <p:nvSpPr>
          <p:cNvPr id="10" name="Text 7"/>
          <p:cNvSpPr/>
          <p:nvPr/>
        </p:nvSpPr>
        <p:spPr>
          <a:xfrm>
            <a:off x="9509760" y="1371600"/>
            <a:ext cx="1947672" cy="274320"/>
          </a:xfrm>
          <a:prstGeom prst="rect">
            <a:avLst/>
          </a:prstGeom>
          <a:noFill/>
          <a:ln/>
        </p:spPr>
        <p:txBody>
          <a:bodyPr wrap="square" lIns="0" tIns="0" rIns="0" bIns="0" rtlCol="0" anchor="t"/>
          <a:lstStyle/>
          <a:p>
            <a:pPr indent="0" marL="0">
              <a:buNone/>
            </a:pPr>
            <a:r>
              <a:rPr lang="en-US" sz="1000" b="1" dirty="0">
                <a:solidFill>
                  <a:srgbClr val="575F5C"/>
                </a:solidFill>
                <a:latin typeface="Public Sans" pitchFamily="34" charset="0"/>
                <a:ea typeface="Public Sans" pitchFamily="34" charset="-122"/>
                <a:cs typeface="Public Sans" pitchFamily="34" charset="-120"/>
              </a:rPr>
              <a:t>Objet</a:t>
            </a:r>
            <a:endParaRPr lang="en-US" sz="1000" dirty="0"/>
          </a:p>
        </p:txBody>
      </p:sp>
      <p:sp>
        <p:nvSpPr>
          <p:cNvPr id="11" name="Shape 8"/>
          <p:cNvSpPr/>
          <p:nvPr/>
        </p:nvSpPr>
        <p:spPr>
          <a:xfrm>
            <a:off x="5394960" y="1700784"/>
            <a:ext cx="6062472" cy="0"/>
          </a:xfrm>
          <a:prstGeom prst="line">
            <a:avLst/>
          </a:prstGeom>
          <a:noFill/>
          <a:ln w="9525">
            <a:solidFill>
              <a:srgbClr val="E2E5E1"/>
            </a:solidFill>
            <a:prstDash val="solid"/>
          </a:ln>
        </p:spPr>
      </p:sp>
      <p:sp>
        <p:nvSpPr>
          <p:cNvPr id="12" name="Text 9"/>
          <p:cNvSpPr/>
          <p:nvPr/>
        </p:nvSpPr>
        <p:spPr>
          <a:xfrm>
            <a:off x="5394960" y="1801368"/>
            <a:ext cx="2194560" cy="557784"/>
          </a:xfrm>
          <a:prstGeom prst="rect">
            <a:avLst/>
          </a:prstGeom>
          <a:noFill/>
          <a:ln/>
        </p:spPr>
        <p:txBody>
          <a:bodyPr wrap="square" lIns="0" tIns="0" rIns="0" bIns="0" rtlCol="0" anchor="t"/>
          <a:lstStyle/>
          <a:p>
            <a:pPr indent="0" marL="0">
              <a:lnSpc>
                <a:spcPct val="112000"/>
              </a:lnSpc>
              <a:buNone/>
            </a:pPr>
            <a:r>
              <a:rPr lang="en-US" sz="1150" b="1" dirty="0">
                <a:solidFill>
                  <a:srgbClr val="14181A"/>
                </a:solidFill>
                <a:latin typeface="Archivo" pitchFamily="34" charset="0"/>
                <a:ea typeface="Archivo" pitchFamily="34" charset="-122"/>
                <a:cs typeface="Archivo" pitchFamily="34" charset="-120"/>
              </a:rPr>
              <a:t>Base de données Supabase</a:t>
            </a:r>
            <a:endParaRPr lang="en-US" sz="1150" dirty="0"/>
          </a:p>
        </p:txBody>
      </p:sp>
      <p:sp>
        <p:nvSpPr>
          <p:cNvPr id="13" name="Text 10"/>
          <p:cNvSpPr/>
          <p:nvPr/>
        </p:nvSpPr>
        <p:spPr>
          <a:xfrm>
            <a:off x="7726680" y="1801368"/>
            <a:ext cx="1645920" cy="557784"/>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Public Sans" pitchFamily="34" charset="0"/>
                <a:ea typeface="Public Sans" pitchFamily="34" charset="-122"/>
                <a:cs typeface="Public Sans" pitchFamily="34" charset="-120"/>
              </a:rPr>
              <a:t>Application, navigateur</a:t>
            </a:r>
            <a:endParaRPr lang="en-US" sz="1150" dirty="0"/>
          </a:p>
        </p:txBody>
      </p:sp>
      <p:sp>
        <p:nvSpPr>
          <p:cNvPr id="14" name="Text 11"/>
          <p:cNvSpPr/>
          <p:nvPr/>
        </p:nvSpPr>
        <p:spPr>
          <a:xfrm>
            <a:off x="9509760" y="1801368"/>
            <a:ext cx="1810512" cy="557784"/>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Public Sans" pitchFamily="34" charset="0"/>
                <a:ea typeface="Public Sans" pitchFamily="34" charset="-122"/>
                <a:cs typeface="Public Sans" pitchFamily="34" charset="-120"/>
              </a:rPr>
              <a:t>Données, connexion, temps réel</a:t>
            </a:r>
            <a:endParaRPr lang="en-US" sz="1150" dirty="0"/>
          </a:p>
        </p:txBody>
      </p:sp>
      <p:sp>
        <p:nvSpPr>
          <p:cNvPr id="15" name="Shape 12"/>
          <p:cNvSpPr/>
          <p:nvPr/>
        </p:nvSpPr>
        <p:spPr>
          <a:xfrm>
            <a:off x="5394960" y="2386584"/>
            <a:ext cx="6062472" cy="0"/>
          </a:xfrm>
          <a:prstGeom prst="line">
            <a:avLst/>
          </a:prstGeom>
          <a:noFill/>
          <a:ln w="9525">
            <a:solidFill>
              <a:srgbClr val="E2E5E1"/>
            </a:solidFill>
            <a:prstDash val="solid"/>
          </a:ln>
        </p:spPr>
      </p:sp>
      <p:sp>
        <p:nvSpPr>
          <p:cNvPr id="16" name="Text 13"/>
          <p:cNvSpPr/>
          <p:nvPr/>
        </p:nvSpPr>
        <p:spPr>
          <a:xfrm>
            <a:off x="5394960" y="2487168"/>
            <a:ext cx="2194560" cy="557784"/>
          </a:xfrm>
          <a:prstGeom prst="rect">
            <a:avLst/>
          </a:prstGeom>
          <a:noFill/>
          <a:ln/>
        </p:spPr>
        <p:txBody>
          <a:bodyPr wrap="square" lIns="0" tIns="0" rIns="0" bIns="0" rtlCol="0" anchor="t"/>
          <a:lstStyle/>
          <a:p>
            <a:pPr indent="0" marL="0">
              <a:lnSpc>
                <a:spcPct val="112000"/>
              </a:lnSpc>
              <a:buNone/>
            </a:pPr>
            <a:r>
              <a:rPr lang="en-US" sz="1150" b="1" dirty="0">
                <a:solidFill>
                  <a:srgbClr val="14181A"/>
                </a:solidFill>
                <a:latin typeface="Archivo" pitchFamily="34" charset="0"/>
                <a:ea typeface="Archivo" pitchFamily="34" charset="-122"/>
                <a:cs typeface="Archivo" pitchFamily="34" charset="-120"/>
              </a:rPr>
              <a:t>exp.host</a:t>
            </a:r>
            <a:endParaRPr lang="en-US" sz="1150" dirty="0"/>
          </a:p>
        </p:txBody>
      </p:sp>
      <p:sp>
        <p:nvSpPr>
          <p:cNvPr id="17" name="Text 14"/>
          <p:cNvSpPr/>
          <p:nvPr/>
        </p:nvSpPr>
        <p:spPr>
          <a:xfrm>
            <a:off x="7726680" y="2487168"/>
            <a:ext cx="1645920" cy="557784"/>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Public Sans" pitchFamily="34" charset="0"/>
                <a:ea typeface="Public Sans" pitchFamily="34" charset="-122"/>
                <a:cs typeface="Public Sans" pitchFamily="34" charset="-120"/>
              </a:rPr>
              <a:t>Application</a:t>
            </a:r>
            <a:endParaRPr lang="en-US" sz="1150" dirty="0"/>
          </a:p>
        </p:txBody>
      </p:sp>
      <p:sp>
        <p:nvSpPr>
          <p:cNvPr id="18" name="Text 15"/>
          <p:cNvSpPr/>
          <p:nvPr/>
        </p:nvSpPr>
        <p:spPr>
          <a:xfrm>
            <a:off x="9509760" y="2487168"/>
            <a:ext cx="1810512" cy="557784"/>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Public Sans" pitchFamily="34" charset="0"/>
                <a:ea typeface="Public Sans" pitchFamily="34" charset="-122"/>
                <a:cs typeface="Public Sans" pitchFamily="34" charset="-120"/>
              </a:rPr>
              <a:t>Jeton de notification</a:t>
            </a:r>
            <a:endParaRPr lang="en-US" sz="1150" dirty="0"/>
          </a:p>
        </p:txBody>
      </p:sp>
      <p:sp>
        <p:nvSpPr>
          <p:cNvPr id="19" name="Shape 16"/>
          <p:cNvSpPr/>
          <p:nvPr/>
        </p:nvSpPr>
        <p:spPr>
          <a:xfrm>
            <a:off x="5394960" y="3072384"/>
            <a:ext cx="6062472" cy="0"/>
          </a:xfrm>
          <a:prstGeom prst="line">
            <a:avLst/>
          </a:prstGeom>
          <a:noFill/>
          <a:ln w="9525">
            <a:solidFill>
              <a:srgbClr val="E2E5E1"/>
            </a:solidFill>
            <a:prstDash val="solid"/>
          </a:ln>
        </p:spPr>
      </p:sp>
      <p:sp>
        <p:nvSpPr>
          <p:cNvPr id="20" name="Text 17"/>
          <p:cNvSpPr/>
          <p:nvPr/>
        </p:nvSpPr>
        <p:spPr>
          <a:xfrm>
            <a:off x="5394960" y="3172968"/>
            <a:ext cx="2194560" cy="557784"/>
          </a:xfrm>
          <a:prstGeom prst="rect">
            <a:avLst/>
          </a:prstGeom>
          <a:noFill/>
          <a:ln/>
        </p:spPr>
        <p:txBody>
          <a:bodyPr wrap="square" lIns="0" tIns="0" rIns="0" bIns="0" rtlCol="0" anchor="t"/>
          <a:lstStyle/>
          <a:p>
            <a:pPr indent="0" marL="0">
              <a:lnSpc>
                <a:spcPct val="112000"/>
              </a:lnSpc>
              <a:buNone/>
            </a:pPr>
            <a:r>
              <a:rPr lang="en-US" sz="1150" b="1" dirty="0">
                <a:solidFill>
                  <a:srgbClr val="14181A"/>
                </a:solidFill>
                <a:latin typeface="Archivo" pitchFamily="34" charset="0"/>
                <a:ea typeface="Archivo" pitchFamily="34" charset="-122"/>
                <a:cs typeface="Archivo" pitchFamily="34" charset="-120"/>
              </a:rPr>
              <a:t>www.quantinvo.com</a:t>
            </a:r>
            <a:endParaRPr lang="en-US" sz="1150" dirty="0"/>
          </a:p>
        </p:txBody>
      </p:sp>
      <p:sp>
        <p:nvSpPr>
          <p:cNvPr id="21" name="Text 18"/>
          <p:cNvSpPr/>
          <p:nvPr/>
        </p:nvSpPr>
        <p:spPr>
          <a:xfrm>
            <a:off x="7726680" y="3172968"/>
            <a:ext cx="1645920" cy="557784"/>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Public Sans" pitchFamily="34" charset="0"/>
                <a:ea typeface="Public Sans" pitchFamily="34" charset="-122"/>
                <a:cs typeface="Public Sans" pitchFamily="34" charset="-120"/>
              </a:rPr>
              <a:t>Téléphones, postes</a:t>
            </a:r>
            <a:endParaRPr lang="en-US" sz="1150" dirty="0"/>
          </a:p>
        </p:txBody>
      </p:sp>
      <p:sp>
        <p:nvSpPr>
          <p:cNvPr id="22" name="Text 19"/>
          <p:cNvSpPr/>
          <p:nvPr/>
        </p:nvSpPr>
        <p:spPr>
          <a:xfrm>
            <a:off x="9509760" y="3172968"/>
            <a:ext cx="1810512" cy="557784"/>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Public Sans" pitchFamily="34" charset="0"/>
                <a:ea typeface="Public Sans" pitchFamily="34" charset="-122"/>
                <a:cs typeface="Public Sans" pitchFamily="34" charset="-120"/>
              </a:rPr>
              <a:t>Site, liens d’invitation</a:t>
            </a:r>
            <a:endParaRPr lang="en-US" sz="1150" dirty="0"/>
          </a:p>
        </p:txBody>
      </p:sp>
      <p:sp>
        <p:nvSpPr>
          <p:cNvPr id="23" name="Shape 20"/>
          <p:cNvSpPr/>
          <p:nvPr/>
        </p:nvSpPr>
        <p:spPr>
          <a:xfrm>
            <a:off x="5394960" y="3758184"/>
            <a:ext cx="6062472" cy="0"/>
          </a:xfrm>
          <a:prstGeom prst="line">
            <a:avLst/>
          </a:prstGeom>
          <a:noFill/>
          <a:ln w="9525">
            <a:solidFill>
              <a:srgbClr val="E2E5E1"/>
            </a:solidFill>
            <a:prstDash val="solid"/>
          </a:ln>
        </p:spPr>
      </p:sp>
      <p:sp>
        <p:nvSpPr>
          <p:cNvPr id="24" name="Text 21"/>
          <p:cNvSpPr/>
          <p:nvPr/>
        </p:nvSpPr>
        <p:spPr>
          <a:xfrm>
            <a:off x="5394960" y="3858768"/>
            <a:ext cx="2194560" cy="557784"/>
          </a:xfrm>
          <a:prstGeom prst="rect">
            <a:avLst/>
          </a:prstGeom>
          <a:noFill/>
          <a:ln/>
        </p:spPr>
        <p:txBody>
          <a:bodyPr wrap="square" lIns="0" tIns="0" rIns="0" bIns="0" rtlCol="0" anchor="t"/>
          <a:lstStyle/>
          <a:p>
            <a:pPr indent="0" marL="0">
              <a:lnSpc>
                <a:spcPct val="112000"/>
              </a:lnSpc>
              <a:buNone/>
            </a:pPr>
            <a:r>
              <a:rPr lang="en-US" sz="1150" b="1" dirty="0">
                <a:solidFill>
                  <a:srgbClr val="14181A"/>
                </a:solidFill>
                <a:latin typeface="Archivo" pitchFamily="34" charset="0"/>
                <a:ea typeface="Archivo" pitchFamily="34" charset="-122"/>
                <a:cs typeface="Archivo" pitchFamily="34" charset="-120"/>
              </a:rPr>
              <a:t>Stripe</a:t>
            </a:r>
            <a:endParaRPr lang="en-US" sz="1150" dirty="0"/>
          </a:p>
        </p:txBody>
      </p:sp>
      <p:sp>
        <p:nvSpPr>
          <p:cNvPr id="25" name="Text 22"/>
          <p:cNvSpPr/>
          <p:nvPr/>
        </p:nvSpPr>
        <p:spPr>
          <a:xfrm>
            <a:off x="7726680" y="3858768"/>
            <a:ext cx="1645920" cy="557784"/>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Public Sans" pitchFamily="34" charset="0"/>
                <a:ea typeface="Public Sans" pitchFamily="34" charset="-122"/>
                <a:cs typeface="Public Sans" pitchFamily="34" charset="-120"/>
              </a:rPr>
              <a:t>Navigateur</a:t>
            </a:r>
            <a:endParaRPr lang="en-US" sz="1150" dirty="0"/>
          </a:p>
        </p:txBody>
      </p:sp>
      <p:sp>
        <p:nvSpPr>
          <p:cNvPr id="26" name="Text 23"/>
          <p:cNvSpPr/>
          <p:nvPr/>
        </p:nvSpPr>
        <p:spPr>
          <a:xfrm>
            <a:off x="9509760" y="3858768"/>
            <a:ext cx="1810512" cy="557784"/>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Public Sans" pitchFamily="34" charset="0"/>
                <a:ea typeface="Public Sans" pitchFamily="34" charset="-122"/>
                <a:cs typeface="Public Sans" pitchFamily="34" charset="-120"/>
              </a:rPr>
              <a:t>Paiement de l’abonnement</a:t>
            </a:r>
            <a:endParaRPr lang="en-US" sz="1150" dirty="0"/>
          </a:p>
        </p:txBody>
      </p:sp>
      <p:sp>
        <p:nvSpPr>
          <p:cNvPr id="27" name="Shape 24"/>
          <p:cNvSpPr/>
          <p:nvPr/>
        </p:nvSpPr>
        <p:spPr>
          <a:xfrm>
            <a:off x="5394960" y="4443984"/>
            <a:ext cx="6062472" cy="0"/>
          </a:xfrm>
          <a:prstGeom prst="line">
            <a:avLst/>
          </a:prstGeom>
          <a:noFill/>
          <a:ln w="9525">
            <a:solidFill>
              <a:srgbClr val="E2E5E1"/>
            </a:solidFill>
            <a:prstDash val="solid"/>
          </a:ln>
        </p:spPr>
      </p:sp>
      <p:sp>
        <p:nvSpPr>
          <p:cNvPr id="28" name="Text 25"/>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dossier technique · septembre 2026</a:t>
            </a:r>
            <a:endParaRPr lang="en-US" sz="900" dirty="0"/>
          </a:p>
        </p:txBody>
      </p:sp>
      <p:sp>
        <p:nvSpPr>
          <p:cNvPr id="29" name="Text 26"/>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Comptes</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188720"/>
            <a:ext cx="10725912" cy="82296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chivo" pitchFamily="34" charset="0"/>
                <a:ea typeface="Archivo" pitchFamily="34" charset="-122"/>
                <a:cs typeface="Archivo" pitchFamily="34" charset="-120"/>
              </a:rPr>
              <a:t>Un compte par personne, sur invitation.</a:t>
            </a:r>
            <a:endParaRPr lang="en-US" sz="2600" dirty="0"/>
          </a:p>
        </p:txBody>
      </p:sp>
      <p:sp>
        <p:nvSpPr>
          <p:cNvPr id="7" name="Text 4"/>
          <p:cNvSpPr/>
          <p:nvPr/>
        </p:nvSpPr>
        <p:spPr>
          <a:xfrm>
            <a:off x="731520" y="2103120"/>
            <a:ext cx="8046720" cy="4206240"/>
          </a:xfrm>
          <a:prstGeom prst="rect">
            <a:avLst/>
          </a:prstGeom>
          <a:noFill/>
          <a:ln/>
        </p:spPr>
        <p:txBody>
          <a:bodyPr wrap="square" lIns="0" tIns="0" rIns="0" bIns="0" rtlCol="0" anchor="t"/>
          <a:lstStyle/>
          <a:p>
            <a:pPr indent="0" marL="0">
              <a:lnSpc>
                <a:spcPct val="118000"/>
              </a:lnSpc>
              <a:spcAft>
                <a:spcPts val="1600"/>
              </a:spcAft>
              <a:buNone/>
            </a:pPr>
            <a:r>
              <a:rPr lang="en-US" sz="1350" b="1" dirty="0">
                <a:solidFill>
                  <a:srgbClr val="14181A"/>
                </a:solidFill>
                <a:latin typeface="Public Sans" pitchFamily="34" charset="0"/>
                <a:ea typeface="Public Sans" pitchFamily="34" charset="-122"/>
                <a:cs typeface="Public Sans" pitchFamily="34" charset="-120"/>
              </a:rPr>
              <a:t>Parcours. </a:t>
            </a:r>
            <a:pPr indent="0" marL="0">
              <a:lnSpc>
                <a:spcPct val="118000"/>
              </a:lnSpc>
              <a:spcAft>
                <a:spcPts val="1600"/>
              </a:spcAft>
              <a:buNone/>
            </a:pPr>
            <a:r>
              <a:rPr lang="en-US" sz="1350" dirty="0">
                <a:solidFill>
                  <a:srgbClr val="3A423F"/>
                </a:solidFill>
                <a:latin typeface="Public Sans" pitchFamily="34" charset="0"/>
                <a:ea typeface="Public Sans" pitchFamily="34" charset="-122"/>
                <a:cs typeface="Public Sans" pitchFamily="34" charset="-120"/>
              </a:rPr>
              <a:t>L’administrateur d’entreprise invite les superviseurs. Le superviseur ajoute ses compteurs. La personne reçoit un lien, vérifie son nom et choisit son mot de passe.</a:t>
            </a:r>
            <a:endParaRPr lang="en-US" sz="1350" dirty="0"/>
          </a:p>
          <a:p>
            <a:pPr indent="0" marL="0">
              <a:lnSpc>
                <a:spcPct val="118000"/>
              </a:lnSpc>
              <a:spcAft>
                <a:spcPts val="1600"/>
              </a:spcAft>
              <a:buNone/>
            </a:pPr>
            <a:r>
              <a:rPr lang="en-US" sz="1350" b="1" dirty="0">
                <a:solidFill>
                  <a:srgbClr val="14181A"/>
                </a:solidFill>
                <a:latin typeface="Public Sans" pitchFamily="34" charset="0"/>
                <a:ea typeface="Public Sans" pitchFamily="34" charset="-122"/>
                <a:cs typeface="Public Sans" pitchFamily="34" charset="-120"/>
              </a:rPr>
              <a:t>Mot de passe. </a:t>
            </a:r>
            <a:pPr indent="0" marL="0">
              <a:lnSpc>
                <a:spcPct val="118000"/>
              </a:lnSpc>
              <a:spcAft>
                <a:spcPts val="1600"/>
              </a:spcAft>
              <a:buNone/>
            </a:pPr>
            <a:r>
              <a:rPr lang="en-US" sz="1350" dirty="0">
                <a:solidFill>
                  <a:srgbClr val="3A423F"/>
                </a:solidFill>
                <a:latin typeface="Public Sans" pitchFamily="34" charset="0"/>
                <a:ea typeface="Public Sans" pitchFamily="34" charset="-122"/>
                <a:cs typeface="Public Sans" pitchFamily="34" charset="-120"/>
              </a:rPr>
              <a:t>Au moins 12 caractères, dont une majuscule, une minuscule, un chiffre et un symbole. Refusé s’il figure dans une fuite publique.</a:t>
            </a:r>
            <a:endParaRPr lang="en-US" sz="1350" dirty="0"/>
          </a:p>
          <a:p>
            <a:pPr indent="0" marL="0">
              <a:lnSpc>
                <a:spcPct val="118000"/>
              </a:lnSpc>
              <a:spcAft>
                <a:spcPts val="1600"/>
              </a:spcAft>
              <a:buNone/>
            </a:pPr>
            <a:r>
              <a:rPr lang="en-US" sz="1350" b="1" dirty="0">
                <a:solidFill>
                  <a:srgbClr val="14181A"/>
                </a:solidFill>
                <a:latin typeface="Public Sans" pitchFamily="34" charset="0"/>
                <a:ea typeface="Public Sans" pitchFamily="34" charset="-122"/>
                <a:cs typeface="Public Sans" pitchFamily="34" charset="-120"/>
              </a:rPr>
              <a:t>Double authentification. </a:t>
            </a:r>
            <a:pPr indent="0" marL="0">
              <a:lnSpc>
                <a:spcPct val="118000"/>
              </a:lnSpc>
              <a:spcAft>
                <a:spcPts val="1600"/>
              </a:spcAft>
              <a:buNone/>
            </a:pPr>
            <a:r>
              <a:rPr lang="en-US" sz="1350" dirty="0">
                <a:solidFill>
                  <a:srgbClr val="3A423F"/>
                </a:solidFill>
                <a:latin typeface="Public Sans" pitchFamily="34" charset="0"/>
                <a:ea typeface="Public Sans" pitchFamily="34" charset="-122"/>
                <a:cs typeface="Public Sans" pitchFamily="34" charset="-120"/>
              </a:rPr>
              <a:t>Chacun peut l’activer, avec une application d’authentification. Une fois activée, elle est exigée pour toute action d’administration. Pas de codes de secours.</a:t>
            </a:r>
            <a:endParaRPr lang="en-US" sz="1350" dirty="0"/>
          </a:p>
          <a:p>
            <a:pPr indent="0" marL="0">
              <a:lnSpc>
                <a:spcPct val="118000"/>
              </a:lnSpc>
              <a:spcAft>
                <a:spcPts val="1600"/>
              </a:spcAft>
              <a:buNone/>
            </a:pPr>
            <a:r>
              <a:rPr lang="en-US" sz="1350" b="1" dirty="0">
                <a:solidFill>
                  <a:srgbClr val="14181A"/>
                </a:solidFill>
                <a:latin typeface="Public Sans" pitchFamily="34" charset="0"/>
                <a:ea typeface="Public Sans" pitchFamily="34" charset="-122"/>
                <a:cs typeface="Public Sans" pitchFamily="34" charset="-120"/>
              </a:rPr>
              <a:t>Sessions. </a:t>
            </a:r>
            <a:pPr indent="0" marL="0">
              <a:lnSpc>
                <a:spcPct val="118000"/>
              </a:lnSpc>
              <a:spcAft>
                <a:spcPts val="1600"/>
              </a:spcAft>
              <a:buNone/>
            </a:pPr>
            <a:r>
              <a:rPr lang="en-US" sz="1350" dirty="0">
                <a:solidFill>
                  <a:srgbClr val="3A423F"/>
                </a:solidFill>
                <a:latin typeface="Public Sans" pitchFamily="34" charset="0"/>
                <a:ea typeface="Public Sans" pitchFamily="34" charset="-122"/>
                <a:cs typeface="Public Sans" pitchFamily="34" charset="-120"/>
              </a:rPr>
              <a:t>Elles expirent après 30 jours sans usage, et au plus tard 180 jours après la connexion.</a:t>
            </a:r>
            <a:endParaRPr lang="en-US" sz="1350" dirty="0"/>
          </a:p>
          <a:p>
            <a:pPr indent="0" marL="0">
              <a:lnSpc>
                <a:spcPct val="118000"/>
              </a:lnSpc>
              <a:spcAft>
                <a:spcPts val="1600"/>
              </a:spcAft>
              <a:buNone/>
            </a:pPr>
            <a:r>
              <a:rPr lang="en-US" sz="1350" b="1" dirty="0">
                <a:solidFill>
                  <a:srgbClr val="14181A"/>
                </a:solidFill>
                <a:latin typeface="Public Sans" pitchFamily="34" charset="0"/>
                <a:ea typeface="Public Sans" pitchFamily="34" charset="-122"/>
                <a:cs typeface="Public Sans" pitchFamily="34" charset="-120"/>
              </a:rPr>
              <a:t>Annuaire d’entreprise. </a:t>
            </a:r>
            <a:pPr indent="0" marL="0">
              <a:lnSpc>
                <a:spcPct val="118000"/>
              </a:lnSpc>
              <a:spcAft>
                <a:spcPts val="1600"/>
              </a:spcAft>
              <a:buNone/>
            </a:pPr>
            <a:r>
              <a:rPr lang="en-US" sz="1350" dirty="0">
                <a:solidFill>
                  <a:srgbClr val="3A423F"/>
                </a:solidFill>
                <a:latin typeface="Public Sans" pitchFamily="34" charset="0"/>
                <a:ea typeface="Public Sans" pitchFamily="34" charset="-122"/>
                <a:cs typeface="Public Sans" pitchFamily="34" charset="-120"/>
              </a:rPr>
              <a:t>Pas de connexion par SAML ni par Entra ID.</a:t>
            </a:r>
            <a:endParaRPr lang="en-US" sz="1350" dirty="0"/>
          </a:p>
        </p:txBody>
      </p:sp>
      <p:pic>
        <p:nvPicPr>
          <p:cNvPr id="8" name="Image 1" descr="preencoded.png">    </p:cNvPr>
          <p:cNvPicPr>
            <a:picLocks noChangeAspect="1"/>
          </p:cNvPicPr>
          <p:nvPr/>
        </p:nvPicPr>
        <p:blipFill>
          <a:blip r:embed="rId2"/>
          <a:stretch>
            <a:fillRect/>
          </a:stretch>
        </p:blipFill>
        <p:spPr>
          <a:xfrm>
            <a:off x="9354312" y="1874520"/>
            <a:ext cx="2078713" cy="4389120"/>
          </a:xfrm>
          <a:prstGeom prst="rect">
            <a:avLst/>
          </a:prstGeom>
        </p:spPr>
      </p:pic>
      <p:sp>
        <p:nvSpPr>
          <p:cNvPr id="9" name="Text 5"/>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dossier technique · septembre 2026</a:t>
            </a:r>
            <a:endParaRPr lang="en-US" sz="900" dirty="0"/>
          </a:p>
        </p:txBody>
      </p:sp>
      <p:sp>
        <p:nvSpPr>
          <p:cNvPr id="10" name="Text 6"/>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Rôles</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206240" cy="109728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chivo" pitchFamily="34" charset="0"/>
                <a:ea typeface="Archivo" pitchFamily="34" charset="-122"/>
                <a:cs typeface="Archivo" pitchFamily="34" charset="-120"/>
              </a:rPr>
              <a:t>Trois rôles, chacun son périmètre.</a:t>
            </a:r>
            <a:endParaRPr lang="en-US" sz="2600" dirty="0"/>
          </a:p>
        </p:txBody>
      </p:sp>
      <p:sp>
        <p:nvSpPr>
          <p:cNvPr id="7" name="Text 4"/>
          <p:cNvSpPr/>
          <p:nvPr/>
        </p:nvSpPr>
        <p:spPr>
          <a:xfrm>
            <a:off x="731520" y="2514600"/>
            <a:ext cx="4206240" cy="914400"/>
          </a:xfrm>
          <a:prstGeom prst="rect">
            <a:avLst/>
          </a:prstGeom>
          <a:noFill/>
          <a:ln/>
        </p:spPr>
        <p:txBody>
          <a:bodyPr wrap="square" lIns="0" tIns="0" rIns="0" bIns="0" rtlCol="0" anchor="t"/>
          <a:lstStyle/>
          <a:p>
            <a:pPr algn="l" indent="0" marL="0">
              <a:lnSpc>
                <a:spcPct val="118000"/>
              </a:lnSpc>
              <a:buNone/>
            </a:pPr>
            <a:r>
              <a:rPr lang="en-US" sz="1200" dirty="0">
                <a:solidFill>
                  <a:srgbClr val="3A423F"/>
                </a:solidFill>
                <a:latin typeface="Public Sans" pitchFamily="34" charset="0"/>
                <a:ea typeface="Public Sans" pitchFamily="34" charset="-122"/>
                <a:cs typeface="Public Sans" pitchFamily="34" charset="-120"/>
              </a:rPr>
              <a:t>Le compteur peut aussi rejoindre lui-même un inventaire, avec son N° d’inventaire et son code d’accès. Sur le site, il ne voit que Mon compte.</a:t>
            </a:r>
            <a:endParaRPr lang="en-US" sz="1200" dirty="0"/>
          </a:p>
        </p:txBody>
      </p:sp>
      <p:sp>
        <p:nvSpPr>
          <p:cNvPr id="8" name="Text 5"/>
          <p:cNvSpPr/>
          <p:nvPr/>
        </p:nvSpPr>
        <p:spPr>
          <a:xfrm>
            <a:off x="5394960" y="1371600"/>
            <a:ext cx="1920240" cy="274320"/>
          </a:xfrm>
          <a:prstGeom prst="rect">
            <a:avLst/>
          </a:prstGeom>
          <a:noFill/>
          <a:ln/>
        </p:spPr>
        <p:txBody>
          <a:bodyPr wrap="square" lIns="0" tIns="0" rIns="0" bIns="0" rtlCol="0" anchor="t"/>
          <a:lstStyle/>
          <a:p>
            <a:pPr indent="0" marL="0">
              <a:buNone/>
            </a:pPr>
            <a:r>
              <a:rPr lang="en-US" sz="1000" b="1" dirty="0">
                <a:solidFill>
                  <a:srgbClr val="575F5C"/>
                </a:solidFill>
                <a:latin typeface="Public Sans" pitchFamily="34" charset="0"/>
                <a:ea typeface="Public Sans" pitchFamily="34" charset="-122"/>
                <a:cs typeface="Public Sans" pitchFamily="34" charset="-120"/>
              </a:rPr>
              <a:t>Rôle</a:t>
            </a:r>
            <a:endParaRPr lang="en-US" sz="1000" dirty="0"/>
          </a:p>
        </p:txBody>
      </p:sp>
      <p:sp>
        <p:nvSpPr>
          <p:cNvPr id="9" name="Text 6"/>
          <p:cNvSpPr/>
          <p:nvPr/>
        </p:nvSpPr>
        <p:spPr>
          <a:xfrm>
            <a:off x="7315200" y="1371600"/>
            <a:ext cx="2103120" cy="274320"/>
          </a:xfrm>
          <a:prstGeom prst="rect">
            <a:avLst/>
          </a:prstGeom>
          <a:noFill/>
          <a:ln/>
        </p:spPr>
        <p:txBody>
          <a:bodyPr wrap="square" lIns="0" tIns="0" rIns="0" bIns="0" rtlCol="0" anchor="t"/>
          <a:lstStyle/>
          <a:p>
            <a:pPr indent="0" marL="0">
              <a:buNone/>
            </a:pPr>
            <a:r>
              <a:rPr lang="en-US" sz="1000" b="1" dirty="0">
                <a:solidFill>
                  <a:srgbClr val="575F5C"/>
                </a:solidFill>
                <a:latin typeface="Public Sans" pitchFamily="34" charset="0"/>
                <a:ea typeface="Public Sans" pitchFamily="34" charset="-122"/>
                <a:cs typeface="Public Sans" pitchFamily="34" charset="-120"/>
              </a:rPr>
              <a:t>Ce qu’il voit</a:t>
            </a:r>
            <a:endParaRPr lang="en-US" sz="1000" dirty="0"/>
          </a:p>
        </p:txBody>
      </p:sp>
      <p:sp>
        <p:nvSpPr>
          <p:cNvPr id="10" name="Text 7"/>
          <p:cNvSpPr/>
          <p:nvPr/>
        </p:nvSpPr>
        <p:spPr>
          <a:xfrm>
            <a:off x="9418320" y="1371600"/>
            <a:ext cx="2039112" cy="274320"/>
          </a:xfrm>
          <a:prstGeom prst="rect">
            <a:avLst/>
          </a:prstGeom>
          <a:noFill/>
          <a:ln/>
        </p:spPr>
        <p:txBody>
          <a:bodyPr wrap="square" lIns="0" tIns="0" rIns="0" bIns="0" rtlCol="0" anchor="t"/>
          <a:lstStyle/>
          <a:p>
            <a:pPr indent="0" marL="0">
              <a:buNone/>
            </a:pPr>
            <a:r>
              <a:rPr lang="en-US" sz="1000" b="1" dirty="0">
                <a:solidFill>
                  <a:srgbClr val="575F5C"/>
                </a:solidFill>
                <a:latin typeface="Public Sans" pitchFamily="34" charset="0"/>
                <a:ea typeface="Public Sans" pitchFamily="34" charset="-122"/>
                <a:cs typeface="Public Sans" pitchFamily="34" charset="-120"/>
              </a:rPr>
              <a:t>Ce qu’il fait</a:t>
            </a:r>
            <a:endParaRPr lang="en-US" sz="1000" dirty="0"/>
          </a:p>
        </p:txBody>
      </p:sp>
      <p:sp>
        <p:nvSpPr>
          <p:cNvPr id="11" name="Shape 8"/>
          <p:cNvSpPr/>
          <p:nvPr/>
        </p:nvSpPr>
        <p:spPr>
          <a:xfrm>
            <a:off x="5394960" y="1700784"/>
            <a:ext cx="6062472" cy="0"/>
          </a:xfrm>
          <a:prstGeom prst="line">
            <a:avLst/>
          </a:prstGeom>
          <a:noFill/>
          <a:ln w="9525">
            <a:solidFill>
              <a:srgbClr val="E2E5E1"/>
            </a:solidFill>
            <a:prstDash val="solid"/>
          </a:ln>
        </p:spPr>
      </p:sp>
      <p:sp>
        <p:nvSpPr>
          <p:cNvPr id="12" name="Text 9"/>
          <p:cNvSpPr/>
          <p:nvPr/>
        </p:nvSpPr>
        <p:spPr>
          <a:xfrm>
            <a:off x="5394960" y="1801368"/>
            <a:ext cx="1783080" cy="530352"/>
          </a:xfrm>
          <a:prstGeom prst="rect">
            <a:avLst/>
          </a:prstGeom>
          <a:noFill/>
          <a:ln/>
        </p:spPr>
        <p:txBody>
          <a:bodyPr wrap="square" lIns="0" tIns="0" rIns="0" bIns="0" rtlCol="0" anchor="t"/>
          <a:lstStyle/>
          <a:p>
            <a:pPr indent="0" marL="0">
              <a:lnSpc>
                <a:spcPct val="112000"/>
              </a:lnSpc>
              <a:buNone/>
            </a:pPr>
            <a:r>
              <a:rPr lang="en-US" sz="1150" b="1" dirty="0">
                <a:solidFill>
                  <a:srgbClr val="14181A"/>
                </a:solidFill>
                <a:latin typeface="Archivo" pitchFamily="34" charset="0"/>
                <a:ea typeface="Archivo" pitchFamily="34" charset="-122"/>
                <a:cs typeface="Archivo" pitchFamily="34" charset="-120"/>
              </a:rPr>
              <a:t>Administrateur d’entreprise</a:t>
            </a:r>
            <a:endParaRPr lang="en-US" sz="1150" dirty="0"/>
          </a:p>
        </p:txBody>
      </p:sp>
      <p:sp>
        <p:nvSpPr>
          <p:cNvPr id="13" name="Text 10"/>
          <p:cNvSpPr/>
          <p:nvPr/>
        </p:nvSpPr>
        <p:spPr>
          <a:xfrm>
            <a:off x="7315200" y="1801368"/>
            <a:ext cx="1965960" cy="530352"/>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Public Sans" pitchFamily="34" charset="0"/>
                <a:ea typeface="Public Sans" pitchFamily="34" charset="-122"/>
                <a:cs typeface="Public Sans" pitchFamily="34" charset="-120"/>
              </a:rPr>
              <a:t>Tous les magasins de l’entreprise</a:t>
            </a:r>
            <a:endParaRPr lang="en-US" sz="1150" dirty="0"/>
          </a:p>
        </p:txBody>
      </p:sp>
      <p:sp>
        <p:nvSpPr>
          <p:cNvPr id="14" name="Text 11"/>
          <p:cNvSpPr/>
          <p:nvPr/>
        </p:nvSpPr>
        <p:spPr>
          <a:xfrm>
            <a:off x="9418320" y="1801368"/>
            <a:ext cx="1901952" cy="530352"/>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Public Sans" pitchFamily="34" charset="0"/>
                <a:ea typeface="Public Sans" pitchFamily="34" charset="-122"/>
                <a:cs typeface="Public Sans" pitchFamily="34" charset="-120"/>
              </a:rPr>
              <a:t>Ajoute les magasins, gère l’abonnement</a:t>
            </a:r>
            <a:endParaRPr lang="en-US" sz="1150" dirty="0"/>
          </a:p>
        </p:txBody>
      </p:sp>
      <p:sp>
        <p:nvSpPr>
          <p:cNvPr id="15" name="Shape 12"/>
          <p:cNvSpPr/>
          <p:nvPr/>
        </p:nvSpPr>
        <p:spPr>
          <a:xfrm>
            <a:off x="5394960" y="2359152"/>
            <a:ext cx="6062472" cy="0"/>
          </a:xfrm>
          <a:prstGeom prst="line">
            <a:avLst/>
          </a:prstGeom>
          <a:noFill/>
          <a:ln w="9525">
            <a:solidFill>
              <a:srgbClr val="E2E5E1"/>
            </a:solidFill>
            <a:prstDash val="solid"/>
          </a:ln>
        </p:spPr>
      </p:sp>
      <p:sp>
        <p:nvSpPr>
          <p:cNvPr id="16" name="Text 13"/>
          <p:cNvSpPr/>
          <p:nvPr/>
        </p:nvSpPr>
        <p:spPr>
          <a:xfrm>
            <a:off x="5394960" y="2459736"/>
            <a:ext cx="1783080" cy="530352"/>
          </a:xfrm>
          <a:prstGeom prst="rect">
            <a:avLst/>
          </a:prstGeom>
          <a:noFill/>
          <a:ln/>
        </p:spPr>
        <p:txBody>
          <a:bodyPr wrap="square" lIns="0" tIns="0" rIns="0" bIns="0" rtlCol="0" anchor="t"/>
          <a:lstStyle/>
          <a:p>
            <a:pPr indent="0" marL="0">
              <a:lnSpc>
                <a:spcPct val="112000"/>
              </a:lnSpc>
              <a:buNone/>
            </a:pPr>
            <a:r>
              <a:rPr lang="en-US" sz="1150" b="1" dirty="0">
                <a:solidFill>
                  <a:srgbClr val="14181A"/>
                </a:solidFill>
                <a:latin typeface="Archivo" pitchFamily="34" charset="0"/>
                <a:ea typeface="Archivo" pitchFamily="34" charset="-122"/>
                <a:cs typeface="Archivo" pitchFamily="34" charset="-120"/>
              </a:rPr>
              <a:t>Superviseur</a:t>
            </a:r>
            <a:endParaRPr lang="en-US" sz="1150" dirty="0"/>
          </a:p>
        </p:txBody>
      </p:sp>
      <p:sp>
        <p:nvSpPr>
          <p:cNvPr id="17" name="Text 14"/>
          <p:cNvSpPr/>
          <p:nvPr/>
        </p:nvSpPr>
        <p:spPr>
          <a:xfrm>
            <a:off x="7315200" y="2459736"/>
            <a:ext cx="1965960" cy="530352"/>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Public Sans" pitchFamily="34" charset="0"/>
                <a:ea typeface="Public Sans" pitchFamily="34" charset="-122"/>
                <a:cs typeface="Public Sans" pitchFamily="34" charset="-120"/>
              </a:rPr>
              <a:t>Les inventaires qu’il crée ou où il est invité</a:t>
            </a:r>
            <a:endParaRPr lang="en-US" sz="1150" dirty="0"/>
          </a:p>
        </p:txBody>
      </p:sp>
      <p:sp>
        <p:nvSpPr>
          <p:cNvPr id="18" name="Text 15"/>
          <p:cNvSpPr/>
          <p:nvPr/>
        </p:nvSpPr>
        <p:spPr>
          <a:xfrm>
            <a:off x="9418320" y="2459736"/>
            <a:ext cx="1901952" cy="530352"/>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Public Sans" pitchFamily="34" charset="0"/>
                <a:ea typeface="Public Sans" pitchFamily="34" charset="-122"/>
                <a:cs typeface="Public Sans" pitchFamily="34" charset="-120"/>
              </a:rPr>
              <a:t>Arbitre les écarts, clôture ses inventaires</a:t>
            </a:r>
            <a:endParaRPr lang="en-US" sz="1150" dirty="0"/>
          </a:p>
        </p:txBody>
      </p:sp>
      <p:sp>
        <p:nvSpPr>
          <p:cNvPr id="19" name="Shape 16"/>
          <p:cNvSpPr/>
          <p:nvPr/>
        </p:nvSpPr>
        <p:spPr>
          <a:xfrm>
            <a:off x="5394960" y="3017520"/>
            <a:ext cx="6062472" cy="0"/>
          </a:xfrm>
          <a:prstGeom prst="line">
            <a:avLst/>
          </a:prstGeom>
          <a:noFill/>
          <a:ln w="9525">
            <a:solidFill>
              <a:srgbClr val="E2E5E1"/>
            </a:solidFill>
            <a:prstDash val="solid"/>
          </a:ln>
        </p:spPr>
      </p:sp>
      <p:sp>
        <p:nvSpPr>
          <p:cNvPr id="20" name="Text 17"/>
          <p:cNvSpPr/>
          <p:nvPr/>
        </p:nvSpPr>
        <p:spPr>
          <a:xfrm>
            <a:off x="5394960" y="3118104"/>
            <a:ext cx="1783080" cy="530352"/>
          </a:xfrm>
          <a:prstGeom prst="rect">
            <a:avLst/>
          </a:prstGeom>
          <a:noFill/>
          <a:ln/>
        </p:spPr>
        <p:txBody>
          <a:bodyPr wrap="square" lIns="0" tIns="0" rIns="0" bIns="0" rtlCol="0" anchor="t"/>
          <a:lstStyle/>
          <a:p>
            <a:pPr indent="0" marL="0">
              <a:lnSpc>
                <a:spcPct val="112000"/>
              </a:lnSpc>
              <a:buNone/>
            </a:pPr>
            <a:r>
              <a:rPr lang="en-US" sz="1150" b="1" dirty="0">
                <a:solidFill>
                  <a:srgbClr val="14181A"/>
                </a:solidFill>
                <a:latin typeface="Archivo" pitchFamily="34" charset="0"/>
                <a:ea typeface="Archivo" pitchFamily="34" charset="-122"/>
                <a:cs typeface="Archivo" pitchFamily="34" charset="-120"/>
              </a:rPr>
              <a:t>Compteur</a:t>
            </a:r>
            <a:endParaRPr lang="en-US" sz="1150" dirty="0"/>
          </a:p>
        </p:txBody>
      </p:sp>
      <p:sp>
        <p:nvSpPr>
          <p:cNvPr id="21" name="Text 18"/>
          <p:cNvSpPr/>
          <p:nvPr/>
        </p:nvSpPr>
        <p:spPr>
          <a:xfrm>
            <a:off x="7315200" y="3118104"/>
            <a:ext cx="1965960" cy="530352"/>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Public Sans" pitchFamily="34" charset="0"/>
                <a:ea typeface="Public Sans" pitchFamily="34" charset="-122"/>
                <a:cs typeface="Public Sans" pitchFamily="34" charset="-120"/>
              </a:rPr>
              <a:t>Les inventaires en cours qu’il a rejoints</a:t>
            </a:r>
            <a:endParaRPr lang="en-US" sz="1150" dirty="0"/>
          </a:p>
        </p:txBody>
      </p:sp>
      <p:sp>
        <p:nvSpPr>
          <p:cNvPr id="22" name="Text 19"/>
          <p:cNvSpPr/>
          <p:nvPr/>
        </p:nvSpPr>
        <p:spPr>
          <a:xfrm>
            <a:off x="9418320" y="3118104"/>
            <a:ext cx="1901952" cy="530352"/>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Public Sans" pitchFamily="34" charset="0"/>
                <a:ea typeface="Public Sans" pitchFamily="34" charset="-122"/>
                <a:cs typeface="Public Sans" pitchFamily="34" charset="-120"/>
              </a:rPr>
              <a:t>Compte et audite, dans l’application</a:t>
            </a:r>
            <a:endParaRPr lang="en-US" sz="1150" dirty="0"/>
          </a:p>
        </p:txBody>
      </p:sp>
      <p:sp>
        <p:nvSpPr>
          <p:cNvPr id="23" name="Shape 20"/>
          <p:cNvSpPr/>
          <p:nvPr/>
        </p:nvSpPr>
        <p:spPr>
          <a:xfrm>
            <a:off x="5394960" y="3675888"/>
            <a:ext cx="6062472" cy="0"/>
          </a:xfrm>
          <a:prstGeom prst="line">
            <a:avLst/>
          </a:prstGeom>
          <a:noFill/>
          <a:ln w="9525">
            <a:solidFill>
              <a:srgbClr val="E2E5E1"/>
            </a:solidFill>
            <a:prstDash val="solid"/>
          </a:ln>
        </p:spPr>
      </p:sp>
      <p:sp>
        <p:nvSpPr>
          <p:cNvPr id="24" name="Text 21"/>
          <p:cNvSpPr/>
          <p:nvPr/>
        </p:nvSpPr>
        <p:spPr>
          <a:xfrm>
            <a:off x="731520" y="4087368"/>
            <a:ext cx="4206240" cy="1097280"/>
          </a:xfrm>
          <a:prstGeom prst="rect">
            <a:avLst/>
          </a:prstGeom>
          <a:noFill/>
          <a:ln/>
        </p:spPr>
        <p:txBody>
          <a:bodyPr wrap="square" lIns="0" tIns="0" rIns="0" bIns="0" rtlCol="0" anchor="t"/>
          <a:lstStyle/>
          <a:p>
            <a:pPr algn="l" indent="0" marL="0">
              <a:lnSpc>
                <a:spcPct val="118000"/>
              </a:lnSpc>
              <a:buNone/>
            </a:pPr>
            <a:r>
              <a:rPr lang="en-US" sz="1200" dirty="0">
                <a:solidFill>
                  <a:srgbClr val="3A423F"/>
                </a:solidFill>
                <a:latin typeface="Public Sans" pitchFamily="34" charset="0"/>
                <a:ea typeface="Public Sans" pitchFamily="34" charset="-122"/>
                <a:cs typeface="Public Sans" pitchFamily="34" charset="-120"/>
              </a:rPr>
              <a:t>Une même personne peut être administrateur d’entreprise et superviseur. Un inventaire clôturé ne reste visible qu’à son créateur et à l’administrateur.</a:t>
            </a:r>
            <a:endParaRPr lang="en-US" sz="1200" dirty="0"/>
          </a:p>
        </p:txBody>
      </p:sp>
      <p:sp>
        <p:nvSpPr>
          <p:cNvPr id="25" name="Shape 22"/>
          <p:cNvSpPr/>
          <p:nvPr/>
        </p:nvSpPr>
        <p:spPr>
          <a:xfrm>
            <a:off x="5340096" y="4032504"/>
            <a:ext cx="6172200" cy="982724"/>
          </a:xfrm>
          <a:prstGeom prst="roundRect">
            <a:avLst>
              <a:gd name="adj" fmla="val 3722"/>
            </a:avLst>
          </a:prstGeom>
          <a:solidFill>
            <a:srgbClr val="FFFFFF"/>
          </a:solidFill>
          <a:ln w="12700">
            <a:solidFill>
              <a:srgbClr val="E2E5E1"/>
            </a:solidFill>
            <a:prstDash val="solid"/>
          </a:ln>
        </p:spPr>
      </p:sp>
      <p:pic>
        <p:nvPicPr>
          <p:cNvPr id="26" name="Image 1" descr="preencoded.png">    </p:cNvPr>
          <p:cNvPicPr>
            <a:picLocks noChangeAspect="1"/>
          </p:cNvPicPr>
          <p:nvPr/>
        </p:nvPicPr>
        <p:blipFill>
          <a:blip r:embed="rId2"/>
          <a:stretch>
            <a:fillRect/>
          </a:stretch>
        </p:blipFill>
        <p:spPr>
          <a:xfrm>
            <a:off x="5394960" y="4087368"/>
            <a:ext cx="6062472" cy="872996"/>
          </a:xfrm>
          <a:prstGeom prst="rect">
            <a:avLst/>
          </a:prstGeom>
        </p:spPr>
      </p:pic>
      <p:sp>
        <p:nvSpPr>
          <p:cNvPr id="27" name="Text 23"/>
          <p:cNvSpPr/>
          <p:nvPr/>
        </p:nvSpPr>
        <p:spPr>
          <a:xfrm>
            <a:off x="5394960" y="5106668"/>
            <a:ext cx="6062472" cy="365760"/>
          </a:xfrm>
          <a:prstGeom prst="rect">
            <a:avLst/>
          </a:prstGeom>
          <a:noFill/>
          <a:ln/>
        </p:spPr>
        <p:txBody>
          <a:bodyPr wrap="square" lIns="0" tIns="0" rIns="0" bIns="0" rtlCol="0" anchor="t"/>
          <a:lstStyle/>
          <a:p>
            <a:pPr indent="0" marL="0">
              <a:buNone/>
            </a:pPr>
            <a:r>
              <a:rPr lang="en-US" sz="1000" i="1" dirty="0">
                <a:solidFill>
                  <a:srgbClr val="575F5C"/>
                </a:solidFill>
                <a:latin typeface="Public Sans" pitchFamily="34" charset="0"/>
                <a:ea typeface="Public Sans" pitchFamily="34" charset="-122"/>
                <a:cs typeface="Public Sans" pitchFamily="34" charset="-120"/>
              </a:rPr>
              <a:t>Onglet Équipe : N° d’inventaire et code d’accès. Compte de démonstration.</a:t>
            </a:r>
            <a:endParaRPr lang="en-US" sz="1000" dirty="0"/>
          </a:p>
        </p:txBody>
      </p:sp>
      <p:sp>
        <p:nvSpPr>
          <p:cNvPr id="28" name="Text 24"/>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dossier technique · septembre 2026</a:t>
            </a:r>
            <a:endParaRPr lang="en-US" sz="900" dirty="0"/>
          </a:p>
        </p:txBody>
      </p:sp>
      <p:sp>
        <p:nvSpPr>
          <p:cNvPr id="29" name="Text 25"/>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Cloisonnement</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206240" cy="201168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chivo" pitchFamily="34" charset="0"/>
                <a:ea typeface="Archivo" pitchFamily="34" charset="-122"/>
                <a:cs typeface="Archivo" pitchFamily="34" charset="-120"/>
              </a:rPr>
              <a:t>Les droits se vérifient dans la base.</a:t>
            </a:r>
            <a:endParaRPr lang="en-US" sz="2600" dirty="0"/>
          </a:p>
        </p:txBody>
      </p:sp>
      <p:sp>
        <p:nvSpPr>
          <p:cNvPr id="7" name="Text 4"/>
          <p:cNvSpPr/>
          <p:nvPr/>
        </p:nvSpPr>
        <p:spPr>
          <a:xfrm>
            <a:off x="731520" y="2514600"/>
            <a:ext cx="4206240" cy="914400"/>
          </a:xfrm>
          <a:prstGeom prst="rect">
            <a:avLst/>
          </a:prstGeom>
          <a:noFill/>
          <a:ln/>
        </p:spPr>
        <p:txBody>
          <a:bodyPr wrap="square" lIns="0" tIns="0" rIns="0" bIns="0" rtlCol="0" anchor="t"/>
          <a:lstStyle/>
          <a:p>
            <a:pPr algn="l" indent="0" marL="0">
              <a:lnSpc>
                <a:spcPct val="118000"/>
              </a:lnSpc>
              <a:buNone/>
            </a:pPr>
            <a:r>
              <a:rPr lang="en-US" sz="1200" dirty="0">
                <a:solidFill>
                  <a:srgbClr val="3A423F"/>
                </a:solidFill>
                <a:latin typeface="Public Sans" pitchFamily="34" charset="0"/>
                <a:ea typeface="Public Sans" pitchFamily="34" charset="-122"/>
                <a:cs typeface="Public Sans" pitchFamily="34" charset="-120"/>
              </a:rPr>
              <a:t>Au 19 septembre 2026, toutes les tables contrôlent l’accès ligne par ligne.</a:t>
            </a:r>
            <a:endParaRPr lang="en-US" sz="1200" dirty="0"/>
          </a:p>
        </p:txBody>
      </p:sp>
      <p:sp>
        <p:nvSpPr>
          <p:cNvPr id="8" name="Text 5"/>
          <p:cNvSpPr/>
          <p:nvPr/>
        </p:nvSpPr>
        <p:spPr>
          <a:xfrm>
            <a:off x="5394960" y="1371600"/>
            <a:ext cx="6062472" cy="4663440"/>
          </a:xfrm>
          <a:prstGeom prst="rect">
            <a:avLst/>
          </a:prstGeom>
          <a:noFill/>
          <a:ln/>
        </p:spPr>
        <p:txBody>
          <a:bodyPr wrap="square" lIns="0" tIns="0" rIns="0" bIns="0" rtlCol="0" anchor="t"/>
          <a:lstStyle/>
          <a:p>
            <a:pPr indent="0" marL="0">
              <a:lnSpc>
                <a:spcPct val="118000"/>
              </a:lnSpc>
              <a:spcAft>
                <a:spcPts val="1800"/>
              </a:spcAft>
              <a:buNone/>
            </a:pPr>
            <a:r>
              <a:rPr lang="en-US" sz="1350" b="1" dirty="0">
                <a:solidFill>
                  <a:srgbClr val="14181A"/>
                </a:solidFill>
                <a:latin typeface="Public Sans" pitchFamily="34" charset="0"/>
                <a:ea typeface="Public Sans" pitchFamily="34" charset="-122"/>
                <a:cs typeface="Public Sans" pitchFamily="34" charset="-120"/>
              </a:rPr>
              <a:t>Écran contourné. </a:t>
            </a:r>
            <a:pPr indent="0" marL="0">
              <a:lnSpc>
                <a:spcPct val="118000"/>
              </a:lnSpc>
              <a:spcAft>
                <a:spcPts val="1800"/>
              </a:spcAft>
              <a:buNone/>
            </a:pPr>
            <a:r>
              <a:rPr lang="en-US" sz="1350" dirty="0">
                <a:solidFill>
                  <a:srgbClr val="3A423F"/>
                </a:solidFill>
                <a:latin typeface="Public Sans" pitchFamily="34" charset="0"/>
                <a:ea typeface="Public Sans" pitchFamily="34" charset="-122"/>
                <a:cs typeface="Public Sans" pitchFamily="34" charset="-120"/>
              </a:rPr>
              <a:t>Appeler la base directement ne donne accès à rien de plus.</a:t>
            </a:r>
            <a:endParaRPr lang="en-US" sz="1350" dirty="0"/>
          </a:p>
          <a:p>
            <a:pPr indent="0" marL="0">
              <a:lnSpc>
                <a:spcPct val="118000"/>
              </a:lnSpc>
              <a:spcAft>
                <a:spcPts val="1800"/>
              </a:spcAft>
              <a:buNone/>
            </a:pPr>
            <a:r>
              <a:rPr lang="en-US" sz="1350" b="1" dirty="0">
                <a:solidFill>
                  <a:srgbClr val="14181A"/>
                </a:solidFill>
                <a:latin typeface="Public Sans" pitchFamily="34" charset="0"/>
                <a:ea typeface="Public Sans" pitchFamily="34" charset="-122"/>
                <a:cs typeface="Public Sans" pitchFamily="34" charset="-120"/>
              </a:rPr>
              <a:t>Entre entreprises. </a:t>
            </a:r>
            <a:pPr indent="0" marL="0">
              <a:lnSpc>
                <a:spcPct val="118000"/>
              </a:lnSpc>
              <a:spcAft>
                <a:spcPts val="1800"/>
              </a:spcAft>
              <a:buNone/>
            </a:pPr>
            <a:r>
              <a:rPr lang="en-US" sz="1350" dirty="0">
                <a:solidFill>
                  <a:srgbClr val="3A423F"/>
                </a:solidFill>
                <a:latin typeface="Public Sans" pitchFamily="34" charset="0"/>
                <a:ea typeface="Public Sans" pitchFamily="34" charset="-122"/>
                <a:cs typeface="Public Sans" pitchFamily="34" charset="-120"/>
              </a:rPr>
              <a:t>Un compte client ne lit que les données de son entreprise.</a:t>
            </a:r>
            <a:endParaRPr lang="en-US" sz="1350" dirty="0"/>
          </a:p>
          <a:p>
            <a:pPr indent="0" marL="0">
              <a:lnSpc>
                <a:spcPct val="118000"/>
              </a:lnSpc>
              <a:spcAft>
                <a:spcPts val="1800"/>
              </a:spcAft>
              <a:buNone/>
            </a:pPr>
            <a:r>
              <a:rPr lang="en-US" sz="1350" b="1" dirty="0">
                <a:solidFill>
                  <a:srgbClr val="14181A"/>
                </a:solidFill>
                <a:latin typeface="Public Sans" pitchFamily="34" charset="0"/>
                <a:ea typeface="Public Sans" pitchFamily="34" charset="-122"/>
                <a:cs typeface="Public Sans" pitchFamily="34" charset="-120"/>
              </a:rPr>
              <a:t>Éditeur. </a:t>
            </a:r>
            <a:pPr indent="0" marL="0">
              <a:lnSpc>
                <a:spcPct val="118000"/>
              </a:lnSpc>
              <a:spcAft>
                <a:spcPts val="1800"/>
              </a:spcAft>
              <a:buNone/>
            </a:pPr>
            <a:r>
              <a:rPr lang="en-US" sz="1350" dirty="0">
                <a:solidFill>
                  <a:srgbClr val="3A423F"/>
                </a:solidFill>
                <a:latin typeface="Public Sans" pitchFamily="34" charset="0"/>
                <a:ea typeface="Public Sans" pitchFamily="34" charset="-122"/>
                <a:cs typeface="Public Sans" pitchFamily="34" charset="-120"/>
              </a:rPr>
              <a:t>Le compte d’administration de Devkaylab peut lire les inventaires de tous les clients. Il est protégé par la double authentification.</a:t>
            </a:r>
            <a:endParaRPr lang="en-US" sz="1350" dirty="0"/>
          </a:p>
          <a:p>
            <a:pPr indent="0" marL="0">
              <a:lnSpc>
                <a:spcPct val="118000"/>
              </a:lnSpc>
              <a:spcAft>
                <a:spcPts val="1800"/>
              </a:spcAft>
              <a:buNone/>
            </a:pPr>
            <a:r>
              <a:rPr lang="en-US" sz="1350" b="1" dirty="0">
                <a:solidFill>
                  <a:srgbClr val="14181A"/>
                </a:solidFill>
                <a:latin typeface="Public Sans" pitchFamily="34" charset="0"/>
                <a:ea typeface="Public Sans" pitchFamily="34" charset="-122"/>
                <a:cs typeface="Public Sans" pitchFamily="34" charset="-120"/>
              </a:rPr>
              <a:t>Écritures. </a:t>
            </a:r>
            <a:pPr indent="0" marL="0">
              <a:lnSpc>
                <a:spcPct val="118000"/>
              </a:lnSpc>
              <a:spcAft>
                <a:spcPts val="1800"/>
              </a:spcAft>
              <a:buNone/>
            </a:pPr>
            <a:r>
              <a:rPr lang="en-US" sz="1350" dirty="0">
                <a:solidFill>
                  <a:srgbClr val="3A423F"/>
                </a:solidFill>
                <a:latin typeface="Public Sans" pitchFamily="34" charset="0"/>
                <a:ea typeface="Public Sans" pitchFamily="34" charset="-122"/>
                <a:cs typeface="Public Sans" pitchFamily="34" charset="-120"/>
              </a:rPr>
              <a:t>Toute modification contrôle les droits de son auteur.</a:t>
            </a:r>
            <a:endParaRPr lang="en-US" sz="1350" dirty="0"/>
          </a:p>
          <a:p>
            <a:pPr indent="0" marL="0">
              <a:lnSpc>
                <a:spcPct val="118000"/>
              </a:lnSpc>
              <a:spcAft>
                <a:spcPts val="1800"/>
              </a:spcAft>
              <a:buNone/>
            </a:pPr>
            <a:r>
              <a:rPr lang="en-US" sz="1350" b="1" dirty="0">
                <a:solidFill>
                  <a:srgbClr val="14181A"/>
                </a:solidFill>
                <a:latin typeface="Public Sans" pitchFamily="34" charset="0"/>
                <a:ea typeface="Public Sans" pitchFamily="34" charset="-122"/>
                <a:cs typeface="Public Sans" pitchFamily="34" charset="-120"/>
              </a:rPr>
              <a:t>Journal. </a:t>
            </a:r>
            <a:pPr indent="0" marL="0">
              <a:lnSpc>
                <a:spcPct val="118000"/>
              </a:lnSpc>
              <a:spcAft>
                <a:spcPts val="1800"/>
              </a:spcAft>
              <a:buNone/>
            </a:pPr>
            <a:r>
              <a:rPr lang="en-US" sz="1350" dirty="0">
                <a:solidFill>
                  <a:srgbClr val="3A423F"/>
                </a:solidFill>
                <a:latin typeface="Public Sans" pitchFamily="34" charset="0"/>
                <a:ea typeface="Public Sans" pitchFamily="34" charset="-122"/>
                <a:cs typeface="Public Sans" pitchFamily="34" charset="-120"/>
              </a:rPr>
              <a:t>L’administrateur d’entreprise y retrouve les invitations, retraits d’accès, suppressions de comptes et demandes de magasin.</a:t>
            </a:r>
            <a:endParaRPr lang="en-US" sz="1350" dirty="0"/>
          </a:p>
        </p:txBody>
      </p:sp>
      <p:sp>
        <p:nvSpPr>
          <p:cNvPr id="9" name="Text 6"/>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dossier technique · septembre 2026</a:t>
            </a:r>
            <a:endParaRPr lang="en-US" sz="900" dirty="0"/>
          </a:p>
        </p:txBody>
      </p:sp>
      <p:sp>
        <p:nvSpPr>
          <p:cNvPr id="10" name="Text 7"/>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Sécurité</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206240" cy="201168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chivo" pitchFamily="34" charset="0"/>
                <a:ea typeface="Archivo" pitchFamily="34" charset="-122"/>
                <a:cs typeface="Archivo" pitchFamily="34" charset="-120"/>
              </a:rPr>
              <a:t>Nos revues portent sur la base en service.</a:t>
            </a:r>
            <a:endParaRPr lang="en-US" sz="2600" dirty="0"/>
          </a:p>
        </p:txBody>
      </p:sp>
      <p:sp>
        <p:nvSpPr>
          <p:cNvPr id="7" name="Text 4"/>
          <p:cNvSpPr/>
          <p:nvPr/>
        </p:nvSpPr>
        <p:spPr>
          <a:xfrm>
            <a:off x="731520" y="2514600"/>
            <a:ext cx="4206240" cy="914400"/>
          </a:xfrm>
          <a:prstGeom prst="rect">
            <a:avLst/>
          </a:prstGeom>
          <a:noFill/>
          <a:ln/>
        </p:spPr>
        <p:txBody>
          <a:bodyPr wrap="square" lIns="0" tIns="0" rIns="0" bIns="0" rtlCol="0" anchor="t"/>
          <a:lstStyle/>
          <a:p>
            <a:pPr algn="l" indent="0" marL="0">
              <a:lnSpc>
                <a:spcPct val="118000"/>
              </a:lnSpc>
              <a:buNone/>
            </a:pPr>
            <a:r>
              <a:rPr lang="en-US" sz="1200" dirty="0">
                <a:solidFill>
                  <a:srgbClr val="3A423F"/>
                </a:solidFill>
                <a:latin typeface="Public Sans" pitchFamily="34" charset="0"/>
                <a:ea typeface="Public Sans" pitchFamily="34" charset="-122"/>
                <a:cs typeface="Public Sans" pitchFamily="34" charset="-120"/>
              </a:rPr>
              <a:t>Nous relisons les fonctions et les règles d’accès en vigueur, pas seulement le code source.</a:t>
            </a:r>
            <a:endParaRPr lang="en-US" sz="1200" dirty="0"/>
          </a:p>
        </p:txBody>
      </p:sp>
      <p:sp>
        <p:nvSpPr>
          <p:cNvPr id="8" name="Text 5"/>
          <p:cNvSpPr/>
          <p:nvPr/>
        </p:nvSpPr>
        <p:spPr>
          <a:xfrm>
            <a:off x="5394960" y="1371600"/>
            <a:ext cx="6062472" cy="4754880"/>
          </a:xfrm>
          <a:prstGeom prst="rect">
            <a:avLst/>
          </a:prstGeom>
          <a:noFill/>
          <a:ln/>
        </p:spPr>
        <p:txBody>
          <a:bodyPr wrap="square" lIns="0" tIns="0" rIns="0" bIns="0" rtlCol="0" anchor="t"/>
          <a:lstStyle/>
          <a:p>
            <a:pPr indent="0" marL="0">
              <a:lnSpc>
                <a:spcPct val="118000"/>
              </a:lnSpc>
              <a:spcAft>
                <a:spcPts val="1600"/>
              </a:spcAft>
              <a:buNone/>
            </a:pPr>
            <a:r>
              <a:rPr lang="en-US" sz="1350" b="1" dirty="0">
                <a:solidFill>
                  <a:srgbClr val="14181A"/>
                </a:solidFill>
                <a:latin typeface="Public Sans" pitchFamily="34" charset="0"/>
                <a:ea typeface="Public Sans" pitchFamily="34" charset="-122"/>
                <a:cs typeface="Public Sans" pitchFamily="34" charset="-120"/>
              </a:rPr>
              <a:t>Calendrier. </a:t>
            </a:r>
            <a:pPr indent="0" marL="0">
              <a:lnSpc>
                <a:spcPct val="118000"/>
              </a:lnSpc>
              <a:spcAft>
                <a:spcPts val="1600"/>
              </a:spcAft>
              <a:buNone/>
            </a:pPr>
            <a:r>
              <a:rPr lang="en-US" sz="1350" dirty="0">
                <a:solidFill>
                  <a:srgbClr val="3A423F"/>
                </a:solidFill>
                <a:latin typeface="Public Sans" pitchFamily="34" charset="0"/>
                <a:ea typeface="Public Sans" pitchFamily="34" charset="-122"/>
                <a:cs typeface="Public Sans" pitchFamily="34" charset="-120"/>
              </a:rPr>
              <a:t>Revues internes les 13 août, 28 août et 8 septembre 2026. Chaque constat est corrigé, un test automatique empêche son retour.</a:t>
            </a:r>
            <a:endParaRPr lang="en-US" sz="1350" dirty="0"/>
          </a:p>
          <a:p>
            <a:pPr indent="0" marL="0">
              <a:lnSpc>
                <a:spcPct val="118000"/>
              </a:lnSpc>
              <a:spcAft>
                <a:spcPts val="1600"/>
              </a:spcAft>
              <a:buNone/>
            </a:pPr>
            <a:r>
              <a:rPr lang="en-US" sz="1350" b="1" dirty="0">
                <a:solidFill>
                  <a:srgbClr val="14181A"/>
                </a:solidFill>
                <a:latin typeface="Public Sans" pitchFamily="34" charset="0"/>
                <a:ea typeface="Public Sans" pitchFamily="34" charset="-122"/>
                <a:cs typeface="Public Sans" pitchFamily="34" charset="-120"/>
              </a:rPr>
              <a:t>Mots de passe. </a:t>
            </a:r>
            <a:pPr indent="0" marL="0">
              <a:lnSpc>
                <a:spcPct val="118000"/>
              </a:lnSpc>
              <a:spcAft>
                <a:spcPts val="1600"/>
              </a:spcAft>
              <a:buNone/>
            </a:pPr>
            <a:r>
              <a:rPr lang="en-US" sz="1350" dirty="0">
                <a:solidFill>
                  <a:srgbClr val="3A423F"/>
                </a:solidFill>
                <a:latin typeface="Public Sans" pitchFamily="34" charset="0"/>
                <a:ea typeface="Public Sans" pitchFamily="34" charset="-122"/>
                <a:cs typeface="Public Sans" pitchFamily="34" charset="-120"/>
              </a:rPr>
              <a:t>Stockés sous forme d’empreinte, jamais en clair.</a:t>
            </a:r>
            <a:endParaRPr lang="en-US" sz="1350" dirty="0"/>
          </a:p>
          <a:p>
            <a:pPr indent="0" marL="0">
              <a:lnSpc>
                <a:spcPct val="118000"/>
              </a:lnSpc>
              <a:spcAft>
                <a:spcPts val="1600"/>
              </a:spcAft>
              <a:buNone/>
            </a:pPr>
            <a:r>
              <a:rPr lang="en-US" sz="1350" b="1" dirty="0">
                <a:solidFill>
                  <a:srgbClr val="14181A"/>
                </a:solidFill>
                <a:latin typeface="Public Sans" pitchFamily="34" charset="0"/>
                <a:ea typeface="Public Sans" pitchFamily="34" charset="-122"/>
                <a:cs typeface="Public Sans" pitchFamily="34" charset="-120"/>
              </a:rPr>
              <a:t>Sur le téléphone. </a:t>
            </a:r>
            <a:pPr indent="0" marL="0">
              <a:lnSpc>
                <a:spcPct val="118000"/>
              </a:lnSpc>
              <a:spcAft>
                <a:spcPts val="1600"/>
              </a:spcAft>
              <a:buNone/>
            </a:pPr>
            <a:r>
              <a:rPr lang="en-US" sz="1350" dirty="0">
                <a:solidFill>
                  <a:srgbClr val="3A423F"/>
                </a:solidFill>
                <a:latin typeface="Public Sans" pitchFamily="34" charset="0"/>
                <a:ea typeface="Public Sans" pitchFamily="34" charset="-122"/>
                <a:cs typeface="Public Sans" pitchFamily="34" charset="-120"/>
              </a:rPr>
              <a:t>La session est conservée dans le trousseau du système : Keychain sur iOS, Keystore sur Android.</a:t>
            </a:r>
            <a:endParaRPr lang="en-US" sz="1350" dirty="0"/>
          </a:p>
          <a:p>
            <a:pPr indent="0" marL="0">
              <a:lnSpc>
                <a:spcPct val="118000"/>
              </a:lnSpc>
              <a:spcAft>
                <a:spcPts val="1600"/>
              </a:spcAft>
              <a:buNone/>
            </a:pPr>
            <a:r>
              <a:rPr lang="en-US" sz="1350" b="1" dirty="0">
                <a:solidFill>
                  <a:srgbClr val="14181A"/>
                </a:solidFill>
                <a:latin typeface="Public Sans" pitchFamily="34" charset="0"/>
                <a:ea typeface="Public Sans" pitchFamily="34" charset="-122"/>
                <a:cs typeface="Public Sans" pitchFamily="34" charset="-120"/>
              </a:rPr>
              <a:t>Sur le site. </a:t>
            </a:r>
            <a:pPr indent="0" marL="0">
              <a:lnSpc>
                <a:spcPct val="118000"/>
              </a:lnSpc>
              <a:spcAft>
                <a:spcPts val="1600"/>
              </a:spcAft>
              <a:buNone/>
            </a:pPr>
            <a:r>
              <a:rPr lang="en-US" sz="1350" dirty="0">
                <a:solidFill>
                  <a:srgbClr val="3A423F"/>
                </a:solidFill>
                <a:latin typeface="Public Sans" pitchFamily="34" charset="0"/>
                <a:ea typeface="Public Sans" pitchFamily="34" charset="-122"/>
                <a:cs typeface="Public Sans" pitchFamily="34" charset="-120"/>
              </a:rPr>
              <a:t>Six en-têtes de sécurité, dont CSP et HSTS. Aucun traceur, aucune mesure d’audience.</a:t>
            </a:r>
            <a:endParaRPr lang="en-US" sz="1350" dirty="0"/>
          </a:p>
          <a:p>
            <a:pPr indent="0" marL="0">
              <a:lnSpc>
                <a:spcPct val="118000"/>
              </a:lnSpc>
              <a:spcAft>
                <a:spcPts val="1600"/>
              </a:spcAft>
              <a:buNone/>
            </a:pPr>
            <a:r>
              <a:rPr lang="en-US" sz="1350" b="1" dirty="0">
                <a:solidFill>
                  <a:srgbClr val="14181A"/>
                </a:solidFill>
                <a:latin typeface="Public Sans" pitchFamily="34" charset="0"/>
                <a:ea typeface="Public Sans" pitchFamily="34" charset="-122"/>
                <a:cs typeface="Public Sans" pitchFamily="34" charset="-120"/>
              </a:rPr>
              <a:t>Test d’intrusion. </a:t>
            </a:r>
            <a:pPr indent="0" marL="0">
              <a:lnSpc>
                <a:spcPct val="118000"/>
              </a:lnSpc>
              <a:spcAft>
                <a:spcPts val="1600"/>
              </a:spcAft>
              <a:buNone/>
            </a:pPr>
            <a:r>
              <a:rPr lang="en-US" sz="1350" dirty="0">
                <a:solidFill>
                  <a:srgbClr val="3A423F"/>
                </a:solidFill>
                <a:latin typeface="Public Sans" pitchFamily="34" charset="0"/>
                <a:ea typeface="Public Sans" pitchFamily="34" charset="-122"/>
                <a:cs typeface="Public Sans" pitchFamily="34" charset="-120"/>
              </a:rPr>
              <a:t>Aucun test externe à ce jour.</a:t>
            </a:r>
            <a:endParaRPr lang="en-US" sz="1350" dirty="0"/>
          </a:p>
          <a:p>
            <a:pPr indent="0" marL="0">
              <a:lnSpc>
                <a:spcPct val="118000"/>
              </a:lnSpc>
              <a:spcAft>
                <a:spcPts val="1600"/>
              </a:spcAft>
              <a:buNone/>
            </a:pPr>
            <a:r>
              <a:rPr lang="en-US" sz="1350" b="1" dirty="0">
                <a:solidFill>
                  <a:srgbClr val="14181A"/>
                </a:solidFill>
                <a:latin typeface="Public Sans" pitchFamily="34" charset="0"/>
                <a:ea typeface="Public Sans" pitchFamily="34" charset="-122"/>
                <a:cs typeface="Public Sans" pitchFamily="34" charset="-120"/>
              </a:rPr>
              <a:t>Continuité. </a:t>
            </a:r>
            <a:pPr indent="0" marL="0">
              <a:lnSpc>
                <a:spcPct val="118000"/>
              </a:lnSpc>
              <a:spcAft>
                <a:spcPts val="1600"/>
              </a:spcAft>
              <a:buNone/>
            </a:pPr>
            <a:r>
              <a:rPr lang="en-US" sz="1350" dirty="0">
                <a:solidFill>
                  <a:srgbClr val="3A423F"/>
                </a:solidFill>
                <a:latin typeface="Public Sans" pitchFamily="34" charset="0"/>
                <a:ea typeface="Public Sans" pitchFamily="34" charset="-122"/>
                <a:cs typeface="Public Sans" pitchFamily="34" charset="-120"/>
              </a:rPr>
              <a:t>Sauvegarde quotidienne par Supabase, gardée 7 jours. Pas de restauration à la demande ni de taux de disponibilité garanti.</a:t>
            </a:r>
            <a:endParaRPr lang="en-US" sz="1350" dirty="0"/>
          </a:p>
        </p:txBody>
      </p:sp>
      <p:sp>
        <p:nvSpPr>
          <p:cNvPr id="9" name="Text 6"/>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dossier technique · septembre 2026</a:t>
            </a:r>
            <a:endParaRPr lang="en-US" sz="900" dirty="0"/>
          </a:p>
        </p:txBody>
      </p:sp>
      <p:sp>
        <p:nvSpPr>
          <p:cNvPr id="10" name="Text 7"/>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Protection des données</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206240" cy="128016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chivo" pitchFamily="34" charset="0"/>
                <a:ea typeface="Archivo" pitchFamily="34" charset="-122"/>
                <a:cs typeface="Archivo" pitchFamily="34" charset="-120"/>
              </a:rPr>
              <a:t>Pour vos inventaires,</a:t>
            </a:r>
            <a:endParaRPr lang="en-US" sz="2600" dirty="0"/>
          </a:p>
          <a:p>
            <a:pPr indent="0" marL="0">
              <a:lnSpc>
                <a:spcPct val="105000"/>
              </a:lnSpc>
              <a:buNone/>
            </a:pPr>
            <a:r>
              <a:rPr lang="en-US" sz="2600" b="1" dirty="0">
                <a:solidFill>
                  <a:srgbClr val="14181A"/>
                </a:solidFill>
                <a:latin typeface="Archivo" pitchFamily="34" charset="0"/>
                <a:ea typeface="Archivo" pitchFamily="34" charset="-122"/>
                <a:cs typeface="Archivo" pitchFamily="34" charset="-120"/>
              </a:rPr>
              <a:t>Devkaylab est</a:t>
            </a:r>
            <a:endParaRPr lang="en-US" sz="2600" dirty="0"/>
          </a:p>
          <a:p>
            <a:pPr indent="0" marL="0">
              <a:lnSpc>
                <a:spcPct val="105000"/>
              </a:lnSpc>
              <a:buNone/>
            </a:pPr>
            <a:r>
              <a:rPr lang="en-US" sz="2600" b="1" dirty="0">
                <a:solidFill>
                  <a:srgbClr val="14181A"/>
                </a:solidFill>
                <a:latin typeface="Archivo" pitchFamily="34" charset="0"/>
                <a:ea typeface="Archivo" pitchFamily="34" charset="-122"/>
                <a:cs typeface="Archivo" pitchFamily="34" charset="-120"/>
              </a:rPr>
              <a:t>sous-traitant.</a:t>
            </a:r>
            <a:endParaRPr lang="en-US" sz="2600" dirty="0"/>
          </a:p>
        </p:txBody>
      </p:sp>
      <p:sp>
        <p:nvSpPr>
          <p:cNvPr id="7" name="Shape 4"/>
          <p:cNvSpPr/>
          <p:nvPr/>
        </p:nvSpPr>
        <p:spPr>
          <a:xfrm>
            <a:off x="676656" y="2916936"/>
            <a:ext cx="4315968" cy="1098194"/>
          </a:xfrm>
          <a:prstGeom prst="roundRect">
            <a:avLst>
              <a:gd name="adj" fmla="val 3331"/>
            </a:avLst>
          </a:prstGeom>
          <a:solidFill>
            <a:srgbClr val="FFFFFF"/>
          </a:solidFill>
          <a:ln w="12700">
            <a:solidFill>
              <a:srgbClr val="E2E5E1"/>
            </a:solidFill>
            <a:prstDash val="solid"/>
          </a:ln>
        </p:spPr>
      </p:sp>
      <p:pic>
        <p:nvPicPr>
          <p:cNvPr id="8" name="Image 1" descr="preencoded.png">    </p:cNvPr>
          <p:cNvPicPr>
            <a:picLocks noChangeAspect="1"/>
          </p:cNvPicPr>
          <p:nvPr/>
        </p:nvPicPr>
        <p:blipFill>
          <a:blip r:embed="rId2"/>
          <a:stretch>
            <a:fillRect/>
          </a:stretch>
        </p:blipFill>
        <p:spPr>
          <a:xfrm>
            <a:off x="731520" y="2971800"/>
            <a:ext cx="4206240" cy="988466"/>
          </a:xfrm>
          <a:prstGeom prst="rect">
            <a:avLst/>
          </a:prstGeom>
        </p:spPr>
      </p:pic>
      <p:sp>
        <p:nvSpPr>
          <p:cNvPr id="9" name="Text 5"/>
          <p:cNvSpPr/>
          <p:nvPr/>
        </p:nvSpPr>
        <p:spPr>
          <a:xfrm>
            <a:off x="731520" y="4106570"/>
            <a:ext cx="4206240" cy="365760"/>
          </a:xfrm>
          <a:prstGeom prst="rect">
            <a:avLst/>
          </a:prstGeom>
          <a:noFill/>
          <a:ln/>
        </p:spPr>
        <p:txBody>
          <a:bodyPr wrap="square" lIns="0" tIns="0" rIns="0" bIns="0" rtlCol="0" anchor="t"/>
          <a:lstStyle/>
          <a:p>
            <a:pPr indent="0" marL="0">
              <a:buNone/>
            </a:pPr>
            <a:r>
              <a:rPr lang="en-US" sz="1000" i="1" dirty="0">
                <a:solidFill>
                  <a:srgbClr val="575F5C"/>
                </a:solidFill>
                <a:latin typeface="Public Sans" pitchFamily="34" charset="0"/>
                <a:ea typeface="Public Sans" pitchFamily="34" charset="-122"/>
                <a:cs typeface="Public Sans" pitchFamily="34" charset="-120"/>
              </a:rPr>
              <a:t>Onglet Suivi d’un inventaire. Compte de démonstration.</a:t>
            </a:r>
            <a:endParaRPr lang="en-US" sz="1000" dirty="0"/>
          </a:p>
        </p:txBody>
      </p:sp>
      <p:sp>
        <p:nvSpPr>
          <p:cNvPr id="10" name="Text 6"/>
          <p:cNvSpPr/>
          <p:nvPr/>
        </p:nvSpPr>
        <p:spPr>
          <a:xfrm>
            <a:off x="5394960" y="1371600"/>
            <a:ext cx="6062472" cy="4754880"/>
          </a:xfrm>
          <a:prstGeom prst="rect">
            <a:avLst/>
          </a:prstGeom>
          <a:noFill/>
          <a:ln/>
        </p:spPr>
        <p:txBody>
          <a:bodyPr wrap="square" lIns="0" tIns="0" rIns="0" bIns="0" rtlCol="0" anchor="t"/>
          <a:lstStyle/>
          <a:p>
            <a:pPr indent="0" marL="0">
              <a:lnSpc>
                <a:spcPct val="118000"/>
              </a:lnSpc>
              <a:spcAft>
                <a:spcPts val="1600"/>
              </a:spcAft>
              <a:buNone/>
            </a:pPr>
            <a:r>
              <a:rPr lang="en-US" sz="1350" b="1" dirty="0">
                <a:solidFill>
                  <a:srgbClr val="14181A"/>
                </a:solidFill>
                <a:latin typeface="Public Sans" pitchFamily="34" charset="0"/>
                <a:ea typeface="Public Sans" pitchFamily="34" charset="-122"/>
                <a:cs typeface="Public Sans" pitchFamily="34" charset="-120"/>
              </a:rPr>
              <a:t>Relation client. </a:t>
            </a:r>
            <a:pPr indent="0" marL="0">
              <a:lnSpc>
                <a:spcPct val="118000"/>
              </a:lnSpc>
              <a:spcAft>
                <a:spcPts val="1600"/>
              </a:spcAft>
              <a:buNone/>
            </a:pPr>
            <a:r>
              <a:rPr lang="en-US" sz="1350" dirty="0">
                <a:solidFill>
                  <a:srgbClr val="3A423F"/>
                </a:solidFill>
                <a:latin typeface="Public Sans" pitchFamily="34" charset="0"/>
                <a:ea typeface="Public Sans" pitchFamily="34" charset="-122"/>
                <a:cs typeface="Public Sans" pitchFamily="34" charset="-120"/>
              </a:rPr>
              <a:t>Pour les comptes, la facturation et l’assistance, Devkaylab est responsable de traitement.</a:t>
            </a:r>
            <a:endParaRPr lang="en-US" sz="1350" dirty="0"/>
          </a:p>
          <a:p>
            <a:pPr indent="0" marL="0">
              <a:lnSpc>
                <a:spcPct val="118000"/>
              </a:lnSpc>
              <a:spcAft>
                <a:spcPts val="1600"/>
              </a:spcAft>
              <a:buNone/>
            </a:pPr>
            <a:r>
              <a:rPr lang="en-US" sz="1350" b="1" dirty="0">
                <a:solidFill>
                  <a:srgbClr val="14181A"/>
                </a:solidFill>
                <a:latin typeface="Public Sans" pitchFamily="34" charset="0"/>
                <a:ea typeface="Public Sans" pitchFamily="34" charset="-122"/>
                <a:cs typeface="Public Sans" pitchFamily="34" charset="-120"/>
              </a:rPr>
              <a:t>Contrat. </a:t>
            </a:r>
            <a:pPr indent="0" marL="0">
              <a:lnSpc>
                <a:spcPct val="118000"/>
              </a:lnSpc>
              <a:spcAft>
                <a:spcPts val="1600"/>
              </a:spcAft>
              <a:buNone/>
            </a:pPr>
            <a:r>
              <a:rPr lang="en-US" sz="1350" dirty="0">
                <a:solidFill>
                  <a:srgbClr val="3A423F"/>
                </a:solidFill>
                <a:latin typeface="Public Sans" pitchFamily="34" charset="0"/>
                <a:ea typeface="Public Sans" pitchFamily="34" charset="-122"/>
                <a:cs typeface="Public Sans" pitchFamily="34" charset="-120"/>
              </a:rPr>
              <a:t>Les clauses de l’article 28 du RGPD sont annexées aux conditions générales. Leur relecture juridique est à venir.</a:t>
            </a:r>
            <a:endParaRPr lang="en-US" sz="1350" dirty="0"/>
          </a:p>
          <a:p>
            <a:pPr indent="0" marL="0">
              <a:lnSpc>
                <a:spcPct val="118000"/>
              </a:lnSpc>
              <a:spcAft>
                <a:spcPts val="1600"/>
              </a:spcAft>
              <a:buNone/>
            </a:pPr>
            <a:r>
              <a:rPr lang="en-US" sz="1350" b="1" dirty="0">
                <a:solidFill>
                  <a:srgbClr val="14181A"/>
                </a:solidFill>
                <a:latin typeface="Public Sans" pitchFamily="34" charset="0"/>
                <a:ea typeface="Public Sans" pitchFamily="34" charset="-122"/>
                <a:cs typeface="Public Sans" pitchFamily="34" charset="-120"/>
              </a:rPr>
              <a:t>Comptages. </a:t>
            </a:r>
            <a:pPr indent="0" marL="0">
              <a:lnSpc>
                <a:spcPct val="118000"/>
              </a:lnSpc>
              <a:spcAft>
                <a:spcPts val="1600"/>
              </a:spcAft>
              <a:buNone/>
            </a:pPr>
            <a:r>
              <a:rPr lang="en-US" sz="1350" dirty="0">
                <a:solidFill>
                  <a:srgbClr val="3A423F"/>
                </a:solidFill>
                <a:latin typeface="Public Sans" pitchFamily="34" charset="0"/>
                <a:ea typeface="Public Sans" pitchFamily="34" charset="-122"/>
                <a:cs typeface="Public Sans" pitchFamily="34" charset="-120"/>
              </a:rPr>
              <a:t>Tous nominatifs : qui, quoi, où et quand.</a:t>
            </a:r>
            <a:endParaRPr lang="en-US" sz="1350" dirty="0"/>
          </a:p>
          <a:p>
            <a:pPr indent="0" marL="0">
              <a:lnSpc>
                <a:spcPct val="118000"/>
              </a:lnSpc>
              <a:spcAft>
                <a:spcPts val="1600"/>
              </a:spcAft>
              <a:buNone/>
            </a:pPr>
            <a:r>
              <a:rPr lang="en-US" sz="1350" b="1" dirty="0">
                <a:solidFill>
                  <a:srgbClr val="14181A"/>
                </a:solidFill>
                <a:latin typeface="Public Sans" pitchFamily="34" charset="0"/>
                <a:ea typeface="Public Sans" pitchFamily="34" charset="-122"/>
                <a:cs typeface="Public Sans" pitchFamily="34" charset="-120"/>
              </a:rPr>
              <a:t>Suivi en direct. </a:t>
            </a:r>
            <a:pPr indent="0" marL="0">
              <a:lnSpc>
                <a:spcPct val="118000"/>
              </a:lnSpc>
              <a:spcAft>
                <a:spcPts val="1600"/>
              </a:spcAft>
              <a:buNone/>
            </a:pPr>
            <a:r>
              <a:rPr lang="en-US" sz="1350" dirty="0">
                <a:solidFill>
                  <a:srgbClr val="3A423F"/>
                </a:solidFill>
                <a:latin typeface="Public Sans" pitchFamily="34" charset="0"/>
                <a:ea typeface="Public Sans" pitchFamily="34" charset="-122"/>
                <a:cs typeface="Public Sans" pitchFamily="34" charset="-120"/>
              </a:rPr>
              <a:t>Il ne montre que des nombres, sans aucun nom. Rien n’en est conservé après l’inventaire.</a:t>
            </a:r>
            <a:endParaRPr lang="en-US" sz="1350" dirty="0"/>
          </a:p>
          <a:p>
            <a:pPr indent="0" marL="0">
              <a:lnSpc>
                <a:spcPct val="118000"/>
              </a:lnSpc>
              <a:spcAft>
                <a:spcPts val="1600"/>
              </a:spcAft>
              <a:buNone/>
            </a:pPr>
            <a:r>
              <a:rPr lang="en-US" sz="1350" b="1" dirty="0">
                <a:solidFill>
                  <a:srgbClr val="14181A"/>
                </a:solidFill>
                <a:latin typeface="Public Sans" pitchFamily="34" charset="0"/>
                <a:ea typeface="Public Sans" pitchFamily="34" charset="-122"/>
                <a:cs typeface="Public Sans" pitchFamily="34" charset="-120"/>
              </a:rPr>
              <a:t>Violation de données. </a:t>
            </a:r>
            <a:pPr indent="0" marL="0">
              <a:lnSpc>
                <a:spcPct val="118000"/>
              </a:lnSpc>
              <a:spcAft>
                <a:spcPts val="1600"/>
              </a:spcAft>
              <a:buNone/>
            </a:pPr>
            <a:r>
              <a:rPr lang="en-US" sz="1350" dirty="0">
                <a:solidFill>
                  <a:srgbClr val="3A423F"/>
                </a:solidFill>
                <a:latin typeface="Public Sans" pitchFamily="34" charset="0"/>
                <a:ea typeface="Public Sans" pitchFamily="34" charset="-122"/>
                <a:cs typeface="Public Sans" pitchFamily="34" charset="-120"/>
              </a:rPr>
              <a:t>Nous vous prévenons dans les meilleurs délais. Vous notifiez la CNIL sous 72 heures s’il y a un risque.</a:t>
            </a:r>
            <a:endParaRPr lang="en-US" sz="1350" dirty="0"/>
          </a:p>
        </p:txBody>
      </p:sp>
      <p:sp>
        <p:nvSpPr>
          <p:cNvPr id="11" name="Text 7"/>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dossier technique · septembre 2026</a:t>
            </a:r>
            <a:endParaRPr lang="en-US" sz="900" dirty="0"/>
          </a:p>
        </p:txBody>
      </p:sp>
      <p:sp>
        <p:nvSpPr>
          <p:cNvPr id="12" name="Text 8"/>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Conservation</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206240" cy="137160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chivo" pitchFamily="34" charset="0"/>
                <a:ea typeface="Archivo" pitchFamily="34" charset="-122"/>
                <a:cs typeface="Archivo" pitchFamily="34" charset="-120"/>
              </a:rPr>
              <a:t>Chaque donnée a sa durée de conservation.</a:t>
            </a:r>
            <a:endParaRPr lang="en-US" sz="2600" dirty="0"/>
          </a:p>
        </p:txBody>
      </p:sp>
      <p:sp>
        <p:nvSpPr>
          <p:cNvPr id="7" name="Text 4"/>
          <p:cNvSpPr/>
          <p:nvPr/>
        </p:nvSpPr>
        <p:spPr>
          <a:xfrm>
            <a:off x="731520" y="2514600"/>
            <a:ext cx="4206240" cy="640080"/>
          </a:xfrm>
          <a:prstGeom prst="rect">
            <a:avLst/>
          </a:prstGeom>
          <a:noFill/>
          <a:ln/>
        </p:spPr>
        <p:txBody>
          <a:bodyPr wrap="square" lIns="0" tIns="0" rIns="0" bIns="0" rtlCol="0" anchor="t"/>
          <a:lstStyle/>
          <a:p>
            <a:pPr algn="l" indent="0" marL="0">
              <a:lnSpc>
                <a:spcPct val="118000"/>
              </a:lnSpc>
              <a:buNone/>
            </a:pPr>
            <a:r>
              <a:rPr lang="en-US" sz="1200" dirty="0">
                <a:solidFill>
                  <a:srgbClr val="3A423F"/>
                </a:solidFill>
                <a:latin typeface="Public Sans" pitchFamily="34" charset="0"/>
                <a:ea typeface="Public Sans" pitchFamily="34" charset="-122"/>
                <a:cs typeface="Public Sans" pitchFamily="34" charset="-120"/>
              </a:rPr>
              <a:t>Une tâche automatique quotidienne efface ou anonymise ce qui a expiré.</a:t>
            </a:r>
            <a:endParaRPr lang="en-US" sz="1200" dirty="0"/>
          </a:p>
        </p:txBody>
      </p:sp>
      <p:sp>
        <p:nvSpPr>
          <p:cNvPr id="8" name="Text 5"/>
          <p:cNvSpPr/>
          <p:nvPr/>
        </p:nvSpPr>
        <p:spPr>
          <a:xfrm>
            <a:off x="731520" y="3291840"/>
            <a:ext cx="4206240" cy="2743200"/>
          </a:xfrm>
          <a:prstGeom prst="rect">
            <a:avLst/>
          </a:prstGeom>
          <a:noFill/>
          <a:ln/>
        </p:spPr>
        <p:txBody>
          <a:bodyPr wrap="square" lIns="0" tIns="0" rIns="0" bIns="0" rtlCol="0" anchor="t"/>
          <a:lstStyle/>
          <a:p>
            <a:pPr indent="0" marL="0">
              <a:lnSpc>
                <a:spcPct val="118000"/>
              </a:lnSpc>
              <a:spcAft>
                <a:spcPts val="1000"/>
              </a:spcAft>
              <a:buNone/>
            </a:pPr>
            <a:r>
              <a:rPr lang="en-US" sz="1200" b="1" dirty="0">
                <a:solidFill>
                  <a:srgbClr val="14181A"/>
                </a:solidFill>
                <a:latin typeface="Public Sans" pitchFamily="34" charset="0"/>
                <a:ea typeface="Public Sans" pitchFamily="34" charset="-122"/>
                <a:cs typeface="Public Sans" pitchFamily="34" charset="-120"/>
              </a:rPr>
              <a:t>Télécharger mes données. </a:t>
            </a:r>
            <a:pPr indent="0" marL="0">
              <a:lnSpc>
                <a:spcPct val="118000"/>
              </a:lnSpc>
              <a:spcAft>
                <a:spcPts val="1000"/>
              </a:spcAft>
              <a:buNone/>
            </a:pPr>
            <a:r>
              <a:rPr lang="en-US" sz="1200" dirty="0">
                <a:solidFill>
                  <a:srgbClr val="3A423F"/>
                </a:solidFill>
                <a:latin typeface="Public Sans" pitchFamily="34" charset="0"/>
                <a:ea typeface="Public Sans" pitchFamily="34" charset="-122"/>
                <a:cs typeface="Public Sans" pitchFamily="34" charset="-120"/>
              </a:rPr>
              <a:t>Depuis Mon compte, chacun en obtient une copie au format JSON.</a:t>
            </a:r>
            <a:endParaRPr lang="en-US" sz="1200" dirty="0"/>
          </a:p>
          <a:p>
            <a:pPr indent="0" marL="0">
              <a:lnSpc>
                <a:spcPct val="118000"/>
              </a:lnSpc>
              <a:spcAft>
                <a:spcPts val="1000"/>
              </a:spcAft>
              <a:buNone/>
            </a:pPr>
            <a:r>
              <a:rPr lang="en-US" sz="1200" b="1" dirty="0">
                <a:solidFill>
                  <a:srgbClr val="14181A"/>
                </a:solidFill>
                <a:latin typeface="Public Sans" pitchFamily="34" charset="0"/>
                <a:ea typeface="Public Sans" pitchFamily="34" charset="-122"/>
                <a:cs typeface="Public Sans" pitchFamily="34" charset="-120"/>
              </a:rPr>
              <a:t>Supprimer mon compte. </a:t>
            </a:r>
            <a:pPr indent="0" marL="0">
              <a:lnSpc>
                <a:spcPct val="118000"/>
              </a:lnSpc>
              <a:spcAft>
                <a:spcPts val="1000"/>
              </a:spcAft>
              <a:buNone/>
            </a:pPr>
            <a:r>
              <a:rPr lang="en-US" sz="1200" dirty="0">
                <a:solidFill>
                  <a:srgbClr val="3A423F"/>
                </a:solidFill>
                <a:latin typeface="Public Sans" pitchFamily="34" charset="0"/>
                <a:ea typeface="Public Sans" pitchFamily="34" charset="-122"/>
                <a:cs typeface="Public Sans" pitchFamily="34" charset="-120"/>
              </a:rPr>
              <a:t>La demande part du même écran. Les comptages restent à l’entreprise, détachés du nom.</a:t>
            </a:r>
            <a:endParaRPr lang="en-US" sz="1200" dirty="0"/>
          </a:p>
          <a:p>
            <a:pPr indent="0" marL="0">
              <a:lnSpc>
                <a:spcPct val="118000"/>
              </a:lnSpc>
              <a:spcAft>
                <a:spcPts val="1000"/>
              </a:spcAft>
              <a:buNone/>
            </a:pPr>
            <a:r>
              <a:rPr lang="en-US" sz="1200" b="1" dirty="0">
                <a:solidFill>
                  <a:srgbClr val="14181A"/>
                </a:solidFill>
                <a:latin typeface="Public Sans" pitchFamily="34" charset="0"/>
                <a:ea typeface="Public Sans" pitchFamily="34" charset="-122"/>
                <a:cs typeface="Public Sans" pitchFamily="34" charset="-120"/>
              </a:rPr>
              <a:t>Côté employeur. </a:t>
            </a:r>
            <a:pPr indent="0" marL="0">
              <a:lnSpc>
                <a:spcPct val="118000"/>
              </a:lnSpc>
              <a:spcAft>
                <a:spcPts val="1000"/>
              </a:spcAft>
              <a:buNone/>
            </a:pPr>
            <a:r>
              <a:rPr lang="en-US" sz="1200" dirty="0">
                <a:solidFill>
                  <a:srgbClr val="3A423F"/>
                </a:solidFill>
                <a:latin typeface="Public Sans" pitchFamily="34" charset="0"/>
                <a:ea typeface="Public Sans" pitchFamily="34" charset="-122"/>
                <a:cs typeface="Public Sans" pitchFamily="34" charset="-120"/>
              </a:rPr>
              <a:t>L’administrateur d’entreprise peut aussi supprimer tout compte de son entreprise.</a:t>
            </a:r>
            <a:endParaRPr lang="en-US" sz="1200" dirty="0"/>
          </a:p>
        </p:txBody>
      </p:sp>
      <p:sp>
        <p:nvSpPr>
          <p:cNvPr id="9" name="Text 6"/>
          <p:cNvSpPr/>
          <p:nvPr/>
        </p:nvSpPr>
        <p:spPr>
          <a:xfrm>
            <a:off x="5394960" y="1371600"/>
            <a:ext cx="3017520" cy="274320"/>
          </a:xfrm>
          <a:prstGeom prst="rect">
            <a:avLst/>
          </a:prstGeom>
          <a:noFill/>
          <a:ln/>
        </p:spPr>
        <p:txBody>
          <a:bodyPr wrap="square" lIns="0" tIns="0" rIns="0" bIns="0" rtlCol="0" anchor="t"/>
          <a:lstStyle/>
          <a:p>
            <a:pPr indent="0" marL="0">
              <a:buNone/>
            </a:pPr>
            <a:r>
              <a:rPr lang="en-US" sz="1000" b="1" dirty="0">
                <a:solidFill>
                  <a:srgbClr val="575F5C"/>
                </a:solidFill>
                <a:latin typeface="Public Sans" pitchFamily="34" charset="0"/>
                <a:ea typeface="Public Sans" pitchFamily="34" charset="-122"/>
                <a:cs typeface="Public Sans" pitchFamily="34" charset="-120"/>
              </a:rPr>
              <a:t>Donnée</a:t>
            </a:r>
            <a:endParaRPr lang="en-US" sz="1000" dirty="0"/>
          </a:p>
        </p:txBody>
      </p:sp>
      <p:sp>
        <p:nvSpPr>
          <p:cNvPr id="10" name="Text 7"/>
          <p:cNvSpPr/>
          <p:nvPr/>
        </p:nvSpPr>
        <p:spPr>
          <a:xfrm>
            <a:off x="8412480" y="1371600"/>
            <a:ext cx="3044952" cy="274320"/>
          </a:xfrm>
          <a:prstGeom prst="rect">
            <a:avLst/>
          </a:prstGeom>
          <a:noFill/>
          <a:ln/>
        </p:spPr>
        <p:txBody>
          <a:bodyPr wrap="square" lIns="0" tIns="0" rIns="0" bIns="0" rtlCol="0" anchor="t"/>
          <a:lstStyle/>
          <a:p>
            <a:pPr indent="0" marL="0">
              <a:buNone/>
            </a:pPr>
            <a:r>
              <a:rPr lang="en-US" sz="1000" b="1" dirty="0">
                <a:solidFill>
                  <a:srgbClr val="575F5C"/>
                </a:solidFill>
                <a:latin typeface="Public Sans" pitchFamily="34" charset="0"/>
                <a:ea typeface="Public Sans" pitchFamily="34" charset="-122"/>
                <a:cs typeface="Public Sans" pitchFamily="34" charset="-120"/>
              </a:rPr>
              <a:t>Durée</a:t>
            </a:r>
            <a:endParaRPr lang="en-US" sz="1000" dirty="0"/>
          </a:p>
        </p:txBody>
      </p:sp>
      <p:sp>
        <p:nvSpPr>
          <p:cNvPr id="11" name="Shape 8"/>
          <p:cNvSpPr/>
          <p:nvPr/>
        </p:nvSpPr>
        <p:spPr>
          <a:xfrm>
            <a:off x="5394960" y="1700784"/>
            <a:ext cx="6062472" cy="0"/>
          </a:xfrm>
          <a:prstGeom prst="line">
            <a:avLst/>
          </a:prstGeom>
          <a:noFill/>
          <a:ln w="9525">
            <a:solidFill>
              <a:srgbClr val="E2E5E1"/>
            </a:solidFill>
            <a:prstDash val="solid"/>
          </a:ln>
        </p:spPr>
      </p:sp>
      <p:sp>
        <p:nvSpPr>
          <p:cNvPr id="12" name="Text 9"/>
          <p:cNvSpPr/>
          <p:nvPr/>
        </p:nvSpPr>
        <p:spPr>
          <a:xfrm>
            <a:off x="5394960" y="1801368"/>
            <a:ext cx="2880360" cy="365760"/>
          </a:xfrm>
          <a:prstGeom prst="rect">
            <a:avLst/>
          </a:prstGeom>
          <a:noFill/>
          <a:ln/>
        </p:spPr>
        <p:txBody>
          <a:bodyPr wrap="square" lIns="0" tIns="0" rIns="0" bIns="0" rtlCol="0" anchor="t"/>
          <a:lstStyle/>
          <a:p>
            <a:pPr indent="0" marL="0">
              <a:lnSpc>
                <a:spcPct val="112000"/>
              </a:lnSpc>
              <a:buNone/>
            </a:pPr>
            <a:r>
              <a:rPr lang="en-US" sz="1150" b="1" dirty="0">
                <a:solidFill>
                  <a:srgbClr val="14181A"/>
                </a:solidFill>
                <a:latin typeface="Archivo" pitchFamily="34" charset="0"/>
                <a:ea typeface="Archivo" pitchFamily="34" charset="-122"/>
                <a:cs typeface="Archivo" pitchFamily="34" charset="-120"/>
              </a:rPr>
              <a:t>Détail des comptages</a:t>
            </a:r>
            <a:endParaRPr lang="en-US" sz="1150" dirty="0"/>
          </a:p>
        </p:txBody>
      </p:sp>
      <p:sp>
        <p:nvSpPr>
          <p:cNvPr id="13" name="Text 10"/>
          <p:cNvSpPr/>
          <p:nvPr/>
        </p:nvSpPr>
        <p:spPr>
          <a:xfrm>
            <a:off x="8412480" y="1801368"/>
            <a:ext cx="2907792" cy="365760"/>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Public Sans" pitchFamily="34" charset="0"/>
                <a:ea typeface="Public Sans" pitchFamily="34" charset="-122"/>
                <a:cs typeface="Public Sans" pitchFamily="34" charset="-120"/>
              </a:rPr>
              <a:t>12 mois après la clôture de l’inventaire</a:t>
            </a:r>
            <a:endParaRPr lang="en-US" sz="1150" dirty="0"/>
          </a:p>
        </p:txBody>
      </p:sp>
      <p:sp>
        <p:nvSpPr>
          <p:cNvPr id="14" name="Shape 11"/>
          <p:cNvSpPr/>
          <p:nvPr/>
        </p:nvSpPr>
        <p:spPr>
          <a:xfrm>
            <a:off x="5394960" y="2194560"/>
            <a:ext cx="6062472" cy="0"/>
          </a:xfrm>
          <a:prstGeom prst="line">
            <a:avLst/>
          </a:prstGeom>
          <a:noFill/>
          <a:ln w="9525">
            <a:solidFill>
              <a:srgbClr val="E2E5E1"/>
            </a:solidFill>
            <a:prstDash val="solid"/>
          </a:ln>
        </p:spPr>
      </p:sp>
      <p:sp>
        <p:nvSpPr>
          <p:cNvPr id="15" name="Text 12"/>
          <p:cNvSpPr/>
          <p:nvPr/>
        </p:nvSpPr>
        <p:spPr>
          <a:xfrm>
            <a:off x="5394960" y="2295144"/>
            <a:ext cx="2880360" cy="548640"/>
          </a:xfrm>
          <a:prstGeom prst="rect">
            <a:avLst/>
          </a:prstGeom>
          <a:noFill/>
          <a:ln/>
        </p:spPr>
        <p:txBody>
          <a:bodyPr wrap="square" lIns="0" tIns="0" rIns="0" bIns="0" rtlCol="0" anchor="t"/>
          <a:lstStyle/>
          <a:p>
            <a:pPr indent="0" marL="0">
              <a:lnSpc>
                <a:spcPct val="112000"/>
              </a:lnSpc>
              <a:buNone/>
            </a:pPr>
            <a:r>
              <a:rPr lang="en-US" sz="1150" b="1" dirty="0">
                <a:solidFill>
                  <a:srgbClr val="14181A"/>
                </a:solidFill>
                <a:latin typeface="Archivo" pitchFamily="34" charset="0"/>
                <a:ea typeface="Archivo" pitchFamily="34" charset="-122"/>
                <a:cs typeface="Archivo" pitchFamily="34" charset="-120"/>
              </a:rPr>
              <a:t>Rapport, écarts, référentiel articles, stock théorique</a:t>
            </a:r>
            <a:endParaRPr lang="en-US" sz="1150" dirty="0"/>
          </a:p>
        </p:txBody>
      </p:sp>
      <p:sp>
        <p:nvSpPr>
          <p:cNvPr id="16" name="Text 13"/>
          <p:cNvSpPr/>
          <p:nvPr/>
        </p:nvSpPr>
        <p:spPr>
          <a:xfrm>
            <a:off x="8412480" y="2295144"/>
            <a:ext cx="2907792" cy="548640"/>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Public Sans" pitchFamily="34" charset="0"/>
                <a:ea typeface="Public Sans" pitchFamily="34" charset="-122"/>
                <a:cs typeface="Public Sans" pitchFamily="34" charset="-120"/>
              </a:rPr>
              <a:t>Tant que l’entreprise utilise le service</a:t>
            </a:r>
            <a:endParaRPr lang="en-US" sz="1150" dirty="0"/>
          </a:p>
        </p:txBody>
      </p:sp>
      <p:sp>
        <p:nvSpPr>
          <p:cNvPr id="17" name="Shape 14"/>
          <p:cNvSpPr/>
          <p:nvPr/>
        </p:nvSpPr>
        <p:spPr>
          <a:xfrm>
            <a:off x="5394960" y="2871216"/>
            <a:ext cx="6062472" cy="0"/>
          </a:xfrm>
          <a:prstGeom prst="line">
            <a:avLst/>
          </a:prstGeom>
          <a:noFill/>
          <a:ln w="9525">
            <a:solidFill>
              <a:srgbClr val="E2E5E1"/>
            </a:solidFill>
            <a:prstDash val="solid"/>
          </a:ln>
        </p:spPr>
      </p:sp>
      <p:sp>
        <p:nvSpPr>
          <p:cNvPr id="18" name="Text 15"/>
          <p:cNvSpPr/>
          <p:nvPr/>
        </p:nvSpPr>
        <p:spPr>
          <a:xfrm>
            <a:off x="5394960" y="2971800"/>
            <a:ext cx="2880360" cy="365760"/>
          </a:xfrm>
          <a:prstGeom prst="rect">
            <a:avLst/>
          </a:prstGeom>
          <a:noFill/>
          <a:ln/>
        </p:spPr>
        <p:txBody>
          <a:bodyPr wrap="square" lIns="0" tIns="0" rIns="0" bIns="0" rtlCol="0" anchor="t"/>
          <a:lstStyle/>
          <a:p>
            <a:pPr indent="0" marL="0">
              <a:lnSpc>
                <a:spcPct val="112000"/>
              </a:lnSpc>
              <a:buNone/>
            </a:pPr>
            <a:r>
              <a:rPr lang="en-US" sz="1150" b="1" dirty="0">
                <a:solidFill>
                  <a:srgbClr val="14181A"/>
                </a:solidFill>
                <a:latin typeface="Archivo" pitchFamily="34" charset="0"/>
                <a:ea typeface="Archivo" pitchFamily="34" charset="-122"/>
                <a:cs typeface="Archivo" pitchFamily="34" charset="-120"/>
              </a:rPr>
              <a:t>Compte</a:t>
            </a:r>
            <a:endParaRPr lang="en-US" sz="1150" dirty="0"/>
          </a:p>
        </p:txBody>
      </p:sp>
      <p:sp>
        <p:nvSpPr>
          <p:cNvPr id="19" name="Text 16"/>
          <p:cNvSpPr/>
          <p:nvPr/>
        </p:nvSpPr>
        <p:spPr>
          <a:xfrm>
            <a:off x="8412480" y="2971800"/>
            <a:ext cx="2907792" cy="365760"/>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Public Sans" pitchFamily="34" charset="0"/>
                <a:ea typeface="Public Sans" pitchFamily="34" charset="-122"/>
                <a:cs typeface="Public Sans" pitchFamily="34" charset="-120"/>
              </a:rPr>
              <a:t>Tant qu’il est actif</a:t>
            </a:r>
            <a:endParaRPr lang="en-US" sz="1150" dirty="0"/>
          </a:p>
        </p:txBody>
      </p:sp>
      <p:sp>
        <p:nvSpPr>
          <p:cNvPr id="20" name="Shape 17"/>
          <p:cNvSpPr/>
          <p:nvPr/>
        </p:nvSpPr>
        <p:spPr>
          <a:xfrm>
            <a:off x="5394960" y="3364992"/>
            <a:ext cx="6062472" cy="0"/>
          </a:xfrm>
          <a:prstGeom prst="line">
            <a:avLst/>
          </a:prstGeom>
          <a:noFill/>
          <a:ln w="9525">
            <a:solidFill>
              <a:srgbClr val="E2E5E1"/>
            </a:solidFill>
            <a:prstDash val="solid"/>
          </a:ln>
        </p:spPr>
      </p:sp>
      <p:sp>
        <p:nvSpPr>
          <p:cNvPr id="21" name="Text 18"/>
          <p:cNvSpPr/>
          <p:nvPr/>
        </p:nvSpPr>
        <p:spPr>
          <a:xfrm>
            <a:off x="5394960" y="3465576"/>
            <a:ext cx="2880360" cy="365760"/>
          </a:xfrm>
          <a:prstGeom prst="rect">
            <a:avLst/>
          </a:prstGeom>
          <a:noFill/>
          <a:ln/>
        </p:spPr>
        <p:txBody>
          <a:bodyPr wrap="square" lIns="0" tIns="0" rIns="0" bIns="0" rtlCol="0" anchor="t"/>
          <a:lstStyle/>
          <a:p>
            <a:pPr indent="0" marL="0">
              <a:lnSpc>
                <a:spcPct val="112000"/>
              </a:lnSpc>
              <a:buNone/>
            </a:pPr>
            <a:r>
              <a:rPr lang="en-US" sz="1150" b="1" dirty="0">
                <a:solidFill>
                  <a:srgbClr val="14181A"/>
                </a:solidFill>
                <a:latin typeface="Archivo" pitchFamily="34" charset="0"/>
                <a:ea typeface="Archivo" pitchFamily="34" charset="-122"/>
                <a:cs typeface="Archivo" pitchFamily="34" charset="-120"/>
              </a:rPr>
              <a:t>Invitations</a:t>
            </a:r>
            <a:endParaRPr lang="en-US" sz="1150" dirty="0"/>
          </a:p>
        </p:txBody>
      </p:sp>
      <p:sp>
        <p:nvSpPr>
          <p:cNvPr id="22" name="Text 19"/>
          <p:cNvSpPr/>
          <p:nvPr/>
        </p:nvSpPr>
        <p:spPr>
          <a:xfrm>
            <a:off x="8412480" y="3465576"/>
            <a:ext cx="2907792" cy="365760"/>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Public Sans" pitchFamily="34" charset="0"/>
                <a:ea typeface="Public Sans" pitchFamily="34" charset="-122"/>
                <a:cs typeface="Public Sans" pitchFamily="34" charset="-120"/>
              </a:rPr>
              <a:t>3 mois</a:t>
            </a:r>
            <a:endParaRPr lang="en-US" sz="1150" dirty="0"/>
          </a:p>
        </p:txBody>
      </p:sp>
      <p:sp>
        <p:nvSpPr>
          <p:cNvPr id="23" name="Shape 20"/>
          <p:cNvSpPr/>
          <p:nvPr/>
        </p:nvSpPr>
        <p:spPr>
          <a:xfrm>
            <a:off x="5394960" y="3858768"/>
            <a:ext cx="6062472" cy="0"/>
          </a:xfrm>
          <a:prstGeom prst="line">
            <a:avLst/>
          </a:prstGeom>
          <a:noFill/>
          <a:ln w="9525">
            <a:solidFill>
              <a:srgbClr val="E2E5E1"/>
            </a:solidFill>
            <a:prstDash val="solid"/>
          </a:ln>
        </p:spPr>
      </p:sp>
      <p:sp>
        <p:nvSpPr>
          <p:cNvPr id="24" name="Text 21"/>
          <p:cNvSpPr/>
          <p:nvPr/>
        </p:nvSpPr>
        <p:spPr>
          <a:xfrm>
            <a:off x="5394960" y="3959352"/>
            <a:ext cx="2880360" cy="365760"/>
          </a:xfrm>
          <a:prstGeom prst="rect">
            <a:avLst/>
          </a:prstGeom>
          <a:noFill/>
          <a:ln/>
        </p:spPr>
        <p:txBody>
          <a:bodyPr wrap="square" lIns="0" tIns="0" rIns="0" bIns="0" rtlCol="0" anchor="t"/>
          <a:lstStyle/>
          <a:p>
            <a:pPr indent="0" marL="0">
              <a:lnSpc>
                <a:spcPct val="112000"/>
              </a:lnSpc>
              <a:buNone/>
            </a:pPr>
            <a:r>
              <a:rPr lang="en-US" sz="1150" b="1" dirty="0">
                <a:solidFill>
                  <a:srgbClr val="14181A"/>
                </a:solidFill>
                <a:latin typeface="Archivo" pitchFamily="34" charset="0"/>
                <a:ea typeface="Archivo" pitchFamily="34" charset="-122"/>
                <a:cs typeface="Archivo" pitchFamily="34" charset="-120"/>
              </a:rPr>
              <a:t>Journaux d’administration</a:t>
            </a:r>
            <a:endParaRPr lang="en-US" sz="1150" dirty="0"/>
          </a:p>
        </p:txBody>
      </p:sp>
      <p:sp>
        <p:nvSpPr>
          <p:cNvPr id="25" name="Text 22"/>
          <p:cNvSpPr/>
          <p:nvPr/>
        </p:nvSpPr>
        <p:spPr>
          <a:xfrm>
            <a:off x="8412480" y="3959352"/>
            <a:ext cx="2907792" cy="365760"/>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Public Sans" pitchFamily="34" charset="0"/>
                <a:ea typeface="Public Sans" pitchFamily="34" charset="-122"/>
                <a:cs typeface="Public Sans" pitchFamily="34" charset="-120"/>
              </a:rPr>
              <a:t>1 an</a:t>
            </a:r>
            <a:endParaRPr lang="en-US" sz="1150" dirty="0"/>
          </a:p>
        </p:txBody>
      </p:sp>
      <p:sp>
        <p:nvSpPr>
          <p:cNvPr id="26" name="Shape 23"/>
          <p:cNvSpPr/>
          <p:nvPr/>
        </p:nvSpPr>
        <p:spPr>
          <a:xfrm>
            <a:off x="5394960" y="4352544"/>
            <a:ext cx="6062472" cy="0"/>
          </a:xfrm>
          <a:prstGeom prst="line">
            <a:avLst/>
          </a:prstGeom>
          <a:noFill/>
          <a:ln w="9525">
            <a:solidFill>
              <a:srgbClr val="E2E5E1"/>
            </a:solidFill>
            <a:prstDash val="solid"/>
          </a:ln>
        </p:spPr>
      </p:sp>
      <p:sp>
        <p:nvSpPr>
          <p:cNvPr id="27" name="Text 24"/>
          <p:cNvSpPr/>
          <p:nvPr/>
        </p:nvSpPr>
        <p:spPr>
          <a:xfrm>
            <a:off x="5394960" y="4453128"/>
            <a:ext cx="2880360" cy="365760"/>
          </a:xfrm>
          <a:prstGeom prst="rect">
            <a:avLst/>
          </a:prstGeom>
          <a:noFill/>
          <a:ln/>
        </p:spPr>
        <p:txBody>
          <a:bodyPr wrap="square" lIns="0" tIns="0" rIns="0" bIns="0" rtlCol="0" anchor="t"/>
          <a:lstStyle/>
          <a:p>
            <a:pPr indent="0" marL="0">
              <a:lnSpc>
                <a:spcPct val="112000"/>
              </a:lnSpc>
              <a:buNone/>
            </a:pPr>
            <a:r>
              <a:rPr lang="en-US" sz="1150" b="1" dirty="0">
                <a:solidFill>
                  <a:srgbClr val="14181A"/>
                </a:solidFill>
                <a:latin typeface="Archivo" pitchFamily="34" charset="0"/>
                <a:ea typeface="Archivo" pitchFamily="34" charset="-122"/>
                <a:cs typeface="Archivo" pitchFamily="34" charset="-120"/>
              </a:rPr>
              <a:t>Factures</a:t>
            </a:r>
            <a:endParaRPr lang="en-US" sz="1150" dirty="0"/>
          </a:p>
        </p:txBody>
      </p:sp>
      <p:sp>
        <p:nvSpPr>
          <p:cNvPr id="28" name="Text 25"/>
          <p:cNvSpPr/>
          <p:nvPr/>
        </p:nvSpPr>
        <p:spPr>
          <a:xfrm>
            <a:off x="8412480" y="4453128"/>
            <a:ext cx="2907792" cy="365760"/>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Public Sans" pitchFamily="34" charset="0"/>
                <a:ea typeface="Public Sans" pitchFamily="34" charset="-122"/>
                <a:cs typeface="Public Sans" pitchFamily="34" charset="-120"/>
              </a:rPr>
              <a:t>10 ans</a:t>
            </a:r>
            <a:endParaRPr lang="en-US" sz="1150" dirty="0"/>
          </a:p>
        </p:txBody>
      </p:sp>
      <p:sp>
        <p:nvSpPr>
          <p:cNvPr id="29" name="Shape 26"/>
          <p:cNvSpPr/>
          <p:nvPr/>
        </p:nvSpPr>
        <p:spPr>
          <a:xfrm>
            <a:off x="5394960" y="4846320"/>
            <a:ext cx="6062472" cy="0"/>
          </a:xfrm>
          <a:prstGeom prst="line">
            <a:avLst/>
          </a:prstGeom>
          <a:noFill/>
          <a:ln w="9525">
            <a:solidFill>
              <a:srgbClr val="E2E5E1"/>
            </a:solidFill>
            <a:prstDash val="solid"/>
          </a:ln>
        </p:spPr>
      </p:sp>
      <p:sp>
        <p:nvSpPr>
          <p:cNvPr id="30" name="Text 27"/>
          <p:cNvSpPr/>
          <p:nvPr/>
        </p:nvSpPr>
        <p:spPr>
          <a:xfrm>
            <a:off x="5394960" y="4946904"/>
            <a:ext cx="2880360" cy="365760"/>
          </a:xfrm>
          <a:prstGeom prst="rect">
            <a:avLst/>
          </a:prstGeom>
          <a:noFill/>
          <a:ln/>
        </p:spPr>
        <p:txBody>
          <a:bodyPr wrap="square" lIns="0" tIns="0" rIns="0" bIns="0" rtlCol="0" anchor="t"/>
          <a:lstStyle/>
          <a:p>
            <a:pPr indent="0" marL="0">
              <a:lnSpc>
                <a:spcPct val="112000"/>
              </a:lnSpc>
              <a:buNone/>
            </a:pPr>
            <a:r>
              <a:rPr lang="en-US" sz="1150" b="1" dirty="0">
                <a:solidFill>
                  <a:srgbClr val="14181A"/>
                </a:solidFill>
                <a:latin typeface="Archivo" pitchFamily="34" charset="0"/>
                <a:ea typeface="Archivo" pitchFamily="34" charset="-122"/>
                <a:cs typeface="Archivo" pitchFamily="34" charset="-120"/>
              </a:rPr>
              <a:t>Décompte d’appareils, sans nom</a:t>
            </a:r>
            <a:endParaRPr lang="en-US" sz="1150" dirty="0"/>
          </a:p>
        </p:txBody>
      </p:sp>
      <p:sp>
        <p:nvSpPr>
          <p:cNvPr id="31" name="Text 28"/>
          <p:cNvSpPr/>
          <p:nvPr/>
        </p:nvSpPr>
        <p:spPr>
          <a:xfrm>
            <a:off x="8412480" y="4946904"/>
            <a:ext cx="2907792" cy="365760"/>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Public Sans" pitchFamily="34" charset="0"/>
                <a:ea typeface="Public Sans" pitchFamily="34" charset="-122"/>
                <a:cs typeface="Public Sans" pitchFamily="34" charset="-120"/>
              </a:rPr>
              <a:t>7 jours</a:t>
            </a:r>
            <a:endParaRPr lang="en-US" sz="1150" dirty="0"/>
          </a:p>
        </p:txBody>
      </p:sp>
      <p:sp>
        <p:nvSpPr>
          <p:cNvPr id="32" name="Shape 29"/>
          <p:cNvSpPr/>
          <p:nvPr/>
        </p:nvSpPr>
        <p:spPr>
          <a:xfrm>
            <a:off x="5394960" y="5340096"/>
            <a:ext cx="6062472" cy="0"/>
          </a:xfrm>
          <a:prstGeom prst="line">
            <a:avLst/>
          </a:prstGeom>
          <a:noFill/>
          <a:ln w="9525">
            <a:solidFill>
              <a:srgbClr val="E2E5E1"/>
            </a:solidFill>
            <a:prstDash val="solid"/>
          </a:ln>
        </p:spPr>
      </p:sp>
      <p:sp>
        <p:nvSpPr>
          <p:cNvPr id="33" name="Text 30"/>
          <p:cNvSpPr/>
          <p:nvPr/>
        </p:nvSpPr>
        <p:spPr>
          <a:xfrm>
            <a:off x="5394960" y="5440680"/>
            <a:ext cx="2880360" cy="365760"/>
          </a:xfrm>
          <a:prstGeom prst="rect">
            <a:avLst/>
          </a:prstGeom>
          <a:noFill/>
          <a:ln/>
        </p:spPr>
        <p:txBody>
          <a:bodyPr wrap="square" lIns="0" tIns="0" rIns="0" bIns="0" rtlCol="0" anchor="t"/>
          <a:lstStyle/>
          <a:p>
            <a:pPr indent="0" marL="0">
              <a:lnSpc>
                <a:spcPct val="112000"/>
              </a:lnSpc>
              <a:buNone/>
            </a:pPr>
            <a:r>
              <a:rPr lang="en-US" sz="1150" b="1" dirty="0">
                <a:solidFill>
                  <a:srgbClr val="14181A"/>
                </a:solidFill>
                <a:latin typeface="Archivo" pitchFamily="34" charset="0"/>
                <a:ea typeface="Archivo" pitchFamily="34" charset="-122"/>
                <a:cs typeface="Archivo" pitchFamily="34" charset="-120"/>
              </a:rPr>
              <a:t>Pic d’appareils de chaque jour</a:t>
            </a:r>
            <a:endParaRPr lang="en-US" sz="1150" dirty="0"/>
          </a:p>
        </p:txBody>
      </p:sp>
      <p:sp>
        <p:nvSpPr>
          <p:cNvPr id="34" name="Text 31"/>
          <p:cNvSpPr/>
          <p:nvPr/>
        </p:nvSpPr>
        <p:spPr>
          <a:xfrm>
            <a:off x="8412480" y="5440680"/>
            <a:ext cx="2907792" cy="365760"/>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Public Sans" pitchFamily="34" charset="0"/>
                <a:ea typeface="Public Sans" pitchFamily="34" charset="-122"/>
                <a:cs typeface="Public Sans" pitchFamily="34" charset="-120"/>
              </a:rPr>
              <a:t>13 mois</a:t>
            </a:r>
            <a:endParaRPr lang="en-US" sz="1150" dirty="0"/>
          </a:p>
        </p:txBody>
      </p:sp>
      <p:sp>
        <p:nvSpPr>
          <p:cNvPr id="35" name="Shape 32"/>
          <p:cNvSpPr/>
          <p:nvPr/>
        </p:nvSpPr>
        <p:spPr>
          <a:xfrm>
            <a:off x="5394960" y="5833872"/>
            <a:ext cx="6062472" cy="0"/>
          </a:xfrm>
          <a:prstGeom prst="line">
            <a:avLst/>
          </a:prstGeom>
          <a:noFill/>
          <a:ln w="9525">
            <a:solidFill>
              <a:srgbClr val="E2E5E1"/>
            </a:solidFill>
            <a:prstDash val="solid"/>
          </a:ln>
        </p:spPr>
      </p:sp>
      <p:sp>
        <p:nvSpPr>
          <p:cNvPr id="36" name="Text 33"/>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dossier technique · septembre 2026</a:t>
            </a:r>
            <a:endParaRPr lang="en-US" sz="900" dirty="0"/>
          </a:p>
        </p:txBody>
      </p:sp>
      <p:sp>
        <p:nvSpPr>
          <p:cNvPr id="37" name="Text 34"/>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Fichiers</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206240" cy="128016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chivo" pitchFamily="34" charset="0"/>
                <a:ea typeface="Archivo" pitchFamily="34" charset="-122"/>
                <a:cs typeface="Archivo" pitchFamily="34" charset="-120"/>
              </a:rPr>
              <a:t>Vos outils et Quantinvo échangent par fichiers.</a:t>
            </a:r>
            <a:endParaRPr lang="en-US" sz="2600" dirty="0"/>
          </a:p>
        </p:txBody>
      </p:sp>
      <p:sp>
        <p:nvSpPr>
          <p:cNvPr id="7" name="Text 4"/>
          <p:cNvSpPr/>
          <p:nvPr/>
        </p:nvSpPr>
        <p:spPr>
          <a:xfrm>
            <a:off x="731520" y="2514600"/>
            <a:ext cx="4206240" cy="3566160"/>
          </a:xfrm>
          <a:prstGeom prst="rect">
            <a:avLst/>
          </a:prstGeom>
          <a:noFill/>
          <a:ln/>
        </p:spPr>
        <p:txBody>
          <a:bodyPr wrap="square" lIns="0" tIns="0" rIns="0" bIns="0" rtlCol="0" anchor="t"/>
          <a:lstStyle/>
          <a:p>
            <a:pPr indent="0" marL="0">
              <a:lnSpc>
                <a:spcPct val="118000"/>
              </a:lnSpc>
              <a:spcAft>
                <a:spcPts val="1200"/>
              </a:spcAft>
              <a:buNone/>
            </a:pPr>
            <a:r>
              <a:rPr lang="en-US" sz="1250" b="1" dirty="0">
                <a:solidFill>
                  <a:srgbClr val="14181A"/>
                </a:solidFill>
                <a:latin typeface="Public Sans" pitchFamily="34" charset="0"/>
                <a:ea typeface="Public Sans" pitchFamily="34" charset="-122"/>
                <a:cs typeface="Public Sans" pitchFamily="34" charset="-120"/>
              </a:rPr>
              <a:t>Rapport d’inventaire. </a:t>
            </a:r>
            <a:pPr indent="0" marL="0">
              <a:lnSpc>
                <a:spcPct val="118000"/>
              </a:lnSpc>
              <a:spcAft>
                <a:spcPts val="1200"/>
              </a:spcAft>
              <a:buNone/>
            </a:pPr>
            <a:r>
              <a:rPr lang="en-US" sz="1250" dirty="0">
                <a:solidFill>
                  <a:srgbClr val="3A423F"/>
                </a:solidFill>
                <a:latin typeface="Public Sans" pitchFamily="34" charset="0"/>
                <a:ea typeface="Public Sans" pitchFamily="34" charset="-122"/>
                <a:cs typeface="Public Sans" pitchFamily="34" charset="-120"/>
              </a:rPr>
              <a:t>Un classeur Excel, avec les écarts et le détail par zone, ou deux fichiers CSV.</a:t>
            </a:r>
            <a:endParaRPr lang="en-US" sz="1250" dirty="0"/>
          </a:p>
          <a:p>
            <a:pPr indent="0" marL="0">
              <a:lnSpc>
                <a:spcPct val="118000"/>
              </a:lnSpc>
              <a:spcAft>
                <a:spcPts val="1200"/>
              </a:spcAft>
              <a:buNone/>
            </a:pPr>
            <a:r>
              <a:rPr lang="en-US" sz="1250" b="1" dirty="0">
                <a:solidFill>
                  <a:srgbClr val="14181A"/>
                </a:solidFill>
                <a:latin typeface="Public Sans" pitchFamily="34" charset="0"/>
                <a:ea typeface="Public Sans" pitchFamily="34" charset="-122"/>
                <a:cs typeface="Public Sans" pitchFamily="34" charset="-120"/>
              </a:rPr>
              <a:t>Rapport du magasin. </a:t>
            </a:r>
            <a:pPr indent="0" marL="0">
              <a:lnSpc>
                <a:spcPct val="118000"/>
              </a:lnSpc>
              <a:spcAft>
                <a:spcPts val="1200"/>
              </a:spcAft>
              <a:buNone/>
            </a:pPr>
            <a:r>
              <a:rPr lang="en-US" sz="1250" dirty="0">
                <a:solidFill>
                  <a:srgbClr val="3A423F"/>
                </a:solidFill>
                <a:latin typeface="Public Sans" pitchFamily="34" charset="0"/>
                <a:ea typeface="Public Sans" pitchFamily="34" charset="-122"/>
                <a:cs typeface="Public Sans" pitchFamily="34" charset="-120"/>
              </a:rPr>
              <a:t>Les inventaires clôturés d’un magasin, réunis pour l’administrateur d’entreprise.</a:t>
            </a:r>
            <a:endParaRPr lang="en-US" sz="1250" dirty="0"/>
          </a:p>
          <a:p>
            <a:pPr indent="0" marL="0">
              <a:lnSpc>
                <a:spcPct val="118000"/>
              </a:lnSpc>
              <a:spcAft>
                <a:spcPts val="1200"/>
              </a:spcAft>
              <a:buNone/>
            </a:pPr>
            <a:r>
              <a:rPr lang="en-US" sz="1250" b="1" dirty="0">
                <a:solidFill>
                  <a:srgbClr val="14181A"/>
                </a:solidFill>
                <a:latin typeface="Public Sans" pitchFamily="34" charset="0"/>
                <a:ea typeface="Public Sans" pitchFamily="34" charset="-122"/>
                <a:cs typeface="Public Sans" pitchFamily="34" charset="-120"/>
              </a:rPr>
              <a:t>Balises. </a:t>
            </a:r>
            <a:pPr indent="0" marL="0">
              <a:lnSpc>
                <a:spcPct val="118000"/>
              </a:lnSpc>
              <a:spcAft>
                <a:spcPts val="1200"/>
              </a:spcAft>
              <a:buNone/>
            </a:pPr>
            <a:r>
              <a:rPr lang="en-US" sz="1250" dirty="0">
                <a:solidFill>
                  <a:srgbClr val="3A423F"/>
                </a:solidFill>
                <a:latin typeface="Public Sans" pitchFamily="34" charset="0"/>
                <a:ea typeface="Public Sans" pitchFamily="34" charset="-122"/>
                <a:cs typeface="Public Sans" pitchFamily="34" charset="-120"/>
              </a:rPr>
              <a:t>PDF A4 de 21 étiquettes QR, à imprimer sur feuilles autocollantes.</a:t>
            </a:r>
            <a:endParaRPr lang="en-US" sz="1250" dirty="0"/>
          </a:p>
          <a:p>
            <a:pPr indent="0" marL="0">
              <a:lnSpc>
                <a:spcPct val="118000"/>
              </a:lnSpc>
              <a:spcAft>
                <a:spcPts val="1200"/>
              </a:spcAft>
              <a:buNone/>
            </a:pPr>
            <a:r>
              <a:rPr lang="en-US" sz="1250" b="1" dirty="0">
                <a:solidFill>
                  <a:srgbClr val="14181A"/>
                </a:solidFill>
                <a:latin typeface="Public Sans" pitchFamily="34" charset="0"/>
                <a:ea typeface="Public Sans" pitchFamily="34" charset="-122"/>
                <a:cs typeface="Public Sans" pitchFamily="34" charset="-120"/>
              </a:rPr>
              <a:t>Fin de contrat. </a:t>
            </a:r>
            <a:pPr indent="0" marL="0">
              <a:lnSpc>
                <a:spcPct val="118000"/>
              </a:lnSpc>
              <a:spcAft>
                <a:spcPts val="1200"/>
              </a:spcAft>
              <a:buNone/>
            </a:pPr>
            <a:r>
              <a:rPr lang="en-US" sz="1250" dirty="0">
                <a:solidFill>
                  <a:srgbClr val="3A423F"/>
                </a:solidFill>
                <a:latin typeface="Public Sans" pitchFamily="34" charset="0"/>
                <a:ea typeface="Public Sans" pitchFamily="34" charset="-122"/>
                <a:cs typeface="Public Sans" pitchFamily="34" charset="-120"/>
              </a:rPr>
              <a:t>Les exports restent possibles 30 jours après le terme. Une extraction complète, gratuite une fois, se demande par écrit avant.</a:t>
            </a:r>
            <a:endParaRPr lang="en-US" sz="1250" dirty="0"/>
          </a:p>
        </p:txBody>
      </p:sp>
      <p:sp>
        <p:nvSpPr>
          <p:cNvPr id="8" name="Shape 5"/>
          <p:cNvSpPr/>
          <p:nvPr/>
        </p:nvSpPr>
        <p:spPr>
          <a:xfrm>
            <a:off x="5340096" y="1316736"/>
            <a:ext cx="6172200" cy="1576249"/>
          </a:xfrm>
          <a:prstGeom prst="roundRect">
            <a:avLst>
              <a:gd name="adj" fmla="val 2320"/>
            </a:avLst>
          </a:prstGeom>
          <a:solidFill>
            <a:srgbClr val="FFFFFF"/>
          </a:solidFill>
          <a:ln w="12700">
            <a:solidFill>
              <a:srgbClr val="E2E5E1"/>
            </a:solidFill>
            <a:prstDash val="solid"/>
          </a:ln>
        </p:spPr>
      </p:sp>
      <p:pic>
        <p:nvPicPr>
          <p:cNvPr id="9" name="Image 1" descr="preencoded.png">    </p:cNvPr>
          <p:cNvPicPr>
            <a:picLocks noChangeAspect="1"/>
          </p:cNvPicPr>
          <p:nvPr/>
        </p:nvPicPr>
        <p:blipFill>
          <a:blip r:embed="rId2"/>
          <a:stretch>
            <a:fillRect/>
          </a:stretch>
        </p:blipFill>
        <p:spPr>
          <a:xfrm>
            <a:off x="5394960" y="1371600"/>
            <a:ext cx="6062472" cy="1466521"/>
          </a:xfrm>
          <a:prstGeom prst="rect">
            <a:avLst/>
          </a:prstGeom>
        </p:spPr>
      </p:pic>
      <p:sp>
        <p:nvSpPr>
          <p:cNvPr id="10" name="Text 6"/>
          <p:cNvSpPr/>
          <p:nvPr/>
        </p:nvSpPr>
        <p:spPr>
          <a:xfrm>
            <a:off x="5394960" y="2984425"/>
            <a:ext cx="6062472" cy="365760"/>
          </a:xfrm>
          <a:prstGeom prst="rect">
            <a:avLst/>
          </a:prstGeom>
          <a:noFill/>
          <a:ln/>
        </p:spPr>
        <p:txBody>
          <a:bodyPr wrap="square" lIns="0" tIns="0" rIns="0" bIns="0" rtlCol="0" anchor="t"/>
          <a:lstStyle/>
          <a:p>
            <a:pPr indent="0" marL="0">
              <a:buNone/>
            </a:pPr>
            <a:r>
              <a:rPr lang="en-US" sz="1000" i="1" dirty="0">
                <a:solidFill>
                  <a:srgbClr val="575F5C"/>
                </a:solidFill>
                <a:latin typeface="Public Sans" pitchFamily="34" charset="0"/>
                <a:ea typeface="Public Sans" pitchFamily="34" charset="-122"/>
                <a:cs typeface="Public Sans" pitchFamily="34" charset="-120"/>
              </a:rPr>
              <a:t>Onglet Set up d’un inventaire. Compte de démonstration.</a:t>
            </a:r>
            <a:endParaRPr lang="en-US" sz="1000" dirty="0"/>
          </a:p>
        </p:txBody>
      </p:sp>
      <p:sp>
        <p:nvSpPr>
          <p:cNvPr id="11" name="Text 7"/>
          <p:cNvSpPr/>
          <p:nvPr/>
        </p:nvSpPr>
        <p:spPr>
          <a:xfrm>
            <a:off x="5394960" y="3478201"/>
            <a:ext cx="6062472" cy="2194560"/>
          </a:xfrm>
          <a:prstGeom prst="rect">
            <a:avLst/>
          </a:prstGeom>
          <a:noFill/>
          <a:ln/>
        </p:spPr>
        <p:txBody>
          <a:bodyPr wrap="square" lIns="0" tIns="0" rIns="0" bIns="0" rtlCol="0" anchor="t"/>
          <a:lstStyle/>
          <a:p>
            <a:pPr indent="0" marL="0">
              <a:lnSpc>
                <a:spcPct val="118000"/>
              </a:lnSpc>
              <a:spcAft>
                <a:spcPts val="1200"/>
              </a:spcAft>
              <a:buNone/>
            </a:pPr>
            <a:r>
              <a:rPr lang="en-US" sz="1250" b="1" dirty="0">
                <a:solidFill>
                  <a:srgbClr val="14181A"/>
                </a:solidFill>
                <a:latin typeface="Public Sans" pitchFamily="34" charset="0"/>
                <a:ea typeface="Public Sans" pitchFamily="34" charset="-122"/>
                <a:cs typeface="Public Sans" pitchFamily="34" charset="-120"/>
              </a:rPr>
              <a:t>Import. </a:t>
            </a:r>
            <a:pPr indent="0" marL="0">
              <a:lnSpc>
                <a:spcPct val="118000"/>
              </a:lnSpc>
              <a:spcAft>
                <a:spcPts val="1200"/>
              </a:spcAft>
              <a:buNone/>
            </a:pPr>
            <a:r>
              <a:rPr lang="en-US" sz="1250" dirty="0">
                <a:solidFill>
                  <a:srgbClr val="3A423F"/>
                </a:solidFill>
                <a:latin typeface="Public Sans" pitchFamily="34" charset="0"/>
                <a:ea typeface="Public Sans" pitchFamily="34" charset="-122"/>
                <a:cs typeface="Public Sans" pitchFamily="34" charset="-120"/>
              </a:rPr>
              <a:t>CSV, XLSX ou XLS. Le fichier est lu sur l’ordinateur ou le téléphone. Seules ses lignes entrent dans la base.</a:t>
            </a:r>
            <a:endParaRPr lang="en-US" sz="1250" dirty="0"/>
          </a:p>
          <a:p>
            <a:pPr indent="0" marL="0">
              <a:lnSpc>
                <a:spcPct val="118000"/>
              </a:lnSpc>
              <a:spcAft>
                <a:spcPts val="1200"/>
              </a:spcAft>
              <a:buNone/>
            </a:pPr>
            <a:r>
              <a:rPr lang="en-US" sz="1250" b="1" dirty="0">
                <a:solidFill>
                  <a:srgbClr val="14181A"/>
                </a:solidFill>
                <a:latin typeface="Public Sans" pitchFamily="34" charset="0"/>
                <a:ea typeface="Public Sans" pitchFamily="34" charset="-122"/>
                <a:cs typeface="Public Sans" pitchFamily="34" charset="-120"/>
              </a:rPr>
              <a:t>Intégration. </a:t>
            </a:r>
            <a:pPr indent="0" marL="0">
              <a:lnSpc>
                <a:spcPct val="118000"/>
              </a:lnSpc>
              <a:spcAft>
                <a:spcPts val="1200"/>
              </a:spcAft>
              <a:buNone/>
            </a:pPr>
            <a:r>
              <a:rPr lang="en-US" sz="1250" dirty="0">
                <a:solidFill>
                  <a:srgbClr val="3A423F"/>
                </a:solidFill>
                <a:latin typeface="Public Sans" pitchFamily="34" charset="0"/>
                <a:ea typeface="Public Sans" pitchFamily="34" charset="-122"/>
                <a:cs typeface="Public Sans" pitchFamily="34" charset="-120"/>
              </a:rPr>
              <a:t>Ni API publique ni connecteur ERP à ce jour.</a:t>
            </a:r>
            <a:endParaRPr lang="en-US" sz="1250" dirty="0"/>
          </a:p>
        </p:txBody>
      </p:sp>
      <p:sp>
        <p:nvSpPr>
          <p:cNvPr id="12" name="Text 8"/>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dossier technique · septembre 2026</a:t>
            </a:r>
            <a:endParaRPr lang="en-US" sz="900" dirty="0"/>
          </a:p>
        </p:txBody>
      </p:sp>
      <p:sp>
        <p:nvSpPr>
          <p:cNvPr id="13" name="Text 9"/>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Appareils</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188720"/>
            <a:ext cx="10725912" cy="82296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chivo" pitchFamily="34" charset="0"/>
                <a:ea typeface="Archivo" pitchFamily="34" charset="-122"/>
                <a:cs typeface="Archivo" pitchFamily="34" charset="-120"/>
              </a:rPr>
              <a:t>Le téléphone de chacun devient le scanner.</a:t>
            </a:r>
            <a:endParaRPr lang="en-US" sz="2600" dirty="0"/>
          </a:p>
        </p:txBody>
      </p:sp>
      <p:sp>
        <p:nvSpPr>
          <p:cNvPr id="7" name="Text 4"/>
          <p:cNvSpPr/>
          <p:nvPr/>
        </p:nvSpPr>
        <p:spPr>
          <a:xfrm>
            <a:off x="731520" y="2103120"/>
            <a:ext cx="8046720" cy="4206240"/>
          </a:xfrm>
          <a:prstGeom prst="rect">
            <a:avLst/>
          </a:prstGeom>
          <a:noFill/>
          <a:ln/>
        </p:spPr>
        <p:txBody>
          <a:bodyPr wrap="square" lIns="0" tIns="0" rIns="0" bIns="0" rtlCol="0" anchor="t"/>
          <a:lstStyle/>
          <a:p>
            <a:pPr indent="0" marL="0">
              <a:lnSpc>
                <a:spcPct val="118000"/>
              </a:lnSpc>
              <a:spcAft>
                <a:spcPts val="1600"/>
              </a:spcAft>
              <a:buNone/>
            </a:pPr>
            <a:r>
              <a:rPr lang="en-US" sz="1350" b="1" dirty="0">
                <a:solidFill>
                  <a:srgbClr val="14181A"/>
                </a:solidFill>
                <a:latin typeface="Public Sans" pitchFamily="34" charset="0"/>
                <a:ea typeface="Public Sans" pitchFamily="34" charset="-122"/>
                <a:cs typeface="Public Sans" pitchFamily="34" charset="-120"/>
              </a:rPr>
              <a:t>Systèmes. </a:t>
            </a:r>
            <a:pPr indent="0" marL="0">
              <a:lnSpc>
                <a:spcPct val="118000"/>
              </a:lnSpc>
              <a:spcAft>
                <a:spcPts val="1600"/>
              </a:spcAft>
              <a:buNone/>
            </a:pPr>
            <a:r>
              <a:rPr lang="en-US" sz="1350" dirty="0">
                <a:solidFill>
                  <a:srgbClr val="3A423F"/>
                </a:solidFill>
                <a:latin typeface="Public Sans" pitchFamily="34" charset="0"/>
                <a:ea typeface="Public Sans" pitchFamily="34" charset="-122"/>
                <a:cs typeface="Public Sans" pitchFamily="34" charset="-120"/>
              </a:rPr>
              <a:t>iPhone à partir d’iOS 16.4, Android à partir de la version 7.0. Pas de version iPad. Terminaux durcis : pas encore testés.</a:t>
            </a:r>
            <a:endParaRPr lang="en-US" sz="1350" dirty="0"/>
          </a:p>
          <a:p>
            <a:pPr indent="0" marL="0">
              <a:lnSpc>
                <a:spcPct val="118000"/>
              </a:lnSpc>
              <a:spcAft>
                <a:spcPts val="1600"/>
              </a:spcAft>
              <a:buNone/>
            </a:pPr>
            <a:r>
              <a:rPr lang="en-US" sz="1350" b="1" dirty="0">
                <a:solidFill>
                  <a:srgbClr val="14181A"/>
                </a:solidFill>
                <a:latin typeface="Public Sans" pitchFamily="34" charset="0"/>
                <a:ea typeface="Public Sans" pitchFamily="34" charset="-122"/>
                <a:cs typeface="Public Sans" pitchFamily="34" charset="-120"/>
              </a:rPr>
              <a:t>Trois modes. </a:t>
            </a:r>
            <a:pPr indent="0" marL="0">
              <a:lnSpc>
                <a:spcPct val="118000"/>
              </a:lnSpc>
              <a:spcAft>
                <a:spcPts val="1600"/>
              </a:spcAft>
              <a:buNone/>
            </a:pPr>
            <a:r>
              <a:rPr lang="en-US" sz="1350" dirty="0">
                <a:solidFill>
                  <a:srgbClr val="3A423F"/>
                </a:solidFill>
                <a:latin typeface="Public Sans" pitchFamily="34" charset="0"/>
                <a:ea typeface="Public Sans" pitchFamily="34" charset="-122"/>
                <a:cs typeface="Public Sans" pitchFamily="34" charset="-120"/>
              </a:rPr>
              <a:t>Caméra, saisie manuelle ou douchette Bluetooth, reliée comme un clavier.</a:t>
            </a:r>
            <a:endParaRPr lang="en-US" sz="1350" dirty="0"/>
          </a:p>
          <a:p>
            <a:pPr indent="0" marL="0">
              <a:lnSpc>
                <a:spcPct val="118000"/>
              </a:lnSpc>
              <a:spcAft>
                <a:spcPts val="1600"/>
              </a:spcAft>
              <a:buNone/>
            </a:pPr>
            <a:r>
              <a:rPr lang="en-US" sz="1350" b="1" dirty="0">
                <a:solidFill>
                  <a:srgbClr val="14181A"/>
                </a:solidFill>
                <a:latin typeface="Public Sans" pitchFamily="34" charset="0"/>
                <a:ea typeface="Public Sans" pitchFamily="34" charset="-122"/>
                <a:cs typeface="Public Sans" pitchFamily="34" charset="-120"/>
              </a:rPr>
              <a:t>Codes lus. </a:t>
            </a:r>
            <a:pPr indent="0" marL="0">
              <a:lnSpc>
                <a:spcPct val="118000"/>
              </a:lnSpc>
              <a:spcAft>
                <a:spcPts val="1600"/>
              </a:spcAft>
              <a:buNone/>
            </a:pPr>
            <a:r>
              <a:rPr lang="en-US" sz="1350" dirty="0">
                <a:solidFill>
                  <a:srgbClr val="3A423F"/>
                </a:solidFill>
                <a:latin typeface="Public Sans" pitchFamily="34" charset="0"/>
                <a:ea typeface="Public Sans" pitchFamily="34" charset="-122"/>
                <a:cs typeface="Public Sans" pitchFamily="34" charset="-120"/>
              </a:rPr>
              <a:t>EAN, UPC, Code 128, Code 39, ITF, Data Matrix et QR.</a:t>
            </a:r>
            <a:endParaRPr lang="en-US" sz="1350" dirty="0"/>
          </a:p>
          <a:p>
            <a:pPr indent="0" marL="0">
              <a:lnSpc>
                <a:spcPct val="118000"/>
              </a:lnSpc>
              <a:spcAft>
                <a:spcPts val="1600"/>
              </a:spcAft>
              <a:buNone/>
            </a:pPr>
            <a:r>
              <a:rPr lang="en-US" sz="1350" b="1" dirty="0">
                <a:solidFill>
                  <a:srgbClr val="14181A"/>
                </a:solidFill>
                <a:latin typeface="Public Sans" pitchFamily="34" charset="0"/>
                <a:ea typeface="Public Sans" pitchFamily="34" charset="-122"/>
                <a:cs typeface="Public Sans" pitchFamily="34" charset="-120"/>
              </a:rPr>
              <a:t>Autorisations. </a:t>
            </a:r>
            <a:pPr indent="0" marL="0">
              <a:lnSpc>
                <a:spcPct val="118000"/>
              </a:lnSpc>
              <a:spcAft>
                <a:spcPts val="1600"/>
              </a:spcAft>
              <a:buNone/>
            </a:pPr>
            <a:r>
              <a:rPr lang="en-US" sz="1350" dirty="0">
                <a:solidFill>
                  <a:srgbClr val="3A423F"/>
                </a:solidFill>
                <a:latin typeface="Public Sans" pitchFamily="34" charset="0"/>
                <a:ea typeface="Public Sans" pitchFamily="34" charset="-122"/>
                <a:cs typeface="Public Sans" pitchFamily="34" charset="-120"/>
              </a:rPr>
              <a:t>La caméra, qui lit les codes sans enregistrer d’image. Les notifications, si la personne les accepte. Ni micro ni localisation.</a:t>
            </a:r>
            <a:endParaRPr lang="en-US" sz="1350" dirty="0"/>
          </a:p>
          <a:p>
            <a:pPr indent="0" marL="0">
              <a:lnSpc>
                <a:spcPct val="118000"/>
              </a:lnSpc>
              <a:spcAft>
                <a:spcPts val="1600"/>
              </a:spcAft>
              <a:buNone/>
            </a:pPr>
            <a:r>
              <a:rPr lang="en-US" sz="1350" b="1" dirty="0">
                <a:solidFill>
                  <a:srgbClr val="14181A"/>
                </a:solidFill>
                <a:latin typeface="Public Sans" pitchFamily="34" charset="0"/>
                <a:ea typeface="Public Sans" pitchFamily="34" charset="-122"/>
                <a:cs typeface="Public Sans" pitchFamily="34" charset="-120"/>
              </a:rPr>
              <a:t>Abonnement. </a:t>
            </a:r>
            <a:pPr indent="0" marL="0">
              <a:lnSpc>
                <a:spcPct val="118000"/>
              </a:lnSpc>
              <a:spcAft>
                <a:spcPts val="1600"/>
              </a:spcAft>
              <a:buNone/>
            </a:pPr>
            <a:r>
              <a:rPr lang="en-US" sz="1350" dirty="0">
                <a:solidFill>
                  <a:srgbClr val="3A423F"/>
                </a:solidFill>
                <a:latin typeface="Public Sans" pitchFamily="34" charset="0"/>
                <a:ea typeface="Public Sans" pitchFamily="34" charset="-122"/>
                <a:cs typeface="Public Sans" pitchFamily="34" charset="-120"/>
              </a:rPr>
              <a:t>Il fixe le nombre d’appareils qui comptent en même temps dans un magasin. Inventaires et comptes sont illimités.</a:t>
            </a:r>
            <a:endParaRPr lang="en-US" sz="1350" dirty="0"/>
          </a:p>
        </p:txBody>
      </p:sp>
      <p:pic>
        <p:nvPicPr>
          <p:cNvPr id="8" name="Image 1" descr="preencoded.png">    </p:cNvPr>
          <p:cNvPicPr>
            <a:picLocks noChangeAspect="1"/>
          </p:cNvPicPr>
          <p:nvPr/>
        </p:nvPicPr>
        <p:blipFill>
          <a:blip r:embed="rId2"/>
          <a:stretch>
            <a:fillRect/>
          </a:stretch>
        </p:blipFill>
        <p:spPr>
          <a:xfrm>
            <a:off x="9354312" y="1874520"/>
            <a:ext cx="2078713" cy="4389120"/>
          </a:xfrm>
          <a:prstGeom prst="rect">
            <a:avLst/>
          </a:prstGeom>
        </p:spPr>
      </p:pic>
      <p:sp>
        <p:nvSpPr>
          <p:cNvPr id="9" name="Text 5"/>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dossier technique · septembre 2026</a:t>
            </a:r>
            <a:endParaRPr lang="en-US" sz="900" dirty="0"/>
          </a:p>
        </p:txBody>
      </p:sp>
      <p:sp>
        <p:nvSpPr>
          <p:cNvPr id="10" name="Text 6"/>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Déploiement</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206240" cy="201168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chivo" pitchFamily="34" charset="0"/>
                <a:ea typeface="Archivo" pitchFamily="34" charset="-122"/>
                <a:cs typeface="Archivo" pitchFamily="34" charset="-120"/>
              </a:rPr>
              <a:t>L’application s’installera par les boutiques ou votre gestion de parc.</a:t>
            </a:r>
            <a:endParaRPr lang="en-US" sz="2600" dirty="0"/>
          </a:p>
        </p:txBody>
      </p:sp>
      <p:sp>
        <p:nvSpPr>
          <p:cNvPr id="7" name="Text 4"/>
          <p:cNvSpPr/>
          <p:nvPr/>
        </p:nvSpPr>
        <p:spPr>
          <a:xfrm>
            <a:off x="731520" y="3017520"/>
            <a:ext cx="4206240" cy="914400"/>
          </a:xfrm>
          <a:prstGeom prst="rect">
            <a:avLst/>
          </a:prstGeom>
          <a:noFill/>
          <a:ln/>
        </p:spPr>
        <p:txBody>
          <a:bodyPr wrap="square" lIns="0" tIns="0" rIns="0" bIns="0" rtlCol="0" anchor="t"/>
          <a:lstStyle/>
          <a:p>
            <a:pPr algn="l" indent="0" marL="0">
              <a:lnSpc>
                <a:spcPct val="118000"/>
              </a:lnSpc>
              <a:buNone/>
            </a:pPr>
            <a:r>
              <a:rPr lang="en-US" sz="1200" dirty="0">
                <a:solidFill>
                  <a:srgbClr val="3A423F"/>
                </a:solidFill>
                <a:latin typeface="Public Sans" pitchFamily="34" charset="0"/>
                <a:ea typeface="Public Sans" pitchFamily="34" charset="-122"/>
                <a:cs typeface="Public Sans" pitchFamily="34" charset="-120"/>
              </a:rPr>
              <a:t>Une seule application pour tous les clients : aucune version spéciale à demander.</a:t>
            </a:r>
            <a:endParaRPr lang="en-US" sz="1200" dirty="0"/>
          </a:p>
        </p:txBody>
      </p:sp>
      <p:sp>
        <p:nvSpPr>
          <p:cNvPr id="8" name="Text 5"/>
          <p:cNvSpPr/>
          <p:nvPr/>
        </p:nvSpPr>
        <p:spPr>
          <a:xfrm>
            <a:off x="5394960" y="1371600"/>
            <a:ext cx="2468880" cy="274320"/>
          </a:xfrm>
          <a:prstGeom prst="rect">
            <a:avLst/>
          </a:prstGeom>
          <a:noFill/>
          <a:ln/>
        </p:spPr>
        <p:txBody>
          <a:bodyPr wrap="square" lIns="0" tIns="0" rIns="0" bIns="0" rtlCol="0" anchor="t"/>
          <a:lstStyle/>
          <a:p>
            <a:pPr indent="0" marL="0">
              <a:buNone/>
            </a:pPr>
            <a:r>
              <a:rPr lang="en-US" sz="1000" b="1" dirty="0">
                <a:solidFill>
                  <a:srgbClr val="575F5C"/>
                </a:solidFill>
                <a:latin typeface="Public Sans" pitchFamily="34" charset="0"/>
                <a:ea typeface="Public Sans" pitchFamily="34" charset="-122"/>
                <a:cs typeface="Public Sans" pitchFamily="34" charset="-120"/>
              </a:rPr>
              <a:t>Élément</a:t>
            </a:r>
            <a:endParaRPr lang="en-US" sz="1000" dirty="0"/>
          </a:p>
        </p:txBody>
      </p:sp>
      <p:sp>
        <p:nvSpPr>
          <p:cNvPr id="9" name="Text 6"/>
          <p:cNvSpPr/>
          <p:nvPr/>
        </p:nvSpPr>
        <p:spPr>
          <a:xfrm>
            <a:off x="7863840" y="1371600"/>
            <a:ext cx="3593592" cy="274320"/>
          </a:xfrm>
          <a:prstGeom prst="rect">
            <a:avLst/>
          </a:prstGeom>
          <a:noFill/>
          <a:ln/>
        </p:spPr>
        <p:txBody>
          <a:bodyPr wrap="square" lIns="0" tIns="0" rIns="0" bIns="0" rtlCol="0" anchor="t"/>
          <a:lstStyle/>
          <a:p>
            <a:pPr indent="0" marL="0">
              <a:buNone/>
            </a:pPr>
            <a:r>
              <a:rPr lang="en-US" sz="1000" b="1" dirty="0">
                <a:solidFill>
                  <a:srgbClr val="575F5C"/>
                </a:solidFill>
                <a:latin typeface="Public Sans" pitchFamily="34" charset="0"/>
                <a:ea typeface="Public Sans" pitchFamily="34" charset="-122"/>
                <a:cs typeface="Public Sans" pitchFamily="34" charset="-120"/>
              </a:rPr>
              <a:t>Valeur</a:t>
            </a:r>
            <a:endParaRPr lang="en-US" sz="1000" dirty="0"/>
          </a:p>
        </p:txBody>
      </p:sp>
      <p:sp>
        <p:nvSpPr>
          <p:cNvPr id="10" name="Shape 7"/>
          <p:cNvSpPr/>
          <p:nvPr/>
        </p:nvSpPr>
        <p:spPr>
          <a:xfrm>
            <a:off x="5394960" y="1700784"/>
            <a:ext cx="6062472" cy="0"/>
          </a:xfrm>
          <a:prstGeom prst="line">
            <a:avLst/>
          </a:prstGeom>
          <a:noFill/>
          <a:ln w="9525">
            <a:solidFill>
              <a:srgbClr val="E2E5E1"/>
            </a:solidFill>
            <a:prstDash val="solid"/>
          </a:ln>
        </p:spPr>
      </p:sp>
      <p:sp>
        <p:nvSpPr>
          <p:cNvPr id="11" name="Text 8"/>
          <p:cNvSpPr/>
          <p:nvPr/>
        </p:nvSpPr>
        <p:spPr>
          <a:xfrm>
            <a:off x="5394960" y="1801368"/>
            <a:ext cx="2331720" cy="292608"/>
          </a:xfrm>
          <a:prstGeom prst="rect">
            <a:avLst/>
          </a:prstGeom>
          <a:noFill/>
          <a:ln/>
        </p:spPr>
        <p:txBody>
          <a:bodyPr wrap="square" lIns="0" tIns="0" rIns="0" bIns="0" rtlCol="0" anchor="t"/>
          <a:lstStyle/>
          <a:p>
            <a:pPr indent="0" marL="0">
              <a:lnSpc>
                <a:spcPct val="112000"/>
              </a:lnSpc>
              <a:buNone/>
            </a:pPr>
            <a:r>
              <a:rPr lang="en-US" sz="1150" b="1" dirty="0">
                <a:solidFill>
                  <a:srgbClr val="14181A"/>
                </a:solidFill>
                <a:latin typeface="Archivo" pitchFamily="34" charset="0"/>
                <a:ea typeface="Archivo" pitchFamily="34" charset="-122"/>
                <a:cs typeface="Archivo" pitchFamily="34" charset="-120"/>
              </a:rPr>
              <a:t>Nom</a:t>
            </a:r>
            <a:endParaRPr lang="en-US" sz="1150" dirty="0"/>
          </a:p>
        </p:txBody>
      </p:sp>
      <p:sp>
        <p:nvSpPr>
          <p:cNvPr id="12" name="Text 9"/>
          <p:cNvSpPr/>
          <p:nvPr/>
        </p:nvSpPr>
        <p:spPr>
          <a:xfrm>
            <a:off x="7863840" y="1801368"/>
            <a:ext cx="3456432" cy="292608"/>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Public Sans" pitchFamily="34" charset="0"/>
                <a:ea typeface="Public Sans" pitchFamily="34" charset="-122"/>
                <a:cs typeface="Public Sans" pitchFamily="34" charset="-120"/>
              </a:rPr>
              <a:t>Quantinvo</a:t>
            </a:r>
            <a:endParaRPr lang="en-US" sz="1150" dirty="0"/>
          </a:p>
        </p:txBody>
      </p:sp>
      <p:sp>
        <p:nvSpPr>
          <p:cNvPr id="13" name="Shape 10"/>
          <p:cNvSpPr/>
          <p:nvPr/>
        </p:nvSpPr>
        <p:spPr>
          <a:xfrm>
            <a:off x="5394960" y="2121408"/>
            <a:ext cx="6062472" cy="0"/>
          </a:xfrm>
          <a:prstGeom prst="line">
            <a:avLst/>
          </a:prstGeom>
          <a:noFill/>
          <a:ln w="9525">
            <a:solidFill>
              <a:srgbClr val="E2E5E1"/>
            </a:solidFill>
            <a:prstDash val="solid"/>
          </a:ln>
        </p:spPr>
      </p:sp>
      <p:sp>
        <p:nvSpPr>
          <p:cNvPr id="14" name="Text 11"/>
          <p:cNvSpPr/>
          <p:nvPr/>
        </p:nvSpPr>
        <p:spPr>
          <a:xfrm>
            <a:off x="5394960" y="2221992"/>
            <a:ext cx="2331720" cy="292608"/>
          </a:xfrm>
          <a:prstGeom prst="rect">
            <a:avLst/>
          </a:prstGeom>
          <a:noFill/>
          <a:ln/>
        </p:spPr>
        <p:txBody>
          <a:bodyPr wrap="square" lIns="0" tIns="0" rIns="0" bIns="0" rtlCol="0" anchor="t"/>
          <a:lstStyle/>
          <a:p>
            <a:pPr indent="0" marL="0">
              <a:lnSpc>
                <a:spcPct val="112000"/>
              </a:lnSpc>
              <a:buNone/>
            </a:pPr>
            <a:r>
              <a:rPr lang="en-US" sz="1150" b="1" dirty="0">
                <a:solidFill>
                  <a:srgbClr val="14181A"/>
                </a:solidFill>
                <a:latin typeface="Archivo" pitchFamily="34" charset="0"/>
                <a:ea typeface="Archivo" pitchFamily="34" charset="-122"/>
                <a:cs typeface="Archivo" pitchFamily="34" charset="-120"/>
              </a:rPr>
              <a:t>Identifiant iOS et Android</a:t>
            </a:r>
            <a:endParaRPr lang="en-US" sz="1150" dirty="0"/>
          </a:p>
        </p:txBody>
      </p:sp>
      <p:sp>
        <p:nvSpPr>
          <p:cNvPr id="15" name="Text 12"/>
          <p:cNvSpPr/>
          <p:nvPr/>
        </p:nvSpPr>
        <p:spPr>
          <a:xfrm>
            <a:off x="7863840" y="2221992"/>
            <a:ext cx="3456432" cy="292608"/>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Public Sans" pitchFamily="34" charset="0"/>
                <a:ea typeface="Public Sans" pitchFamily="34" charset="-122"/>
                <a:cs typeface="Public Sans" pitchFamily="34" charset="-120"/>
              </a:rPr>
              <a:t>com.quantinvo.app</a:t>
            </a:r>
            <a:endParaRPr lang="en-US" sz="1150" dirty="0"/>
          </a:p>
        </p:txBody>
      </p:sp>
      <p:sp>
        <p:nvSpPr>
          <p:cNvPr id="16" name="Shape 13"/>
          <p:cNvSpPr/>
          <p:nvPr/>
        </p:nvSpPr>
        <p:spPr>
          <a:xfrm>
            <a:off x="5394960" y="2542032"/>
            <a:ext cx="6062472" cy="0"/>
          </a:xfrm>
          <a:prstGeom prst="line">
            <a:avLst/>
          </a:prstGeom>
          <a:noFill/>
          <a:ln w="9525">
            <a:solidFill>
              <a:srgbClr val="E2E5E1"/>
            </a:solidFill>
            <a:prstDash val="solid"/>
          </a:ln>
        </p:spPr>
      </p:sp>
      <p:sp>
        <p:nvSpPr>
          <p:cNvPr id="17" name="Text 14"/>
          <p:cNvSpPr/>
          <p:nvPr/>
        </p:nvSpPr>
        <p:spPr>
          <a:xfrm>
            <a:off x="5394960" y="2642616"/>
            <a:ext cx="2331720" cy="292608"/>
          </a:xfrm>
          <a:prstGeom prst="rect">
            <a:avLst/>
          </a:prstGeom>
          <a:noFill/>
          <a:ln/>
        </p:spPr>
        <p:txBody>
          <a:bodyPr wrap="square" lIns="0" tIns="0" rIns="0" bIns="0" rtlCol="0" anchor="t"/>
          <a:lstStyle/>
          <a:p>
            <a:pPr indent="0" marL="0">
              <a:lnSpc>
                <a:spcPct val="112000"/>
              </a:lnSpc>
              <a:buNone/>
            </a:pPr>
            <a:r>
              <a:rPr lang="en-US" sz="1150" b="1" dirty="0">
                <a:solidFill>
                  <a:srgbClr val="14181A"/>
                </a:solidFill>
                <a:latin typeface="Archivo" pitchFamily="34" charset="0"/>
                <a:ea typeface="Archivo" pitchFamily="34" charset="-122"/>
                <a:cs typeface="Archivo" pitchFamily="34" charset="-120"/>
              </a:rPr>
              <a:t>App Store</a:t>
            </a:r>
            <a:endParaRPr lang="en-US" sz="1150" dirty="0"/>
          </a:p>
        </p:txBody>
      </p:sp>
      <p:sp>
        <p:nvSpPr>
          <p:cNvPr id="18" name="Text 15"/>
          <p:cNvSpPr/>
          <p:nvPr/>
        </p:nvSpPr>
        <p:spPr>
          <a:xfrm>
            <a:off x="7863840" y="2642616"/>
            <a:ext cx="3456432" cy="292608"/>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Public Sans" pitchFamily="34" charset="0"/>
                <a:ea typeface="Public Sans" pitchFamily="34" charset="-122"/>
                <a:cs typeface="Public Sans" pitchFamily="34" charset="-120"/>
              </a:rPr>
              <a:t>Publiée</a:t>
            </a:r>
            <a:endParaRPr lang="en-US" sz="1150" dirty="0"/>
          </a:p>
        </p:txBody>
      </p:sp>
      <p:sp>
        <p:nvSpPr>
          <p:cNvPr id="19" name="Shape 16"/>
          <p:cNvSpPr/>
          <p:nvPr/>
        </p:nvSpPr>
        <p:spPr>
          <a:xfrm>
            <a:off x="5394960" y="2962656"/>
            <a:ext cx="6062472" cy="0"/>
          </a:xfrm>
          <a:prstGeom prst="line">
            <a:avLst/>
          </a:prstGeom>
          <a:noFill/>
          <a:ln w="9525">
            <a:solidFill>
              <a:srgbClr val="E2E5E1"/>
            </a:solidFill>
            <a:prstDash val="solid"/>
          </a:ln>
        </p:spPr>
      </p:sp>
      <p:sp>
        <p:nvSpPr>
          <p:cNvPr id="20" name="Text 17"/>
          <p:cNvSpPr/>
          <p:nvPr/>
        </p:nvSpPr>
        <p:spPr>
          <a:xfrm>
            <a:off x="5394960" y="3063240"/>
            <a:ext cx="2331720" cy="292608"/>
          </a:xfrm>
          <a:prstGeom prst="rect">
            <a:avLst/>
          </a:prstGeom>
          <a:noFill/>
          <a:ln/>
        </p:spPr>
        <p:txBody>
          <a:bodyPr wrap="square" lIns="0" tIns="0" rIns="0" bIns="0" rtlCol="0" anchor="t"/>
          <a:lstStyle/>
          <a:p>
            <a:pPr indent="0" marL="0">
              <a:lnSpc>
                <a:spcPct val="112000"/>
              </a:lnSpc>
              <a:buNone/>
            </a:pPr>
            <a:r>
              <a:rPr lang="en-US" sz="1150" b="1" dirty="0">
                <a:solidFill>
                  <a:srgbClr val="14181A"/>
                </a:solidFill>
                <a:latin typeface="Archivo" pitchFamily="34" charset="0"/>
                <a:ea typeface="Archivo" pitchFamily="34" charset="-122"/>
                <a:cs typeface="Archivo" pitchFamily="34" charset="-120"/>
              </a:rPr>
              <a:t>Google Play</a:t>
            </a:r>
            <a:endParaRPr lang="en-US" sz="1150" dirty="0"/>
          </a:p>
        </p:txBody>
      </p:sp>
      <p:sp>
        <p:nvSpPr>
          <p:cNvPr id="21" name="Text 18"/>
          <p:cNvSpPr/>
          <p:nvPr/>
        </p:nvSpPr>
        <p:spPr>
          <a:xfrm>
            <a:off x="7863840" y="3063240"/>
            <a:ext cx="3456432" cy="292608"/>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Public Sans" pitchFamily="34" charset="0"/>
                <a:ea typeface="Public Sans" pitchFamily="34" charset="-122"/>
                <a:cs typeface="Public Sans" pitchFamily="34" charset="-120"/>
              </a:rPr>
              <a:t>Publication en cours</a:t>
            </a:r>
            <a:endParaRPr lang="en-US" sz="1150" dirty="0"/>
          </a:p>
        </p:txBody>
      </p:sp>
      <p:sp>
        <p:nvSpPr>
          <p:cNvPr id="22" name="Shape 19"/>
          <p:cNvSpPr/>
          <p:nvPr/>
        </p:nvSpPr>
        <p:spPr>
          <a:xfrm>
            <a:off x="5394960" y="3383280"/>
            <a:ext cx="6062472" cy="0"/>
          </a:xfrm>
          <a:prstGeom prst="line">
            <a:avLst/>
          </a:prstGeom>
          <a:noFill/>
          <a:ln w="9525">
            <a:solidFill>
              <a:srgbClr val="E2E5E1"/>
            </a:solidFill>
            <a:prstDash val="solid"/>
          </a:ln>
        </p:spPr>
      </p:sp>
      <p:sp>
        <p:nvSpPr>
          <p:cNvPr id="23" name="Text 20"/>
          <p:cNvSpPr/>
          <p:nvPr/>
        </p:nvSpPr>
        <p:spPr>
          <a:xfrm>
            <a:off x="5394960" y="3749040"/>
            <a:ext cx="6062472" cy="2926080"/>
          </a:xfrm>
          <a:prstGeom prst="rect">
            <a:avLst/>
          </a:prstGeom>
          <a:noFill/>
          <a:ln/>
        </p:spPr>
        <p:txBody>
          <a:bodyPr wrap="square" lIns="0" tIns="0" rIns="0" bIns="0" rtlCol="0" anchor="t"/>
          <a:lstStyle/>
          <a:p>
            <a:pPr indent="0" marL="0">
              <a:lnSpc>
                <a:spcPct val="118000"/>
              </a:lnSpc>
              <a:spcAft>
                <a:spcPts val="1100"/>
              </a:spcAft>
              <a:buNone/>
            </a:pPr>
            <a:r>
              <a:rPr lang="en-US" sz="1250" b="1" dirty="0">
                <a:solidFill>
                  <a:srgbClr val="14181A"/>
                </a:solidFill>
                <a:latin typeface="Public Sans" pitchFamily="34" charset="0"/>
                <a:ea typeface="Public Sans" pitchFamily="34" charset="-122"/>
                <a:cs typeface="Public Sans" pitchFamily="34" charset="-120"/>
              </a:rPr>
              <a:t>Une fois publiée. </a:t>
            </a:r>
            <a:pPr indent="0" marL="0">
              <a:lnSpc>
                <a:spcPct val="118000"/>
              </a:lnSpc>
              <a:spcAft>
                <a:spcPts val="1100"/>
              </a:spcAft>
              <a:buNone/>
            </a:pPr>
            <a:r>
              <a:rPr lang="en-US" sz="1250" dirty="0">
                <a:solidFill>
                  <a:srgbClr val="3A423F"/>
                </a:solidFill>
                <a:latin typeface="Public Sans" pitchFamily="34" charset="0"/>
                <a:ea typeface="Public Sans" pitchFamily="34" charset="-122"/>
                <a:cs typeface="Public Sans" pitchFamily="34" charset="-120"/>
              </a:rPr>
              <a:t>L’application se distribue par Apple Business Manager ou Managed Google Play.</a:t>
            </a:r>
            <a:endParaRPr lang="en-US" sz="1250" dirty="0"/>
          </a:p>
          <a:p>
            <a:pPr indent="0" marL="0">
              <a:lnSpc>
                <a:spcPct val="118000"/>
              </a:lnSpc>
              <a:spcAft>
                <a:spcPts val="1100"/>
              </a:spcAft>
              <a:buNone/>
            </a:pPr>
            <a:r>
              <a:rPr lang="en-US" sz="1250" b="1" dirty="0">
                <a:solidFill>
                  <a:srgbClr val="14181A"/>
                </a:solidFill>
                <a:latin typeface="Public Sans" pitchFamily="34" charset="0"/>
                <a:ea typeface="Public Sans" pitchFamily="34" charset="-122"/>
                <a:cs typeface="Public Sans" pitchFamily="34" charset="-120"/>
              </a:rPr>
              <a:t>Langues. </a:t>
            </a:r>
            <a:pPr indent="0" marL="0">
              <a:lnSpc>
                <a:spcPct val="118000"/>
              </a:lnSpc>
              <a:spcAft>
                <a:spcPts val="1100"/>
              </a:spcAft>
              <a:buNone/>
            </a:pPr>
            <a:r>
              <a:rPr lang="en-US" sz="1250" dirty="0">
                <a:solidFill>
                  <a:srgbClr val="3A423F"/>
                </a:solidFill>
                <a:latin typeface="Public Sans" pitchFamily="34" charset="0"/>
                <a:ea typeface="Public Sans" pitchFamily="34" charset="-122"/>
                <a:cs typeface="Public Sans" pitchFamily="34" charset="-120"/>
              </a:rPr>
              <a:t>Français et anglais, pour l’application comme pour le site. Les rapports et les e-mails restent en français.</a:t>
            </a:r>
            <a:endParaRPr lang="en-US" sz="1250" dirty="0"/>
          </a:p>
          <a:p>
            <a:pPr indent="0" marL="0">
              <a:lnSpc>
                <a:spcPct val="118000"/>
              </a:lnSpc>
              <a:spcAft>
                <a:spcPts val="1100"/>
              </a:spcAft>
              <a:buNone/>
            </a:pPr>
            <a:r>
              <a:rPr lang="en-US" sz="1250" b="1" dirty="0">
                <a:solidFill>
                  <a:srgbClr val="14181A"/>
                </a:solidFill>
                <a:latin typeface="Public Sans" pitchFamily="34" charset="0"/>
                <a:ea typeface="Public Sans" pitchFamily="34" charset="-122"/>
                <a:cs typeface="Public Sans" pitchFamily="34" charset="-120"/>
              </a:rPr>
              <a:t>Configuration administrée. </a:t>
            </a:r>
            <a:pPr indent="0" marL="0">
              <a:lnSpc>
                <a:spcPct val="118000"/>
              </a:lnSpc>
              <a:spcAft>
                <a:spcPts val="1100"/>
              </a:spcAft>
              <a:buNone/>
            </a:pPr>
            <a:r>
              <a:rPr lang="en-US" sz="1250" dirty="0">
                <a:solidFill>
                  <a:srgbClr val="3A423F"/>
                </a:solidFill>
                <a:latin typeface="Public Sans" pitchFamily="34" charset="0"/>
                <a:ea typeface="Public Sans" pitchFamily="34" charset="-122"/>
                <a:cs typeface="Public Sans" pitchFamily="34" charset="-120"/>
              </a:rPr>
              <a:t>AppConfig n’est pas pris en charge.</a:t>
            </a:r>
            <a:endParaRPr lang="en-US" sz="1250" dirty="0"/>
          </a:p>
          <a:p>
            <a:pPr indent="0" marL="0">
              <a:lnSpc>
                <a:spcPct val="118000"/>
              </a:lnSpc>
              <a:spcAft>
                <a:spcPts val="1100"/>
              </a:spcAft>
              <a:buNone/>
            </a:pPr>
            <a:r>
              <a:rPr lang="en-US" sz="1250" b="1" dirty="0">
                <a:solidFill>
                  <a:srgbClr val="14181A"/>
                </a:solidFill>
                <a:latin typeface="Public Sans" pitchFamily="34" charset="0"/>
                <a:ea typeface="Public Sans" pitchFamily="34" charset="-122"/>
                <a:cs typeface="Public Sans" pitchFamily="34" charset="-120"/>
              </a:rPr>
              <a:t>Hors boutiques. </a:t>
            </a:r>
            <a:pPr indent="0" marL="0">
              <a:lnSpc>
                <a:spcPct val="118000"/>
              </a:lnSpc>
              <a:spcAft>
                <a:spcPts val="1100"/>
              </a:spcAft>
              <a:buNone/>
            </a:pPr>
            <a:r>
              <a:rPr lang="en-US" sz="1250" dirty="0">
                <a:solidFill>
                  <a:srgbClr val="3A423F"/>
                </a:solidFill>
                <a:latin typeface="Public Sans" pitchFamily="34" charset="0"/>
                <a:ea typeface="Public Sans" pitchFamily="34" charset="-122"/>
                <a:cs typeface="Public Sans" pitchFamily="34" charset="-120"/>
              </a:rPr>
              <a:t>Distribution privée : à confirmer.</a:t>
            </a:r>
            <a:endParaRPr lang="en-US" sz="1250" dirty="0"/>
          </a:p>
        </p:txBody>
      </p:sp>
      <p:sp>
        <p:nvSpPr>
          <p:cNvPr id="24" name="Text 21"/>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dossier technique · septembre 2026</a:t>
            </a:r>
            <a:endParaRPr lang="en-US" sz="900" dirty="0"/>
          </a:p>
        </p:txBody>
      </p:sp>
      <p:sp>
        <p:nvSpPr>
          <p:cNvPr id="25" name="Text 22"/>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Hors ligne</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188720"/>
            <a:ext cx="10725912" cy="82296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chivo" pitchFamily="34" charset="0"/>
                <a:ea typeface="Archivo" pitchFamily="34" charset="-122"/>
                <a:cs typeface="Archivo" pitchFamily="34" charset="-120"/>
              </a:rPr>
              <a:t>Sans réseau, le comptage continue.</a:t>
            </a:r>
            <a:endParaRPr lang="en-US" sz="2600" dirty="0"/>
          </a:p>
        </p:txBody>
      </p:sp>
      <p:sp>
        <p:nvSpPr>
          <p:cNvPr id="7" name="Text 4"/>
          <p:cNvSpPr/>
          <p:nvPr/>
        </p:nvSpPr>
        <p:spPr>
          <a:xfrm>
            <a:off x="731520" y="2103120"/>
            <a:ext cx="8046720" cy="4206240"/>
          </a:xfrm>
          <a:prstGeom prst="rect">
            <a:avLst/>
          </a:prstGeom>
          <a:noFill/>
          <a:ln/>
        </p:spPr>
        <p:txBody>
          <a:bodyPr wrap="square" lIns="0" tIns="0" rIns="0" bIns="0" rtlCol="0" anchor="t"/>
          <a:lstStyle/>
          <a:p>
            <a:pPr indent="0" marL="0">
              <a:lnSpc>
                <a:spcPct val="118000"/>
              </a:lnSpc>
              <a:spcAft>
                <a:spcPts val="1400"/>
              </a:spcAft>
              <a:buNone/>
            </a:pPr>
            <a:r>
              <a:rPr lang="en-US" sz="1350" b="1" dirty="0">
                <a:solidFill>
                  <a:srgbClr val="14181A"/>
                </a:solidFill>
                <a:latin typeface="Public Sans" pitchFamily="34" charset="0"/>
                <a:ea typeface="Public Sans" pitchFamily="34" charset="-122"/>
                <a:cs typeface="Public Sans" pitchFamily="34" charset="-120"/>
              </a:rPr>
              <a:t>Avant de compter. </a:t>
            </a:r>
            <a:pPr indent="0" marL="0">
              <a:lnSpc>
                <a:spcPct val="118000"/>
              </a:lnSpc>
              <a:spcAft>
                <a:spcPts val="1400"/>
              </a:spcAft>
              <a:buNone/>
            </a:pPr>
            <a:r>
              <a:rPr lang="en-US" sz="1350" dirty="0">
                <a:solidFill>
                  <a:srgbClr val="3A423F"/>
                </a:solidFill>
                <a:latin typeface="Public Sans" pitchFamily="34" charset="0"/>
                <a:ea typeface="Public Sans" pitchFamily="34" charset="-122"/>
                <a:cs typeface="Public Sans" pitchFamily="34" charset="-120"/>
              </a:rPr>
              <a:t>Le référentiel articles se charge sur le téléphone.</a:t>
            </a:r>
            <a:endParaRPr lang="en-US" sz="1350" dirty="0"/>
          </a:p>
          <a:p>
            <a:pPr indent="0" marL="0">
              <a:lnSpc>
                <a:spcPct val="118000"/>
              </a:lnSpc>
              <a:spcAft>
                <a:spcPts val="1400"/>
              </a:spcAft>
              <a:buNone/>
            </a:pPr>
            <a:r>
              <a:rPr lang="en-US" sz="1350" b="1" dirty="0">
                <a:solidFill>
                  <a:srgbClr val="14181A"/>
                </a:solidFill>
                <a:latin typeface="Public Sans" pitchFamily="34" charset="0"/>
                <a:ea typeface="Public Sans" pitchFamily="34" charset="-122"/>
                <a:cs typeface="Public Sans" pitchFamily="34" charset="-120"/>
              </a:rPr>
              <a:t>Pendant la coupure. </a:t>
            </a:r>
            <a:pPr indent="0" marL="0">
              <a:lnSpc>
                <a:spcPct val="118000"/>
              </a:lnSpc>
              <a:spcAft>
                <a:spcPts val="1400"/>
              </a:spcAft>
              <a:buNone/>
            </a:pPr>
            <a:r>
              <a:rPr lang="en-US" sz="1350" dirty="0">
                <a:solidFill>
                  <a:srgbClr val="3A423F"/>
                </a:solidFill>
                <a:latin typeface="Public Sans" pitchFamily="34" charset="0"/>
                <a:ea typeface="Public Sans" pitchFamily="34" charset="-122"/>
                <a:cs typeface="Public Sans" pitchFamily="34" charset="-120"/>
              </a:rPr>
              <a:t>Les scans attendent sur le téléphone. Un article inconnu se saisit aussi.</a:t>
            </a:r>
            <a:endParaRPr lang="en-US" sz="1350" dirty="0"/>
          </a:p>
          <a:p>
            <a:pPr indent="0" marL="0">
              <a:lnSpc>
                <a:spcPct val="118000"/>
              </a:lnSpc>
              <a:spcAft>
                <a:spcPts val="1400"/>
              </a:spcAft>
              <a:buNone/>
            </a:pPr>
            <a:r>
              <a:rPr lang="en-US" sz="1350" b="1" dirty="0">
                <a:solidFill>
                  <a:srgbClr val="14181A"/>
                </a:solidFill>
                <a:latin typeface="Public Sans" pitchFamily="34" charset="0"/>
                <a:ea typeface="Public Sans" pitchFamily="34" charset="-122"/>
                <a:cs typeface="Public Sans" pitchFamily="34" charset="-120"/>
              </a:rPr>
              <a:t>Au retour du réseau. </a:t>
            </a:r>
            <a:pPr indent="0" marL="0">
              <a:lnSpc>
                <a:spcPct val="118000"/>
              </a:lnSpc>
              <a:spcAft>
                <a:spcPts val="1400"/>
              </a:spcAft>
              <a:buNone/>
            </a:pPr>
            <a:r>
              <a:rPr lang="en-US" sz="1350" dirty="0">
                <a:solidFill>
                  <a:srgbClr val="3A423F"/>
                </a:solidFill>
                <a:latin typeface="Public Sans" pitchFamily="34" charset="0"/>
                <a:ea typeface="Public Sans" pitchFamily="34" charset="-122"/>
                <a:cs typeface="Public Sans" pitchFamily="34" charset="-120"/>
              </a:rPr>
              <a:t>Les scans partent seuls, si l’application est ouverte. Le compteur voit ce qui est arrivé sur le serveur.</a:t>
            </a:r>
            <a:endParaRPr lang="en-US" sz="1350" dirty="0"/>
          </a:p>
          <a:p>
            <a:pPr indent="0" marL="0">
              <a:lnSpc>
                <a:spcPct val="118000"/>
              </a:lnSpc>
              <a:spcAft>
                <a:spcPts val="1400"/>
              </a:spcAft>
              <a:buNone/>
            </a:pPr>
            <a:r>
              <a:rPr lang="en-US" sz="1350" b="1" dirty="0">
                <a:solidFill>
                  <a:srgbClr val="14181A"/>
                </a:solidFill>
                <a:latin typeface="Public Sans" pitchFamily="34" charset="0"/>
                <a:ea typeface="Public Sans" pitchFamily="34" charset="-122"/>
                <a:cs typeface="Public Sans" pitchFamily="34" charset="-120"/>
              </a:rPr>
              <a:t>Session expirée. </a:t>
            </a:r>
            <a:pPr indent="0" marL="0">
              <a:lnSpc>
                <a:spcPct val="118000"/>
              </a:lnSpc>
              <a:spcAft>
                <a:spcPts val="1400"/>
              </a:spcAft>
              <a:buNone/>
            </a:pPr>
            <a:r>
              <a:rPr lang="en-US" sz="1350" dirty="0">
                <a:solidFill>
                  <a:srgbClr val="3A423F"/>
                </a:solidFill>
                <a:latin typeface="Public Sans" pitchFamily="34" charset="0"/>
                <a:ea typeface="Public Sans" pitchFamily="34" charset="-122"/>
                <a:cs typeface="Public Sans" pitchFamily="34" charset="-120"/>
              </a:rPr>
              <a:t>Rien n’est perdu : l’envoi reprend après la reconnexion.</a:t>
            </a:r>
            <a:endParaRPr lang="en-US" sz="1350" dirty="0"/>
          </a:p>
          <a:p>
            <a:pPr indent="0" marL="0">
              <a:lnSpc>
                <a:spcPct val="118000"/>
              </a:lnSpc>
              <a:spcAft>
                <a:spcPts val="1400"/>
              </a:spcAft>
              <a:buNone/>
            </a:pPr>
            <a:r>
              <a:rPr lang="en-US" sz="1350" b="1" dirty="0">
                <a:solidFill>
                  <a:srgbClr val="14181A"/>
                </a:solidFill>
                <a:latin typeface="Public Sans" pitchFamily="34" charset="0"/>
                <a:ea typeface="Public Sans" pitchFamily="34" charset="-122"/>
                <a:cs typeface="Public Sans" pitchFamily="34" charset="-120"/>
              </a:rPr>
              <a:t>Appareil partagé. </a:t>
            </a:r>
            <a:pPr indent="0" marL="0">
              <a:lnSpc>
                <a:spcPct val="118000"/>
              </a:lnSpc>
              <a:spcAft>
                <a:spcPts val="1400"/>
              </a:spcAft>
              <a:buNone/>
            </a:pPr>
            <a:r>
              <a:rPr lang="en-US" sz="1350" dirty="0">
                <a:solidFill>
                  <a:srgbClr val="3A423F"/>
                </a:solidFill>
                <a:latin typeface="Public Sans" pitchFamily="34" charset="0"/>
                <a:ea typeface="Public Sans" pitchFamily="34" charset="-122"/>
                <a:cs typeface="Public Sans" pitchFamily="34" charset="-120"/>
              </a:rPr>
              <a:t>À la déconnexion, le référentiel est effacé du téléphone. Les scans en attente sont gardés.</a:t>
            </a:r>
            <a:endParaRPr lang="en-US" sz="1350" dirty="0"/>
          </a:p>
          <a:p>
            <a:pPr indent="0" marL="0">
              <a:lnSpc>
                <a:spcPct val="118000"/>
              </a:lnSpc>
              <a:spcAft>
                <a:spcPts val="1400"/>
              </a:spcAft>
              <a:buNone/>
            </a:pPr>
            <a:r>
              <a:rPr lang="en-US" sz="1350" b="1" dirty="0">
                <a:solidFill>
                  <a:srgbClr val="14181A"/>
                </a:solidFill>
                <a:latin typeface="Public Sans" pitchFamily="34" charset="0"/>
                <a:ea typeface="Public Sans" pitchFamily="34" charset="-122"/>
                <a:cs typeface="Public Sans" pitchFamily="34" charset="-120"/>
              </a:rPr>
              <a:t>Limites. </a:t>
            </a:r>
            <a:pPr indent="0" marL="0">
              <a:lnSpc>
                <a:spcPct val="118000"/>
              </a:lnSpc>
              <a:spcAft>
                <a:spcPts val="1400"/>
              </a:spcAft>
              <a:buNone/>
            </a:pPr>
            <a:r>
              <a:rPr lang="en-US" sz="1350" dirty="0">
                <a:solidFill>
                  <a:srgbClr val="3A423F"/>
                </a:solidFill>
                <a:latin typeface="Public Sans" pitchFamily="34" charset="0"/>
                <a:ea typeface="Public Sans" pitchFamily="34" charset="-122"/>
                <a:cs typeface="Public Sans" pitchFamily="34" charset="-120"/>
              </a:rPr>
              <a:t>Se connecter demande du réseau. Un appareil effacé perd ses scans non envoyés.</a:t>
            </a:r>
            <a:endParaRPr lang="en-US" sz="1350" dirty="0"/>
          </a:p>
        </p:txBody>
      </p:sp>
      <p:pic>
        <p:nvPicPr>
          <p:cNvPr id="8" name="Image 1" descr="preencoded.png">    </p:cNvPr>
          <p:cNvPicPr>
            <a:picLocks noChangeAspect="1"/>
          </p:cNvPicPr>
          <p:nvPr/>
        </p:nvPicPr>
        <p:blipFill>
          <a:blip r:embed="rId2"/>
          <a:stretch>
            <a:fillRect/>
          </a:stretch>
        </p:blipFill>
        <p:spPr>
          <a:xfrm>
            <a:off x="9354312" y="1874520"/>
            <a:ext cx="2078713" cy="4389120"/>
          </a:xfrm>
          <a:prstGeom prst="rect">
            <a:avLst/>
          </a:prstGeom>
        </p:spPr>
      </p:pic>
      <p:sp>
        <p:nvSpPr>
          <p:cNvPr id="9" name="Text 5"/>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dossier technique · septembre 2026</a:t>
            </a:r>
            <a:endParaRPr lang="en-US" sz="900" dirty="0"/>
          </a:p>
        </p:txBody>
      </p:sp>
      <p:sp>
        <p:nvSpPr>
          <p:cNvPr id="10" name="Text 6"/>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Tenue en charge</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206240" cy="201168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chivo" pitchFamily="34" charset="0"/>
                <a:ea typeface="Archivo" pitchFamily="34" charset="-122"/>
                <a:cs typeface="Archivo" pitchFamily="34" charset="-120"/>
              </a:rPr>
              <a:t>Les téléphones envoient peu.</a:t>
            </a:r>
            <a:endParaRPr lang="en-US" sz="2600" dirty="0"/>
          </a:p>
          <a:p>
            <a:pPr indent="0" marL="0">
              <a:lnSpc>
                <a:spcPct val="105000"/>
              </a:lnSpc>
              <a:buNone/>
            </a:pPr>
            <a:r>
              <a:rPr lang="en-US" sz="2600" b="1" dirty="0">
                <a:solidFill>
                  <a:srgbClr val="14181A"/>
                </a:solidFill>
                <a:latin typeface="Archivo" pitchFamily="34" charset="0"/>
                <a:ea typeface="Archivo" pitchFamily="34" charset="-122"/>
                <a:cs typeface="Archivo" pitchFamily="34" charset="-120"/>
              </a:rPr>
              <a:t>La base fait les calculs.</a:t>
            </a:r>
            <a:endParaRPr lang="en-US" sz="2600" dirty="0"/>
          </a:p>
        </p:txBody>
      </p:sp>
      <p:sp>
        <p:nvSpPr>
          <p:cNvPr id="7" name="Text 4"/>
          <p:cNvSpPr/>
          <p:nvPr/>
        </p:nvSpPr>
        <p:spPr>
          <a:xfrm>
            <a:off x="731520" y="3063240"/>
            <a:ext cx="4206240" cy="868680"/>
          </a:xfrm>
          <a:prstGeom prst="rect">
            <a:avLst/>
          </a:prstGeom>
          <a:noFill/>
          <a:ln/>
        </p:spPr>
        <p:txBody>
          <a:bodyPr wrap="square" lIns="0" tIns="0" rIns="0" bIns="0" rtlCol="0" anchor="t"/>
          <a:lstStyle/>
          <a:p>
            <a:pPr indent="0" marL="0">
              <a:buNone/>
            </a:pPr>
            <a:r>
              <a:rPr lang="en-US" sz="5400" b="1" dirty="0">
                <a:solidFill>
                  <a:srgbClr val="1E4D3B"/>
                </a:solidFill>
                <a:latin typeface="Archivo" pitchFamily="34" charset="0"/>
                <a:ea typeface="Archivo" pitchFamily="34" charset="-122"/>
                <a:cs typeface="Archivo" pitchFamily="34" charset="-120"/>
              </a:rPr>
              <a:t>100 000</a:t>
            </a:r>
            <a:endParaRPr lang="en-US" sz="5400" dirty="0"/>
          </a:p>
        </p:txBody>
      </p:sp>
      <p:sp>
        <p:nvSpPr>
          <p:cNvPr id="8" name="Text 5"/>
          <p:cNvSpPr/>
          <p:nvPr/>
        </p:nvSpPr>
        <p:spPr>
          <a:xfrm>
            <a:off x="731520" y="3977640"/>
            <a:ext cx="4206240" cy="731520"/>
          </a:xfrm>
          <a:prstGeom prst="rect">
            <a:avLst/>
          </a:prstGeom>
          <a:noFill/>
          <a:ln/>
        </p:spPr>
        <p:txBody>
          <a:bodyPr wrap="square" lIns="0" tIns="0" rIns="0" bIns="0" rtlCol="0" anchor="t"/>
          <a:lstStyle/>
          <a:p>
            <a:pPr indent="0" marL="0">
              <a:lnSpc>
                <a:spcPct val="115000"/>
              </a:lnSpc>
              <a:buNone/>
            </a:pPr>
            <a:r>
              <a:rPr lang="en-US" sz="1200" dirty="0">
                <a:solidFill>
                  <a:srgbClr val="575F5C"/>
                </a:solidFill>
                <a:latin typeface="Public Sans" pitchFamily="34" charset="0"/>
                <a:ea typeface="Public Sans" pitchFamily="34" charset="-122"/>
                <a:cs typeface="Public Sans" pitchFamily="34" charset="-120"/>
              </a:rPr>
              <a:t>références par inventaire</a:t>
            </a:r>
            <a:endParaRPr lang="en-US" sz="1200" dirty="0"/>
          </a:p>
        </p:txBody>
      </p:sp>
      <p:sp>
        <p:nvSpPr>
          <p:cNvPr id="9" name="Text 6"/>
          <p:cNvSpPr/>
          <p:nvPr/>
        </p:nvSpPr>
        <p:spPr>
          <a:xfrm>
            <a:off x="731520" y="4526280"/>
            <a:ext cx="4206240" cy="457200"/>
          </a:xfrm>
          <a:prstGeom prst="rect">
            <a:avLst/>
          </a:prstGeom>
          <a:noFill/>
          <a:ln/>
        </p:spPr>
        <p:txBody>
          <a:bodyPr wrap="square" lIns="0" tIns="0" rIns="0" bIns="0" rtlCol="0" anchor="t"/>
          <a:lstStyle/>
          <a:p>
            <a:pPr algn="l" indent="0" marL="0">
              <a:lnSpc>
                <a:spcPct val="118000"/>
              </a:lnSpc>
              <a:buNone/>
            </a:pPr>
            <a:r>
              <a:rPr lang="en-US" sz="1250" dirty="0">
                <a:solidFill>
                  <a:srgbClr val="3A423F"/>
                </a:solidFill>
                <a:latin typeface="Public Sans" pitchFamily="34" charset="0"/>
                <a:ea typeface="Public Sans" pitchFamily="34" charset="-122"/>
                <a:cs typeface="Public Sans" pitchFamily="34" charset="-120"/>
              </a:rPr>
              <a:t>Jusqu’à 100 compteurs en même temps.</a:t>
            </a:r>
            <a:endParaRPr lang="en-US" sz="1250" dirty="0"/>
          </a:p>
        </p:txBody>
      </p:sp>
      <p:sp>
        <p:nvSpPr>
          <p:cNvPr id="10" name="Text 7"/>
          <p:cNvSpPr/>
          <p:nvPr/>
        </p:nvSpPr>
        <p:spPr>
          <a:xfrm>
            <a:off x="5394960" y="1371600"/>
            <a:ext cx="6062472" cy="4572000"/>
          </a:xfrm>
          <a:prstGeom prst="rect">
            <a:avLst/>
          </a:prstGeom>
          <a:noFill/>
          <a:ln/>
        </p:spPr>
        <p:txBody>
          <a:bodyPr wrap="square" lIns="0" tIns="0" rIns="0" bIns="0" rtlCol="0" anchor="t"/>
          <a:lstStyle/>
          <a:p>
            <a:pPr indent="0" marL="0">
              <a:lnSpc>
                <a:spcPct val="118000"/>
              </a:lnSpc>
              <a:spcAft>
                <a:spcPts val="1600"/>
              </a:spcAft>
              <a:buNone/>
            </a:pPr>
            <a:r>
              <a:rPr lang="en-US" sz="1350" b="1" dirty="0">
                <a:solidFill>
                  <a:srgbClr val="14181A"/>
                </a:solidFill>
                <a:latin typeface="Public Sans" pitchFamily="34" charset="0"/>
                <a:ea typeface="Public Sans" pitchFamily="34" charset="-122"/>
                <a:cs typeface="Public Sans" pitchFamily="34" charset="-120"/>
              </a:rPr>
              <a:t>Activité. </a:t>
            </a:r>
            <a:pPr indent="0" marL="0">
              <a:lnSpc>
                <a:spcPct val="118000"/>
              </a:lnSpc>
              <a:spcAft>
                <a:spcPts val="1600"/>
              </a:spcAft>
              <a:buNone/>
            </a:pPr>
            <a:r>
              <a:rPr lang="en-US" sz="1350" dirty="0">
                <a:solidFill>
                  <a:srgbClr val="3A423F"/>
                </a:solidFill>
                <a:latin typeface="Public Sans" pitchFamily="34" charset="0"/>
                <a:ea typeface="Public Sans" pitchFamily="34" charset="-122"/>
                <a:cs typeface="Public Sans" pitchFamily="34" charset="-120"/>
              </a:rPr>
              <a:t>Chaque téléphone signale la sienne, sans recevoir celle des autres. Seul l’onglet Suivi la reçoit.</a:t>
            </a:r>
            <a:endParaRPr lang="en-US" sz="1350" dirty="0"/>
          </a:p>
          <a:p>
            <a:pPr indent="0" marL="0">
              <a:lnSpc>
                <a:spcPct val="118000"/>
              </a:lnSpc>
              <a:spcAft>
                <a:spcPts val="1600"/>
              </a:spcAft>
              <a:buNone/>
            </a:pPr>
            <a:r>
              <a:rPr lang="en-US" sz="1350" b="1" dirty="0">
                <a:solidFill>
                  <a:srgbClr val="14181A"/>
                </a:solidFill>
                <a:latin typeface="Public Sans" pitchFamily="34" charset="0"/>
                <a:ea typeface="Public Sans" pitchFamily="34" charset="-122"/>
                <a:cs typeface="Public Sans" pitchFamily="34" charset="-120"/>
              </a:rPr>
              <a:t>Totaux. </a:t>
            </a:r>
            <a:pPr indent="0" marL="0">
              <a:lnSpc>
                <a:spcPct val="118000"/>
              </a:lnSpc>
              <a:spcAft>
                <a:spcPts val="1600"/>
              </a:spcAft>
              <a:buNone/>
            </a:pPr>
            <a:r>
              <a:rPr lang="en-US" sz="1350" dirty="0">
                <a:solidFill>
                  <a:srgbClr val="3A423F"/>
                </a:solidFill>
                <a:latin typeface="Public Sans" pitchFamily="34" charset="0"/>
                <a:ea typeface="Public Sans" pitchFamily="34" charset="-122"/>
                <a:cs typeface="Public Sans" pitchFamily="34" charset="-120"/>
              </a:rPr>
              <a:t>Ils arrivent tout faits : l’écran ne télécharge pas les comptages.</a:t>
            </a:r>
            <a:endParaRPr lang="en-US" sz="1350" dirty="0"/>
          </a:p>
          <a:p>
            <a:pPr indent="0" marL="0">
              <a:lnSpc>
                <a:spcPct val="118000"/>
              </a:lnSpc>
              <a:spcAft>
                <a:spcPts val="1600"/>
              </a:spcAft>
              <a:buNone/>
            </a:pPr>
            <a:r>
              <a:rPr lang="en-US" sz="1350" b="1" dirty="0">
                <a:solidFill>
                  <a:srgbClr val="14181A"/>
                </a:solidFill>
                <a:latin typeface="Public Sans" pitchFamily="34" charset="0"/>
                <a:ea typeface="Public Sans" pitchFamily="34" charset="-122"/>
                <a:cs typeface="Public Sans" pitchFamily="34" charset="-120"/>
              </a:rPr>
              <a:t>Rapport et écarts. </a:t>
            </a:r>
            <a:pPr indent="0" marL="0">
              <a:lnSpc>
                <a:spcPct val="118000"/>
              </a:lnSpc>
              <a:spcAft>
                <a:spcPts val="1600"/>
              </a:spcAft>
              <a:buNone/>
            </a:pPr>
            <a:r>
              <a:rPr lang="en-US" sz="1350" dirty="0">
                <a:solidFill>
                  <a:srgbClr val="3A423F"/>
                </a:solidFill>
                <a:latin typeface="Public Sans" pitchFamily="34" charset="0"/>
                <a:ea typeface="Public Sans" pitchFamily="34" charset="-122"/>
                <a:cs typeface="Public Sans" pitchFamily="34" charset="-120"/>
              </a:rPr>
              <a:t>Affichés par pages de 50 lignes, exportés en entier.</a:t>
            </a:r>
            <a:endParaRPr lang="en-US" sz="1350" dirty="0"/>
          </a:p>
          <a:p>
            <a:pPr indent="0" marL="0">
              <a:lnSpc>
                <a:spcPct val="118000"/>
              </a:lnSpc>
              <a:spcAft>
                <a:spcPts val="1600"/>
              </a:spcAft>
              <a:buNone/>
            </a:pPr>
            <a:r>
              <a:rPr lang="en-US" sz="1350" b="1" dirty="0">
                <a:solidFill>
                  <a:srgbClr val="14181A"/>
                </a:solidFill>
                <a:latin typeface="Public Sans" pitchFamily="34" charset="0"/>
                <a:ea typeface="Public Sans" pitchFamily="34" charset="-122"/>
                <a:cs typeface="Public Sans" pitchFamily="34" charset="-120"/>
              </a:rPr>
              <a:t>Référentiel. </a:t>
            </a:r>
            <a:pPr indent="0" marL="0">
              <a:lnSpc>
                <a:spcPct val="118000"/>
              </a:lnSpc>
              <a:spcAft>
                <a:spcPts val="1600"/>
              </a:spcAft>
              <a:buNone/>
            </a:pPr>
            <a:r>
              <a:rPr lang="en-US" sz="1350" dirty="0">
                <a:solidFill>
                  <a:srgbClr val="3A423F"/>
                </a:solidFill>
                <a:latin typeface="Public Sans" pitchFamily="34" charset="0"/>
                <a:ea typeface="Public Sans" pitchFamily="34" charset="-122"/>
                <a:cs typeface="Public Sans" pitchFamily="34" charset="-120"/>
              </a:rPr>
              <a:t>Après le premier chargement, le téléphone ne reçoit plus que les changements.</a:t>
            </a:r>
            <a:endParaRPr lang="en-US" sz="1350" dirty="0"/>
          </a:p>
          <a:p>
            <a:pPr indent="0" marL="0">
              <a:lnSpc>
                <a:spcPct val="118000"/>
              </a:lnSpc>
              <a:spcAft>
                <a:spcPts val="1600"/>
              </a:spcAft>
              <a:buNone/>
            </a:pPr>
            <a:r>
              <a:rPr lang="en-US" sz="1350" b="1" dirty="0">
                <a:solidFill>
                  <a:srgbClr val="14181A"/>
                </a:solidFill>
                <a:latin typeface="Public Sans" pitchFamily="34" charset="0"/>
                <a:ea typeface="Public Sans" pitchFamily="34" charset="-122"/>
                <a:cs typeface="Public Sans" pitchFamily="34" charset="-120"/>
              </a:rPr>
              <a:t>Plusieurs magasins le même jour. </a:t>
            </a:r>
            <a:pPr indent="0" marL="0">
              <a:lnSpc>
                <a:spcPct val="118000"/>
              </a:lnSpc>
              <a:spcAft>
                <a:spcPts val="1600"/>
              </a:spcAft>
              <a:buNone/>
            </a:pPr>
            <a:r>
              <a:rPr lang="en-US" sz="1350" dirty="0">
                <a:solidFill>
                  <a:srgbClr val="3A423F"/>
                </a:solidFill>
                <a:latin typeface="Public Sans" pitchFamily="34" charset="0"/>
                <a:ea typeface="Public Sans" pitchFamily="34" charset="-122"/>
                <a:cs typeface="Public Sans" pitchFamily="34" charset="-120"/>
              </a:rPr>
              <a:t>La capacité de la base se règle avec nous, avant la date.</a:t>
            </a:r>
            <a:endParaRPr lang="en-US" sz="1350" dirty="0"/>
          </a:p>
        </p:txBody>
      </p:sp>
      <p:sp>
        <p:nvSpPr>
          <p:cNvPr id="11" name="Text 8"/>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dossier technique · septembre 2026</a:t>
            </a:r>
            <a:endParaRPr lang="en-US" sz="900" dirty="0"/>
          </a:p>
        </p:txBody>
      </p:sp>
      <p:sp>
        <p:nvSpPr>
          <p:cNvPr id="12" name="Text 9"/>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À prévoir</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206240" cy="201168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chivo" pitchFamily="34" charset="0"/>
                <a:ea typeface="Archivo" pitchFamily="34" charset="-122"/>
                <a:cs typeface="Archivo" pitchFamily="34" charset="-120"/>
              </a:rPr>
              <a:t>Avant le premier inventaire, de votre côté.</a:t>
            </a:r>
            <a:endParaRPr lang="en-US" sz="2600" dirty="0"/>
          </a:p>
        </p:txBody>
      </p:sp>
      <p:sp>
        <p:nvSpPr>
          <p:cNvPr id="7" name="Text 4"/>
          <p:cNvSpPr/>
          <p:nvPr/>
        </p:nvSpPr>
        <p:spPr>
          <a:xfrm>
            <a:off x="731520" y="2514600"/>
            <a:ext cx="4206240" cy="548640"/>
          </a:xfrm>
          <a:prstGeom prst="rect">
            <a:avLst/>
          </a:prstGeom>
          <a:noFill/>
          <a:ln/>
        </p:spPr>
        <p:txBody>
          <a:bodyPr wrap="square" lIns="0" tIns="0" rIns="0" bIns="0" rtlCol="0" anchor="t"/>
          <a:lstStyle/>
          <a:p>
            <a:pPr algn="l" indent="0" marL="0">
              <a:lnSpc>
                <a:spcPct val="118000"/>
              </a:lnSpc>
              <a:buNone/>
            </a:pPr>
            <a:r>
              <a:rPr lang="en-US" sz="1200" dirty="0">
                <a:solidFill>
                  <a:srgbClr val="3A423F"/>
                </a:solidFill>
                <a:latin typeface="Public Sans" pitchFamily="34" charset="0"/>
                <a:ea typeface="Public Sans" pitchFamily="34" charset="-122"/>
                <a:cs typeface="Public Sans" pitchFamily="34" charset="-120"/>
              </a:rPr>
              <a:t>Six points à régler avec vos équipes.</a:t>
            </a:r>
            <a:endParaRPr lang="en-US" sz="1200" dirty="0"/>
          </a:p>
        </p:txBody>
      </p:sp>
      <p:sp>
        <p:nvSpPr>
          <p:cNvPr id="8" name="Text 5"/>
          <p:cNvSpPr/>
          <p:nvPr/>
        </p:nvSpPr>
        <p:spPr>
          <a:xfrm>
            <a:off x="5394960" y="1371600"/>
            <a:ext cx="6062472" cy="4754880"/>
          </a:xfrm>
          <a:prstGeom prst="rect">
            <a:avLst/>
          </a:prstGeom>
          <a:noFill/>
          <a:ln/>
        </p:spPr>
        <p:txBody>
          <a:bodyPr wrap="square" lIns="0" tIns="0" rIns="0" bIns="0" rtlCol="0" anchor="t"/>
          <a:lstStyle/>
          <a:p>
            <a:pPr indent="0" marL="0">
              <a:lnSpc>
                <a:spcPct val="118000"/>
              </a:lnSpc>
              <a:spcAft>
                <a:spcPts val="1800"/>
              </a:spcAft>
              <a:buNone/>
            </a:pPr>
            <a:r>
              <a:rPr lang="en-US" sz="1350" b="1" dirty="0">
                <a:solidFill>
                  <a:srgbClr val="14181A"/>
                </a:solidFill>
                <a:latin typeface="Public Sans" pitchFamily="34" charset="0"/>
                <a:ea typeface="Public Sans" pitchFamily="34" charset="-122"/>
                <a:cs typeface="Public Sans" pitchFamily="34" charset="-120"/>
              </a:rPr>
              <a:t>Réseau. </a:t>
            </a:r>
            <a:pPr indent="0" marL="0">
              <a:lnSpc>
                <a:spcPct val="118000"/>
              </a:lnSpc>
              <a:spcAft>
                <a:spcPts val="1800"/>
              </a:spcAft>
              <a:buNone/>
            </a:pPr>
            <a:r>
              <a:rPr lang="en-US" sz="1350" dirty="0">
                <a:solidFill>
                  <a:srgbClr val="3A423F"/>
                </a:solidFill>
                <a:latin typeface="Public Sans" pitchFamily="34" charset="0"/>
                <a:ea typeface="Public Sans" pitchFamily="34" charset="-122"/>
                <a:cs typeface="Public Sans" pitchFamily="34" charset="-120"/>
              </a:rPr>
              <a:t>Autoriser en sortie les destinations de la page 4.</a:t>
            </a:r>
            <a:endParaRPr lang="en-US" sz="1350" dirty="0"/>
          </a:p>
          <a:p>
            <a:pPr indent="0" marL="0">
              <a:lnSpc>
                <a:spcPct val="118000"/>
              </a:lnSpc>
              <a:spcAft>
                <a:spcPts val="1800"/>
              </a:spcAft>
              <a:buNone/>
            </a:pPr>
            <a:r>
              <a:rPr lang="en-US" sz="1350" b="1" dirty="0">
                <a:solidFill>
                  <a:srgbClr val="14181A"/>
                </a:solidFill>
                <a:latin typeface="Public Sans" pitchFamily="34" charset="0"/>
                <a:ea typeface="Public Sans" pitchFamily="34" charset="-122"/>
                <a:cs typeface="Public Sans" pitchFamily="34" charset="-120"/>
              </a:rPr>
              <a:t>Appareils. </a:t>
            </a:r>
            <a:pPr indent="0" marL="0">
              <a:lnSpc>
                <a:spcPct val="118000"/>
              </a:lnSpc>
              <a:spcAft>
                <a:spcPts val="1800"/>
              </a:spcAft>
              <a:buNone/>
            </a:pPr>
            <a:r>
              <a:rPr lang="en-US" sz="1350" dirty="0">
                <a:solidFill>
                  <a:srgbClr val="3A423F"/>
                </a:solidFill>
                <a:latin typeface="Public Sans" pitchFamily="34" charset="0"/>
                <a:ea typeface="Public Sans" pitchFamily="34" charset="-122"/>
                <a:cs typeface="Public Sans" pitchFamily="34" charset="-120"/>
              </a:rPr>
              <a:t>Un iPhone ou un Android par compteur, caméra autorisée.</a:t>
            </a:r>
            <a:endParaRPr lang="en-US" sz="1350" dirty="0"/>
          </a:p>
          <a:p>
            <a:pPr indent="0" marL="0">
              <a:lnSpc>
                <a:spcPct val="118000"/>
              </a:lnSpc>
              <a:spcAft>
                <a:spcPts val="1800"/>
              </a:spcAft>
              <a:buNone/>
            </a:pPr>
            <a:r>
              <a:rPr lang="en-US" sz="1350" b="1" dirty="0">
                <a:solidFill>
                  <a:srgbClr val="14181A"/>
                </a:solidFill>
                <a:latin typeface="Public Sans" pitchFamily="34" charset="0"/>
                <a:ea typeface="Public Sans" pitchFamily="34" charset="-122"/>
                <a:cs typeface="Public Sans" pitchFamily="34" charset="-120"/>
              </a:rPr>
              <a:t>Gestion de parc. </a:t>
            </a:r>
            <a:pPr indent="0" marL="0">
              <a:lnSpc>
                <a:spcPct val="118000"/>
              </a:lnSpc>
              <a:spcAft>
                <a:spcPts val="1800"/>
              </a:spcAft>
              <a:buNone/>
            </a:pPr>
            <a:r>
              <a:rPr lang="en-US" sz="1350" dirty="0">
                <a:solidFill>
                  <a:srgbClr val="3A423F"/>
                </a:solidFill>
                <a:latin typeface="Public Sans" pitchFamily="34" charset="0"/>
                <a:ea typeface="Public Sans" pitchFamily="34" charset="-122"/>
                <a:cs typeface="Public Sans" pitchFamily="34" charset="-120"/>
              </a:rPr>
              <a:t>Aucun effacement à distance pendant un inventaire.</a:t>
            </a:r>
            <a:endParaRPr lang="en-US" sz="1350" dirty="0"/>
          </a:p>
          <a:p>
            <a:pPr indent="0" marL="0">
              <a:lnSpc>
                <a:spcPct val="118000"/>
              </a:lnSpc>
              <a:spcAft>
                <a:spcPts val="1800"/>
              </a:spcAft>
              <a:buNone/>
            </a:pPr>
            <a:r>
              <a:rPr lang="en-US" sz="1350" b="1" dirty="0">
                <a:solidFill>
                  <a:srgbClr val="14181A"/>
                </a:solidFill>
                <a:latin typeface="Public Sans" pitchFamily="34" charset="0"/>
                <a:ea typeface="Public Sans" pitchFamily="34" charset="-122"/>
                <a:cs typeface="Public Sans" pitchFamily="34" charset="-120"/>
              </a:rPr>
              <a:t>Comptes. </a:t>
            </a:r>
            <a:pPr indent="0" marL="0">
              <a:lnSpc>
                <a:spcPct val="118000"/>
              </a:lnSpc>
              <a:spcAft>
                <a:spcPts val="1800"/>
              </a:spcAft>
              <a:buNone/>
            </a:pPr>
            <a:r>
              <a:rPr lang="en-US" sz="1350" dirty="0">
                <a:solidFill>
                  <a:srgbClr val="3A423F"/>
                </a:solidFill>
                <a:latin typeface="Public Sans" pitchFamily="34" charset="0"/>
                <a:ea typeface="Public Sans" pitchFamily="34" charset="-122"/>
                <a:cs typeface="Public Sans" pitchFamily="34" charset="-120"/>
              </a:rPr>
              <a:t>Une adresse e-mail par personne, et un administrateur d’entreprise désigné chez vous.</a:t>
            </a:r>
            <a:endParaRPr lang="en-US" sz="1350" dirty="0"/>
          </a:p>
          <a:p>
            <a:pPr indent="0" marL="0">
              <a:lnSpc>
                <a:spcPct val="118000"/>
              </a:lnSpc>
              <a:spcAft>
                <a:spcPts val="1800"/>
              </a:spcAft>
              <a:buNone/>
            </a:pPr>
            <a:r>
              <a:rPr lang="en-US" sz="1350" b="1" dirty="0">
                <a:solidFill>
                  <a:srgbClr val="14181A"/>
                </a:solidFill>
                <a:latin typeface="Public Sans" pitchFamily="34" charset="0"/>
                <a:ea typeface="Public Sans" pitchFamily="34" charset="-122"/>
                <a:cs typeface="Public Sans" pitchFamily="34" charset="-120"/>
              </a:rPr>
              <a:t>Postes. </a:t>
            </a:r>
            <a:pPr indent="0" marL="0">
              <a:lnSpc>
                <a:spcPct val="118000"/>
              </a:lnSpc>
              <a:spcAft>
                <a:spcPts val="1800"/>
              </a:spcAft>
              <a:buNone/>
            </a:pPr>
            <a:r>
              <a:rPr lang="en-US" sz="1350" dirty="0">
                <a:solidFill>
                  <a:srgbClr val="3A423F"/>
                </a:solidFill>
                <a:latin typeface="Public Sans" pitchFamily="34" charset="0"/>
                <a:ea typeface="Public Sans" pitchFamily="34" charset="-122"/>
                <a:cs typeface="Public Sans" pitchFamily="34" charset="-120"/>
              </a:rPr>
              <a:t>Un ordinateur avec navigateur, pour les superviseurs et l’administrateur d’entreprise.</a:t>
            </a:r>
            <a:endParaRPr lang="en-US" sz="1350" dirty="0"/>
          </a:p>
          <a:p>
            <a:pPr indent="0" marL="0">
              <a:lnSpc>
                <a:spcPct val="118000"/>
              </a:lnSpc>
              <a:spcAft>
                <a:spcPts val="1800"/>
              </a:spcAft>
              <a:buNone/>
            </a:pPr>
            <a:r>
              <a:rPr lang="en-US" sz="1350" b="1" dirty="0">
                <a:solidFill>
                  <a:srgbClr val="14181A"/>
                </a:solidFill>
                <a:latin typeface="Public Sans" pitchFamily="34" charset="0"/>
                <a:ea typeface="Public Sans" pitchFamily="34" charset="-122"/>
                <a:cs typeface="Public Sans" pitchFamily="34" charset="-120"/>
              </a:rPr>
              <a:t>Salariés. </a:t>
            </a:r>
            <a:pPr indent="0" marL="0">
              <a:lnSpc>
                <a:spcPct val="118000"/>
              </a:lnSpc>
              <a:spcAft>
                <a:spcPts val="1800"/>
              </a:spcAft>
              <a:buNone/>
            </a:pPr>
            <a:r>
              <a:rPr lang="en-US" sz="1350" dirty="0">
                <a:solidFill>
                  <a:srgbClr val="3A423F"/>
                </a:solidFill>
                <a:latin typeface="Public Sans" pitchFamily="34" charset="0"/>
                <a:ea typeface="Public Sans" pitchFamily="34" charset="-122"/>
                <a:cs typeface="Public Sans" pitchFamily="34" charset="-120"/>
              </a:rPr>
              <a:t>Les informer de l’usage de leurs données et, le cas échéant, consulter le CSE.</a:t>
            </a:r>
            <a:endParaRPr lang="en-US" sz="1350" dirty="0"/>
          </a:p>
        </p:txBody>
      </p:sp>
      <p:sp>
        <p:nvSpPr>
          <p:cNvPr id="9" name="Text 6"/>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dossier technique · septembre 2026</a:t>
            </a:r>
            <a:endParaRPr lang="en-US" sz="900" dirty="0"/>
          </a:p>
        </p:txBody>
      </p:sp>
      <p:sp>
        <p:nvSpPr>
          <p:cNvPr id="10" name="Text 7"/>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685800"/>
            <a:ext cx="566928" cy="566928"/>
          </a:xfrm>
          <a:prstGeom prst="rect">
            <a:avLst/>
          </a:prstGeom>
        </p:spPr>
      </p:pic>
      <p:sp>
        <p:nvSpPr>
          <p:cNvPr id="3" name="Text 0"/>
          <p:cNvSpPr/>
          <p:nvPr/>
        </p:nvSpPr>
        <p:spPr>
          <a:xfrm>
            <a:off x="1444752" y="658368"/>
            <a:ext cx="4572000" cy="621792"/>
          </a:xfrm>
          <a:prstGeom prst="rect">
            <a:avLst/>
          </a:prstGeom>
          <a:noFill/>
          <a:ln/>
        </p:spPr>
        <p:txBody>
          <a:bodyPr wrap="square" lIns="0" tIns="0" rIns="0" bIns="0" rtlCol="0" anchor="ctr"/>
          <a:lstStyle/>
          <a:p>
            <a:pPr indent="0" marL="0">
              <a:buNone/>
            </a:pPr>
            <a:r>
              <a:rPr lang="en-US" sz="2400" b="1" dirty="0">
                <a:solidFill>
                  <a:srgbClr val="14181A"/>
                </a:solidFill>
                <a:latin typeface="Archivo" pitchFamily="34" charset="0"/>
                <a:ea typeface="Archivo" pitchFamily="34" charset="-122"/>
                <a:cs typeface="Archivo" pitchFamily="34" charset="-120"/>
              </a:rPr>
              <a:t>Quantinvo</a:t>
            </a:r>
            <a:endParaRPr lang="en-US" sz="2400" dirty="0"/>
          </a:p>
        </p:txBody>
      </p:sp>
      <p:sp>
        <p:nvSpPr>
          <p:cNvPr id="4" name="Shape 1"/>
          <p:cNvSpPr/>
          <p:nvPr/>
        </p:nvSpPr>
        <p:spPr>
          <a:xfrm>
            <a:off x="731520" y="1481328"/>
            <a:ext cx="2011680" cy="20117"/>
          </a:xfrm>
          <a:prstGeom prst="rect">
            <a:avLst/>
          </a:prstGeom>
          <a:solidFill>
            <a:srgbClr val="14181A"/>
          </a:solidFill>
          <a:ln w="12700">
            <a:solidFill>
              <a:srgbClr val="14181A"/>
            </a:solidFill>
            <a:prstDash val="solid"/>
          </a:ln>
        </p:spPr>
      </p:sp>
      <p:sp>
        <p:nvSpPr>
          <p:cNvPr id="5" name="Text 2"/>
          <p:cNvSpPr/>
          <p:nvPr/>
        </p:nvSpPr>
        <p:spPr>
          <a:xfrm>
            <a:off x="731520" y="2377440"/>
            <a:ext cx="8686800" cy="1188720"/>
          </a:xfrm>
          <a:prstGeom prst="rect">
            <a:avLst/>
          </a:prstGeom>
          <a:noFill/>
          <a:ln/>
        </p:spPr>
        <p:txBody>
          <a:bodyPr wrap="square" lIns="0" tIns="0" rIns="0" bIns="0" rtlCol="0" anchor="t"/>
          <a:lstStyle/>
          <a:p>
            <a:pPr indent="0" marL="0">
              <a:lnSpc>
                <a:spcPct val="105000"/>
              </a:lnSpc>
              <a:buNone/>
            </a:pPr>
            <a:r>
              <a:rPr lang="en-US" sz="3600" b="1" dirty="0">
                <a:solidFill>
                  <a:srgbClr val="14181A"/>
                </a:solidFill>
                <a:latin typeface="Archivo" pitchFamily="34" charset="0"/>
                <a:ea typeface="Archivo" pitchFamily="34" charset="-122"/>
                <a:cs typeface="Archivo" pitchFamily="34" charset="-120"/>
              </a:rPr>
              <a:t>Une question technique ?</a:t>
            </a:r>
            <a:endParaRPr lang="en-US" sz="3600" dirty="0"/>
          </a:p>
        </p:txBody>
      </p:sp>
      <p:sp>
        <p:nvSpPr>
          <p:cNvPr id="6" name="Text 3"/>
          <p:cNvSpPr/>
          <p:nvPr/>
        </p:nvSpPr>
        <p:spPr>
          <a:xfrm>
            <a:off x="731520" y="3657600"/>
            <a:ext cx="7315200" cy="1188720"/>
          </a:xfrm>
          <a:prstGeom prst="rect">
            <a:avLst/>
          </a:prstGeom>
          <a:noFill/>
          <a:ln/>
        </p:spPr>
        <p:txBody>
          <a:bodyPr wrap="square" lIns="0" tIns="0" rIns="0" bIns="0" rtlCol="0" anchor="t"/>
          <a:lstStyle/>
          <a:p>
            <a:pPr indent="0" marL="0">
              <a:lnSpc>
                <a:spcPct val="120000"/>
              </a:lnSpc>
              <a:buNone/>
            </a:pPr>
            <a:r>
              <a:rPr lang="en-US" sz="1450" dirty="0">
                <a:solidFill>
                  <a:srgbClr val="3A423F"/>
                </a:solidFill>
                <a:latin typeface="Public Sans" pitchFamily="34" charset="0"/>
                <a:ea typeface="Public Sans" pitchFamily="34" charset="-122"/>
                <a:cs typeface="Public Sans" pitchFamily="34" charset="-120"/>
              </a:rPr>
              <a:t>Écrivez-nous : l’assistance répond les jours ouvrés, de 9 h à 18 h. La politique de confidentialité et les conditions générales sont en ligne sur le site.</a:t>
            </a:r>
            <a:endParaRPr lang="en-US" sz="1450" dirty="0"/>
          </a:p>
        </p:txBody>
      </p:sp>
      <p:sp>
        <p:nvSpPr>
          <p:cNvPr id="7" name="Text 4"/>
          <p:cNvSpPr/>
          <p:nvPr/>
        </p:nvSpPr>
        <p:spPr>
          <a:xfrm>
            <a:off x="731520" y="5029200"/>
            <a:ext cx="8229600" cy="411480"/>
          </a:xfrm>
          <a:prstGeom prst="rect">
            <a:avLst/>
          </a:prstGeom>
          <a:noFill/>
          <a:ln/>
        </p:spPr>
        <p:txBody>
          <a:bodyPr wrap="square" lIns="0" tIns="0" rIns="0" bIns="0" rtlCol="0" anchor="t"/>
          <a:lstStyle/>
          <a:p>
            <a:pPr indent="0" marL="0">
              <a:buNone/>
            </a:pPr>
            <a:r>
              <a:rPr lang="en-US" sz="1500" b="1" dirty="0">
                <a:solidFill>
                  <a:srgbClr val="14181A"/>
                </a:solidFill>
                <a:latin typeface="Archivo" pitchFamily="34" charset="0"/>
                <a:ea typeface="Archivo" pitchFamily="34" charset="-122"/>
                <a:cs typeface="Archivo" pitchFamily="34" charset="-120"/>
              </a:rPr>
              <a:t>contact@quantinvo.com · www.quantinvo.com</a:t>
            </a:r>
            <a:endParaRPr lang="en-US" sz="1500" dirty="0"/>
          </a:p>
        </p:txBody>
      </p:sp>
      <p:sp>
        <p:nvSpPr>
          <p:cNvPr id="8" name="Text 5"/>
          <p:cNvSpPr/>
          <p:nvPr/>
        </p:nvSpPr>
        <p:spPr>
          <a:xfrm>
            <a:off x="731520" y="6080760"/>
            <a:ext cx="9144000" cy="320040"/>
          </a:xfrm>
          <a:prstGeom prst="rect">
            <a:avLst/>
          </a:prstGeom>
          <a:noFill/>
          <a:ln/>
        </p:spPr>
        <p:txBody>
          <a:bodyPr wrap="square" lIns="0" tIns="0" rIns="0" bIns="0" rtlCol="0" anchor="t"/>
          <a:lstStyle/>
          <a:p>
            <a:pPr indent="0" marL="0">
              <a:buNone/>
            </a:pPr>
            <a:r>
              <a:rPr lang="en-US" sz="1050" dirty="0">
                <a:solidFill>
                  <a:srgbClr val="575F5C"/>
                </a:solidFill>
                <a:latin typeface="Public Sans" pitchFamily="34" charset="0"/>
                <a:ea typeface="Public Sans" pitchFamily="34" charset="-122"/>
                <a:cs typeface="Public Sans" pitchFamily="34" charset="-120"/>
              </a:rPr>
              <a:t>Devkaylab · dossier technique · septembre 2026</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Devkaylab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Quantinvo — dossier technique</dc:title>
  <dc:subject>PptxGenJS Presentation</dc:subject>
  <dc:creator>Devkaylab</dc:creator>
  <cp:lastModifiedBy>Devkaylab</cp:lastModifiedBy>
  <cp:revision>1</cp:revision>
  <dcterms:created xsi:type="dcterms:W3CDTF">2026-09-27T18:20:01Z</dcterms:created>
  <dcterms:modified xsi:type="dcterms:W3CDTF">2026-09-27T18:20:01Z</dcterms:modified>
</cp:coreProperties>
</file>