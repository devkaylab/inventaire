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à celles qu'elle pose après — d'où on télécharge, qui met en place, ce que les équipes ont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d'honnêteté à dire à l'oral : tant que la publication sur les boutiques n'est pas achevée, ces deux boutons ouvrent la recherche, et la page l'annonce. Un parc géré par MDM n'est pas concerné.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systématique d'une DSI : combien de jours-homme de notre côté ? La réponse honnête est une demi-journée, et le travail est surtout côté métier, pas côté informatique.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 rien à installer sur les postes » : c'est ce qui retire le sujet de la liste des chantiers de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gestes, dix minutes de prise en main, aucun briefing matériel. C'est ce qui permet de faire compter des équipes de vente plutôt qu'un service spécialisé. Le guide illustré complet est remis après la signature — et depuis septembre 2026 il vit aussi dans le produit : le superviseur l'ouvre depuis sa boîte à outils, sur le site, et peut l'imprimer pour la réserve.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points que peu d'éditeurs de cette taille peuvent dire : le jeton dans le trousseau système, et les durées de conservation réellement exécutées par une tâche planifiée — pas seulement écrites dans une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dernier alinéa est volontaire : un pentest externe n'a pas été fait, autant le dire avant qu'on ne le demande. Les synthèses d'audit se remettent au DPO ou au RSSI sur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Architecture, hébergement, distribution de l'application, mise en place, prise en main,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état au 30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En une page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Ce que c’est.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Une application sur iPhone (Android en cours de publication)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Ce que ça touche chez vous.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Ce que ça n'exige pas.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14181A"/>
                </a:solidFill>
                <a:latin typeface="Public Sans" pitchFamily="34" charset="0"/>
                <a:ea typeface="Public Sans" pitchFamily="34" charset="-122"/>
                <a:cs typeface="Public Sans" pitchFamily="34" charset="-120"/>
              </a:rPr>
              <a:t>Ce que ça demande de votre part. </a:t>
            </a:r>
            <a:pPr indent="0" marL="0">
              <a:lnSpc>
                <a:spcPct val="118000"/>
              </a:lnSpc>
              <a:spcAft>
                <a:spcPts val="1300"/>
              </a:spcAft>
              <a:buNone/>
            </a:pPr>
            <a:r>
              <a:rPr lang="en-US" sz="1300" dirty="0">
                <a:solidFill>
                  <a:srgbClr val="3A423F"/>
                </a:solidFill>
                <a:latin typeface="Public Sans" pitchFamily="34" charset="0"/>
                <a:ea typeface="Public Sans" pitchFamily="34" charset="-122"/>
                <a:cs typeface="Public Sans"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Architecture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2162"/>
            </a:avLst>
          </a:prstGeom>
          <a:solidFill>
            <a:srgbClr val="F2F3F1"/>
          </a:solidFill>
          <a:ln w="12700">
            <a:solidFill>
              <a:srgbClr val="E2E5E1"/>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Application Quantinvo (iOS, Android en cours de publication).</a:t>
            </a:r>
            <a:endParaRPr lang="en-US" sz="1050" dirty="0"/>
          </a:p>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2162"/>
            </a:avLst>
          </a:prstGeom>
          <a:solidFill>
            <a:srgbClr val="E7EDE9"/>
          </a:solidFill>
          <a:ln w="12700">
            <a:solidFill>
              <a:srgbClr val="1E4D3B"/>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2162"/>
            </a:avLst>
          </a:prstGeom>
          <a:solidFill>
            <a:srgbClr val="F2F3F1"/>
          </a:solidFill>
          <a:ln w="12700">
            <a:solidFill>
              <a:srgbClr val="E2E5E1"/>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Site web www.quantinvo.com, sans installation.</a:t>
            </a:r>
            <a:endParaRPr lang="en-US" sz="1050" dirty="0"/>
          </a:p>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75F5C"/>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75F5C"/>
                </a:solidFill>
                <a:latin typeface="Public Sans" pitchFamily="34" charset="0"/>
                <a:ea typeface="Public Sans" pitchFamily="34" charset="-122"/>
                <a:cs typeface="Public Sans"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75F5C"/>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75F5C"/>
                </a:solidFill>
                <a:latin typeface="Public Sans" pitchFamily="34" charset="0"/>
                <a:ea typeface="Public Sans" pitchFamily="34" charset="-122"/>
                <a:cs typeface="Public Sans" pitchFamily="34" charset="-120"/>
              </a:rPr>
              <a:t>HTTPS, WebSocket</a:t>
            </a:r>
            <a:endParaRPr lang="en-US" sz="850" dirty="0"/>
          </a:p>
        </p:txBody>
      </p:sp>
      <p:sp>
        <p:nvSpPr>
          <p:cNvPr id="20" name="Shape 17"/>
          <p:cNvSpPr/>
          <p:nvPr/>
        </p:nvSpPr>
        <p:spPr>
          <a:xfrm>
            <a:off x="731520" y="4709160"/>
            <a:ext cx="2697480" cy="1188720"/>
          </a:xfrm>
          <a:prstGeom prst="roundRect">
            <a:avLst>
              <a:gd name="adj" fmla="val 3077"/>
            </a:avLst>
          </a:prstGeom>
          <a:solidFill>
            <a:srgbClr val="F2F3F1"/>
          </a:solidFill>
          <a:ln w="12700">
            <a:solidFill>
              <a:srgbClr val="E2E5E1"/>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3077"/>
            </a:avLst>
          </a:prstGeom>
          <a:solidFill>
            <a:srgbClr val="F2F3F1"/>
          </a:solidFill>
          <a:ln w="12700">
            <a:solidFill>
              <a:srgbClr val="E2E5E1"/>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Invitations, factures,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3077"/>
            </a:avLst>
          </a:prstGeom>
          <a:solidFill>
            <a:srgbClr val="F2F3F1"/>
          </a:solidFill>
          <a:ln w="12700">
            <a:solidFill>
              <a:srgbClr val="E2E5E1"/>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Public Sans" pitchFamily="34" charset="0"/>
                <a:ea typeface="Public Sans" pitchFamily="34" charset="-122"/>
                <a:cs typeface="Public Sans"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75F5C"/>
            </a:solidFill>
            <a:prstDash val="dash"/>
          </a:ln>
        </p:spPr>
      </p:sp>
      <p:sp>
        <p:nvSpPr>
          <p:cNvPr id="30" name="Shape 27"/>
          <p:cNvSpPr/>
          <p:nvPr/>
        </p:nvSpPr>
        <p:spPr>
          <a:xfrm>
            <a:off x="6094476" y="4069080"/>
            <a:ext cx="0" cy="640080"/>
          </a:xfrm>
          <a:prstGeom prst="line">
            <a:avLst/>
          </a:prstGeom>
          <a:noFill/>
          <a:ln w="12700">
            <a:solidFill>
              <a:srgbClr val="575F5C"/>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75F5C"/>
                </a:solidFill>
                <a:latin typeface="Public Sans" pitchFamily="34" charset="0"/>
                <a:ea typeface="Public Sans" pitchFamily="34" charset="-122"/>
                <a:cs typeface="Public Sans"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Hébergement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Les données d'inventaire, les comptes et les journaux sont stockés en Irlande et n'en sortent pas. Les services annexes (site, e-mails, notifications, paiement)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2E5E1"/>
            </a:solidFill>
            <a:prstDash val="solid"/>
          </a:ln>
        </p:spPr>
      </p:sp>
      <p:sp>
        <p:nvSpPr>
          <p:cNvPr id="12" name="Text 9"/>
          <p:cNvSpPr/>
          <p:nvPr/>
        </p:nvSpPr>
        <p:spPr>
          <a:xfrm>
            <a:off x="5394960" y="18013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Supabase</a:t>
            </a:r>
            <a:endParaRPr lang="en-US" sz="1150" dirty="0"/>
          </a:p>
        </p:txBody>
      </p:sp>
      <p:sp>
        <p:nvSpPr>
          <p:cNvPr id="13" name="Text 10"/>
          <p:cNvSpPr/>
          <p:nvPr/>
        </p:nvSpPr>
        <p:spPr>
          <a:xfrm>
            <a:off x="7406640" y="18013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Base de données, authentification, temps réel, fonctions</a:t>
            </a:r>
            <a:endParaRPr lang="en-US" sz="1150" dirty="0"/>
          </a:p>
        </p:txBody>
      </p:sp>
      <p:sp>
        <p:nvSpPr>
          <p:cNvPr id="14" name="Text 11"/>
          <p:cNvSpPr/>
          <p:nvPr/>
        </p:nvSpPr>
        <p:spPr>
          <a:xfrm>
            <a:off x="10424160" y="18013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Irlande (eu-west-1)</a:t>
            </a:r>
            <a:endParaRPr lang="en-US" sz="1150" dirty="0"/>
          </a:p>
        </p:txBody>
      </p:sp>
      <p:sp>
        <p:nvSpPr>
          <p:cNvPr id="15" name="Shape 12"/>
          <p:cNvSpPr/>
          <p:nvPr/>
        </p:nvSpPr>
        <p:spPr>
          <a:xfrm>
            <a:off x="5394960" y="2203704"/>
            <a:ext cx="6062472" cy="0"/>
          </a:xfrm>
          <a:prstGeom prst="line">
            <a:avLst/>
          </a:prstGeom>
          <a:noFill/>
          <a:ln w="9525">
            <a:solidFill>
              <a:srgbClr val="E2E5E1"/>
            </a:solidFill>
            <a:prstDash val="solid"/>
          </a:ln>
        </p:spPr>
      </p:sp>
      <p:sp>
        <p:nvSpPr>
          <p:cNvPr id="16" name="Text 13"/>
          <p:cNvSpPr/>
          <p:nvPr/>
        </p:nvSpPr>
        <p:spPr>
          <a:xfrm>
            <a:off x="5394960" y="230428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Vercel</a:t>
            </a:r>
            <a:endParaRPr lang="en-US" sz="1150" dirty="0"/>
          </a:p>
        </p:txBody>
      </p:sp>
      <p:sp>
        <p:nvSpPr>
          <p:cNvPr id="17" name="Text 14"/>
          <p:cNvSpPr/>
          <p:nvPr/>
        </p:nvSpPr>
        <p:spPr>
          <a:xfrm>
            <a:off x="7406640" y="230428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Hébergement du site www.quantinvo.com</a:t>
            </a:r>
            <a:endParaRPr lang="en-US" sz="1150" dirty="0"/>
          </a:p>
        </p:txBody>
      </p:sp>
      <p:sp>
        <p:nvSpPr>
          <p:cNvPr id="18" name="Text 15"/>
          <p:cNvSpPr/>
          <p:nvPr/>
        </p:nvSpPr>
        <p:spPr>
          <a:xfrm>
            <a:off x="10424160" y="230428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États-Unis</a:t>
            </a:r>
            <a:endParaRPr lang="en-US" sz="1150" dirty="0"/>
          </a:p>
        </p:txBody>
      </p:sp>
      <p:sp>
        <p:nvSpPr>
          <p:cNvPr id="19" name="Shape 16"/>
          <p:cNvSpPr/>
          <p:nvPr/>
        </p:nvSpPr>
        <p:spPr>
          <a:xfrm>
            <a:off x="5394960" y="2706624"/>
            <a:ext cx="6062472" cy="0"/>
          </a:xfrm>
          <a:prstGeom prst="line">
            <a:avLst/>
          </a:prstGeom>
          <a:noFill/>
          <a:ln w="9525">
            <a:solidFill>
              <a:srgbClr val="E2E5E1"/>
            </a:solidFill>
            <a:prstDash val="solid"/>
          </a:ln>
        </p:spPr>
      </p:sp>
      <p:sp>
        <p:nvSpPr>
          <p:cNvPr id="20" name="Text 17"/>
          <p:cNvSpPr/>
          <p:nvPr/>
        </p:nvSpPr>
        <p:spPr>
          <a:xfrm>
            <a:off x="5394960" y="280720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Resend</a:t>
            </a:r>
            <a:endParaRPr lang="en-US" sz="1150" dirty="0"/>
          </a:p>
        </p:txBody>
      </p:sp>
      <p:sp>
        <p:nvSpPr>
          <p:cNvPr id="21" name="Text 18"/>
          <p:cNvSpPr/>
          <p:nvPr/>
        </p:nvSpPr>
        <p:spPr>
          <a:xfrm>
            <a:off x="7406640" y="280720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Acheminement des e-mails de service</a:t>
            </a:r>
            <a:endParaRPr lang="en-US" sz="1150" dirty="0"/>
          </a:p>
        </p:txBody>
      </p:sp>
      <p:sp>
        <p:nvSpPr>
          <p:cNvPr id="22" name="Text 19"/>
          <p:cNvSpPr/>
          <p:nvPr/>
        </p:nvSpPr>
        <p:spPr>
          <a:xfrm>
            <a:off x="10424160" y="280720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États-Unis</a:t>
            </a:r>
            <a:endParaRPr lang="en-US" sz="1150" dirty="0"/>
          </a:p>
        </p:txBody>
      </p:sp>
      <p:sp>
        <p:nvSpPr>
          <p:cNvPr id="23" name="Shape 20"/>
          <p:cNvSpPr/>
          <p:nvPr/>
        </p:nvSpPr>
        <p:spPr>
          <a:xfrm>
            <a:off x="5394960" y="3209544"/>
            <a:ext cx="6062472" cy="0"/>
          </a:xfrm>
          <a:prstGeom prst="line">
            <a:avLst/>
          </a:prstGeom>
          <a:noFill/>
          <a:ln w="9525">
            <a:solidFill>
              <a:srgbClr val="E2E5E1"/>
            </a:solidFill>
            <a:prstDash val="solid"/>
          </a:ln>
        </p:spPr>
      </p:sp>
      <p:sp>
        <p:nvSpPr>
          <p:cNvPr id="24" name="Text 21"/>
          <p:cNvSpPr/>
          <p:nvPr/>
        </p:nvSpPr>
        <p:spPr>
          <a:xfrm>
            <a:off x="5394960" y="331012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Stripe</a:t>
            </a:r>
            <a:endParaRPr lang="en-US" sz="1150" dirty="0"/>
          </a:p>
        </p:txBody>
      </p:sp>
      <p:sp>
        <p:nvSpPr>
          <p:cNvPr id="25" name="Text 22"/>
          <p:cNvSpPr/>
          <p:nvPr/>
        </p:nvSpPr>
        <p:spPr>
          <a:xfrm>
            <a:off x="7406640" y="331012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Paiement de la licence et facturation</a:t>
            </a:r>
            <a:endParaRPr lang="en-US" sz="1150" dirty="0"/>
          </a:p>
        </p:txBody>
      </p:sp>
      <p:sp>
        <p:nvSpPr>
          <p:cNvPr id="26" name="Text 23"/>
          <p:cNvSpPr/>
          <p:nvPr/>
        </p:nvSpPr>
        <p:spPr>
          <a:xfrm>
            <a:off x="10424160" y="331012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Irlande, États-Unis</a:t>
            </a:r>
            <a:endParaRPr lang="en-US" sz="1150" dirty="0"/>
          </a:p>
        </p:txBody>
      </p:sp>
      <p:sp>
        <p:nvSpPr>
          <p:cNvPr id="27" name="Shape 24"/>
          <p:cNvSpPr/>
          <p:nvPr/>
        </p:nvSpPr>
        <p:spPr>
          <a:xfrm>
            <a:off x="5394960" y="3712464"/>
            <a:ext cx="6062472" cy="0"/>
          </a:xfrm>
          <a:prstGeom prst="line">
            <a:avLst/>
          </a:prstGeom>
          <a:noFill/>
          <a:ln w="9525">
            <a:solidFill>
              <a:srgbClr val="E2E5E1"/>
            </a:solidFill>
            <a:prstDash val="solid"/>
          </a:ln>
        </p:spPr>
      </p:sp>
      <p:sp>
        <p:nvSpPr>
          <p:cNvPr id="28" name="Text 25"/>
          <p:cNvSpPr/>
          <p:nvPr/>
        </p:nvSpPr>
        <p:spPr>
          <a:xfrm>
            <a:off x="5394960" y="381304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Expo</a:t>
            </a:r>
            <a:endParaRPr lang="en-US" sz="1150" dirty="0"/>
          </a:p>
        </p:txBody>
      </p:sp>
      <p:sp>
        <p:nvSpPr>
          <p:cNvPr id="29" name="Text 26"/>
          <p:cNvSpPr/>
          <p:nvPr/>
        </p:nvSpPr>
        <p:spPr>
          <a:xfrm>
            <a:off x="7406640" y="381304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Obtention du jeton de notification de l'appareil</a:t>
            </a:r>
            <a:endParaRPr lang="en-US" sz="1150" dirty="0"/>
          </a:p>
        </p:txBody>
      </p:sp>
      <p:sp>
        <p:nvSpPr>
          <p:cNvPr id="30" name="Text 27"/>
          <p:cNvSpPr/>
          <p:nvPr/>
        </p:nvSpPr>
        <p:spPr>
          <a:xfrm>
            <a:off x="10424160" y="381304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États-Unis</a:t>
            </a:r>
            <a:endParaRPr lang="en-US" sz="1150" dirty="0"/>
          </a:p>
        </p:txBody>
      </p:sp>
      <p:sp>
        <p:nvSpPr>
          <p:cNvPr id="31" name="Shape 28"/>
          <p:cNvSpPr/>
          <p:nvPr/>
        </p:nvSpPr>
        <p:spPr>
          <a:xfrm>
            <a:off x="5394960" y="4215384"/>
            <a:ext cx="6062472" cy="0"/>
          </a:xfrm>
          <a:prstGeom prst="line">
            <a:avLst/>
          </a:prstGeom>
          <a:noFill/>
          <a:ln w="9525">
            <a:solidFill>
              <a:srgbClr val="E2E5E1"/>
            </a:solidFill>
            <a:prstDash val="solid"/>
          </a:ln>
        </p:spPr>
      </p:sp>
      <p:sp>
        <p:nvSpPr>
          <p:cNvPr id="32" name="Text 29"/>
          <p:cNvSpPr/>
          <p:nvPr/>
        </p:nvSpPr>
        <p:spPr>
          <a:xfrm>
            <a:off x="5394960" y="43159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Apple, Google</a:t>
            </a:r>
            <a:endParaRPr lang="en-US" sz="1150" dirty="0"/>
          </a:p>
        </p:txBody>
      </p:sp>
      <p:sp>
        <p:nvSpPr>
          <p:cNvPr id="33" name="Text 30"/>
          <p:cNvSpPr/>
          <p:nvPr/>
        </p:nvSpPr>
        <p:spPr>
          <a:xfrm>
            <a:off x="7406640" y="43159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Distribution de l'application mobile</a:t>
            </a:r>
            <a:endParaRPr lang="en-US" sz="1150" dirty="0"/>
          </a:p>
        </p:txBody>
      </p:sp>
      <p:sp>
        <p:nvSpPr>
          <p:cNvPr id="34" name="Text 31"/>
          <p:cNvSpPr/>
          <p:nvPr/>
        </p:nvSpPr>
        <p:spPr>
          <a:xfrm>
            <a:off x="10424160" y="43159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États-Unis</a:t>
            </a:r>
            <a:endParaRPr lang="en-US" sz="1150" dirty="0"/>
          </a:p>
        </p:txBody>
      </p:sp>
      <p:sp>
        <p:nvSpPr>
          <p:cNvPr id="35" name="Shape 32"/>
          <p:cNvSpPr/>
          <p:nvPr/>
        </p:nvSpPr>
        <p:spPr>
          <a:xfrm>
            <a:off x="5394960" y="4718304"/>
            <a:ext cx="6062472" cy="0"/>
          </a:xfrm>
          <a:prstGeom prst="line">
            <a:avLst/>
          </a:prstGeom>
          <a:noFill/>
          <a:ln w="9525">
            <a:solidFill>
              <a:srgbClr val="E2E5E1"/>
            </a:solidFill>
            <a:prstDash val="solid"/>
          </a:ln>
        </p:spPr>
      </p:sp>
      <p:sp>
        <p:nvSpPr>
          <p:cNvPr id="36" name="Shape 33"/>
          <p:cNvSpPr/>
          <p:nvPr/>
        </p:nvSpPr>
        <p:spPr>
          <a:xfrm>
            <a:off x="5394960" y="4846320"/>
            <a:ext cx="6062472" cy="1097280"/>
          </a:xfrm>
          <a:prstGeom prst="roundRect">
            <a:avLst>
              <a:gd name="adj" fmla="val 3333"/>
            </a:avLst>
          </a:prstGeom>
          <a:solidFill>
            <a:srgbClr val="F2F3F1"/>
          </a:solidFill>
          <a:ln w="12700">
            <a:solidFill>
              <a:srgbClr val="F2F3F1"/>
            </a:solidFill>
            <a:prstDash val="solid"/>
          </a:ln>
        </p:spPr>
      </p:sp>
      <p:sp>
        <p:nvSpPr>
          <p:cNvPr id="37" name="Text 34"/>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À savoir</a:t>
            </a:r>
            <a:endParaRPr lang="en-US" sz="950" dirty="0"/>
          </a:p>
        </p:txBody>
      </p:sp>
      <p:sp>
        <p:nvSpPr>
          <p:cNvPr id="38" name="Text 35"/>
          <p:cNvSpPr/>
          <p:nvPr/>
        </p:nvSpPr>
        <p:spPr>
          <a:xfrm>
            <a:off x="5669280" y="526694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La liste est celle de la politique de confidentialité publiée. Un test automatique empêche d'ajouter un prestataire au produit sans le déclarer. Aucune donnée bancaire ne transite par nos serveurs : la carte se saisit chez Stripe.</a:t>
            </a:r>
            <a:endParaRPr lang="en-US" sz="1150" dirty="0"/>
          </a:p>
        </p:txBody>
      </p:sp>
      <p:sp>
        <p:nvSpPr>
          <p:cNvPr id="39" name="Text 3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40" name="Text 3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Où prendre l’application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chivo" pitchFamily="34" charset="0"/>
                <a:ea typeface="Archivo" pitchFamily="34" charset="-122"/>
                <a:cs typeface="Archivo" pitchFamily="34" charset="-120"/>
              </a:rPr>
              <a:t>Une seule adresse, quel que soit l’appareil.</a:t>
            </a:r>
            <a:endParaRPr lang="en-US" sz="2400" dirty="0"/>
          </a:p>
        </p:txBody>
      </p:sp>
      <p:sp>
        <p:nvSpPr>
          <p:cNvPr id="7" name="Text 4"/>
          <p:cNvSpPr/>
          <p:nvPr/>
        </p:nvSpPr>
        <p:spPr>
          <a:xfrm>
            <a:off x="731520" y="2788920"/>
            <a:ext cx="4206240" cy="301752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www.quantinvo.com/open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L'adresse à diffuser à vos équipes. Ouverte depuis un téléphone, elle lance l'application si elle est installée, et propose les deux boutiques sinon. Depuis un poste, elle mène à l'espace web.</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 lien d’invitation y mène tout seul.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Chaque personne invitée reçoit un e-mail qui la conduit à choisir son mot de passe, puis à l'application. Il n'y a pas de notice à écrire, pas de code à faire circuler.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Par votre catalogue, l’étape disparaît.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Si vous distribuez par MDM, l'application est déjà là quand la personne ouvre son lien. C'est le chemin recommandé pour un parc géré — la page suivante le détaille.</a:t>
            </a:r>
            <a:endParaRPr lang="en-US" sz="1200" dirty="0"/>
          </a:p>
        </p:txBody>
      </p:sp>
      <p:pic>
        <p:nvPicPr>
          <p:cNvPr id="8" name="Image 1" descr="preencoded.png">    </p:cNvPr>
          <p:cNvPicPr>
            <a:picLocks noChangeAspect="1"/>
          </p:cNvPicPr>
          <p:nvPr/>
        </p:nvPicPr>
        <p:blipFill>
          <a:blip r:embed="rId2"/>
          <a:stretch>
            <a:fillRect/>
          </a:stretch>
        </p:blipFill>
        <p:spPr>
          <a:xfrm>
            <a:off x="6858000" y="1371600"/>
            <a:ext cx="2044624" cy="4297680"/>
          </a:xfrm>
          <a:prstGeom prst="rect">
            <a:avLst/>
          </a:prstGeom>
        </p:spPr>
      </p:pic>
      <p:sp>
        <p:nvSpPr>
          <p:cNvPr id="9" name="Text 5"/>
          <p:cNvSpPr/>
          <p:nvPr/>
        </p:nvSpPr>
        <p:spPr>
          <a:xfrm>
            <a:off x="6400800" y="5797296"/>
            <a:ext cx="2959024"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Public Sans" pitchFamily="34" charset="0"/>
                <a:ea typeface="Public Sans" pitchFamily="34" charset="-122"/>
                <a:cs typeface="Public Sans" pitchFamily="34" charset="-120"/>
              </a:rPr>
              <a:t>www.quantinvo.com/open, vu d’un téléphone.</a:t>
            </a:r>
            <a:endParaRPr lang="en-US" sz="1000" dirty="0"/>
          </a:p>
        </p:txBody>
      </p:sp>
      <p:sp>
        <p:nvSpPr>
          <p:cNvPr id="10"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1"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Déploiement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2E5E1"/>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2E5E1"/>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2E5E1"/>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2E5E1"/>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2E5E1"/>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7.0, à confirmer</a:t>
            </a:r>
            <a:endParaRPr lang="en-US" sz="1100" dirty="0"/>
          </a:p>
        </p:txBody>
      </p:sp>
      <p:sp>
        <p:nvSpPr>
          <p:cNvPr id="25" name="Shape 22"/>
          <p:cNvSpPr/>
          <p:nvPr/>
        </p:nvSpPr>
        <p:spPr>
          <a:xfrm>
            <a:off x="5394960" y="3529584"/>
            <a:ext cx="6062472" cy="0"/>
          </a:xfrm>
          <a:prstGeom prst="line">
            <a:avLst/>
          </a:prstGeom>
          <a:noFill/>
          <a:ln w="9525">
            <a:solidFill>
              <a:srgbClr val="E2E5E1"/>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2E5E1"/>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14181A"/>
                </a:solidFill>
                <a:latin typeface="Public Sans" pitchFamily="34" charset="0"/>
                <a:ea typeface="Public Sans" pitchFamily="34" charset="-122"/>
                <a:cs typeface="Public Sans" pitchFamily="34" charset="-120"/>
              </a:rPr>
              <a:t>iPhone et iPad. </a:t>
            </a:r>
            <a:pPr indent="0" marL="0">
              <a:lnSpc>
                <a:spcPct val="118000"/>
              </a:lnSpc>
              <a:spcAft>
                <a:spcPts val="800"/>
              </a:spcAft>
              <a:buNone/>
            </a:pPr>
            <a:r>
              <a:rPr lang="en-US" sz="1150" dirty="0">
                <a:solidFill>
                  <a:srgbClr val="3A423F"/>
                </a:solidFill>
                <a:latin typeface="Public Sans" pitchFamily="34" charset="0"/>
                <a:ea typeface="Public Sans" pitchFamily="34" charset="-122"/>
                <a:cs typeface="Public Sans"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14181A"/>
                </a:solidFill>
                <a:latin typeface="Public Sans" pitchFamily="34" charset="0"/>
                <a:ea typeface="Public Sans" pitchFamily="34" charset="-122"/>
                <a:cs typeface="Public Sans" pitchFamily="34" charset="-120"/>
              </a:rPr>
              <a:t>Android et terminaux durcis. </a:t>
            </a:r>
            <a:pPr indent="0" marL="0">
              <a:lnSpc>
                <a:spcPct val="118000"/>
              </a:lnSpc>
              <a:spcAft>
                <a:spcPts val="800"/>
              </a:spcAft>
              <a:buNone/>
            </a:pPr>
            <a:r>
              <a:rPr lang="en-US" sz="1150" dirty="0">
                <a:solidFill>
                  <a:srgbClr val="3A423F"/>
                </a:solidFill>
                <a:latin typeface="Public Sans" pitchFamily="34" charset="0"/>
                <a:ea typeface="Public Sans" pitchFamily="34" charset="-122"/>
                <a:cs typeface="Public Sans" pitchFamily="34" charset="-120"/>
              </a:rPr>
              <a:t>Par Managed Google Play, ou en chargeant l'APK que nous vous remettons comme application interne. Le mode « application unique » est compatible. Nous n'avons pas éprouvé nous-mêmes les terminaux durcis du marché.</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Profil de restrictions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14181A"/>
          </a:solidFill>
          <a:ln>
            <a:solidFill>
              <a:srgbClr val="14181A"/>
            </a:solidFill>
          </a:ln>
        </p:spPr>
        <p:txBody>
          <a:bodyPr wrap="square" lIns="0" tIns="0" rIns="0" bIns="0" rtlCol="0" anchor="ctr"/>
          <a:lstStyle/>
          <a:p>
            <a:pPr algn="ctr" indent="0" marL="0">
              <a:buNone/>
            </a:pPr>
            <a:r>
              <a:rPr lang="en-US" sz="1000" b="1" dirty="0">
                <a:solidFill>
                  <a:srgbClr val="FFFFFF"/>
                </a:solidFill>
                <a:latin typeface="Archivo" pitchFamily="34" charset="0"/>
                <a:ea typeface="Archivo" pitchFamily="34" charset="-122"/>
                <a:cs typeface="Archivo"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14181A"/>
          </a:solidFill>
          <a:ln>
            <a:solidFill>
              <a:srgbClr val="14181A"/>
            </a:solidFill>
          </a:ln>
        </p:spPr>
        <p:txBody>
          <a:bodyPr wrap="square" lIns="0" tIns="0" rIns="0" bIns="0" rtlCol="0" anchor="ctr"/>
          <a:lstStyle/>
          <a:p>
            <a:pPr algn="ctr" indent="0" marL="0">
              <a:buNone/>
            </a:pPr>
            <a:r>
              <a:rPr lang="en-US" sz="1000" b="1" dirty="0">
                <a:solidFill>
                  <a:srgbClr val="FFFFFF"/>
                </a:solidFill>
                <a:latin typeface="Archivo" pitchFamily="34" charset="0"/>
                <a:ea typeface="Archivo" pitchFamily="34" charset="-122"/>
                <a:cs typeface="Archivo"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14181A"/>
          </a:solidFill>
          <a:ln>
            <a:solidFill>
              <a:srgbClr val="14181A"/>
            </a:solidFill>
          </a:ln>
        </p:spPr>
        <p:txBody>
          <a:bodyPr wrap="square" lIns="0" tIns="0" rIns="0" bIns="0" rtlCol="0" anchor="ctr"/>
          <a:lstStyle/>
          <a:p>
            <a:pPr algn="ctr" indent="0" marL="0">
              <a:buNone/>
            </a:pPr>
            <a:r>
              <a:rPr lang="en-US" sz="1000" b="1" dirty="0">
                <a:solidFill>
                  <a:srgbClr val="FFFFFF"/>
                </a:solidFill>
                <a:latin typeface="Archivo" pitchFamily="34" charset="0"/>
                <a:ea typeface="Archivo" pitchFamily="34" charset="-122"/>
                <a:cs typeface="Archivo"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75F5C"/>
          </a:solidFill>
          <a:ln>
            <a:solidFill>
              <a:srgbClr val="575F5C"/>
            </a:solidFill>
          </a:ln>
        </p:spPr>
        <p:txBody>
          <a:bodyPr wrap="square" lIns="0" tIns="0" rIns="0" bIns="0" rtlCol="0" anchor="ctr"/>
          <a:lstStyle/>
          <a:p>
            <a:pPr algn="ctr" indent="0" marL="0">
              <a:buNone/>
            </a:pPr>
            <a:r>
              <a:rPr lang="en-US" sz="1000" b="1" dirty="0">
                <a:solidFill>
                  <a:srgbClr val="FFFFFF"/>
                </a:solidFill>
                <a:latin typeface="Archivo" pitchFamily="34" charset="0"/>
                <a:ea typeface="Archivo" pitchFamily="34" charset="-122"/>
                <a:cs typeface="Archivo"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La mise en place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 la signature au premier comptage</a:t>
            </a:r>
            <a:endParaRPr lang="en-US" sz="2600" dirty="0"/>
          </a:p>
        </p:txBody>
      </p:sp>
      <p:sp>
        <p:nvSpPr>
          <p:cNvPr id="7" name="Shape 4"/>
          <p:cNvSpPr/>
          <p:nvPr/>
        </p:nvSpPr>
        <p:spPr>
          <a:xfrm>
            <a:off x="914400" y="2478024"/>
            <a:ext cx="10360152" cy="0"/>
          </a:xfrm>
          <a:prstGeom prst="line">
            <a:avLst/>
          </a:prstGeom>
          <a:noFill/>
          <a:ln w="9525">
            <a:solidFill>
              <a:srgbClr val="E2E5E1"/>
            </a:solidFill>
            <a:prstDash val="solid"/>
          </a:ln>
        </p:spPr>
      </p:sp>
      <p:sp>
        <p:nvSpPr>
          <p:cNvPr id="8" name="Text 5"/>
          <p:cNvSpPr/>
          <p:nvPr/>
        </p:nvSpPr>
        <p:spPr>
          <a:xfrm>
            <a:off x="731520"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1</a:t>
            </a:r>
            <a:endParaRPr lang="en-US" sz="1200" dirty="0"/>
          </a:p>
        </p:txBody>
      </p:sp>
      <p:sp>
        <p:nvSpPr>
          <p:cNvPr id="9" name="Text 6"/>
          <p:cNvSpPr/>
          <p:nvPr/>
        </p:nvSpPr>
        <p:spPr>
          <a:xfrm>
            <a:off x="731520"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Les comptes</a:t>
            </a:r>
            <a:endParaRPr lang="en-US" sz="1600" dirty="0"/>
          </a:p>
        </p:txBody>
      </p:sp>
      <p:sp>
        <p:nvSpPr>
          <p:cNvPr id="10" name="Text 7"/>
          <p:cNvSpPr/>
          <p:nvPr/>
        </p:nvSpPr>
        <p:spPr>
          <a:xfrm>
            <a:off x="731520"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Public Sans" pitchFamily="34" charset="0"/>
                <a:ea typeface="Public Sans" pitchFamily="34" charset="-122"/>
                <a:cs typeface="Public Sans" pitchFamily="34" charset="-120"/>
              </a:rPr>
              <a:t>L'administrateur d'entreprise est créé à la souscription. Il invite ses superviseurs, qui invitent leurs compteurs : prénom, nom, adresse professionnelle. Chacun reçoit son lien et choisit son mot de passe.</a:t>
            </a:r>
            <a:endParaRPr lang="en-US" sz="1150" dirty="0"/>
          </a:p>
        </p:txBody>
      </p:sp>
      <p:sp>
        <p:nvSpPr>
          <p:cNvPr id="11" name="Text 8"/>
          <p:cNvSpPr/>
          <p:nvPr/>
        </p:nvSpPr>
        <p:spPr>
          <a:xfrm>
            <a:off x="3504438"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2</a:t>
            </a:r>
            <a:endParaRPr lang="en-US" sz="1200" dirty="0"/>
          </a:p>
        </p:txBody>
      </p:sp>
      <p:sp>
        <p:nvSpPr>
          <p:cNvPr id="12" name="Text 9"/>
          <p:cNvSpPr/>
          <p:nvPr/>
        </p:nvSpPr>
        <p:spPr>
          <a:xfrm>
            <a:off x="3504438"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L'application</a:t>
            </a:r>
            <a:endParaRPr lang="en-US" sz="1600" dirty="0"/>
          </a:p>
        </p:txBody>
      </p:sp>
      <p:sp>
        <p:nvSpPr>
          <p:cNvPr id="13" name="Text 10"/>
          <p:cNvSpPr/>
          <p:nvPr/>
        </p:nvSpPr>
        <p:spPr>
          <a:xfrm>
            <a:off x="3504438"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Public Sans" pitchFamily="34" charset="0"/>
                <a:ea typeface="Public Sans" pitchFamily="34" charset="-122"/>
                <a:cs typeface="Public Sans" pitchFamily="34" charset="-120"/>
              </a:rPr>
              <a:t>Vous la poussez par votre catalogue, ou chacun l'installe depuis /open. Rien à configurer à l'ouverture : adresse e-mail et mot de passe.</a:t>
            </a:r>
            <a:endParaRPr lang="en-US" sz="1150" dirty="0"/>
          </a:p>
        </p:txBody>
      </p:sp>
      <p:sp>
        <p:nvSpPr>
          <p:cNvPr id="14" name="Text 11"/>
          <p:cNvSpPr/>
          <p:nvPr/>
        </p:nvSpPr>
        <p:spPr>
          <a:xfrm>
            <a:off x="6277356"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3</a:t>
            </a:r>
            <a:endParaRPr lang="en-US" sz="1200" dirty="0"/>
          </a:p>
        </p:txBody>
      </p:sp>
      <p:sp>
        <p:nvSpPr>
          <p:cNvPr id="15" name="Text 12"/>
          <p:cNvSpPr/>
          <p:nvPr/>
        </p:nvSpPr>
        <p:spPr>
          <a:xfrm>
            <a:off x="6277356"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Les fichiers</a:t>
            </a:r>
            <a:endParaRPr lang="en-US" sz="1600" dirty="0"/>
          </a:p>
        </p:txBody>
      </p:sp>
      <p:sp>
        <p:nvSpPr>
          <p:cNvPr id="16" name="Text 13"/>
          <p:cNvSpPr/>
          <p:nvPr/>
        </p:nvSpPr>
        <p:spPr>
          <a:xfrm>
            <a:off x="6277356"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Public Sans" pitchFamily="34" charset="0"/>
                <a:ea typeface="Public Sans" pitchFamily="34" charset="-122"/>
                <a:cs typeface="Public Sans" pitchFamily="34" charset="-120"/>
              </a:rPr>
              <a:t>Le superviseur importe le référentiel articles et le stock théorique, en CSV ou Excel, tels qu'ils sortent de votre système. Les noms de colonnes usuels sont reconnus.</a:t>
            </a:r>
            <a:endParaRPr lang="en-US" sz="1150" dirty="0"/>
          </a:p>
        </p:txBody>
      </p:sp>
      <p:sp>
        <p:nvSpPr>
          <p:cNvPr id="17" name="Text 14"/>
          <p:cNvSpPr/>
          <p:nvPr/>
        </p:nvSpPr>
        <p:spPr>
          <a:xfrm>
            <a:off x="9050274"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4</a:t>
            </a:r>
            <a:endParaRPr lang="en-US" sz="1200" dirty="0"/>
          </a:p>
        </p:txBody>
      </p:sp>
      <p:sp>
        <p:nvSpPr>
          <p:cNvPr id="18" name="Text 15"/>
          <p:cNvSpPr/>
          <p:nvPr/>
        </p:nvSpPr>
        <p:spPr>
          <a:xfrm>
            <a:off x="9050274"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Les zones</a:t>
            </a:r>
            <a:endParaRPr lang="en-US" sz="1600" dirty="0"/>
          </a:p>
        </p:txBody>
      </p:sp>
      <p:sp>
        <p:nvSpPr>
          <p:cNvPr id="19" name="Text 16"/>
          <p:cNvSpPr/>
          <p:nvPr/>
        </p:nvSpPr>
        <p:spPr>
          <a:xfrm>
            <a:off x="9050274"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Public Sans" pitchFamily="34" charset="0"/>
                <a:ea typeface="Public Sans" pitchFamily="34" charset="-122"/>
                <a:cs typeface="Public Sans" pitchFamily="34" charset="-120"/>
              </a:rPr>
              <a:t>Il imprime une planche de balises — des étiquettes numérotées en PDF —, les colle en rayon et affecte les plages aux emplacements.</a:t>
            </a:r>
            <a:endParaRPr lang="en-US" sz="1150" dirty="0"/>
          </a:p>
        </p:txBody>
      </p:sp>
      <p:sp>
        <p:nvSpPr>
          <p:cNvPr id="20" name="Shape 17"/>
          <p:cNvSpPr/>
          <p:nvPr/>
        </p:nvSpPr>
        <p:spPr>
          <a:xfrm>
            <a:off x="731520" y="5120640"/>
            <a:ext cx="10725912" cy="960120"/>
          </a:xfrm>
          <a:prstGeom prst="roundRect">
            <a:avLst>
              <a:gd name="adj" fmla="val 3810"/>
            </a:avLst>
          </a:prstGeom>
          <a:solidFill>
            <a:srgbClr val="F2F3F1"/>
          </a:solidFill>
          <a:ln w="12700">
            <a:solidFill>
              <a:srgbClr val="F2F3F1"/>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Ce que ça vous coûte en temps</a:t>
            </a:r>
            <a:endParaRPr lang="en-US" sz="950" dirty="0"/>
          </a:p>
        </p:txBody>
      </p:sp>
      <p:sp>
        <p:nvSpPr>
          <p:cNvPr id="22" name="Text 19"/>
          <p:cNvSpPr/>
          <p:nvPr/>
        </p:nvSpPr>
        <p:spPr>
          <a:xfrm>
            <a:off x="1005840" y="5541264"/>
            <a:ext cx="10177272" cy="41148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Une demi-journée pour un premier magasin, le plus long étant l'export de vos fichiers depuis votre système. Il n'y a ni serveur à provisionner, ni recette à organiser, ni fenêtre de bascule à réserver.</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La préparation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chivo" pitchFamily="34" charset="0"/>
                <a:ea typeface="Archivo" pitchFamily="34" charset="-122"/>
                <a:cs typeface="Archivo" pitchFamily="34" charset="-120"/>
              </a:rPr>
              <a:t>Tout se prépare depuis le navigateur.</a:t>
            </a:r>
            <a:endParaRPr lang="en-US" sz="2400" dirty="0"/>
          </a:p>
        </p:txBody>
      </p:sp>
      <p:sp>
        <p:nvSpPr>
          <p:cNvPr id="7" name="Text 4"/>
          <p:cNvSpPr/>
          <p:nvPr/>
        </p:nvSpPr>
        <p:spPr>
          <a:xfrm>
            <a:off x="731520" y="2651760"/>
            <a:ext cx="420624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Aucune installation sur les postes.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Le superviseur travaille sur www.quantinvo.com, dans le navigateur qu'il a déjà. Rien à déployer, rien à mettre à jour, rien à ouvrir sur le poste.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Deux fichiers, et c’est prêt.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Le référentiel articles donne les libellés et les prix d'achat ; le stock théorique donne l'attendu. L'écran indique ce qui manque encore avant de pouvoir commencer.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Les balises sortent en PDF.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Une planche d'étiquettes numérotées, imprimée sur des feuilles autocollantes du commerce. Aucun consommable spécifique.</a:t>
            </a:r>
            <a:endParaRPr lang="en-US" sz="1200" dirty="0"/>
          </a:p>
        </p:txBody>
      </p:sp>
      <p:sp>
        <p:nvSpPr>
          <p:cNvPr id="8" name="Shape 5"/>
          <p:cNvSpPr/>
          <p:nvPr/>
        </p:nvSpPr>
        <p:spPr>
          <a:xfrm>
            <a:off x="5340096" y="1316736"/>
            <a:ext cx="6172200" cy="4008828"/>
          </a:xfrm>
          <a:prstGeom prst="roundRect">
            <a:avLst>
              <a:gd name="adj" fmla="val 912"/>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3899100"/>
          </a:xfrm>
          <a:prstGeom prst="rect">
            <a:avLst/>
          </a:prstGeom>
        </p:spPr>
      </p:pic>
      <p:sp>
        <p:nvSpPr>
          <p:cNvPr id="10" name="Text 6"/>
          <p:cNvSpPr/>
          <p:nvPr/>
        </p:nvSpPr>
        <p:spPr>
          <a:xfrm>
            <a:off x="5394960" y="539871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Set up,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La prise en main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chivo" pitchFamily="34" charset="0"/>
                <a:ea typeface="Archivo" pitchFamily="34" charset="-122"/>
                <a:cs typeface="Archivo" pitchFamily="34" charset="-120"/>
              </a:rPr>
              <a:t>Ce que la personne qui compte a à apprendre</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1 — Rejoindre l’inventaire</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Elle ouvre l'application, choisit l'inventaire du jour, et se met en comptage ou en audit.</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2 — Scanner la balise du rayon</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L'étiquette numérotée ouvre la zone. Tout ce qui suit s'y rattache.</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3 — Scanner les articles</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Caméra, saisie manuelle ou douchette. La quantité se corrige d'un appui, la zone se clôture à la fin.</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Comptes et accès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2E5E1"/>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Tous les magasins, toutes les personnes, tous les inventaires de son entreprise. Invite, retire, supprime, lit le journal des actions.</a:t>
            </a:r>
            <a:endParaRPr lang="en-US" sz="1150" dirty="0"/>
          </a:p>
        </p:txBody>
      </p:sp>
      <p:sp>
        <p:nvSpPr>
          <p:cNvPr id="13" name="Shape 10"/>
          <p:cNvSpPr/>
          <p:nvPr/>
        </p:nvSpPr>
        <p:spPr>
          <a:xfrm>
            <a:off x="5394960" y="2304288"/>
            <a:ext cx="6062472" cy="0"/>
          </a:xfrm>
          <a:prstGeom prst="line">
            <a:avLst/>
          </a:prstGeom>
          <a:noFill/>
          <a:ln w="9525">
            <a:solidFill>
              <a:srgbClr val="E2E5E1"/>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Ses magasins. Crée et pilote les inventaires, constitue son équipe, arbitre les écarts, lit les rapports.</a:t>
            </a:r>
            <a:endParaRPr lang="en-US" sz="1150" dirty="0"/>
          </a:p>
        </p:txBody>
      </p:sp>
      <p:sp>
        <p:nvSpPr>
          <p:cNvPr id="16" name="Shape 13"/>
          <p:cNvSpPr/>
          <p:nvPr/>
        </p:nvSpPr>
        <p:spPr>
          <a:xfrm>
            <a:off x="5394960" y="2907792"/>
            <a:ext cx="6062472" cy="0"/>
          </a:xfrm>
          <a:prstGeom prst="line">
            <a:avLst/>
          </a:prstGeom>
          <a:noFill/>
          <a:ln w="9525">
            <a:solidFill>
              <a:srgbClr val="E2E5E1"/>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Les inventaires auxquels il est invité. Il scanne, il compte, il audite. Aucun accès au site.</a:t>
            </a:r>
            <a:endParaRPr lang="en-US" sz="1150" dirty="0"/>
          </a:p>
        </p:txBody>
      </p:sp>
      <p:sp>
        <p:nvSpPr>
          <p:cNvPr id="19" name="Shape 16"/>
          <p:cNvSpPr/>
          <p:nvPr/>
        </p:nvSpPr>
        <p:spPr>
          <a:xfrm>
            <a:off x="5394960" y="3511296"/>
            <a:ext cx="6062472" cy="0"/>
          </a:xfrm>
          <a:prstGeom prst="line">
            <a:avLst/>
          </a:prstGeom>
          <a:noFill/>
          <a:ln w="9525">
            <a:solidFill>
              <a:srgbClr val="E2E5E1"/>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14181A"/>
                </a:solidFill>
                <a:latin typeface="Public Sans" pitchFamily="34" charset="0"/>
                <a:ea typeface="Public Sans" pitchFamily="34" charset="-122"/>
                <a:cs typeface="Public Sans" pitchFamily="34" charset="-120"/>
              </a:rPr>
              <a:t>Mot de passe. </a:t>
            </a:r>
            <a:pPr indent="0" marL="0">
              <a:lnSpc>
                <a:spcPct val="118000"/>
              </a:lnSpc>
              <a:spcAft>
                <a:spcPts val="700"/>
              </a:spcAft>
              <a:buNone/>
            </a:pPr>
            <a:r>
              <a:rPr lang="en-US" sz="1150" dirty="0">
                <a:solidFill>
                  <a:srgbClr val="3A423F"/>
                </a:solidFill>
                <a:latin typeface="Public Sans" pitchFamily="34" charset="0"/>
                <a:ea typeface="Public Sans" pitchFamily="34" charset="-122"/>
                <a:cs typeface="Public Sans"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14181A"/>
                </a:solidFill>
                <a:latin typeface="Public Sans" pitchFamily="34" charset="0"/>
                <a:ea typeface="Public Sans" pitchFamily="34" charset="-122"/>
                <a:cs typeface="Public Sans" pitchFamily="34" charset="-120"/>
              </a:rPr>
              <a:t>Double authentification. </a:t>
            </a:r>
            <a:pPr indent="0" marL="0">
              <a:lnSpc>
                <a:spcPct val="118000"/>
              </a:lnSpc>
              <a:spcAft>
                <a:spcPts val="700"/>
              </a:spcAft>
              <a:buNone/>
            </a:pPr>
            <a:r>
              <a:rPr lang="en-US" sz="1150" dirty="0">
                <a:solidFill>
                  <a:srgbClr val="3A423F"/>
                </a:solidFill>
                <a:latin typeface="Public Sans" pitchFamily="34" charset="0"/>
                <a:ea typeface="Public Sans" pitchFamily="34" charset="-122"/>
                <a:cs typeface="Public Sans"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14181A"/>
                </a:solidFill>
                <a:latin typeface="Public Sans" pitchFamily="34" charset="0"/>
                <a:ea typeface="Public Sans" pitchFamily="34" charset="-122"/>
                <a:cs typeface="Public Sans" pitchFamily="34" charset="-120"/>
              </a:rPr>
              <a:t>Sessions. </a:t>
            </a:r>
            <a:pPr indent="0" marL="0">
              <a:lnSpc>
                <a:spcPct val="118000"/>
              </a:lnSpc>
              <a:spcAft>
                <a:spcPts val="700"/>
              </a:spcAft>
              <a:buNone/>
            </a:pPr>
            <a:r>
              <a:rPr lang="en-US" sz="1150" dirty="0">
                <a:solidFill>
                  <a:srgbClr val="3A423F"/>
                </a:solidFill>
                <a:latin typeface="Public Sans" pitchFamily="34" charset="0"/>
                <a:ea typeface="Public Sans" pitchFamily="34" charset="-122"/>
                <a:cs typeface="Public Sans"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14181A"/>
                </a:solidFill>
                <a:latin typeface="Public Sans" pitchFamily="34" charset="0"/>
                <a:ea typeface="Public Sans" pitchFamily="34" charset="-122"/>
                <a:cs typeface="Public Sans" pitchFamily="34" charset="-120"/>
              </a:rPr>
              <a:t>Cloisonnement. </a:t>
            </a:r>
            <a:pPr indent="0" marL="0">
              <a:lnSpc>
                <a:spcPct val="118000"/>
              </a:lnSpc>
              <a:spcAft>
                <a:spcPts val="700"/>
              </a:spcAft>
              <a:buNone/>
            </a:pPr>
            <a:r>
              <a:rPr lang="en-US" sz="1150" dirty="0">
                <a:solidFill>
                  <a:srgbClr val="3A423F"/>
                </a:solidFill>
                <a:latin typeface="Public Sans" pitchFamily="34" charset="0"/>
                <a:ea typeface="Public Sans" pitchFamily="34" charset="-122"/>
                <a:cs typeface="Public Sans"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Sécurité</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qui est en place.</a:t>
            </a:r>
            <a:endParaRPr lang="en-US" sz="2600" dirty="0"/>
          </a:p>
        </p:txBody>
      </p:sp>
      <p:sp>
        <p:nvSpPr>
          <p:cNvPr id="7" name="Text 4"/>
          <p:cNvSpPr/>
          <p:nvPr/>
        </p:nvSpPr>
        <p:spPr>
          <a:xfrm>
            <a:off x="731520" y="3383280"/>
            <a:ext cx="4206240" cy="4572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Public Sans" pitchFamily="34" charset="0"/>
                <a:ea typeface="Public Sans" pitchFamily="34" charset="-122"/>
                <a:cs typeface="Public Sans" pitchFamily="34" charset="-120"/>
              </a:rPr>
              <a:t>Le détail des audits est en page suivante.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En transit et au repos.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Tout le trafic est chiffré (TLS). Les données sont chiffrées au repos par l'hébergeur, qui en assure aussi les sauvegardes quotidiennes.</a:t>
            </a:r>
            <a:endParaRPr lang="en-US" sz="1200" dirty="0"/>
          </a:p>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Sur le téléphone.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Le jeton de session est rangé dans le trousseau du système — Keychain sur iOS, Keystore sur Android — chiffré par l'appareil, pas dans un fichier de l'application.</a:t>
            </a:r>
            <a:endParaRPr lang="en-US" sz="1200" dirty="0"/>
          </a:p>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Site.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En-têtes de sécurité posés (politique de contenu, interdiction d'intégration dans un cadre, restriction des destinations réseau). Aucun traceur, aucune mesure d'audience : il n'y a pas de bandeau cookies parce qu'il n'y a pas de cookie à déclarer.</a:t>
            </a:r>
            <a:endParaRPr lang="en-US" sz="1200" dirty="0"/>
          </a:p>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Journal.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Chaque action d'administration — création d'un compte, retrait d'un accès, suppression — est journalisée avec son auteur, et conservée un an. Votre administrateur lit le sien depuis son espace.</a:t>
            </a:r>
            <a:endParaRPr lang="en-US" sz="1200" dirty="0"/>
          </a:p>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Suivi d’activité.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Le tableau de bord voit des compteurs (appareils connectés, en comptage, en audit), jamais qui fait quoi en direct. Ce qui reste nominatif, c'est l'auteur d'un comptage, pour l'arbitrage.</a:t>
            </a:r>
            <a:endParaRPr lang="en-US" sz="1200" dirty="0"/>
          </a:p>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Effacement.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Les durées de conservation sont appliquées automatiquement, chaque nuit : journaux à un an, demandes et invitations traitées à trois mois, et purge des données expirées.</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Les audits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qui a été audité, et par quelle méthode.</a:t>
            </a:r>
            <a:endParaRPr lang="en-US" sz="2600" dirty="0"/>
          </a:p>
        </p:txBody>
      </p:sp>
      <p:sp>
        <p:nvSpPr>
          <p:cNvPr id="7" name="Text 4"/>
          <p:cNvSpPr/>
          <p:nvPr/>
        </p:nvSpPr>
        <p:spPr>
          <a:xfrm>
            <a:off x="731520" y="3200400"/>
            <a:ext cx="4206240" cy="868680"/>
          </a:xfrm>
          <a:prstGeom prst="rect">
            <a:avLst/>
          </a:prstGeom>
          <a:noFill/>
          <a:ln/>
        </p:spPr>
        <p:txBody>
          <a:bodyPr wrap="square" lIns="0" tIns="0" rIns="0" bIns="0" rtlCol="0" anchor="t"/>
          <a:lstStyle/>
          <a:p>
            <a:pPr indent="0" marL="0">
              <a:buNone/>
            </a:pPr>
            <a:r>
              <a:rPr lang="en-US" sz="4600" b="1" dirty="0">
                <a:solidFill>
                  <a:srgbClr val="1E4D3B"/>
                </a:solidFill>
                <a:latin typeface="Archivo" pitchFamily="34" charset="0"/>
                <a:ea typeface="Archivo" pitchFamily="34" charset="-122"/>
                <a:cs typeface="Archivo" pitchFamily="34" charset="-120"/>
              </a:rPr>
              <a:t>3</a:t>
            </a:r>
            <a:endParaRPr lang="en-US" sz="4600" dirty="0"/>
          </a:p>
        </p:txBody>
      </p:sp>
      <p:sp>
        <p:nvSpPr>
          <p:cNvPr id="8" name="Text 5"/>
          <p:cNvSpPr/>
          <p:nvPr/>
        </p:nvSpPr>
        <p:spPr>
          <a:xfrm>
            <a:off x="731520" y="41148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Public Sans" pitchFamily="34" charset="0"/>
                <a:ea typeface="Public Sans" pitchFamily="34" charset="-122"/>
                <a:cs typeface="Public Sans" pitchFamily="34" charset="-120"/>
              </a:rPr>
              <a:t>revues conduites en août 2026 : conformité, parcours de paiement, et l'ensemble des surfaces serveur.</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Conformité RGPD et sécurité.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Quinze constats relevés le 13 août, treize clos au 19. Les deux restants sont des documents juridiques en relecture — registre des traitements et clauses de sous-traitance.</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Modélisation de menaces du parcours de l’argent.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Méthode STRIDE, appliquée au chemin complet — demande, devis, acceptation, paiement, création des accès. Quatre constats, tous corrigés le jour même, avec des tests qui empêchent leur retour.</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Revue des surfaces serveur.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Balayage des fonctions de base de données, des règles d'accès et des fonctions distantes, par motif de défaut connu. Cinq constats, tous corrigés le jour même. Trois l'ont été par retrait : une permission dont personne ne se sert n'a pas besoin d'un contrôle, elle a besoin d'être injoignable.</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Ce que nous ne faisons pas.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Pas de test d'intrusion externe à ce jour, et pas de certification ISO. Si votre politique l'exige, nous accueillons le vôtre.</a:t>
            </a:r>
            <a:endParaRPr lang="en-US" sz="12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Hors ligne et charge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Public Sans" pitchFamily="34" charset="0"/>
                <a:ea typeface="Public Sans" pitchFamily="34" charset="-122"/>
                <a:cs typeface="Public Sans"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Hors ligne.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Plusieurs compteurs par magasin.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Tableau de bord.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Volumes.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Protection des données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14181A"/>
                </a:solidFill>
                <a:latin typeface="Archivo" pitchFamily="34" charset="0"/>
                <a:ea typeface="Archivo" pitchFamily="34" charset="-122"/>
                <a:cs typeface="Archivo"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14181A"/>
                </a:solidFill>
                <a:latin typeface="Archivo" pitchFamily="34" charset="0"/>
                <a:ea typeface="Archivo" pitchFamily="34" charset="-122"/>
                <a:cs typeface="Archivo"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2E5E1"/>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A423F"/>
                </a:solidFill>
                <a:latin typeface="Public Sans" pitchFamily="34" charset="0"/>
                <a:ea typeface="Public Sans" pitchFamily="34" charset="-122"/>
                <a:cs typeface="Public Sans"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4211"/>
            </a:avLst>
          </a:prstGeom>
          <a:solidFill>
            <a:srgbClr val="F2F3F1"/>
          </a:solidFill>
          <a:ln w="12700">
            <a:solidFill>
              <a:srgbClr val="F2F3F1"/>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Politique de confidentialité (publique), clauses article 28, synthèses d'audit,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Public Sans" pitchFamily="34" charset="0"/>
                <a:ea typeface="Public Sans" pitchFamily="34" charset="-122"/>
                <a:cs typeface="Public Sans"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Connexion par votre annuaire (SAML 2.0, Entra ID).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Configuration administrée (AppConfig).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Publication sur Google Play.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L'application tourne sur Android ; sa mise en ligne est en cours. En attendant, l'APK se distribue par votre catalogue — ce qui est de toute façon le chemin d'un parc géré.</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API et connecteur ERP.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Codes de secours pour la double authentification.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La fiche de déploiement MDM pour l'équipe parc. La politique de confidentialité, les clauses article 28 et les synthèses d'audit pour votre DPO. Le guide de prise en main pour vos superviseurs — remis en présentation, et consultable à tout moment depuis leur espace, où il s'imprime pour la réserve.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2026-09-09T17:18:25Z</dcterms:created>
  <dcterms:modified xsi:type="dcterms:W3CDTF">2026-09-09T17:18:25Z</dcterms:modified>
</cp:coreProperties>
</file>