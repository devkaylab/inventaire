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Ouvrir sur ce que la tarification supprime — la déclaration de stock — avant d'annoncer un chiffre. C'est ce qui la distingue du reste du marché.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raisonnement avant le chiffre. La question qui vient toujours : « et si on dépasse ? » — répondre qu'elle a sa page, deux slides plus loin.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le mensuel : un acheteur compare en mois. L'annuel se présente ensuite comme une économie en euros — 300 € sur Advanced —, jamais en pourcentage.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 souvent sous-estimé : un prix affiché est en soi une promesse de traitement égal. Le dire, puis se taire — la capture parle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« Aucun terminal » est l'argument qui déplace un budget : en face, une flotte de terminaux durcis se compte en dizaines de milliers d'euros, hors licence.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page répond à l'objection avant qu'elle ne soit posée. Elle dit aussi quelque chose sur la maison : le plafond est commercial, il n'est pas technique.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Annoncer l'économie en euros, jamais en pourcentage : « trois cents euros » se retient, « 11 % » ne dit rien. Et prévenir sur l'annuel dû jusqu'au terme — mieux vaut le dire ici qu'au moment de la résiliation.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contraste avec le marché : ailleurs, un devis, une négociation, six semaines. Ici, quatre champs. C'est aussi ce qui rend le prix affiché crédible.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Ces quatre questions sont celles de la page publique. Les connaître par cœur permet de répondre sans consulter le deck.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jamais comparer à un abonnement logiciel : comparer au budget d'inventaire, celui du prestataire et du matériel. C'est là que la licence se justifie toute seule.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Clore sur la question la plus simple du marché. Si le prospect y répond, il est déjà en train de choisir son offre.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31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Tarification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31520" y="2743200"/>
            <a:ext cx="8686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calé sur le nombre de personnes qui comptent.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731520" y="457200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Rien à déclarer, rien à justifier, rien à régulariser en fin d'année. Le tarif est public, et il se souscrit en ligne.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Devkaylab  ·  août 2026  ·  www.quantinvo.com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principe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Nous facturons la seule chose que vous puissiez vérifier.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3566160"/>
            <a:ext cx="4206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5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qu'on ne peut pas contrôler soi-même est un prix qu'on subit.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nombre d'appareils qui comptent en même temps.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votre organisation du jour de l'inventaire : deux personnes dans une boutique, trente dans un entrepôt. Vous le savez avant de signer, et vous le voyez le jour même.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volume de votre stock.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marché facture au nombre de pièces — le vôtre, que vous devez déclarer, que personne ne peut vérifier, et qu'il faut régulariser. Nous avons retiré cette assiette.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nombre de comptes.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Créez-en autant que nécessaire. Un saisonnier, un renfort du samedi, un chef d'équipe qui compte une fois par trimestre : seuls les appareils qui scannent en même temps entrent dans le palier.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le nombre d'inventaires. </a:t>
            </a:r>
            <a:pPr indent="0" marL="0">
              <a:lnSpc>
                <a:spcPct val="118000"/>
              </a:lnSpc>
              <a:spcAft>
                <a:spcPts val="13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le point qui compte pour un inventaire tournant : compter chaque semaine ne coûte pas un euro de plus que compter une fois par an.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grille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18872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Trois offres, une licence par magasin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178308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est hors taxes, par magasin. Chaque magasin prend la sienne, choisie selon la taille de son équipe : un entrepôt qui compte à trente et une boutique qui compte à deux ne prennent pas la même.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31520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87552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987552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appareils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987552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comptez seul ou à deux, dans un magasin.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87552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87552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690 € à l’année — 90 € de moins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87552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87552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magasin, deux comptes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Comptage et audit en seconde passe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Rapport d’écarts et export Excel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Import CSV et Excel sans reformater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Aide en ligne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392168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EEEEFC"/>
          </a:solidFill>
          <a:ln w="19050">
            <a:solidFill>
              <a:srgbClr val="6366F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648200" y="2395728"/>
            <a:ext cx="2892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PLUS COURANT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4648200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4648200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à 20 appareils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648200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montez une équipe le jour de l’inventaire.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648200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4648200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2 400 € à l’année — 300 € de moins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648200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48200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Essential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Équipe, rôles et supervision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Balises imprimées et zones de comptage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Suivi de l’avancement en direct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Réponse par e-mail sous un jour ouvré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8052816" y="2194560"/>
            <a:ext cx="3404616" cy="3794760"/>
          </a:xfrm>
          <a:prstGeom prst="roundRect">
            <a:avLst>
              <a:gd name="adj" fmla="val 322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308848" y="2688336"/>
            <a:ext cx="2892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8308848" y="3090672"/>
            <a:ext cx="2892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36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à 100 appareils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8308848" y="3401568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grande surface, qui mobilise une équipe entière.</a:t>
            </a:r>
            <a:endParaRPr lang="en-US" sz="1000" dirty="0"/>
          </a:p>
        </p:txBody>
      </p:sp>
      <p:sp>
        <p:nvSpPr>
          <p:cNvPr id="29" name="Text 26"/>
          <p:cNvSpPr/>
          <p:nvPr/>
        </p:nvSpPr>
        <p:spPr>
          <a:xfrm>
            <a:off x="8308848" y="3913632"/>
            <a:ext cx="2892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650 €</a:t>
            </a:r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HT / mois</a:t>
            </a:r>
            <a:endParaRPr lang="en-US" sz="2600" dirty="0"/>
          </a:p>
        </p:txBody>
      </p:sp>
      <p:sp>
        <p:nvSpPr>
          <p:cNvPr id="30" name="Text 27"/>
          <p:cNvSpPr/>
          <p:nvPr/>
        </p:nvSpPr>
        <p:spPr>
          <a:xfrm>
            <a:off x="8308848" y="4370832"/>
            <a:ext cx="289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 6 900 € à l’année — 900 € de moins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308848" y="4681728"/>
            <a:ext cx="289255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308848" y="4809744"/>
            <a:ext cx="2892552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 ce que contient Advanced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 d’entreprise et journal des actions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Accompagnement du premier inventaire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de disponibilité</a:t>
            </a:r>
            <a:endParaRPr lang="en-US" sz="950" dirty="0"/>
          </a:p>
          <a:p>
            <a:pPr marL="152400" indent="-152400">
              <a:lnSpc>
                <a:spcPct val="108000"/>
              </a:lnSpc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Interlocuteur nommé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31520" y="6080760"/>
            <a:ext cx="10725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8000"/>
              </a:lnSpc>
              <a:buNone/>
            </a:pPr>
            <a:r>
              <a:rPr lang="en-US" sz="11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Plus de 100 appareils dans un même magasin ? 47 € par mois, ou 500 € à l’année, par tranche de 10 appareils supplémentaires.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prix est public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n’avez pas eu à nous le demander.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880360"/>
            <a:ext cx="42062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 ce marché, aucun tarif n'est affiché. On demande un devis, on attend, on reçoit un prix qu'on ne peut comparer à rien.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nôtre est sur le site, à la vue de vos concurrents comme de vos équipes. Vous savez ce que paie le magasin d'à côté : c'est le même prix.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devis ne revient que pour deux cas — plusieurs magasins à équiper, ou plus de cent appareils sur un même site.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40096" y="1316736"/>
            <a:ext cx="5395782" cy="4590288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5286054" cy="44805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94960" y="5989320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www.quantinvo.com/tarifs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est compris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le prix contient, quelle que soit l’offre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terminaux.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Aucun. Vos équipes comptent avec les téléphones qu'elles ont déjà en poche. Rien à acheter, à louer, à charger la veille ni à remplacer quand un écran casse.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mises à jour.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Toutes, tout le temps. Il n'y a pas de version ancienne à racheter, pas de palier de maintenance, pas de module en supplément.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368796" y="2286000"/>
            <a:ext cx="5088636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inventaires.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Autant que vous voulez dans l'année : complets, tournants, ciblés sur une marque ou un rayon. C'est ce qui rend l'inventaire tournant possible — il ne se facture pas au passage.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comptes.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Autant que nécessaire, pour toute l'équipe. Le palier ne compte que les appareils qui scannent en même temps.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31520" y="5120640"/>
            <a:ext cx="10725912" cy="1005840"/>
          </a:xfrm>
          <a:prstGeom prst="roundRect">
            <a:avLst>
              <a:gd name="adj" fmla="val 7273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05840" y="52852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qui ne l’est pas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05840" y="5541264"/>
            <a:ext cx="10177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paiement se fait par carte, à la souscription. Un accompagnement sur site, une reprise de données ou un développement spécifique se chiffrent à part — et se disent avant, pas sur la facture.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dépassement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71600"/>
            <a:ext cx="4206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i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 On ne refuse jamais un appareil pendant un comptage. »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731520" y="320040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règle qui a décidé de tout le reste.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394960" y="1371600"/>
            <a:ext cx="6062472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jour de l’inventaire, rien ne se passe.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avez pris Advanced pour vingt appareils, vous êtes vingt-trois un samedi de forte affluence : les vingt-trois comptent. Un outil qui dit non à 22 h, un soir de comptage, ne rend service à personne — et personne n'est là pour lever le blocage.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dépassement se règle au renouvellement.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S'il est ponctuel, il ne change rien. S'il devient votre habitude, nous passons au palier du dessus à l'échéance suivante, à la date que vous connaissez.</a:t>
            </a:r>
            <a:endParaRPr lang="en-US" sz="1300" dirty="0"/>
          </a:p>
          <a:p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n’avez rien à surveiller. </a:t>
            </a:r>
            <a:pPr indent="0" marL="0">
              <a:lnSpc>
                <a:spcPct val="118000"/>
              </a:lnSpc>
              <a:spcAft>
                <a:spcPts val="1400"/>
              </a:spcAft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 de compteur à consulter chaque mois, pas de régularisation à provisionner, pas de facture surprise en fin d'exercice.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Mensuel ou annuel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Douze prélèvements, ou un seul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86000"/>
            <a:ext cx="914400" cy="91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5"/>
          <p:cNvSpPr/>
          <p:nvPr/>
        </p:nvSpPr>
        <p:spPr>
          <a:xfrm>
            <a:off x="731520" y="2286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393192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mois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6309360" y="22860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l’année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686800" y="228600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l’année économise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731520" y="263347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2761488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Essential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393192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65 €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309360" y="2761488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690 €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686800" y="2761488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90 €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31520" y="31272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appareils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31520" y="34198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3547872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93192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225 €</a:t>
            </a:r>
            <a:endParaRPr lang="en-US" sz="1700" dirty="0"/>
          </a:p>
        </p:txBody>
      </p:sp>
      <p:sp>
        <p:nvSpPr>
          <p:cNvPr id="21" name="Text 18"/>
          <p:cNvSpPr/>
          <p:nvPr/>
        </p:nvSpPr>
        <p:spPr>
          <a:xfrm>
            <a:off x="6309360" y="3547872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2 400 €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8686800" y="3547872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300 €</a:t>
            </a:r>
            <a:endParaRPr lang="en-US" sz="1700" dirty="0"/>
          </a:p>
        </p:txBody>
      </p:sp>
      <p:sp>
        <p:nvSpPr>
          <p:cNvPr id="23" name="Text 20"/>
          <p:cNvSpPr/>
          <p:nvPr/>
        </p:nvSpPr>
        <p:spPr>
          <a:xfrm>
            <a:off x="731520" y="391363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à 20 appareils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731520" y="42062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31520" y="4334256"/>
            <a:ext cx="3200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393192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650 €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6309360" y="4334256"/>
            <a:ext cx="2377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6 900 €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8686800" y="4334256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700" b="1" dirty="0">
                <a:solidFill>
                  <a:srgbClr val="1F7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900 €</a:t>
            </a:r>
            <a:endParaRPr lang="en-US" sz="1700" dirty="0"/>
          </a:p>
        </p:txBody>
      </p:sp>
      <p:sp>
        <p:nvSpPr>
          <p:cNvPr id="29" name="Text 26"/>
          <p:cNvSpPr/>
          <p:nvPr/>
        </p:nvSpPr>
        <p:spPr>
          <a:xfrm>
            <a:off x="731520" y="470001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à 100 appareils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731520" y="499262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5358384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Sans engagement. </a:t>
            </a:r>
            <a:pPr indent="0" marL="0">
              <a:lnSpc>
                <a:spcPct val="118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mensuel se règle en douze prélèvements et s'arrête quand vous le décidez. L'annuel est dû jusqu'à son terme — c'est la contrepartie de l'économie.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731520" y="5349240"/>
            <a:ext cx="10725912" cy="914400"/>
          </a:xfrm>
          <a:prstGeom prst="roundRect">
            <a:avLst>
              <a:gd name="adj" fmla="val 8000"/>
            </a:avLst>
          </a:prstGeom>
          <a:solidFill>
            <a:srgbClr val="F4F5F9"/>
          </a:solidFill>
          <a:ln w="12700">
            <a:solidFill>
              <a:srgbClr val="F4F5F9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05840" y="5513832"/>
            <a:ext cx="10177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savoir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1005840" y="5769864"/>
            <a:ext cx="101772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prix sont hors taxes, comme partout en B2B. Au moment de payer, l'écran affiche le montant qui sera réellement débité, TVA comprise — on ne découvre pas l'écart sur le relevé bancaire.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36" name="Text 3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Souscrire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325880"/>
            <a:ext cx="4206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5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Quatre informations, puis le paiement.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731520" y="274320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ligne, les trois offres comprises.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se souscrit comme les autres : il n'y a pas de parcours réservé, pas de rendez-vous obligatoire, pas de délai de validation.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Votre espace est créé dès l’encaissement.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Vous recevez vos accès par e-mail, vous invitez votre équipe, et le premier inventaire peut se faire le jour même.</a:t>
            </a:r>
            <a:endParaRPr lang="en-US" sz="1250" dirty="0"/>
          </a:p>
          <a:p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carte ne passe jamais par nous. </a:t>
            </a:r>
            <a:pPr indent="0" marL="0">
              <a:lnSpc>
                <a:spcPct val="118000"/>
              </a:lnSpc>
              <a:spcAft>
                <a:spcPts val="1200"/>
              </a:spcAft>
              <a:buNone/>
            </a:pPr>
            <a:r>
              <a:rPr lang="en-US" sz="12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paiement se fait sur la page sécurisée de Stripe. Nous ne voyons pas votre numéro de carte. La facture est émise automatiquement.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071616" y="1316736"/>
            <a:ext cx="4709160" cy="3461856"/>
          </a:xfrm>
          <a:prstGeom prst="roundRect">
            <a:avLst>
              <a:gd name="adj" fmla="val 2113"/>
            </a:avLst>
          </a:prstGeom>
          <a:solidFill>
            <a:srgbClr val="FFFFFF"/>
          </a:solidFill>
          <a:ln w="12700">
            <a:solidFill>
              <a:srgbClr val="E3E6EE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4599432" cy="335212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126480" y="4860888"/>
            <a:ext cx="6062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www.quantinvo.com/souscrire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qu’on nous pose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questions qu’on nous pose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Qu'est-ce qu'un « appareil qui compte » ?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31520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téléphone ou une tablette qui scanne, en même temps que les autres, pendant un inventaire. Changer d'appareil ne change rien à votre facture : c'est le nombre simultané qui compte, pas le parc que vous possédez.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6414516" y="219456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licence couvre-t-elle plusieurs magasins ?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6414516" y="259689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Non. Chaque magasin prend la sienne, choisie selon la taille de son équipe. Si vous en équipez plusieurs, nous établissons un devis pour l'ensemble.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31520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Faut-il déclarer notre stock ?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31520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Non. Rien à déclarer, rien à justifier, rien à régulariser. C'est précisément ce que cette façon de facturer supprime.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414516" y="4206240"/>
            <a:ext cx="50429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Peut-on résilier ?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14516" y="4608576"/>
            <a:ext cx="504291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mensuel, quand vous voulez : le service va au terme du mois payé. L'annuel est dû jusqu'à son échéance, et ne se reconduit que si vous le décidez.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84048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347472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971032" y="347472"/>
            <a:ext cx="5486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budget</a:t>
            </a:r>
            <a:endParaRPr lang="en-US" sz="1000" dirty="0"/>
          </a:p>
        </p:txBody>
      </p:sp>
      <p:sp>
        <p:nvSpPr>
          <p:cNvPr id="5" name="Shape 2"/>
          <p:cNvSpPr/>
          <p:nvPr/>
        </p:nvSpPr>
        <p:spPr>
          <a:xfrm>
            <a:off x="731520" y="877824"/>
            <a:ext cx="10725912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1280160"/>
            <a:ext cx="107259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 que la licence remplace dans votre budget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73152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budget d'inventaire d'un magasin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852160" y="22402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Avec Quantinvo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31520" y="2606040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prestataire de comptage, facturé à la pièce, une ou deux fois par an.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852160" y="2752344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Vos équipes comptent, autant de fois que vous voulez, pour le même prix.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31520" y="3410712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3152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flotte de terminaux : achat ou location, maintenance, remplacement.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852160" y="3557016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Aucun matériel. Les téléphones sont déjà là, et déjà payés.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31520" y="4215384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3152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licence logicielle sur devis, renégociée chaque année.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5852160" y="4361688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prix affiché, le même pour tout le monde, que vous souscrivez en ligne.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731520" y="5020056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3152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heures passées à préparer, surveiller et réconcilier.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852160" y="5166360"/>
            <a:ext cx="4846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rapport sort croisé avec votre stock théorique. Il ne reste qu’à ajuster.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31520" y="5824728"/>
            <a:ext cx="10725912" cy="0"/>
          </a:xfrm>
          <a:prstGeom prst="line">
            <a:avLst/>
          </a:prstGeom>
          <a:noFill/>
          <a:ln w="9525">
            <a:solidFill>
              <a:srgbClr val="E3E6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6080760"/>
            <a:ext cx="10725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8000"/>
              </a:lnSpc>
              <a:buNone/>
            </a:pPr>
            <a:r>
              <a:rPr lang="en-US" sz="1150" i="1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À 2 400 € par an, une équipe de vingt personnes qui compte toute l'année coûte moins qu'un seul passage de prestataire dans la plupart des magasins.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73152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 · tarification · août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0023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85800"/>
            <a:ext cx="566928" cy="5669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44752" y="658368"/>
            <a:ext cx="4572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F1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Quantinvo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731520" y="1481328"/>
            <a:ext cx="2377440" cy="25603"/>
          </a:xfrm>
          <a:prstGeom prst="rect">
            <a:avLst/>
          </a:prstGeom>
          <a:solidFill>
            <a:srgbClr val="38C9FF"/>
          </a:solidFill>
          <a:ln w="12700">
            <a:solidFill>
              <a:srgbClr val="38C9FF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237744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Combien de personnes comptent chez vous ?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365760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D455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C'est la seule question à laquelle il faut répondre pour connaître votre prix. Dites-nous le chiffre, on vous dit l'offre — et si vous avez plusieurs magasins, on établit le devis de l'ensemble.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636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contact@quantinvo.com   ·   www.quantinvo.com/tarifs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60807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Prix hors taxes, par magasin. Sans engagement au mois. Aucun matériel à acheter.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Devkaylab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Quantinvo — tarification</dc:title>
  <dc:subject>PptxGenJS Presentation</dc:subject>
  <dc:creator>Devkaylab</dc:creator>
  <cp:lastModifiedBy>Devkaylab</cp:lastModifiedBy>
  <cp:revision>1</cp:revision>
  <dcterms:created xsi:type="dcterms:W3CDTF">2026-08-30T17:39:24Z</dcterms:created>
  <dcterms:modified xsi:type="dcterms:W3CDTF">2026-08-30T17:39:24Z</dcterms:modified>
</cp:coreProperties>
</file>