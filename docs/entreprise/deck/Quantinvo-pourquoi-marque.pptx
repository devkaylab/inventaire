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Poser le cadre en une phrase : ce document part du terrain, pas d'une idée de produit. Le reste se lit dans l'ordre.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qui parle avant de dire ce qui ne va pas. Le chiffre « 2 » est celui de mon magasin, pas une moyenne du secteur.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Donner la carte avant le détail. Les cinq pages qui suivent reprennent ces titres dans cet ordre.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le plus important des cinq : tous les autres en découlent. Insister sur « rien à demander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ici que se joue l’inventaire tournant : compter souvent et peu, plutôt que tout, une fois.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matériel est l’argument le plus facile à vérifier : montrer la planche de balises et laisser conclure.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promettre de connecteur ERP : Quantinvo lit un fichier, et c’est ce qui le rend indépendant de l’informatique.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Détail en apparence, mais c’est celui qui produit le plus d’erreurs de saisie sur le terrain.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centrale de la démonstration. L’écart se tranche sur place, pendant que quelqu’un peut encore retourner au rayon.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 par inventaire » : c’est la réponse au rapport unique de la plateforme actuelle.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Fermer la boucle : compter souvent n’a d’intérêt que si l’on compare. C’est la promesse de l’inventaire tournant.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les limites avant qu’on nous les oppose. C’est la page qui fait passer le reste pour vrai, parce qu’il l’est.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685800"/>
            <a:ext cx="566928" cy="566928"/>
          </a:xfrm>
          <a:prstGeom prst="rect">
            <a:avLst/>
          </a:prstGeom>
        </p:spPr>
      </p:pic>
      <p:sp>
        <p:nvSpPr>
          <p:cNvPr id="3" name="Text 0"/>
          <p:cNvSpPr/>
          <p:nvPr/>
        </p:nvSpPr>
        <p:spPr>
          <a:xfrm>
            <a:off x="1444752" y="658368"/>
            <a:ext cx="4572000" cy="621792"/>
          </a:xfrm>
          <a:prstGeom prst="rect">
            <a:avLst/>
          </a:prstGeom>
          <a:noFill/>
          <a:ln/>
        </p:spPr>
        <p:txBody>
          <a:bodyPr wrap="square" lIns="0" tIns="0" rIns="0" bIns="0" rtlCol="0" anchor="ctr"/>
          <a:lstStyle/>
          <a:p>
            <a:pPr indent="0" marL="0">
              <a:buNone/>
            </a:pPr>
            <a:r>
              <a:rPr lang="en-US" sz="2400" b="1" dirty="0">
                <a:solidFill>
                  <a:srgbClr val="14181A"/>
                </a:solidFill>
                <a:latin typeface="Archivo" pitchFamily="34" charset="0"/>
                <a:ea typeface="Archivo" pitchFamily="34" charset="-122"/>
                <a:cs typeface="Archivo" pitchFamily="34" charset="-120"/>
              </a:rPr>
              <a:t>Quantinvo</a:t>
            </a:r>
            <a:endParaRPr lang="en-US" sz="2400" dirty="0"/>
          </a:p>
        </p:txBody>
      </p:sp>
      <p:sp>
        <p:nvSpPr>
          <p:cNvPr id="4" name="Shape 1"/>
          <p:cNvSpPr/>
          <p:nvPr/>
        </p:nvSpPr>
        <p:spPr>
          <a:xfrm>
            <a:off x="731520" y="1481328"/>
            <a:ext cx="2011680" cy="20117"/>
          </a:xfrm>
          <a:prstGeom prst="rect">
            <a:avLst/>
          </a:prstGeom>
          <a:solidFill>
            <a:srgbClr val="14181A"/>
          </a:solidFill>
          <a:ln w="12700">
            <a:solidFill>
              <a:srgbClr val="14181A"/>
            </a:solidFill>
            <a:prstDash val="solid"/>
          </a:ln>
        </p:spPr>
      </p:sp>
      <p:sp>
        <p:nvSpPr>
          <p:cNvPr id="5" name="Text 2"/>
          <p:cNvSpPr/>
          <p:nvPr/>
        </p:nvSpPr>
        <p:spPr>
          <a:xfrm>
            <a:off x="731520" y="2331720"/>
            <a:ext cx="8229600" cy="365760"/>
          </a:xfrm>
          <a:prstGeom prst="rect">
            <a:avLst/>
          </a:prstGeom>
          <a:noFill/>
          <a:ln/>
        </p:spPr>
        <p:txBody>
          <a:bodyPr wrap="square" lIns="0" tIns="0" rIns="0" bIns="0" rtlCol="0" anchor="t"/>
          <a:lstStyle/>
          <a:p>
            <a:pPr indent="0" marL="0">
              <a:buNone/>
            </a:pPr>
            <a:r>
              <a:rPr lang="en-US" sz="1300" dirty="0">
                <a:solidFill>
                  <a:srgbClr val="575F5C"/>
                </a:solidFill>
                <a:latin typeface="Public Sans" pitchFamily="34" charset="0"/>
                <a:ea typeface="Public Sans" pitchFamily="34" charset="-122"/>
                <a:cs typeface="Public Sans" pitchFamily="34" charset="-120"/>
              </a:rPr>
              <a:t>Note d’intention</a:t>
            </a:r>
            <a:endParaRPr lang="en-US" sz="1300" dirty="0"/>
          </a:p>
        </p:txBody>
      </p:sp>
      <p:sp>
        <p:nvSpPr>
          <p:cNvPr id="6" name="Text 3"/>
          <p:cNvSpPr/>
          <p:nvPr/>
        </p:nvSpPr>
        <p:spPr>
          <a:xfrm>
            <a:off x="731520" y="2743200"/>
            <a:ext cx="8686800" cy="1737360"/>
          </a:xfrm>
          <a:prstGeom prst="rect">
            <a:avLst/>
          </a:prstGeom>
          <a:noFill/>
          <a:ln/>
        </p:spPr>
        <p:txBody>
          <a:bodyPr wrap="square" lIns="0" tIns="0" rIns="0" bIns="0" rtlCol="0" anchor="t"/>
          <a:lstStyle/>
          <a:p>
            <a:pPr indent="0" marL="0">
              <a:lnSpc>
                <a:spcPct val="105000"/>
              </a:lnSpc>
              <a:buNone/>
            </a:pPr>
            <a:r>
              <a:rPr lang="en-US" sz="4000" b="1" dirty="0">
                <a:solidFill>
                  <a:srgbClr val="14181A"/>
                </a:solidFill>
                <a:latin typeface="Archivo" pitchFamily="34" charset="0"/>
                <a:ea typeface="Archivo" pitchFamily="34" charset="-122"/>
                <a:cs typeface="Archivo" pitchFamily="34" charset="-120"/>
              </a:rPr>
              <a:t>Pourquoi j’ai créé Quantinvo</a:t>
            </a:r>
            <a:endParaRPr lang="en-US" sz="4000" dirty="0"/>
          </a:p>
        </p:txBody>
      </p:sp>
      <p:sp>
        <p:nvSpPr>
          <p:cNvPr id="7" name="Text 4"/>
          <p:cNvSpPr/>
          <p:nvPr/>
        </p:nvSpPr>
        <p:spPr>
          <a:xfrm>
            <a:off x="731520" y="4572000"/>
            <a:ext cx="7498080" cy="822960"/>
          </a:xfrm>
          <a:prstGeom prst="rect">
            <a:avLst/>
          </a:prstGeom>
          <a:noFill/>
          <a:ln/>
        </p:spPr>
        <p:txBody>
          <a:bodyPr wrap="square" lIns="0" tIns="0" rIns="0" bIns="0" rtlCol="0" anchor="t"/>
          <a:lstStyle/>
          <a:p>
            <a:pPr indent="0" marL="0">
              <a:lnSpc>
                <a:spcPct val="120000"/>
              </a:lnSpc>
              <a:buNone/>
            </a:pPr>
            <a:r>
              <a:rPr lang="en-US" sz="1500" dirty="0">
                <a:solidFill>
                  <a:srgbClr val="3A423F"/>
                </a:solidFill>
                <a:latin typeface="Public Sans" pitchFamily="34" charset="0"/>
                <a:ea typeface="Public Sans" pitchFamily="34" charset="-122"/>
                <a:cs typeface="Public Sans" pitchFamily="34" charset="-120"/>
              </a:rPr>
              <a:t>Je suis contrôleur des stocks. Ce qui suit ne vient pas d’une étude de marché mais de ce que je constate en magasin, inventaire après inventaire — et de ce que Quantinvo en fait, point par point.</a:t>
            </a:r>
            <a:endParaRPr lang="en-US" sz="1500" dirty="0"/>
          </a:p>
        </p:txBody>
      </p:sp>
      <p:sp>
        <p:nvSpPr>
          <p:cNvPr id="8" name="Text 5"/>
          <p:cNvSpPr/>
          <p:nvPr/>
        </p:nvSpPr>
        <p:spPr>
          <a:xfrm>
            <a:off x="731520" y="6080760"/>
            <a:ext cx="9144000" cy="320040"/>
          </a:xfrm>
          <a:prstGeom prst="rect">
            <a:avLst/>
          </a:prstGeom>
          <a:noFill/>
          <a:ln/>
        </p:spPr>
        <p:txBody>
          <a:bodyPr wrap="square" lIns="0" tIns="0" rIns="0" bIns="0" rtlCol="0" anchor="t"/>
          <a:lstStyle/>
          <a:p>
            <a:pPr indent="0" marL="0">
              <a:buNone/>
            </a:pPr>
            <a:r>
              <a:rPr lang="en-US" sz="1050" dirty="0">
                <a:solidFill>
                  <a:srgbClr val="575F5C"/>
                </a:solidFill>
                <a:latin typeface="Public Sans" pitchFamily="34" charset="0"/>
                <a:ea typeface="Public Sans" pitchFamily="34" charset="-122"/>
                <a:cs typeface="Public Sans" pitchFamily="34" charset="-120"/>
              </a:rPr>
              <a:t>Julien Thiong-Kay  ·  Devkaylab  ·  septembre 2026  ·  www.quantinvo.com</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Quantinvo · note d’intention</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Je fais des inventaires.</a:t>
            </a:r>
            <a:endParaRPr lang="en-US" sz="2600" dirty="0"/>
          </a:p>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Je n’en vendais pas.</a:t>
            </a:r>
            <a:endParaRPr lang="en-US" sz="2600" dirty="0"/>
          </a:p>
        </p:txBody>
      </p:sp>
      <p:sp>
        <p:nvSpPr>
          <p:cNvPr id="7" name="Text 4"/>
          <p:cNvSpPr/>
          <p:nvPr/>
        </p:nvSpPr>
        <p:spPr>
          <a:xfrm>
            <a:off x="731520" y="3886200"/>
            <a:ext cx="4206240" cy="868680"/>
          </a:xfrm>
          <a:prstGeom prst="rect">
            <a:avLst/>
          </a:prstGeom>
          <a:noFill/>
          <a:ln/>
        </p:spPr>
        <p:txBody>
          <a:bodyPr wrap="square" lIns="0" tIns="0" rIns="0" bIns="0" rtlCol="0" anchor="t"/>
          <a:lstStyle/>
          <a:p>
            <a:pPr indent="0" marL="0">
              <a:buNone/>
            </a:pPr>
            <a:r>
              <a:rPr lang="en-US" sz="5400" b="1" dirty="0">
                <a:solidFill>
                  <a:srgbClr val="1E4D3B"/>
                </a:solidFill>
                <a:latin typeface="Archivo" pitchFamily="34" charset="0"/>
                <a:ea typeface="Archivo" pitchFamily="34" charset="-122"/>
                <a:cs typeface="Archivo" pitchFamily="34" charset="-120"/>
              </a:rPr>
              <a:t>2</a:t>
            </a:r>
            <a:endParaRPr lang="en-US" sz="5400" dirty="0"/>
          </a:p>
        </p:txBody>
      </p:sp>
      <p:sp>
        <p:nvSpPr>
          <p:cNvPr id="8" name="Text 5"/>
          <p:cNvSpPr/>
          <p:nvPr/>
        </p:nvSpPr>
        <p:spPr>
          <a:xfrm>
            <a:off x="731520" y="4800600"/>
            <a:ext cx="4206240" cy="731520"/>
          </a:xfrm>
          <a:prstGeom prst="rect">
            <a:avLst/>
          </a:prstGeom>
          <a:noFill/>
          <a:ln/>
        </p:spPr>
        <p:txBody>
          <a:bodyPr wrap="square" lIns="0" tIns="0" rIns="0" bIns="0" rtlCol="0" anchor="t"/>
          <a:lstStyle/>
          <a:p>
            <a:pPr indent="0" marL="0">
              <a:lnSpc>
                <a:spcPct val="115000"/>
              </a:lnSpc>
              <a:buNone/>
            </a:pPr>
            <a:r>
              <a:rPr lang="en-US" sz="1200" dirty="0">
                <a:solidFill>
                  <a:srgbClr val="575F5C"/>
                </a:solidFill>
                <a:latin typeface="Public Sans" pitchFamily="34" charset="0"/>
                <a:ea typeface="Public Sans" pitchFamily="34" charset="-122"/>
                <a:cs typeface="Public Sans" pitchFamily="34" charset="-120"/>
              </a:rPr>
              <a:t>personnes à l’inventaire, pour l’ensemble du magasin</a:t>
            </a:r>
            <a:endParaRPr lang="en-US" sz="1200" dirty="0"/>
          </a:p>
        </p:txBody>
      </p:sp>
      <p:sp>
        <p:nvSpPr>
          <p:cNvPr id="9" name="Text 6"/>
          <p:cNvSpPr/>
          <p:nvPr/>
        </p:nvSpPr>
        <p:spPr>
          <a:xfrm>
            <a:off x="5394960" y="1371600"/>
            <a:ext cx="6062472" cy="1280160"/>
          </a:xfrm>
          <a:prstGeom prst="rect">
            <a:avLst/>
          </a:prstGeom>
          <a:noFill/>
          <a:ln/>
        </p:spPr>
        <p:txBody>
          <a:bodyPr wrap="square" lIns="0" tIns="0" rIns="0" bIns="0" rtlCol="0" anchor="t"/>
          <a:lstStyle/>
          <a:p>
            <a:pPr algn="l" indent="0" marL="0">
              <a:lnSpc>
                <a:spcPct val="118000"/>
              </a:lnSpc>
              <a:buNone/>
            </a:pPr>
            <a:r>
              <a:rPr lang="en-US" sz="1300" dirty="0">
                <a:solidFill>
                  <a:srgbClr val="3A423F"/>
                </a:solidFill>
                <a:latin typeface="Public Sans" pitchFamily="34" charset="0"/>
                <a:ea typeface="Public Sans" pitchFamily="34" charset="-122"/>
                <a:cs typeface="Public Sans" pitchFamily="34" charset="-120"/>
              </a:rPr>
              <a:t>Mon métier est le contrôle des stocks en grand magasin. Je prépare les inventaires, je les conduis, je relève les écarts et je les explique. C’est de cette place que j’ai vu les mêmes obstacles revenir — et qu’aucun d’eux ne tenait aux équipes.</a:t>
            </a:r>
            <a:endParaRPr lang="en-US" sz="1300" dirty="0"/>
          </a:p>
        </p:txBody>
      </p:sp>
      <p:sp>
        <p:nvSpPr>
          <p:cNvPr id="10" name="Text 7"/>
          <p:cNvSpPr/>
          <p:nvPr/>
        </p:nvSpPr>
        <p:spPr>
          <a:xfrm>
            <a:off x="5394960" y="2788920"/>
            <a:ext cx="6062472" cy="1463040"/>
          </a:xfrm>
          <a:prstGeom prst="rect">
            <a:avLst/>
          </a:prstGeom>
          <a:noFill/>
          <a:ln/>
        </p:spPr>
        <p:txBody>
          <a:bodyPr wrap="square" lIns="0" tIns="0" rIns="0" bIns="0" rtlCol="0" anchor="t"/>
          <a:lstStyle/>
          <a:p>
            <a:pPr algn="l" indent="0" marL="0">
              <a:lnSpc>
                <a:spcPct val="118000"/>
              </a:lnSpc>
              <a:buNone/>
            </a:pPr>
            <a:r>
              <a:rPr lang="en-US" sz="1300" dirty="0">
                <a:solidFill>
                  <a:srgbClr val="3A423F"/>
                </a:solidFill>
                <a:latin typeface="Public Sans" pitchFamily="34" charset="0"/>
                <a:ea typeface="Public Sans" pitchFamily="34" charset="-122"/>
                <a:cs typeface="Public Sans" pitchFamily="34" charset="-120"/>
              </a:rPr>
              <a:t>Ils tenaient à l’organisation et aux outils : un service d’inventaire minuscule dont tout le magasin dépend, une plateforme qui décide de ce qu’on peut faire, du matériel qu’il faut commander. Quantinvo n’est pas né d’une idée de produit. Il est né de cette liste, que j’ai fini par écrire.</a:t>
            </a:r>
            <a:endParaRPr lang="en-US" sz="1300" dirty="0"/>
          </a:p>
        </p:txBody>
      </p:sp>
      <p:sp>
        <p:nvSpPr>
          <p:cNvPr id="11" name="Shape 8"/>
          <p:cNvSpPr/>
          <p:nvPr/>
        </p:nvSpPr>
        <p:spPr>
          <a:xfrm>
            <a:off x="5394960" y="4617720"/>
            <a:ext cx="6062472" cy="1097280"/>
          </a:xfrm>
          <a:prstGeom prst="roundRect">
            <a:avLst>
              <a:gd name="adj" fmla="val 3333"/>
            </a:avLst>
          </a:prstGeom>
          <a:solidFill>
            <a:srgbClr val="F2F3F1"/>
          </a:solidFill>
          <a:ln w="12700">
            <a:solidFill>
              <a:srgbClr val="F2F3F1"/>
            </a:solidFill>
            <a:prstDash val="solid"/>
          </a:ln>
        </p:spPr>
      </p:sp>
      <p:sp>
        <p:nvSpPr>
          <p:cNvPr id="12" name="Text 9"/>
          <p:cNvSpPr/>
          <p:nvPr/>
        </p:nvSpPr>
        <p:spPr>
          <a:xfrm>
            <a:off x="5669280" y="4782312"/>
            <a:ext cx="5513832" cy="228600"/>
          </a:xfrm>
          <a:prstGeom prst="rect">
            <a:avLst/>
          </a:prstGeom>
          <a:noFill/>
          <a:ln/>
        </p:spPr>
        <p:txBody>
          <a:bodyPr wrap="square" lIns="0" tIns="0" rIns="0" bIns="0" rtlCol="0" anchor="t"/>
          <a:lstStyle/>
          <a:p>
            <a:pPr indent="0" marL="0">
              <a:buNone/>
            </a:pPr>
            <a:r>
              <a:rPr lang="en-US" sz="950" b="1" dirty="0">
                <a:solidFill>
                  <a:srgbClr val="575F5C"/>
                </a:solidFill>
                <a:latin typeface="Public Sans" pitchFamily="34" charset="0"/>
                <a:ea typeface="Public Sans" pitchFamily="34" charset="-122"/>
                <a:cs typeface="Public Sans" pitchFamily="34" charset="-120"/>
              </a:rPr>
              <a:t>Le point de départ</a:t>
            </a:r>
            <a:endParaRPr lang="en-US" sz="950" dirty="0"/>
          </a:p>
        </p:txBody>
      </p:sp>
      <p:sp>
        <p:nvSpPr>
          <p:cNvPr id="13" name="Text 10"/>
          <p:cNvSpPr/>
          <p:nvPr/>
        </p:nvSpPr>
        <p:spPr>
          <a:xfrm>
            <a:off x="5669280" y="5038344"/>
            <a:ext cx="5513832" cy="548640"/>
          </a:xfrm>
          <a:prstGeom prst="rect">
            <a:avLst/>
          </a:prstGeom>
          <a:noFill/>
          <a:ln/>
        </p:spPr>
        <p:txBody>
          <a:bodyPr wrap="square" lIns="0" tIns="0" rIns="0" bIns="0" rtlCol="0" anchor="t"/>
          <a:lstStyle/>
          <a:p>
            <a:pPr indent="0" marL="0">
              <a:lnSpc>
                <a:spcPct val="115000"/>
              </a:lnSpc>
              <a:buNone/>
            </a:pPr>
            <a:r>
              <a:rPr lang="en-US" sz="1150" i="1" dirty="0">
                <a:solidFill>
                  <a:srgbClr val="3A423F"/>
                </a:solidFill>
                <a:latin typeface="Public Sans" pitchFamily="34" charset="0"/>
                <a:ea typeface="Public Sans" pitchFamily="34" charset="-122"/>
                <a:cs typeface="Public Sans" pitchFamily="34" charset="-120"/>
              </a:rPr>
              <a:t>Le magasin ne lance pas un inventaire : il le demande. Ce qui sera compté, et quand, dépend de la disponibilité de deux personnes.</a:t>
            </a:r>
            <a:endParaRPr lang="en-US" sz="1150" dirty="0"/>
          </a:p>
        </p:txBody>
      </p:sp>
      <p:sp>
        <p:nvSpPr>
          <p:cNvPr id="14" name="Text 11"/>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note d’intention</a:t>
            </a:r>
            <a:endParaRPr lang="en-US" sz="900" dirty="0"/>
          </a:p>
        </p:txBody>
      </p:sp>
      <p:sp>
        <p:nvSpPr>
          <p:cNvPr id="15" name="Text 12"/>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Quantinvo · note d’intention</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234440"/>
            <a:ext cx="10725912" cy="822960"/>
          </a:xfrm>
          <a:prstGeom prst="rect">
            <a:avLst/>
          </a:prstGeom>
          <a:noFill/>
          <a:ln/>
        </p:spPr>
        <p:txBody>
          <a:bodyPr wrap="square" lIns="0" tIns="0" rIns="0" bIns="0" rtlCol="0" anchor="t"/>
          <a:lstStyle/>
          <a:p>
            <a:pPr indent="0" marL="0">
              <a:lnSpc>
                <a:spcPct val="105000"/>
              </a:lnSpc>
              <a:buNone/>
            </a:pPr>
            <a:r>
              <a:rPr lang="en-US" sz="2700" b="1" dirty="0">
                <a:solidFill>
                  <a:srgbClr val="14181A"/>
                </a:solidFill>
                <a:latin typeface="Archivo" pitchFamily="34" charset="0"/>
                <a:ea typeface="Archivo" pitchFamily="34" charset="-122"/>
                <a:cs typeface="Archivo" pitchFamily="34" charset="-120"/>
              </a:rPr>
              <a:t>Cinq obstacles, toujours les mêmes</a:t>
            </a:r>
            <a:endParaRPr lang="en-US" sz="2700" dirty="0"/>
          </a:p>
        </p:txBody>
      </p:sp>
      <p:sp>
        <p:nvSpPr>
          <p:cNvPr id="7" name="Text 4"/>
          <p:cNvSpPr/>
          <p:nvPr/>
        </p:nvSpPr>
        <p:spPr>
          <a:xfrm>
            <a:off x="731520" y="1938528"/>
            <a:ext cx="8595360" cy="457200"/>
          </a:xfrm>
          <a:prstGeom prst="rect">
            <a:avLst/>
          </a:prstGeom>
          <a:noFill/>
          <a:ln/>
        </p:spPr>
        <p:txBody>
          <a:bodyPr wrap="square" lIns="0" tIns="0" rIns="0" bIns="0" rtlCol="0" anchor="t"/>
          <a:lstStyle/>
          <a:p>
            <a:pPr algn="l" indent="0" marL="0">
              <a:lnSpc>
                <a:spcPct val="118000"/>
              </a:lnSpc>
              <a:buNone/>
            </a:pPr>
            <a:r>
              <a:rPr lang="en-US" sz="1250" dirty="0">
                <a:solidFill>
                  <a:srgbClr val="575F5C"/>
                </a:solidFill>
                <a:latin typeface="Public Sans" pitchFamily="34" charset="0"/>
                <a:ea typeface="Public Sans" pitchFamily="34" charset="-122"/>
                <a:cs typeface="Public Sans" pitchFamily="34" charset="-120"/>
              </a:rPr>
              <a:t>Ils ne sont ni exotiques ni propres à une enseigne. Je les retrouve partout où l’inventaire se fait avec un prestataire et sa plateforme.</a:t>
            </a:r>
            <a:endParaRPr lang="en-US" sz="1250" dirty="0"/>
          </a:p>
        </p:txBody>
      </p:sp>
      <p:sp>
        <p:nvSpPr>
          <p:cNvPr id="8" name="Text 5"/>
          <p:cNvSpPr/>
          <p:nvPr/>
        </p:nvSpPr>
        <p:spPr>
          <a:xfrm>
            <a:off x="731520" y="2697480"/>
            <a:ext cx="329184" cy="329184"/>
          </a:xfrm>
          <a:prstGeom prst="ellipse">
            <a:avLst/>
          </a:prstGeom>
          <a:solidFill>
            <a:srgbClr val="14181A"/>
          </a:solidFill>
          <a:ln>
            <a:solidFill>
              <a:srgbClr val="14181A"/>
            </a:solidFill>
          </a:ln>
        </p:spPr>
        <p:txBody>
          <a:bodyPr wrap="square" lIns="0" tIns="0" rIns="0" bIns="0" rtlCol="0" anchor="ctr"/>
          <a:lstStyle/>
          <a:p>
            <a:pPr algn="ctr" indent="0" marL="0">
              <a:buNone/>
            </a:pPr>
            <a:r>
              <a:rPr lang="en-US" sz="1000" b="1" dirty="0">
                <a:solidFill>
                  <a:srgbClr val="FFFFFF"/>
                </a:solidFill>
                <a:latin typeface="Archivo" pitchFamily="34" charset="0"/>
                <a:ea typeface="Archivo" pitchFamily="34" charset="-122"/>
                <a:cs typeface="Archivo" pitchFamily="34" charset="-120"/>
              </a:rPr>
              <a:t>1</a:t>
            </a:r>
            <a:endParaRPr lang="en-US" sz="1000" dirty="0"/>
          </a:p>
        </p:txBody>
      </p:sp>
      <p:sp>
        <p:nvSpPr>
          <p:cNvPr id="9" name="Text 6"/>
          <p:cNvSpPr/>
          <p:nvPr/>
        </p:nvSpPr>
        <p:spPr>
          <a:xfrm>
            <a:off x="1243584" y="2660904"/>
            <a:ext cx="2286000" cy="365760"/>
          </a:xfrm>
          <a:prstGeom prst="rect">
            <a:avLst/>
          </a:prstGeom>
          <a:noFill/>
          <a:ln/>
        </p:spPr>
        <p:txBody>
          <a:bodyPr wrap="square" lIns="0" tIns="0" rIns="0" bIns="0" rtlCol="0" anchor="t"/>
          <a:lstStyle/>
          <a:p>
            <a:pPr indent="0" marL="0">
              <a:buNone/>
            </a:pPr>
            <a:r>
              <a:rPr lang="en-US" sz="1500" b="1" dirty="0">
                <a:solidFill>
                  <a:srgbClr val="14181A"/>
                </a:solidFill>
                <a:latin typeface="Archivo" pitchFamily="34" charset="0"/>
                <a:ea typeface="Archivo" pitchFamily="34" charset="-122"/>
                <a:cs typeface="Archivo" pitchFamily="34" charset="-120"/>
              </a:rPr>
              <a:t>L’autonomie</a:t>
            </a:r>
            <a:endParaRPr lang="en-US" sz="1500" dirty="0"/>
          </a:p>
        </p:txBody>
      </p:sp>
      <p:sp>
        <p:nvSpPr>
          <p:cNvPr id="10" name="Text 7"/>
          <p:cNvSpPr/>
          <p:nvPr/>
        </p:nvSpPr>
        <p:spPr>
          <a:xfrm>
            <a:off x="3611880" y="2679192"/>
            <a:ext cx="7845552" cy="45720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Public Sans" pitchFamily="34" charset="0"/>
                <a:ea typeface="Public Sans" pitchFamily="34" charset="-122"/>
                <a:cs typeface="Public Sans" pitchFamily="34" charset="-120"/>
              </a:rPr>
              <a:t>Le magasin ne peut rien lancer, ni ajouter personne, sans passer par un tiers.</a:t>
            </a:r>
            <a:endParaRPr lang="en-US" sz="1250" dirty="0"/>
          </a:p>
        </p:txBody>
      </p:sp>
      <p:sp>
        <p:nvSpPr>
          <p:cNvPr id="11" name="Shape 8"/>
          <p:cNvSpPr/>
          <p:nvPr/>
        </p:nvSpPr>
        <p:spPr>
          <a:xfrm>
            <a:off x="731520" y="3209544"/>
            <a:ext cx="10725912" cy="0"/>
          </a:xfrm>
          <a:prstGeom prst="line">
            <a:avLst/>
          </a:prstGeom>
          <a:noFill/>
          <a:ln w="9525">
            <a:solidFill>
              <a:srgbClr val="E2E5E1"/>
            </a:solidFill>
            <a:prstDash val="solid"/>
          </a:ln>
        </p:spPr>
      </p:sp>
      <p:sp>
        <p:nvSpPr>
          <p:cNvPr id="12" name="Text 9"/>
          <p:cNvSpPr/>
          <p:nvPr/>
        </p:nvSpPr>
        <p:spPr>
          <a:xfrm>
            <a:off x="731520" y="3392424"/>
            <a:ext cx="329184" cy="329184"/>
          </a:xfrm>
          <a:prstGeom prst="ellipse">
            <a:avLst/>
          </a:prstGeom>
          <a:solidFill>
            <a:srgbClr val="14181A"/>
          </a:solidFill>
          <a:ln>
            <a:solidFill>
              <a:srgbClr val="14181A"/>
            </a:solidFill>
          </a:ln>
        </p:spPr>
        <p:txBody>
          <a:bodyPr wrap="square" lIns="0" tIns="0" rIns="0" bIns="0" rtlCol="0" anchor="ctr"/>
          <a:lstStyle/>
          <a:p>
            <a:pPr algn="ctr" indent="0" marL="0">
              <a:buNone/>
            </a:pPr>
            <a:r>
              <a:rPr lang="en-US" sz="1000" b="1" dirty="0">
                <a:solidFill>
                  <a:srgbClr val="FFFFFF"/>
                </a:solidFill>
                <a:latin typeface="Archivo" pitchFamily="34" charset="0"/>
                <a:ea typeface="Archivo" pitchFamily="34" charset="-122"/>
                <a:cs typeface="Archivo" pitchFamily="34" charset="-120"/>
              </a:rPr>
              <a:t>2</a:t>
            </a:r>
            <a:endParaRPr lang="en-US" sz="1000" dirty="0"/>
          </a:p>
        </p:txBody>
      </p:sp>
      <p:sp>
        <p:nvSpPr>
          <p:cNvPr id="13" name="Text 10"/>
          <p:cNvSpPr/>
          <p:nvPr/>
        </p:nvSpPr>
        <p:spPr>
          <a:xfrm>
            <a:off x="1243584" y="3355848"/>
            <a:ext cx="2286000" cy="365760"/>
          </a:xfrm>
          <a:prstGeom prst="rect">
            <a:avLst/>
          </a:prstGeom>
          <a:noFill/>
          <a:ln/>
        </p:spPr>
        <p:txBody>
          <a:bodyPr wrap="square" lIns="0" tIns="0" rIns="0" bIns="0" rtlCol="0" anchor="t"/>
          <a:lstStyle/>
          <a:p>
            <a:pPr indent="0" marL="0">
              <a:buNone/>
            </a:pPr>
            <a:r>
              <a:rPr lang="en-US" sz="1500" b="1" dirty="0">
                <a:solidFill>
                  <a:srgbClr val="14181A"/>
                </a:solidFill>
                <a:latin typeface="Archivo" pitchFamily="34" charset="0"/>
                <a:ea typeface="Archivo" pitchFamily="34" charset="-122"/>
                <a:cs typeface="Archivo" pitchFamily="34" charset="-120"/>
              </a:rPr>
              <a:t>La cadence</a:t>
            </a:r>
            <a:endParaRPr lang="en-US" sz="1500" dirty="0"/>
          </a:p>
        </p:txBody>
      </p:sp>
      <p:sp>
        <p:nvSpPr>
          <p:cNvPr id="14" name="Text 11"/>
          <p:cNvSpPr/>
          <p:nvPr/>
        </p:nvSpPr>
        <p:spPr>
          <a:xfrm>
            <a:off x="3611880" y="3374136"/>
            <a:ext cx="7845552" cy="45720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Public Sans" pitchFamily="34" charset="0"/>
                <a:ea typeface="Public Sans" pitchFamily="34" charset="-122"/>
                <a:cs typeface="Public Sans" pitchFamily="34" charset="-120"/>
              </a:rPr>
              <a:t>Une marque comptée une fois par an, et aucune seconde chance quand l’écart est gros.</a:t>
            </a:r>
            <a:endParaRPr lang="en-US" sz="1250" dirty="0"/>
          </a:p>
        </p:txBody>
      </p:sp>
      <p:sp>
        <p:nvSpPr>
          <p:cNvPr id="15" name="Shape 12"/>
          <p:cNvSpPr/>
          <p:nvPr/>
        </p:nvSpPr>
        <p:spPr>
          <a:xfrm>
            <a:off x="731520" y="3904488"/>
            <a:ext cx="10725912" cy="0"/>
          </a:xfrm>
          <a:prstGeom prst="line">
            <a:avLst/>
          </a:prstGeom>
          <a:noFill/>
          <a:ln w="9525">
            <a:solidFill>
              <a:srgbClr val="E2E5E1"/>
            </a:solidFill>
            <a:prstDash val="solid"/>
          </a:ln>
        </p:spPr>
      </p:sp>
      <p:sp>
        <p:nvSpPr>
          <p:cNvPr id="16" name="Text 13"/>
          <p:cNvSpPr/>
          <p:nvPr/>
        </p:nvSpPr>
        <p:spPr>
          <a:xfrm>
            <a:off x="731520" y="4087368"/>
            <a:ext cx="329184" cy="329184"/>
          </a:xfrm>
          <a:prstGeom prst="ellipse">
            <a:avLst/>
          </a:prstGeom>
          <a:solidFill>
            <a:srgbClr val="14181A"/>
          </a:solidFill>
          <a:ln>
            <a:solidFill>
              <a:srgbClr val="14181A"/>
            </a:solidFill>
          </a:ln>
        </p:spPr>
        <p:txBody>
          <a:bodyPr wrap="square" lIns="0" tIns="0" rIns="0" bIns="0" rtlCol="0" anchor="ctr"/>
          <a:lstStyle/>
          <a:p>
            <a:pPr algn="ctr" indent="0" marL="0">
              <a:buNone/>
            </a:pPr>
            <a:r>
              <a:rPr lang="en-US" sz="1000" b="1" dirty="0">
                <a:solidFill>
                  <a:srgbClr val="FFFFFF"/>
                </a:solidFill>
                <a:latin typeface="Archivo" pitchFamily="34" charset="0"/>
                <a:ea typeface="Archivo" pitchFamily="34" charset="-122"/>
                <a:cs typeface="Archivo" pitchFamily="34" charset="-120"/>
              </a:rPr>
              <a:t>3</a:t>
            </a:r>
            <a:endParaRPr lang="en-US" sz="1000" dirty="0"/>
          </a:p>
        </p:txBody>
      </p:sp>
      <p:sp>
        <p:nvSpPr>
          <p:cNvPr id="17" name="Text 14"/>
          <p:cNvSpPr/>
          <p:nvPr/>
        </p:nvSpPr>
        <p:spPr>
          <a:xfrm>
            <a:off x="1243584" y="4050792"/>
            <a:ext cx="2286000" cy="365760"/>
          </a:xfrm>
          <a:prstGeom prst="rect">
            <a:avLst/>
          </a:prstGeom>
          <a:noFill/>
          <a:ln/>
        </p:spPr>
        <p:txBody>
          <a:bodyPr wrap="square" lIns="0" tIns="0" rIns="0" bIns="0" rtlCol="0" anchor="t"/>
          <a:lstStyle/>
          <a:p>
            <a:pPr indent="0" marL="0">
              <a:buNone/>
            </a:pPr>
            <a:r>
              <a:rPr lang="en-US" sz="1500" b="1" dirty="0">
                <a:solidFill>
                  <a:srgbClr val="14181A"/>
                </a:solidFill>
                <a:latin typeface="Archivo" pitchFamily="34" charset="0"/>
                <a:ea typeface="Archivo" pitchFamily="34" charset="-122"/>
                <a:cs typeface="Archivo" pitchFamily="34" charset="-120"/>
              </a:rPr>
              <a:t>Le matériel</a:t>
            </a:r>
            <a:endParaRPr lang="en-US" sz="1500" dirty="0"/>
          </a:p>
        </p:txBody>
      </p:sp>
      <p:sp>
        <p:nvSpPr>
          <p:cNvPr id="18" name="Text 15"/>
          <p:cNvSpPr/>
          <p:nvPr/>
        </p:nvSpPr>
        <p:spPr>
          <a:xfrm>
            <a:off x="3611880" y="4069080"/>
            <a:ext cx="7845552" cy="45720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Public Sans" pitchFamily="34" charset="0"/>
                <a:ea typeface="Public Sans" pitchFamily="34" charset="-122"/>
                <a:cs typeface="Public Sans" pitchFamily="34" charset="-120"/>
              </a:rPr>
              <a:t>Des terminaux en fin de vie, des balises commandées à l’étranger — quand chacun a déjà un téléphone.</a:t>
            </a:r>
            <a:endParaRPr lang="en-US" sz="1250" dirty="0"/>
          </a:p>
        </p:txBody>
      </p:sp>
      <p:sp>
        <p:nvSpPr>
          <p:cNvPr id="19" name="Shape 16"/>
          <p:cNvSpPr/>
          <p:nvPr/>
        </p:nvSpPr>
        <p:spPr>
          <a:xfrm>
            <a:off x="731520" y="4599432"/>
            <a:ext cx="10725912" cy="0"/>
          </a:xfrm>
          <a:prstGeom prst="line">
            <a:avLst/>
          </a:prstGeom>
          <a:noFill/>
          <a:ln w="9525">
            <a:solidFill>
              <a:srgbClr val="E2E5E1"/>
            </a:solidFill>
            <a:prstDash val="solid"/>
          </a:ln>
        </p:spPr>
      </p:sp>
      <p:sp>
        <p:nvSpPr>
          <p:cNvPr id="20" name="Text 17"/>
          <p:cNvSpPr/>
          <p:nvPr/>
        </p:nvSpPr>
        <p:spPr>
          <a:xfrm>
            <a:off x="731520" y="4782312"/>
            <a:ext cx="329184" cy="329184"/>
          </a:xfrm>
          <a:prstGeom prst="ellipse">
            <a:avLst/>
          </a:prstGeom>
          <a:solidFill>
            <a:srgbClr val="14181A"/>
          </a:solidFill>
          <a:ln>
            <a:solidFill>
              <a:srgbClr val="14181A"/>
            </a:solidFill>
          </a:ln>
        </p:spPr>
        <p:txBody>
          <a:bodyPr wrap="square" lIns="0" tIns="0" rIns="0" bIns="0" rtlCol="0" anchor="ctr"/>
          <a:lstStyle/>
          <a:p>
            <a:pPr algn="ctr" indent="0" marL="0">
              <a:buNone/>
            </a:pPr>
            <a:r>
              <a:rPr lang="en-US" sz="1000" b="1" dirty="0">
                <a:solidFill>
                  <a:srgbClr val="FFFFFF"/>
                </a:solidFill>
                <a:latin typeface="Archivo" pitchFamily="34" charset="0"/>
                <a:ea typeface="Archivo" pitchFamily="34" charset="-122"/>
                <a:cs typeface="Archivo" pitchFamily="34" charset="-120"/>
              </a:rPr>
              <a:t>4</a:t>
            </a:r>
            <a:endParaRPr lang="en-US" sz="1000" dirty="0"/>
          </a:p>
        </p:txBody>
      </p:sp>
      <p:sp>
        <p:nvSpPr>
          <p:cNvPr id="21" name="Text 18"/>
          <p:cNvSpPr/>
          <p:nvPr/>
        </p:nvSpPr>
        <p:spPr>
          <a:xfrm>
            <a:off x="1243584" y="4745736"/>
            <a:ext cx="2286000" cy="365760"/>
          </a:xfrm>
          <a:prstGeom prst="rect">
            <a:avLst/>
          </a:prstGeom>
          <a:noFill/>
          <a:ln/>
        </p:spPr>
        <p:txBody>
          <a:bodyPr wrap="square" lIns="0" tIns="0" rIns="0" bIns="0" rtlCol="0" anchor="t"/>
          <a:lstStyle/>
          <a:p>
            <a:pPr indent="0" marL="0">
              <a:buNone/>
            </a:pPr>
            <a:r>
              <a:rPr lang="en-US" sz="1500" b="1" dirty="0">
                <a:solidFill>
                  <a:srgbClr val="14181A"/>
                </a:solidFill>
                <a:latin typeface="Archivo" pitchFamily="34" charset="0"/>
                <a:ea typeface="Archivo" pitchFamily="34" charset="-122"/>
                <a:cs typeface="Archivo" pitchFamily="34" charset="-120"/>
              </a:rPr>
              <a:t>La donnée</a:t>
            </a:r>
            <a:endParaRPr lang="en-US" sz="1500" dirty="0"/>
          </a:p>
        </p:txBody>
      </p:sp>
      <p:sp>
        <p:nvSpPr>
          <p:cNvPr id="22" name="Text 19"/>
          <p:cNvSpPr/>
          <p:nvPr/>
        </p:nvSpPr>
        <p:spPr>
          <a:xfrm>
            <a:off x="3611880" y="4764024"/>
            <a:ext cx="7845552" cy="45720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Public Sans" pitchFamily="34" charset="0"/>
                <a:ea typeface="Public Sans" pitchFamily="34" charset="-122"/>
                <a:cs typeface="Public Sans" pitchFamily="34" charset="-120"/>
              </a:rPr>
              <a:t>Un référentiel arrêté au mois de mars, qu’on ne peut pas rafraîchir soi-même.</a:t>
            </a:r>
            <a:endParaRPr lang="en-US" sz="1250" dirty="0"/>
          </a:p>
        </p:txBody>
      </p:sp>
      <p:sp>
        <p:nvSpPr>
          <p:cNvPr id="23" name="Shape 20"/>
          <p:cNvSpPr/>
          <p:nvPr/>
        </p:nvSpPr>
        <p:spPr>
          <a:xfrm>
            <a:off x="731520" y="5294376"/>
            <a:ext cx="10725912" cy="0"/>
          </a:xfrm>
          <a:prstGeom prst="line">
            <a:avLst/>
          </a:prstGeom>
          <a:noFill/>
          <a:ln w="9525">
            <a:solidFill>
              <a:srgbClr val="E2E5E1"/>
            </a:solidFill>
            <a:prstDash val="solid"/>
          </a:ln>
        </p:spPr>
      </p:sp>
      <p:sp>
        <p:nvSpPr>
          <p:cNvPr id="24" name="Text 21"/>
          <p:cNvSpPr/>
          <p:nvPr/>
        </p:nvSpPr>
        <p:spPr>
          <a:xfrm>
            <a:off x="731520" y="5477256"/>
            <a:ext cx="329184" cy="329184"/>
          </a:xfrm>
          <a:prstGeom prst="ellipse">
            <a:avLst/>
          </a:prstGeom>
          <a:solidFill>
            <a:srgbClr val="14181A"/>
          </a:solidFill>
          <a:ln>
            <a:solidFill>
              <a:srgbClr val="14181A"/>
            </a:solidFill>
          </a:ln>
        </p:spPr>
        <p:txBody>
          <a:bodyPr wrap="square" lIns="0" tIns="0" rIns="0" bIns="0" rtlCol="0" anchor="ctr"/>
          <a:lstStyle/>
          <a:p>
            <a:pPr algn="ctr" indent="0" marL="0">
              <a:buNone/>
            </a:pPr>
            <a:r>
              <a:rPr lang="en-US" sz="1000" b="1" dirty="0">
                <a:solidFill>
                  <a:srgbClr val="FFFFFF"/>
                </a:solidFill>
                <a:latin typeface="Archivo" pitchFamily="34" charset="0"/>
                <a:ea typeface="Archivo" pitchFamily="34" charset="-122"/>
                <a:cs typeface="Archivo" pitchFamily="34" charset="-120"/>
              </a:rPr>
              <a:t>5</a:t>
            </a:r>
            <a:endParaRPr lang="en-US" sz="1000" dirty="0"/>
          </a:p>
        </p:txBody>
      </p:sp>
      <p:sp>
        <p:nvSpPr>
          <p:cNvPr id="25" name="Text 22"/>
          <p:cNvSpPr/>
          <p:nvPr/>
        </p:nvSpPr>
        <p:spPr>
          <a:xfrm>
            <a:off x="1243584" y="5440680"/>
            <a:ext cx="2286000" cy="365760"/>
          </a:xfrm>
          <a:prstGeom prst="rect">
            <a:avLst/>
          </a:prstGeom>
          <a:noFill/>
          <a:ln/>
        </p:spPr>
        <p:txBody>
          <a:bodyPr wrap="square" lIns="0" tIns="0" rIns="0" bIns="0" rtlCol="0" anchor="t"/>
          <a:lstStyle/>
          <a:p>
            <a:pPr indent="0" marL="0">
              <a:buNone/>
            </a:pPr>
            <a:r>
              <a:rPr lang="en-US" sz="1500" b="1" dirty="0">
                <a:solidFill>
                  <a:srgbClr val="14181A"/>
                </a:solidFill>
                <a:latin typeface="Archivo" pitchFamily="34" charset="0"/>
                <a:ea typeface="Archivo" pitchFamily="34" charset="-122"/>
                <a:cs typeface="Archivo" pitchFamily="34" charset="-120"/>
              </a:rPr>
              <a:t>La zone</a:t>
            </a:r>
            <a:endParaRPr lang="en-US" sz="1500" dirty="0"/>
          </a:p>
        </p:txBody>
      </p:sp>
      <p:sp>
        <p:nvSpPr>
          <p:cNvPr id="26" name="Text 23"/>
          <p:cNvSpPr/>
          <p:nvPr/>
        </p:nvSpPr>
        <p:spPr>
          <a:xfrm>
            <a:off x="3611880" y="5458968"/>
            <a:ext cx="7845552" cy="45720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Public Sans" pitchFamily="34" charset="0"/>
                <a:ea typeface="Public Sans" pitchFamily="34" charset="-122"/>
                <a:cs typeface="Public Sans" pitchFamily="34" charset="-120"/>
              </a:rPr>
              <a:t>Des zones de comptage imposées, et un écart qu’on ne découvre qu’à la fin.</a:t>
            </a:r>
            <a:endParaRPr lang="en-US" sz="1250" dirty="0"/>
          </a:p>
        </p:txBody>
      </p:sp>
      <p:sp>
        <p:nvSpPr>
          <p:cNvPr id="27" name="Text 24"/>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note d’intention</a:t>
            </a:r>
            <a:endParaRPr lang="en-US" sz="900" dirty="0"/>
          </a:p>
        </p:txBody>
      </p:sp>
      <p:sp>
        <p:nvSpPr>
          <p:cNvPr id="28" name="Text 25"/>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Quantinvo · note d’intention</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243584"/>
            <a:ext cx="384048" cy="384048"/>
          </a:xfrm>
          <a:prstGeom prst="ellipse">
            <a:avLst/>
          </a:prstGeom>
          <a:solidFill>
            <a:srgbClr val="14181A"/>
          </a:solidFill>
          <a:ln>
            <a:solidFill>
              <a:srgbClr val="14181A"/>
            </a:solidFill>
          </a:ln>
        </p:spPr>
        <p:txBody>
          <a:bodyPr wrap="square" lIns="0" tIns="0" rIns="0" bIns="0" rtlCol="0" anchor="ctr"/>
          <a:lstStyle/>
          <a:p>
            <a:pPr algn="ctr" indent="0" marL="0">
              <a:buNone/>
            </a:pPr>
            <a:r>
              <a:rPr lang="en-US" sz="1200" b="1" dirty="0">
                <a:solidFill>
                  <a:srgbClr val="FFFFFF"/>
                </a:solidFill>
                <a:latin typeface="Archivo" pitchFamily="34" charset="0"/>
                <a:ea typeface="Archivo" pitchFamily="34" charset="-122"/>
                <a:cs typeface="Archivo" pitchFamily="34" charset="-120"/>
              </a:rPr>
              <a:t>1</a:t>
            </a:r>
            <a:endParaRPr lang="en-US" sz="1200" dirty="0"/>
          </a:p>
        </p:txBody>
      </p:sp>
      <p:sp>
        <p:nvSpPr>
          <p:cNvPr id="7" name="Text 4"/>
          <p:cNvSpPr/>
          <p:nvPr/>
        </p:nvSpPr>
        <p:spPr>
          <a:xfrm>
            <a:off x="1298448" y="1207008"/>
            <a:ext cx="3639312" cy="1371600"/>
          </a:xfrm>
          <a:prstGeom prst="rect">
            <a:avLst/>
          </a:prstGeom>
          <a:noFill/>
          <a:ln/>
        </p:spPr>
        <p:txBody>
          <a:bodyPr wrap="square" lIns="0" tIns="0" rIns="0" bIns="0" rtlCol="0" anchor="t"/>
          <a:lstStyle/>
          <a:p>
            <a:pPr indent="0" marL="0">
              <a:lnSpc>
                <a:spcPct val="105000"/>
              </a:lnSpc>
              <a:buNone/>
            </a:pPr>
            <a:r>
              <a:rPr lang="en-US" sz="2300" b="1" dirty="0">
                <a:solidFill>
                  <a:srgbClr val="14181A"/>
                </a:solidFill>
                <a:latin typeface="Archivo" pitchFamily="34" charset="0"/>
                <a:ea typeface="Archivo" pitchFamily="34" charset="-122"/>
                <a:cs typeface="Archivo" pitchFamily="34" charset="-120"/>
              </a:rPr>
              <a:t>Le magasin ne décide de rien</a:t>
            </a:r>
            <a:endParaRPr lang="en-US" sz="2300" dirty="0"/>
          </a:p>
        </p:txBody>
      </p:sp>
      <p:sp>
        <p:nvSpPr>
          <p:cNvPr id="8" name="Shape 5"/>
          <p:cNvSpPr/>
          <p:nvPr/>
        </p:nvSpPr>
        <p:spPr>
          <a:xfrm>
            <a:off x="731520" y="2542032"/>
            <a:ext cx="4206240" cy="0"/>
          </a:xfrm>
          <a:prstGeom prst="line">
            <a:avLst/>
          </a:prstGeom>
          <a:noFill/>
          <a:ln w="9525">
            <a:solidFill>
              <a:srgbClr val="E2E5E1"/>
            </a:solidFill>
            <a:prstDash val="solid"/>
          </a:ln>
        </p:spPr>
      </p:sp>
      <p:sp>
        <p:nvSpPr>
          <p:cNvPr id="9" name="Text 6"/>
          <p:cNvSpPr/>
          <p:nvPr/>
        </p:nvSpPr>
        <p:spPr>
          <a:xfrm>
            <a:off x="731520" y="2743200"/>
            <a:ext cx="4206240" cy="3383280"/>
          </a:xfrm>
          <a:prstGeom prst="rect">
            <a:avLst/>
          </a:prstGeom>
          <a:noFill/>
          <a:ln/>
        </p:spPr>
        <p:txBody>
          <a:bodyPr wrap="square" lIns="0" tIns="0" rIns="0" bIns="0" rtlCol="0" anchor="t"/>
          <a:lstStyle/>
          <a:p>
            <a:pPr indent="0" marL="0">
              <a:lnSpc>
                <a:spcPct val="118000"/>
              </a:lnSpc>
              <a:spcAft>
                <a:spcPts val="900"/>
              </a:spcAft>
              <a:buNone/>
            </a:pPr>
            <a:r>
              <a:rPr lang="en-US" sz="1150" b="1" dirty="0">
                <a:solidFill>
                  <a:srgbClr val="14181A"/>
                </a:solidFill>
                <a:latin typeface="Public Sans" pitchFamily="34" charset="0"/>
                <a:ea typeface="Public Sans" pitchFamily="34" charset="-122"/>
                <a:cs typeface="Public Sans" pitchFamily="34" charset="-120"/>
              </a:rPr>
              <a:t>Tout passe par une équipe de deux. </a:t>
            </a:r>
            <a:pPr indent="0" marL="0">
              <a:lnSpc>
                <a:spcPct val="118000"/>
              </a:lnSpc>
              <a:spcAft>
                <a:spcPts val="900"/>
              </a:spcAft>
              <a:buNone/>
            </a:pPr>
            <a:r>
              <a:rPr lang="en-US" sz="1150" dirty="0">
                <a:solidFill>
                  <a:srgbClr val="3A423F"/>
                </a:solidFill>
                <a:latin typeface="Public Sans" pitchFamily="34" charset="0"/>
                <a:ea typeface="Public Sans" pitchFamily="34" charset="-122"/>
                <a:cs typeface="Public Sans" pitchFamily="34" charset="-120"/>
              </a:rPr>
              <a:t>Le magasin ne lance pas un inventaire, il le demande. Notre disponibilité décide de ce qui sera compté, et quand.</a:t>
            </a:r>
            <a:endParaRPr lang="en-US" sz="1150" dirty="0"/>
          </a:p>
          <a:p>
            <a:pPr indent="0" marL="0">
              <a:lnSpc>
                <a:spcPct val="118000"/>
              </a:lnSpc>
              <a:spcAft>
                <a:spcPts val="900"/>
              </a:spcAft>
              <a:buNone/>
            </a:pPr>
            <a:r>
              <a:rPr lang="en-US" sz="1150" b="1" dirty="0">
                <a:solidFill>
                  <a:srgbClr val="14181A"/>
                </a:solidFill>
                <a:latin typeface="Public Sans" pitchFamily="34" charset="0"/>
                <a:ea typeface="Public Sans" pitchFamily="34" charset="-122"/>
                <a:cs typeface="Public Sans" pitchFamily="34" charset="-120"/>
              </a:rPr>
              <a:t>Ajouter quelqu’un demande un e-mail. </a:t>
            </a:r>
            <a:pPr indent="0" marL="0">
              <a:lnSpc>
                <a:spcPct val="118000"/>
              </a:lnSpc>
              <a:spcAft>
                <a:spcPts val="900"/>
              </a:spcAft>
              <a:buNone/>
            </a:pPr>
            <a:r>
              <a:rPr lang="en-US" sz="1150" dirty="0">
                <a:solidFill>
                  <a:srgbClr val="3A423F"/>
                </a:solidFill>
                <a:latin typeface="Public Sans" pitchFamily="34" charset="0"/>
                <a:ea typeface="Public Sans" pitchFamily="34" charset="-122"/>
                <a:cs typeface="Public Sans" pitchFamily="34" charset="-120"/>
              </a:rPr>
              <a:t>Créer un profil ou ajouter un membre se demande au fournisseur, et on attend sa réponse — pour un geste d’une minute.</a:t>
            </a:r>
            <a:endParaRPr lang="en-US" sz="1150" dirty="0"/>
          </a:p>
          <a:p>
            <a:pPr indent="0" marL="0">
              <a:lnSpc>
                <a:spcPct val="118000"/>
              </a:lnSpc>
              <a:spcAft>
                <a:spcPts val="900"/>
              </a:spcAft>
              <a:buNone/>
            </a:pPr>
            <a:r>
              <a:rPr lang="en-US" sz="1150" b="1" dirty="0">
                <a:solidFill>
                  <a:srgbClr val="14181A"/>
                </a:solidFill>
                <a:latin typeface="Public Sans" pitchFamily="34" charset="0"/>
                <a:ea typeface="Public Sans" pitchFamily="34" charset="-122"/>
                <a:cs typeface="Public Sans" pitchFamily="34" charset="-120"/>
              </a:rPr>
              <a:t>Et la plupart des magasins n’ont rien. </a:t>
            </a:r>
            <a:pPr indent="0" marL="0">
              <a:lnSpc>
                <a:spcPct val="118000"/>
              </a:lnSpc>
              <a:spcAft>
                <a:spcPts val="900"/>
              </a:spcAft>
              <a:buNone/>
            </a:pPr>
            <a:r>
              <a:rPr lang="en-US" sz="1150" dirty="0">
                <a:solidFill>
                  <a:srgbClr val="3A423F"/>
                </a:solidFill>
                <a:latin typeface="Public Sans" pitchFamily="34" charset="0"/>
                <a:ea typeface="Public Sans" pitchFamily="34" charset="-122"/>
                <a:cs typeface="Public Sans" pitchFamily="34" charset="-120"/>
              </a:rPr>
              <a:t>Une grande majorité n’a aucun outil d’inventaire et l’externalise. Un comptage décidé le matin même n’existe pas.</a:t>
            </a:r>
            <a:endParaRPr lang="en-US" sz="1150" dirty="0"/>
          </a:p>
        </p:txBody>
      </p:sp>
      <p:pic>
        <p:nvPicPr>
          <p:cNvPr id="10" name="Image 1" descr="preencoded.png">    </p:cNvPr>
          <p:cNvPicPr>
            <a:picLocks noChangeAspect="1"/>
          </p:cNvPicPr>
          <p:nvPr/>
        </p:nvPicPr>
        <p:blipFill>
          <a:blip r:embed="rId2"/>
          <a:stretch>
            <a:fillRect/>
          </a:stretch>
        </p:blipFill>
        <p:spPr>
          <a:xfrm>
            <a:off x="9486985" y="1783080"/>
            <a:ext cx="1970447" cy="4160520"/>
          </a:xfrm>
          <a:prstGeom prst="rect">
            <a:avLst/>
          </a:prstGeom>
        </p:spPr>
      </p:pic>
      <p:sp>
        <p:nvSpPr>
          <p:cNvPr id="11" name="Text 7"/>
          <p:cNvSpPr/>
          <p:nvPr/>
        </p:nvSpPr>
        <p:spPr>
          <a:xfrm>
            <a:off x="9029785" y="6071616"/>
            <a:ext cx="2884847" cy="329184"/>
          </a:xfrm>
          <a:prstGeom prst="rect">
            <a:avLst/>
          </a:prstGeom>
          <a:noFill/>
          <a:ln/>
        </p:spPr>
        <p:txBody>
          <a:bodyPr wrap="square" lIns="0" tIns="0" rIns="0" bIns="0" rtlCol="0" anchor="t"/>
          <a:lstStyle/>
          <a:p>
            <a:pPr algn="ctr" indent="0" marL="0">
              <a:buNone/>
            </a:pPr>
            <a:r>
              <a:rPr lang="en-US" sz="1000" i="1" dirty="0">
                <a:solidFill>
                  <a:srgbClr val="575F5C"/>
                </a:solidFill>
                <a:latin typeface="Public Sans" pitchFamily="34" charset="0"/>
                <a:ea typeface="Public Sans" pitchFamily="34" charset="-122"/>
                <a:cs typeface="Public Sans" pitchFamily="34" charset="-120"/>
              </a:rPr>
              <a:t>Ajouter un compteur, depuis le magasin</a:t>
            </a:r>
            <a:endParaRPr lang="en-US" sz="1000" dirty="0"/>
          </a:p>
        </p:txBody>
      </p:sp>
      <p:sp>
        <p:nvSpPr>
          <p:cNvPr id="12" name="Text 8"/>
          <p:cNvSpPr/>
          <p:nvPr/>
        </p:nvSpPr>
        <p:spPr>
          <a:xfrm>
            <a:off x="5394960" y="1225296"/>
            <a:ext cx="3634825" cy="274320"/>
          </a:xfrm>
          <a:prstGeom prst="rect">
            <a:avLst/>
          </a:prstGeom>
          <a:noFill/>
          <a:ln/>
        </p:spPr>
        <p:txBody>
          <a:bodyPr wrap="square" lIns="0" tIns="0" rIns="0" bIns="0" rtlCol="0" anchor="t"/>
          <a:lstStyle/>
          <a:p>
            <a:pPr indent="0" marL="0">
              <a:buNone/>
            </a:pPr>
            <a:r>
              <a:rPr lang="en-US" sz="950" b="1" spc="60" kern="0" dirty="0">
                <a:solidFill>
                  <a:srgbClr val="575F5C"/>
                </a:solidFill>
                <a:latin typeface="Public Sans" pitchFamily="34" charset="0"/>
                <a:ea typeface="Public Sans" pitchFamily="34" charset="-122"/>
                <a:cs typeface="Public Sans" pitchFamily="34" charset="-120"/>
              </a:rPr>
              <a:t>CE QUE QUANTINVO FAIT</a:t>
            </a:r>
            <a:endParaRPr lang="en-US" sz="950" dirty="0"/>
          </a:p>
        </p:txBody>
      </p:sp>
      <p:sp>
        <p:nvSpPr>
          <p:cNvPr id="13" name="Shape 9"/>
          <p:cNvSpPr/>
          <p:nvPr/>
        </p:nvSpPr>
        <p:spPr>
          <a:xfrm>
            <a:off x="5394960" y="1572768"/>
            <a:ext cx="3634825" cy="0"/>
          </a:xfrm>
          <a:prstGeom prst="line">
            <a:avLst/>
          </a:prstGeom>
          <a:noFill/>
          <a:ln w="9525">
            <a:solidFill>
              <a:srgbClr val="E2E5E1"/>
            </a:solidFill>
            <a:prstDash val="solid"/>
          </a:ln>
        </p:spPr>
      </p:sp>
      <p:sp>
        <p:nvSpPr>
          <p:cNvPr id="14" name="Text 10"/>
          <p:cNvSpPr/>
          <p:nvPr/>
        </p:nvSpPr>
        <p:spPr>
          <a:xfrm>
            <a:off x="5394960" y="1755648"/>
            <a:ext cx="3634825" cy="402336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Public Sans" pitchFamily="34" charset="0"/>
                <a:ea typeface="Public Sans" pitchFamily="34" charset="-122"/>
                <a:cs typeface="Public Sans" pitchFamily="34" charset="-120"/>
              </a:rPr>
              <a:t>Le superviseur du magasin crée ses inventaires, invite ses compteurs et retire leurs accès lui-même. Rien à demander, personne à attendre : une invitation part par e-mail, la personne choisit son mot de passe, elle compte.</a:t>
            </a:r>
            <a:endParaRPr lang="en-US" sz="1200" dirty="0"/>
          </a:p>
          <a:p>
            <a:pPr algn="l" indent="0" marL="0">
              <a:lnSpc>
                <a:spcPct val="118000"/>
              </a:lnSpc>
              <a:buNone/>
            </a:pPr>
            <a:endParaRPr lang="en-US" sz="1200" dirty="0"/>
          </a:p>
          <a:p>
            <a:pPr algn="l" indent="0" marL="0">
              <a:lnSpc>
                <a:spcPct val="118000"/>
              </a:lnSpc>
              <a:buNone/>
            </a:pPr>
            <a:r>
              <a:rPr lang="en-US" sz="1200" dirty="0">
                <a:solidFill>
                  <a:srgbClr val="3A423F"/>
                </a:solidFill>
                <a:latin typeface="Public Sans" pitchFamily="34" charset="0"/>
                <a:ea typeface="Public Sans" pitchFamily="34" charset="-122"/>
                <a:cs typeface="Public Sans" pitchFamily="34" charset="-120"/>
              </a:rPr>
              <a:t>L’administrateur de l’entreprise garde la vue d’ensemble — les magasins, les équipes, les inventaires de chacun — sans être sur le chemin de ceux qui comptent.</a:t>
            </a:r>
            <a:endParaRPr lang="en-US" sz="1200" dirty="0"/>
          </a:p>
        </p:txBody>
      </p:sp>
      <p:sp>
        <p:nvSpPr>
          <p:cNvPr id="15" name="Text 11"/>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note d’intention</a:t>
            </a:r>
            <a:endParaRPr lang="en-US" sz="900" dirty="0"/>
          </a:p>
        </p:txBody>
      </p:sp>
      <p:sp>
        <p:nvSpPr>
          <p:cNvPr id="16" name="Text 12"/>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Quantinvo · note d’intention</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243584"/>
            <a:ext cx="384048" cy="384048"/>
          </a:xfrm>
          <a:prstGeom prst="ellipse">
            <a:avLst/>
          </a:prstGeom>
          <a:solidFill>
            <a:srgbClr val="14181A"/>
          </a:solidFill>
          <a:ln>
            <a:solidFill>
              <a:srgbClr val="14181A"/>
            </a:solidFill>
          </a:ln>
        </p:spPr>
        <p:txBody>
          <a:bodyPr wrap="square" lIns="0" tIns="0" rIns="0" bIns="0" rtlCol="0" anchor="ctr"/>
          <a:lstStyle/>
          <a:p>
            <a:pPr algn="ctr" indent="0" marL="0">
              <a:buNone/>
            </a:pPr>
            <a:r>
              <a:rPr lang="en-US" sz="1200" b="1" dirty="0">
                <a:solidFill>
                  <a:srgbClr val="FFFFFF"/>
                </a:solidFill>
                <a:latin typeface="Archivo" pitchFamily="34" charset="0"/>
                <a:ea typeface="Archivo" pitchFamily="34" charset="-122"/>
                <a:cs typeface="Archivo" pitchFamily="34" charset="-120"/>
              </a:rPr>
              <a:t>2</a:t>
            </a:r>
            <a:endParaRPr lang="en-US" sz="1200" dirty="0"/>
          </a:p>
        </p:txBody>
      </p:sp>
      <p:sp>
        <p:nvSpPr>
          <p:cNvPr id="7" name="Text 4"/>
          <p:cNvSpPr/>
          <p:nvPr/>
        </p:nvSpPr>
        <p:spPr>
          <a:xfrm>
            <a:off x="1298448" y="1207008"/>
            <a:ext cx="3639312" cy="1371600"/>
          </a:xfrm>
          <a:prstGeom prst="rect">
            <a:avLst/>
          </a:prstGeom>
          <a:noFill/>
          <a:ln/>
        </p:spPr>
        <p:txBody>
          <a:bodyPr wrap="square" lIns="0" tIns="0" rIns="0" bIns="0" rtlCol="0" anchor="t"/>
          <a:lstStyle/>
          <a:p>
            <a:pPr indent="0" marL="0">
              <a:lnSpc>
                <a:spcPct val="105000"/>
              </a:lnSpc>
              <a:buNone/>
            </a:pPr>
            <a:r>
              <a:rPr lang="en-US" sz="2300" b="1" dirty="0">
                <a:solidFill>
                  <a:srgbClr val="14181A"/>
                </a:solidFill>
                <a:latin typeface="Archivo" pitchFamily="34" charset="0"/>
                <a:ea typeface="Archivo" pitchFamily="34" charset="-122"/>
                <a:cs typeface="Archivo" pitchFamily="34" charset="-120"/>
              </a:rPr>
              <a:t>Une marque par an,</a:t>
            </a:r>
            <a:endParaRPr lang="en-US" sz="2300" dirty="0"/>
          </a:p>
          <a:p>
            <a:pPr indent="0" marL="0">
              <a:lnSpc>
                <a:spcPct val="105000"/>
              </a:lnSpc>
              <a:buNone/>
            </a:pPr>
            <a:r>
              <a:rPr lang="en-US" sz="2300" b="1" dirty="0">
                <a:solidFill>
                  <a:srgbClr val="14181A"/>
                </a:solidFill>
                <a:latin typeface="Archivo" pitchFamily="34" charset="0"/>
                <a:ea typeface="Archivo" pitchFamily="34" charset="-122"/>
                <a:cs typeface="Archivo" pitchFamily="34" charset="-120"/>
              </a:rPr>
              <a:t>et pas de seconde chance</a:t>
            </a:r>
            <a:endParaRPr lang="en-US" sz="2300" dirty="0"/>
          </a:p>
        </p:txBody>
      </p:sp>
      <p:sp>
        <p:nvSpPr>
          <p:cNvPr id="8" name="Shape 5"/>
          <p:cNvSpPr/>
          <p:nvPr/>
        </p:nvSpPr>
        <p:spPr>
          <a:xfrm>
            <a:off x="731520" y="2542032"/>
            <a:ext cx="4206240" cy="0"/>
          </a:xfrm>
          <a:prstGeom prst="line">
            <a:avLst/>
          </a:prstGeom>
          <a:noFill/>
          <a:ln w="9525">
            <a:solidFill>
              <a:srgbClr val="E2E5E1"/>
            </a:solidFill>
            <a:prstDash val="solid"/>
          </a:ln>
        </p:spPr>
      </p:sp>
      <p:sp>
        <p:nvSpPr>
          <p:cNvPr id="9" name="Text 6"/>
          <p:cNvSpPr/>
          <p:nvPr/>
        </p:nvSpPr>
        <p:spPr>
          <a:xfrm>
            <a:off x="731520" y="2743200"/>
            <a:ext cx="4206240" cy="3383280"/>
          </a:xfrm>
          <a:prstGeom prst="rect">
            <a:avLst/>
          </a:prstGeom>
          <a:noFill/>
          <a:ln/>
        </p:spPr>
        <p:txBody>
          <a:bodyPr wrap="square" lIns="0" tIns="0" rIns="0" bIns="0" rtlCol="0" anchor="t"/>
          <a:lstStyle/>
          <a:p>
            <a:pPr indent="0" marL="0">
              <a:lnSpc>
                <a:spcPct val="118000"/>
              </a:lnSpc>
              <a:spcAft>
                <a:spcPts val="900"/>
              </a:spcAft>
              <a:buNone/>
            </a:pPr>
            <a:r>
              <a:rPr lang="en-US" sz="1150" b="1" dirty="0">
                <a:solidFill>
                  <a:srgbClr val="14181A"/>
                </a:solidFill>
                <a:latin typeface="Public Sans" pitchFamily="34" charset="0"/>
                <a:ea typeface="Public Sans" pitchFamily="34" charset="-122"/>
                <a:cs typeface="Public Sans" pitchFamily="34" charset="-120"/>
              </a:rPr>
              <a:t>Une marque par an, au mieux. </a:t>
            </a:r>
            <a:pPr indent="0" marL="0">
              <a:lnSpc>
                <a:spcPct val="118000"/>
              </a:lnSpc>
              <a:spcAft>
                <a:spcPts val="900"/>
              </a:spcAft>
              <a:buNone/>
            </a:pPr>
            <a:r>
              <a:rPr lang="en-US" sz="1150" dirty="0">
                <a:solidFill>
                  <a:srgbClr val="3A423F"/>
                </a:solidFill>
                <a:latin typeface="Public Sans" pitchFamily="34" charset="0"/>
                <a:ea typeface="Public Sans" pitchFamily="34" charset="-122"/>
                <a:cs typeface="Public Sans" pitchFamily="34" charset="-120"/>
              </a:rPr>
              <a:t>Le magasin ne peut pas compter chaque marque dans l’année : il n’y a ni le matériel ni les bras.</a:t>
            </a:r>
            <a:endParaRPr lang="en-US" sz="1150" dirty="0"/>
          </a:p>
          <a:p>
            <a:pPr indent="0" marL="0">
              <a:lnSpc>
                <a:spcPct val="118000"/>
              </a:lnSpc>
              <a:spcAft>
                <a:spcPts val="900"/>
              </a:spcAft>
              <a:buNone/>
            </a:pPr>
            <a:r>
              <a:rPr lang="en-US" sz="1150" b="1" dirty="0">
                <a:solidFill>
                  <a:srgbClr val="14181A"/>
                </a:solidFill>
                <a:latin typeface="Public Sans" pitchFamily="34" charset="0"/>
                <a:ea typeface="Public Sans" pitchFamily="34" charset="-122"/>
                <a:cs typeface="Public Sans" pitchFamily="34" charset="-120"/>
              </a:rPr>
              <a:t>Un gros écart n’est pas recompté. </a:t>
            </a:r>
            <a:pPr indent="0" marL="0">
              <a:lnSpc>
                <a:spcPct val="118000"/>
              </a:lnSpc>
              <a:spcAft>
                <a:spcPts val="900"/>
              </a:spcAft>
              <a:buNone/>
            </a:pPr>
            <a:r>
              <a:rPr lang="en-US" sz="1150" dirty="0">
                <a:solidFill>
                  <a:srgbClr val="3A423F"/>
                </a:solidFill>
                <a:latin typeface="Public Sans" pitchFamily="34" charset="0"/>
                <a:ea typeface="Public Sans" pitchFamily="34" charset="-122"/>
                <a:cs typeface="Public Sans" pitchFamily="34" charset="-120"/>
              </a:rPr>
              <a:t>Une marque qui sort un écart important n’est revue qu’à l’inventaire global du département. C’est-à-dire trop tard.</a:t>
            </a:r>
            <a:endParaRPr lang="en-US" sz="1150" dirty="0"/>
          </a:p>
          <a:p>
            <a:pPr indent="0" marL="0">
              <a:lnSpc>
                <a:spcPct val="118000"/>
              </a:lnSpc>
              <a:spcAft>
                <a:spcPts val="900"/>
              </a:spcAft>
              <a:buNone/>
            </a:pPr>
            <a:r>
              <a:rPr lang="en-US" sz="1150" b="1" dirty="0">
                <a:solidFill>
                  <a:srgbClr val="14181A"/>
                </a:solidFill>
                <a:latin typeface="Public Sans" pitchFamily="34" charset="0"/>
                <a:ea typeface="Public Sans" pitchFamily="34" charset="-122"/>
                <a:cs typeface="Public Sans" pitchFamily="34" charset="-120"/>
              </a:rPr>
              <a:t>Un seul inventaire à la fois. </a:t>
            </a:r>
            <a:pPr indent="0" marL="0">
              <a:lnSpc>
                <a:spcPct val="118000"/>
              </a:lnSpc>
              <a:spcAft>
                <a:spcPts val="900"/>
              </a:spcAft>
              <a:buNone/>
            </a:pPr>
            <a:r>
              <a:rPr lang="en-US" sz="1150" dirty="0">
                <a:solidFill>
                  <a:srgbClr val="3A423F"/>
                </a:solidFill>
                <a:latin typeface="Public Sans" pitchFamily="34" charset="0"/>
                <a:ea typeface="Public Sans" pitchFamily="34" charset="-122"/>
                <a:cs typeface="Public Sans" pitchFamily="34" charset="-120"/>
              </a:rPr>
              <a:t>La plateforme n’en accepte qu’un : plusieurs marques comptées ensemble donnent un rapport unique, où plus rien ne se distingue.</a:t>
            </a:r>
            <a:endParaRPr lang="en-US" sz="1150" dirty="0"/>
          </a:p>
        </p:txBody>
      </p:sp>
      <p:pic>
        <p:nvPicPr>
          <p:cNvPr id="10" name="Image 1" descr="preencoded.png">    </p:cNvPr>
          <p:cNvPicPr>
            <a:picLocks noChangeAspect="1"/>
          </p:cNvPicPr>
          <p:nvPr/>
        </p:nvPicPr>
        <p:blipFill>
          <a:blip r:embed="rId2"/>
          <a:stretch>
            <a:fillRect/>
          </a:stretch>
        </p:blipFill>
        <p:spPr>
          <a:xfrm>
            <a:off x="9486985" y="1783080"/>
            <a:ext cx="1970447" cy="4160520"/>
          </a:xfrm>
          <a:prstGeom prst="rect">
            <a:avLst/>
          </a:prstGeom>
        </p:spPr>
      </p:pic>
      <p:sp>
        <p:nvSpPr>
          <p:cNvPr id="11" name="Text 7"/>
          <p:cNvSpPr/>
          <p:nvPr/>
        </p:nvSpPr>
        <p:spPr>
          <a:xfrm>
            <a:off x="9029785" y="6071616"/>
            <a:ext cx="2884847" cy="329184"/>
          </a:xfrm>
          <a:prstGeom prst="rect">
            <a:avLst/>
          </a:prstGeom>
          <a:noFill/>
          <a:ln/>
        </p:spPr>
        <p:txBody>
          <a:bodyPr wrap="square" lIns="0" tIns="0" rIns="0" bIns="0" rtlCol="0" anchor="t"/>
          <a:lstStyle/>
          <a:p>
            <a:pPr algn="ctr" indent="0" marL="0">
              <a:buNone/>
            </a:pPr>
            <a:r>
              <a:rPr lang="en-US" sz="1000" i="1" dirty="0">
                <a:solidFill>
                  <a:srgbClr val="575F5C"/>
                </a:solidFill>
                <a:latin typeface="Public Sans" pitchFamily="34" charset="0"/>
                <a:ea typeface="Public Sans" pitchFamily="34" charset="-122"/>
                <a:cs typeface="Public Sans" pitchFamily="34" charset="-120"/>
              </a:rPr>
              <a:t>Un inventaire se crée en trois champs</a:t>
            </a:r>
            <a:endParaRPr lang="en-US" sz="1000" dirty="0"/>
          </a:p>
        </p:txBody>
      </p:sp>
      <p:sp>
        <p:nvSpPr>
          <p:cNvPr id="12" name="Text 8"/>
          <p:cNvSpPr/>
          <p:nvPr/>
        </p:nvSpPr>
        <p:spPr>
          <a:xfrm>
            <a:off x="5394960" y="1225296"/>
            <a:ext cx="3634825" cy="274320"/>
          </a:xfrm>
          <a:prstGeom prst="rect">
            <a:avLst/>
          </a:prstGeom>
          <a:noFill/>
          <a:ln/>
        </p:spPr>
        <p:txBody>
          <a:bodyPr wrap="square" lIns="0" tIns="0" rIns="0" bIns="0" rtlCol="0" anchor="t"/>
          <a:lstStyle/>
          <a:p>
            <a:pPr indent="0" marL="0">
              <a:buNone/>
            </a:pPr>
            <a:r>
              <a:rPr lang="en-US" sz="950" b="1" spc="60" kern="0" dirty="0">
                <a:solidFill>
                  <a:srgbClr val="575F5C"/>
                </a:solidFill>
                <a:latin typeface="Public Sans" pitchFamily="34" charset="0"/>
                <a:ea typeface="Public Sans" pitchFamily="34" charset="-122"/>
                <a:cs typeface="Public Sans" pitchFamily="34" charset="-120"/>
              </a:rPr>
              <a:t>CE QUE QUANTINVO FAIT</a:t>
            </a:r>
            <a:endParaRPr lang="en-US" sz="950" dirty="0"/>
          </a:p>
        </p:txBody>
      </p:sp>
      <p:sp>
        <p:nvSpPr>
          <p:cNvPr id="13" name="Shape 9"/>
          <p:cNvSpPr/>
          <p:nvPr/>
        </p:nvSpPr>
        <p:spPr>
          <a:xfrm>
            <a:off x="5394960" y="1572768"/>
            <a:ext cx="3634825" cy="0"/>
          </a:xfrm>
          <a:prstGeom prst="line">
            <a:avLst/>
          </a:prstGeom>
          <a:noFill/>
          <a:ln w="9525">
            <a:solidFill>
              <a:srgbClr val="E2E5E1"/>
            </a:solidFill>
            <a:prstDash val="solid"/>
          </a:ln>
        </p:spPr>
      </p:sp>
      <p:sp>
        <p:nvSpPr>
          <p:cNvPr id="14" name="Text 10"/>
          <p:cNvSpPr/>
          <p:nvPr/>
        </p:nvSpPr>
        <p:spPr>
          <a:xfrm>
            <a:off x="5394960" y="1755648"/>
            <a:ext cx="3634825" cy="402336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Public Sans" pitchFamily="34" charset="0"/>
                <a:ea typeface="Public Sans" pitchFamily="34" charset="-122"/>
                <a:cs typeface="Public Sans" pitchFamily="34" charset="-120"/>
              </a:rPr>
              <a:t>Quantinvo n’a pas de limite d’inventaires simultanés. Chaque marque, chaque rayon, chaque réserve peut avoir le sien, mené en même temps que les autres, avec son périmètre et son rapport.</a:t>
            </a:r>
            <a:endParaRPr lang="en-US" sz="1200" dirty="0"/>
          </a:p>
          <a:p>
            <a:pPr algn="l" indent="0" marL="0">
              <a:lnSpc>
                <a:spcPct val="118000"/>
              </a:lnSpc>
              <a:buNone/>
            </a:pPr>
            <a:endParaRPr lang="en-US" sz="1200" dirty="0"/>
          </a:p>
          <a:p>
            <a:pPr algn="l" indent="0" marL="0">
              <a:lnSpc>
                <a:spcPct val="118000"/>
              </a:lnSpc>
              <a:buNone/>
            </a:pPr>
            <a:r>
              <a:rPr lang="en-US" sz="1200" dirty="0">
                <a:solidFill>
                  <a:srgbClr val="3A423F"/>
                </a:solidFill>
                <a:latin typeface="Public Sans" pitchFamily="34" charset="0"/>
                <a:ea typeface="Public Sans" pitchFamily="34" charset="-122"/>
                <a:cs typeface="Public Sans" pitchFamily="34" charset="-120"/>
              </a:rPr>
              <a:t>Recompter une marque la semaine suivante ne demande donc qu’un inventaire de plus — et c’est ce qui rend le suivi de variance possible : deux mesures, deux rapports, l’écart de l’un à l’autre.</a:t>
            </a:r>
            <a:endParaRPr lang="en-US" sz="1200" dirty="0"/>
          </a:p>
        </p:txBody>
      </p:sp>
      <p:sp>
        <p:nvSpPr>
          <p:cNvPr id="15" name="Text 11"/>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note d’intention</a:t>
            </a:r>
            <a:endParaRPr lang="en-US" sz="900" dirty="0"/>
          </a:p>
        </p:txBody>
      </p:sp>
      <p:sp>
        <p:nvSpPr>
          <p:cNvPr id="16" name="Text 12"/>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Quantinvo · note d’intention</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243584"/>
            <a:ext cx="384048" cy="384048"/>
          </a:xfrm>
          <a:prstGeom prst="ellipse">
            <a:avLst/>
          </a:prstGeom>
          <a:solidFill>
            <a:srgbClr val="14181A"/>
          </a:solidFill>
          <a:ln>
            <a:solidFill>
              <a:srgbClr val="14181A"/>
            </a:solidFill>
          </a:ln>
        </p:spPr>
        <p:txBody>
          <a:bodyPr wrap="square" lIns="0" tIns="0" rIns="0" bIns="0" rtlCol="0" anchor="ctr"/>
          <a:lstStyle/>
          <a:p>
            <a:pPr algn="ctr" indent="0" marL="0">
              <a:buNone/>
            </a:pPr>
            <a:r>
              <a:rPr lang="en-US" sz="1200" b="1" dirty="0">
                <a:solidFill>
                  <a:srgbClr val="FFFFFF"/>
                </a:solidFill>
                <a:latin typeface="Archivo" pitchFamily="34" charset="0"/>
                <a:ea typeface="Archivo" pitchFamily="34" charset="-122"/>
                <a:cs typeface="Archivo" pitchFamily="34" charset="-120"/>
              </a:rPr>
              <a:t>3</a:t>
            </a:r>
            <a:endParaRPr lang="en-US" sz="1200" dirty="0"/>
          </a:p>
        </p:txBody>
      </p:sp>
      <p:sp>
        <p:nvSpPr>
          <p:cNvPr id="7" name="Text 4"/>
          <p:cNvSpPr/>
          <p:nvPr/>
        </p:nvSpPr>
        <p:spPr>
          <a:xfrm>
            <a:off x="1298448" y="1207008"/>
            <a:ext cx="3639312" cy="1371600"/>
          </a:xfrm>
          <a:prstGeom prst="rect">
            <a:avLst/>
          </a:prstGeom>
          <a:noFill/>
          <a:ln/>
        </p:spPr>
        <p:txBody>
          <a:bodyPr wrap="square" lIns="0" tIns="0" rIns="0" bIns="0" rtlCol="0" anchor="t"/>
          <a:lstStyle/>
          <a:p>
            <a:pPr indent="0" marL="0">
              <a:lnSpc>
                <a:spcPct val="105000"/>
              </a:lnSpc>
              <a:buNone/>
            </a:pPr>
            <a:r>
              <a:rPr lang="en-US" sz="2300" b="1" dirty="0">
                <a:solidFill>
                  <a:srgbClr val="14181A"/>
                </a:solidFill>
                <a:latin typeface="Archivo" pitchFamily="34" charset="0"/>
                <a:ea typeface="Archivo" pitchFamily="34" charset="-122"/>
                <a:cs typeface="Archivo" pitchFamily="34" charset="-120"/>
              </a:rPr>
              <a:t>Du matériel à commander,</a:t>
            </a:r>
            <a:endParaRPr lang="en-US" sz="2300" dirty="0"/>
          </a:p>
          <a:p>
            <a:pPr indent="0" marL="0">
              <a:lnSpc>
                <a:spcPct val="105000"/>
              </a:lnSpc>
              <a:buNone/>
            </a:pPr>
            <a:r>
              <a:rPr lang="en-US" sz="2300" b="1" dirty="0">
                <a:solidFill>
                  <a:srgbClr val="14181A"/>
                </a:solidFill>
                <a:latin typeface="Archivo" pitchFamily="34" charset="0"/>
                <a:ea typeface="Archivo" pitchFamily="34" charset="-122"/>
                <a:cs typeface="Archivo" pitchFamily="34" charset="-120"/>
              </a:rPr>
              <a:t>quand il est en poche</a:t>
            </a:r>
            <a:endParaRPr lang="en-US" sz="2300" dirty="0"/>
          </a:p>
        </p:txBody>
      </p:sp>
      <p:sp>
        <p:nvSpPr>
          <p:cNvPr id="8" name="Shape 5"/>
          <p:cNvSpPr/>
          <p:nvPr/>
        </p:nvSpPr>
        <p:spPr>
          <a:xfrm>
            <a:off x="731520" y="2542032"/>
            <a:ext cx="4206240" cy="0"/>
          </a:xfrm>
          <a:prstGeom prst="line">
            <a:avLst/>
          </a:prstGeom>
          <a:noFill/>
          <a:ln w="9525">
            <a:solidFill>
              <a:srgbClr val="E2E5E1"/>
            </a:solidFill>
            <a:prstDash val="solid"/>
          </a:ln>
        </p:spPr>
      </p:sp>
      <p:sp>
        <p:nvSpPr>
          <p:cNvPr id="9" name="Text 6"/>
          <p:cNvSpPr/>
          <p:nvPr/>
        </p:nvSpPr>
        <p:spPr>
          <a:xfrm>
            <a:off x="731520" y="2743200"/>
            <a:ext cx="4206240" cy="3383280"/>
          </a:xfrm>
          <a:prstGeom prst="rect">
            <a:avLst/>
          </a:prstGeom>
          <a:noFill/>
          <a:ln/>
        </p:spPr>
        <p:txBody>
          <a:bodyPr wrap="square" lIns="0" tIns="0" rIns="0" bIns="0" rtlCol="0" anchor="t"/>
          <a:lstStyle/>
          <a:p>
            <a:pPr indent="0" marL="0">
              <a:lnSpc>
                <a:spcPct val="118000"/>
              </a:lnSpc>
              <a:spcAft>
                <a:spcPts val="900"/>
              </a:spcAft>
              <a:buNone/>
            </a:pPr>
            <a:r>
              <a:rPr lang="en-US" sz="1150" b="1" dirty="0">
                <a:solidFill>
                  <a:srgbClr val="14181A"/>
                </a:solidFill>
                <a:latin typeface="Public Sans" pitchFamily="34" charset="0"/>
                <a:ea typeface="Public Sans" pitchFamily="34" charset="-122"/>
                <a:cs typeface="Public Sans" pitchFamily="34" charset="-120"/>
              </a:rPr>
              <a:t>Des terminaux en fin de vie. </a:t>
            </a:r>
            <a:pPr indent="0" marL="0">
              <a:lnSpc>
                <a:spcPct val="118000"/>
              </a:lnSpc>
              <a:spcAft>
                <a:spcPts val="900"/>
              </a:spcAft>
              <a:buNone/>
            </a:pPr>
            <a:r>
              <a:rPr lang="en-US" sz="1150" dirty="0">
                <a:solidFill>
                  <a:srgbClr val="3A423F"/>
                </a:solidFill>
                <a:latin typeface="Public Sans" pitchFamily="34" charset="0"/>
                <a:ea typeface="Public Sans" pitchFamily="34" charset="-122"/>
                <a:cs typeface="Public Sans" pitchFamily="34" charset="-120"/>
              </a:rPr>
              <a:t>Les scanners vieillissent et ne seront vraisemblablement plus renouvelés. Les remplacer, c’est acheter ou louer du matériel qui ne sert qu’à l’inventaire.</a:t>
            </a:r>
            <a:endParaRPr lang="en-US" sz="1150" dirty="0"/>
          </a:p>
          <a:p>
            <a:pPr indent="0" marL="0">
              <a:lnSpc>
                <a:spcPct val="118000"/>
              </a:lnSpc>
              <a:spcAft>
                <a:spcPts val="900"/>
              </a:spcAft>
              <a:buNone/>
            </a:pPr>
            <a:r>
              <a:rPr lang="en-US" sz="1150" b="1" dirty="0">
                <a:solidFill>
                  <a:srgbClr val="14181A"/>
                </a:solidFill>
                <a:latin typeface="Public Sans" pitchFamily="34" charset="0"/>
                <a:ea typeface="Public Sans" pitchFamily="34" charset="-122"/>
                <a:cs typeface="Public Sans" pitchFamily="34" charset="-120"/>
              </a:rPr>
              <a:t>Des balises qui viennent de loin. </a:t>
            </a:r>
            <a:pPr indent="0" marL="0">
              <a:lnSpc>
                <a:spcPct val="118000"/>
              </a:lnSpc>
              <a:spcAft>
                <a:spcPts val="900"/>
              </a:spcAft>
              <a:buNone/>
            </a:pPr>
            <a:r>
              <a:rPr lang="en-US" sz="1150" dirty="0">
                <a:solidFill>
                  <a:srgbClr val="3A423F"/>
                </a:solidFill>
                <a:latin typeface="Public Sans" pitchFamily="34" charset="0"/>
                <a:ea typeface="Public Sans" pitchFamily="34" charset="-122"/>
                <a:cs typeface="Public Sans" pitchFamily="34" charset="-120"/>
              </a:rPr>
              <a:t>Les étiquettes de zone se commandent au fournisseur quand le stock baisse et arrivent de l’étranger. Le bilan carbone n’est pas neutre.</a:t>
            </a:r>
            <a:endParaRPr lang="en-US" sz="1150" dirty="0"/>
          </a:p>
          <a:p>
            <a:pPr indent="0" marL="0">
              <a:lnSpc>
                <a:spcPct val="118000"/>
              </a:lnSpc>
              <a:spcAft>
                <a:spcPts val="900"/>
              </a:spcAft>
              <a:buNone/>
            </a:pPr>
            <a:r>
              <a:rPr lang="en-US" sz="1150" b="1" dirty="0">
                <a:solidFill>
                  <a:srgbClr val="14181A"/>
                </a:solidFill>
                <a:latin typeface="Public Sans" pitchFamily="34" charset="0"/>
                <a:ea typeface="Public Sans" pitchFamily="34" charset="-122"/>
                <a:cs typeface="Public Sans" pitchFamily="34" charset="-120"/>
              </a:rPr>
              <a:t>Et lisibles d’un seul appareil. </a:t>
            </a:r>
            <a:pPr indent="0" marL="0">
              <a:lnSpc>
                <a:spcPct val="118000"/>
              </a:lnSpc>
              <a:spcAft>
                <a:spcPts val="900"/>
              </a:spcAft>
              <a:buNone/>
            </a:pPr>
            <a:r>
              <a:rPr lang="en-US" sz="1150" dirty="0">
                <a:solidFill>
                  <a:srgbClr val="3A423F"/>
                </a:solidFill>
                <a:latin typeface="Public Sans" pitchFamily="34" charset="0"/>
                <a:ea typeface="Public Sans" pitchFamily="34" charset="-122"/>
                <a:cs typeface="Public Sans" pitchFamily="34" charset="-120"/>
              </a:rPr>
              <a:t>Leur encodage est propriétaire : seuls ses scanners les lisent. Une étiquette ne se remplace donc pas.</a:t>
            </a:r>
            <a:endParaRPr lang="en-US" sz="1150" dirty="0"/>
          </a:p>
        </p:txBody>
      </p:sp>
      <p:pic>
        <p:nvPicPr>
          <p:cNvPr id="10" name="Image 1" descr="preencoded.png">    </p:cNvPr>
          <p:cNvPicPr>
            <a:picLocks noChangeAspect="1"/>
          </p:cNvPicPr>
          <p:nvPr/>
        </p:nvPicPr>
        <p:blipFill>
          <a:blip r:embed="rId2"/>
          <a:stretch>
            <a:fillRect/>
          </a:stretch>
        </p:blipFill>
        <p:spPr>
          <a:xfrm>
            <a:off x="9486985" y="1783080"/>
            <a:ext cx="1970447" cy="4160520"/>
          </a:xfrm>
          <a:prstGeom prst="rect">
            <a:avLst/>
          </a:prstGeom>
        </p:spPr>
      </p:pic>
      <p:sp>
        <p:nvSpPr>
          <p:cNvPr id="11" name="Text 7"/>
          <p:cNvSpPr/>
          <p:nvPr/>
        </p:nvSpPr>
        <p:spPr>
          <a:xfrm>
            <a:off x="9029785" y="6071616"/>
            <a:ext cx="2884847" cy="329184"/>
          </a:xfrm>
          <a:prstGeom prst="rect">
            <a:avLst/>
          </a:prstGeom>
          <a:noFill/>
          <a:ln/>
        </p:spPr>
        <p:txBody>
          <a:bodyPr wrap="square" lIns="0" tIns="0" rIns="0" bIns="0" rtlCol="0" anchor="t"/>
          <a:lstStyle/>
          <a:p>
            <a:pPr algn="ctr" indent="0" marL="0">
              <a:buNone/>
            </a:pPr>
            <a:r>
              <a:rPr lang="en-US" sz="1000" i="1" dirty="0">
                <a:solidFill>
                  <a:srgbClr val="575F5C"/>
                </a:solidFill>
                <a:latin typeface="Public Sans" pitchFamily="34" charset="0"/>
                <a:ea typeface="Public Sans" pitchFamily="34" charset="-122"/>
                <a:cs typeface="Public Sans" pitchFamily="34" charset="-120"/>
              </a:rPr>
              <a:t>La planche de balises s’imprime sur place</a:t>
            </a:r>
            <a:endParaRPr lang="en-US" sz="1000" dirty="0"/>
          </a:p>
        </p:txBody>
      </p:sp>
      <p:sp>
        <p:nvSpPr>
          <p:cNvPr id="12" name="Text 8"/>
          <p:cNvSpPr/>
          <p:nvPr/>
        </p:nvSpPr>
        <p:spPr>
          <a:xfrm>
            <a:off x="5394960" y="1225296"/>
            <a:ext cx="3634825" cy="274320"/>
          </a:xfrm>
          <a:prstGeom prst="rect">
            <a:avLst/>
          </a:prstGeom>
          <a:noFill/>
          <a:ln/>
        </p:spPr>
        <p:txBody>
          <a:bodyPr wrap="square" lIns="0" tIns="0" rIns="0" bIns="0" rtlCol="0" anchor="t"/>
          <a:lstStyle/>
          <a:p>
            <a:pPr indent="0" marL="0">
              <a:buNone/>
            </a:pPr>
            <a:r>
              <a:rPr lang="en-US" sz="950" b="1" spc="60" kern="0" dirty="0">
                <a:solidFill>
                  <a:srgbClr val="575F5C"/>
                </a:solidFill>
                <a:latin typeface="Public Sans" pitchFamily="34" charset="0"/>
                <a:ea typeface="Public Sans" pitchFamily="34" charset="-122"/>
                <a:cs typeface="Public Sans" pitchFamily="34" charset="-120"/>
              </a:rPr>
              <a:t>CE QUE QUANTINVO FAIT</a:t>
            </a:r>
            <a:endParaRPr lang="en-US" sz="950" dirty="0"/>
          </a:p>
        </p:txBody>
      </p:sp>
      <p:sp>
        <p:nvSpPr>
          <p:cNvPr id="13" name="Shape 9"/>
          <p:cNvSpPr/>
          <p:nvPr/>
        </p:nvSpPr>
        <p:spPr>
          <a:xfrm>
            <a:off x="5394960" y="1572768"/>
            <a:ext cx="3634825" cy="0"/>
          </a:xfrm>
          <a:prstGeom prst="line">
            <a:avLst/>
          </a:prstGeom>
          <a:noFill/>
          <a:ln w="9525">
            <a:solidFill>
              <a:srgbClr val="E2E5E1"/>
            </a:solidFill>
            <a:prstDash val="solid"/>
          </a:ln>
        </p:spPr>
      </p:sp>
      <p:sp>
        <p:nvSpPr>
          <p:cNvPr id="14" name="Text 10"/>
          <p:cNvSpPr/>
          <p:nvPr/>
        </p:nvSpPr>
        <p:spPr>
          <a:xfrm>
            <a:off x="5394960" y="1755648"/>
            <a:ext cx="3634825" cy="402336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Public Sans" pitchFamily="34" charset="0"/>
                <a:ea typeface="Public Sans" pitchFamily="34" charset="-122"/>
                <a:cs typeface="Public Sans" pitchFamily="34" charset="-120"/>
              </a:rPr>
              <a:t>Quantinvo compte avec le téléphone que chacun a déjà — un iPhone récent, suivi par Apple pour plusieurs années encore. Zéro matériel à acheter, à louer ou à charger la veille. Une douchette Bluetooth se branche pour qui préfère.</a:t>
            </a:r>
            <a:endParaRPr lang="en-US" sz="1200" dirty="0"/>
          </a:p>
          <a:p>
            <a:pPr algn="l" indent="0" marL="0">
              <a:lnSpc>
                <a:spcPct val="118000"/>
              </a:lnSpc>
              <a:buNone/>
            </a:pPr>
            <a:endParaRPr lang="en-US" sz="1200" dirty="0"/>
          </a:p>
          <a:p>
            <a:pPr algn="l" indent="0" marL="0">
              <a:lnSpc>
                <a:spcPct val="118000"/>
              </a:lnSpc>
              <a:buNone/>
            </a:pPr>
            <a:r>
              <a:rPr lang="en-US" sz="1200" dirty="0">
                <a:solidFill>
                  <a:srgbClr val="3A423F"/>
                </a:solidFill>
                <a:latin typeface="Public Sans" pitchFamily="34" charset="0"/>
                <a:ea typeface="Public Sans" pitchFamily="34" charset="-122"/>
                <a:cs typeface="Public Sans" pitchFamily="34" charset="-120"/>
              </a:rPr>
              <a:t>Les balises s’impriment dans le magasin, sur du papier ordinaire, en choisissant la numérotation. Ce sont des QR standards : n’importe quel appareil photo les lit.</a:t>
            </a:r>
            <a:endParaRPr lang="en-US" sz="1200" dirty="0"/>
          </a:p>
        </p:txBody>
      </p:sp>
      <p:sp>
        <p:nvSpPr>
          <p:cNvPr id="15" name="Text 11"/>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note d’intention</a:t>
            </a:r>
            <a:endParaRPr lang="en-US" sz="900" dirty="0"/>
          </a:p>
        </p:txBody>
      </p:sp>
      <p:sp>
        <p:nvSpPr>
          <p:cNvPr id="16" name="Text 12"/>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Quantinvo · note d’intention</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243584"/>
            <a:ext cx="384048" cy="384048"/>
          </a:xfrm>
          <a:prstGeom prst="ellipse">
            <a:avLst/>
          </a:prstGeom>
          <a:solidFill>
            <a:srgbClr val="14181A"/>
          </a:solidFill>
          <a:ln>
            <a:solidFill>
              <a:srgbClr val="14181A"/>
            </a:solidFill>
          </a:ln>
        </p:spPr>
        <p:txBody>
          <a:bodyPr wrap="square" lIns="0" tIns="0" rIns="0" bIns="0" rtlCol="0" anchor="ctr"/>
          <a:lstStyle/>
          <a:p>
            <a:pPr algn="ctr" indent="0" marL="0">
              <a:buNone/>
            </a:pPr>
            <a:r>
              <a:rPr lang="en-US" sz="1200" b="1" dirty="0">
                <a:solidFill>
                  <a:srgbClr val="FFFFFF"/>
                </a:solidFill>
                <a:latin typeface="Archivo" pitchFamily="34" charset="0"/>
                <a:ea typeface="Archivo" pitchFamily="34" charset="-122"/>
                <a:cs typeface="Archivo" pitchFamily="34" charset="-120"/>
              </a:rPr>
              <a:t>4</a:t>
            </a:r>
            <a:endParaRPr lang="en-US" sz="1200" dirty="0"/>
          </a:p>
        </p:txBody>
      </p:sp>
      <p:sp>
        <p:nvSpPr>
          <p:cNvPr id="7" name="Text 4"/>
          <p:cNvSpPr/>
          <p:nvPr/>
        </p:nvSpPr>
        <p:spPr>
          <a:xfrm>
            <a:off x="1298448" y="1207008"/>
            <a:ext cx="3639312" cy="1371600"/>
          </a:xfrm>
          <a:prstGeom prst="rect">
            <a:avLst/>
          </a:prstGeom>
          <a:noFill/>
          <a:ln/>
        </p:spPr>
        <p:txBody>
          <a:bodyPr wrap="square" lIns="0" tIns="0" rIns="0" bIns="0" rtlCol="0" anchor="t"/>
          <a:lstStyle/>
          <a:p>
            <a:pPr indent="0" marL="0">
              <a:lnSpc>
                <a:spcPct val="105000"/>
              </a:lnSpc>
              <a:buNone/>
            </a:pPr>
            <a:r>
              <a:rPr lang="en-US" sz="2300" b="1" dirty="0">
                <a:solidFill>
                  <a:srgbClr val="14181A"/>
                </a:solidFill>
                <a:latin typeface="Archivo" pitchFamily="34" charset="0"/>
                <a:ea typeface="Archivo" pitchFamily="34" charset="-122"/>
                <a:cs typeface="Archivo" pitchFamily="34" charset="-120"/>
              </a:rPr>
              <a:t>Un référentiel</a:t>
            </a:r>
            <a:endParaRPr lang="en-US" sz="2300" dirty="0"/>
          </a:p>
          <a:p>
            <a:pPr indent="0" marL="0">
              <a:lnSpc>
                <a:spcPct val="105000"/>
              </a:lnSpc>
              <a:buNone/>
            </a:pPr>
            <a:r>
              <a:rPr lang="en-US" sz="2300" b="1" dirty="0">
                <a:solidFill>
                  <a:srgbClr val="14181A"/>
                </a:solidFill>
                <a:latin typeface="Archivo" pitchFamily="34" charset="0"/>
                <a:ea typeface="Archivo" pitchFamily="34" charset="-122"/>
                <a:cs typeface="Archivo" pitchFamily="34" charset="-120"/>
              </a:rPr>
              <a:t>qui date du mois de mars</a:t>
            </a:r>
            <a:endParaRPr lang="en-US" sz="2300" dirty="0"/>
          </a:p>
        </p:txBody>
      </p:sp>
      <p:sp>
        <p:nvSpPr>
          <p:cNvPr id="8" name="Shape 5"/>
          <p:cNvSpPr/>
          <p:nvPr/>
        </p:nvSpPr>
        <p:spPr>
          <a:xfrm>
            <a:off x="731520" y="2542032"/>
            <a:ext cx="4206240" cy="0"/>
          </a:xfrm>
          <a:prstGeom prst="line">
            <a:avLst/>
          </a:prstGeom>
          <a:noFill/>
          <a:ln w="9525">
            <a:solidFill>
              <a:srgbClr val="E2E5E1"/>
            </a:solidFill>
            <a:prstDash val="solid"/>
          </a:ln>
        </p:spPr>
      </p:sp>
      <p:sp>
        <p:nvSpPr>
          <p:cNvPr id="9" name="Text 6"/>
          <p:cNvSpPr/>
          <p:nvPr/>
        </p:nvSpPr>
        <p:spPr>
          <a:xfrm>
            <a:off x="731520" y="2743200"/>
            <a:ext cx="4206240" cy="3383280"/>
          </a:xfrm>
          <a:prstGeom prst="rect">
            <a:avLst/>
          </a:prstGeom>
          <a:noFill/>
          <a:ln/>
        </p:spPr>
        <p:txBody>
          <a:bodyPr wrap="square" lIns="0" tIns="0" rIns="0" bIns="0" rtlCol="0" anchor="t"/>
          <a:lstStyle/>
          <a:p>
            <a:pPr indent="0" marL="0">
              <a:lnSpc>
                <a:spcPct val="118000"/>
              </a:lnSpc>
              <a:spcAft>
                <a:spcPts val="900"/>
              </a:spcAft>
              <a:buNone/>
            </a:pPr>
            <a:r>
              <a:rPr lang="en-US" sz="1150" b="1" dirty="0">
                <a:solidFill>
                  <a:srgbClr val="14181A"/>
                </a:solidFill>
                <a:latin typeface="Public Sans" pitchFamily="34" charset="0"/>
                <a:ea typeface="Public Sans" pitchFamily="34" charset="-122"/>
                <a:cs typeface="Public Sans" pitchFamily="34" charset="-120"/>
              </a:rPr>
              <a:t>La base n’est plus mise à jour. </a:t>
            </a:r>
            <a:pPr indent="0" marL="0">
              <a:lnSpc>
                <a:spcPct val="118000"/>
              </a:lnSpc>
              <a:spcAft>
                <a:spcPts val="900"/>
              </a:spcAft>
              <a:buNone/>
            </a:pPr>
            <a:r>
              <a:rPr lang="en-US" sz="1150" dirty="0">
                <a:solidFill>
                  <a:srgbClr val="3A423F"/>
                </a:solidFill>
                <a:latin typeface="Public Sans" pitchFamily="34" charset="0"/>
                <a:ea typeface="Public Sans" pitchFamily="34" charset="-122"/>
                <a:cs typeface="Public Sans" pitchFamily="34" charset="-120"/>
              </a:rPr>
              <a:t>Les inventaires d’aujourd’hui se font sur des données arrêtées il y a des mois. Tout ce qui est entré depuis est inconnu.</a:t>
            </a:r>
            <a:endParaRPr lang="en-US" sz="1150" dirty="0"/>
          </a:p>
          <a:p>
            <a:pPr indent="0" marL="0">
              <a:lnSpc>
                <a:spcPct val="118000"/>
              </a:lnSpc>
              <a:spcAft>
                <a:spcPts val="900"/>
              </a:spcAft>
              <a:buNone/>
            </a:pPr>
            <a:r>
              <a:rPr lang="en-US" sz="1150" b="1" dirty="0">
                <a:solidFill>
                  <a:srgbClr val="14181A"/>
                </a:solidFill>
                <a:latin typeface="Public Sans" pitchFamily="34" charset="0"/>
                <a:ea typeface="Public Sans" pitchFamily="34" charset="-122"/>
                <a:cs typeface="Public Sans" pitchFamily="34" charset="-120"/>
              </a:rPr>
              <a:t>La rafraîchir mobilise l’informatique. </a:t>
            </a:r>
            <a:pPr indent="0" marL="0">
              <a:lnSpc>
                <a:spcPct val="118000"/>
              </a:lnSpc>
              <a:spcAft>
                <a:spcPts val="900"/>
              </a:spcAft>
              <a:buNone/>
            </a:pPr>
            <a:r>
              <a:rPr lang="en-US" sz="1150" dirty="0">
                <a:solidFill>
                  <a:srgbClr val="3A423F"/>
                </a:solidFill>
                <a:latin typeface="Public Sans" pitchFamily="34" charset="0"/>
                <a:ea typeface="Public Sans" pitchFamily="34" charset="-122"/>
                <a:cs typeface="Public Sans" pitchFamily="34" charset="-120"/>
              </a:rPr>
              <a:t>L’envoi des données au fournisseur n’est pas automatisé : il faut une équipe IT pour chaque mise à jour.</a:t>
            </a:r>
            <a:endParaRPr lang="en-US" sz="1150" dirty="0"/>
          </a:p>
          <a:p>
            <a:pPr indent="0" marL="0">
              <a:lnSpc>
                <a:spcPct val="118000"/>
              </a:lnSpc>
              <a:spcAft>
                <a:spcPts val="900"/>
              </a:spcAft>
              <a:buNone/>
            </a:pPr>
            <a:r>
              <a:rPr lang="en-US" sz="1150" b="1" dirty="0">
                <a:solidFill>
                  <a:srgbClr val="14181A"/>
                </a:solidFill>
                <a:latin typeface="Public Sans" pitchFamily="34" charset="0"/>
                <a:ea typeface="Public Sans" pitchFamily="34" charset="-122"/>
                <a:cs typeface="Public Sans" pitchFamily="34" charset="-120"/>
              </a:rPr>
              <a:t>Ce qui manque ne se scanne pas. </a:t>
            </a:r>
            <a:pPr indent="0" marL="0">
              <a:lnSpc>
                <a:spcPct val="118000"/>
              </a:lnSpc>
              <a:spcAft>
                <a:spcPts val="900"/>
              </a:spcAft>
              <a:buNone/>
            </a:pPr>
            <a:r>
              <a:rPr lang="en-US" sz="1150" dirty="0">
                <a:solidFill>
                  <a:srgbClr val="3A423F"/>
                </a:solidFill>
                <a:latin typeface="Public Sans" pitchFamily="34" charset="0"/>
                <a:ea typeface="Public Sans" pitchFamily="34" charset="-122"/>
                <a:cs typeface="Public Sans" pitchFamily="34" charset="-120"/>
              </a:rPr>
              <a:t>Seuls les articles connus de la base sont reconnus par le scanner. Le reste se traite à la main, après coup.</a:t>
            </a:r>
            <a:endParaRPr lang="en-US" sz="1150" dirty="0"/>
          </a:p>
        </p:txBody>
      </p:sp>
      <p:pic>
        <p:nvPicPr>
          <p:cNvPr id="10" name="Image 1" descr="preencoded.png">    </p:cNvPr>
          <p:cNvPicPr>
            <a:picLocks noChangeAspect="1"/>
          </p:cNvPicPr>
          <p:nvPr/>
        </p:nvPicPr>
        <p:blipFill>
          <a:blip r:embed="rId2"/>
          <a:stretch>
            <a:fillRect/>
          </a:stretch>
        </p:blipFill>
        <p:spPr>
          <a:xfrm>
            <a:off x="9486985" y="1783080"/>
            <a:ext cx="1970447" cy="4160520"/>
          </a:xfrm>
          <a:prstGeom prst="rect">
            <a:avLst/>
          </a:prstGeom>
        </p:spPr>
      </p:pic>
      <p:sp>
        <p:nvSpPr>
          <p:cNvPr id="11" name="Text 7"/>
          <p:cNvSpPr/>
          <p:nvPr/>
        </p:nvSpPr>
        <p:spPr>
          <a:xfrm>
            <a:off x="9029785" y="6071616"/>
            <a:ext cx="2884847" cy="329184"/>
          </a:xfrm>
          <a:prstGeom prst="rect">
            <a:avLst/>
          </a:prstGeom>
          <a:noFill/>
          <a:ln/>
        </p:spPr>
        <p:txBody>
          <a:bodyPr wrap="square" lIns="0" tIns="0" rIns="0" bIns="0" rtlCol="0" anchor="t"/>
          <a:lstStyle/>
          <a:p>
            <a:pPr algn="ctr" indent="0" marL="0">
              <a:buNone/>
            </a:pPr>
            <a:r>
              <a:rPr lang="en-US" sz="1000" i="1" dirty="0">
                <a:solidFill>
                  <a:srgbClr val="575F5C"/>
                </a:solidFill>
                <a:latin typeface="Public Sans" pitchFamily="34" charset="0"/>
                <a:ea typeface="Public Sans" pitchFamily="34" charset="-122"/>
                <a:cs typeface="Public Sans" pitchFamily="34" charset="-120"/>
              </a:rPr>
              <a:t>Le référentiel se charge depuis un tableur</a:t>
            </a:r>
            <a:endParaRPr lang="en-US" sz="1000" dirty="0"/>
          </a:p>
        </p:txBody>
      </p:sp>
      <p:sp>
        <p:nvSpPr>
          <p:cNvPr id="12" name="Text 8"/>
          <p:cNvSpPr/>
          <p:nvPr/>
        </p:nvSpPr>
        <p:spPr>
          <a:xfrm>
            <a:off x="5394960" y="1225296"/>
            <a:ext cx="3634825" cy="274320"/>
          </a:xfrm>
          <a:prstGeom prst="rect">
            <a:avLst/>
          </a:prstGeom>
          <a:noFill/>
          <a:ln/>
        </p:spPr>
        <p:txBody>
          <a:bodyPr wrap="square" lIns="0" tIns="0" rIns="0" bIns="0" rtlCol="0" anchor="t"/>
          <a:lstStyle/>
          <a:p>
            <a:pPr indent="0" marL="0">
              <a:buNone/>
            </a:pPr>
            <a:r>
              <a:rPr lang="en-US" sz="950" b="1" spc="60" kern="0" dirty="0">
                <a:solidFill>
                  <a:srgbClr val="575F5C"/>
                </a:solidFill>
                <a:latin typeface="Public Sans" pitchFamily="34" charset="0"/>
                <a:ea typeface="Public Sans" pitchFamily="34" charset="-122"/>
                <a:cs typeface="Public Sans" pitchFamily="34" charset="-120"/>
              </a:rPr>
              <a:t>CE QUE QUANTINVO FAIT</a:t>
            </a:r>
            <a:endParaRPr lang="en-US" sz="950" dirty="0"/>
          </a:p>
        </p:txBody>
      </p:sp>
      <p:sp>
        <p:nvSpPr>
          <p:cNvPr id="13" name="Shape 9"/>
          <p:cNvSpPr/>
          <p:nvPr/>
        </p:nvSpPr>
        <p:spPr>
          <a:xfrm>
            <a:off x="5394960" y="1572768"/>
            <a:ext cx="3634825" cy="0"/>
          </a:xfrm>
          <a:prstGeom prst="line">
            <a:avLst/>
          </a:prstGeom>
          <a:noFill/>
          <a:ln w="9525">
            <a:solidFill>
              <a:srgbClr val="E2E5E1"/>
            </a:solidFill>
            <a:prstDash val="solid"/>
          </a:ln>
        </p:spPr>
      </p:sp>
      <p:sp>
        <p:nvSpPr>
          <p:cNvPr id="14" name="Text 10"/>
          <p:cNvSpPr/>
          <p:nvPr/>
        </p:nvSpPr>
        <p:spPr>
          <a:xfrm>
            <a:off x="5394960" y="1755648"/>
            <a:ext cx="3634825" cy="402336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Public Sans" pitchFamily="34" charset="0"/>
                <a:ea typeface="Public Sans" pitchFamily="34" charset="-122"/>
                <a:cs typeface="Public Sans" pitchFamily="34" charset="-120"/>
              </a:rPr>
              <a:t>Le superviseur charge ses fichiers lui-même, au début de chaque inventaire : le référentiel articles, et le stock théorique si le magasin en a un. Un tableur, deux minutes, aucun intermédiaire — donc une base à jour à chaque comptage.</a:t>
            </a:r>
            <a:endParaRPr lang="en-US" sz="1200" dirty="0"/>
          </a:p>
          <a:p>
            <a:pPr algn="l" indent="0" marL="0">
              <a:lnSpc>
                <a:spcPct val="118000"/>
              </a:lnSpc>
              <a:buNone/>
            </a:pPr>
            <a:endParaRPr lang="en-US" sz="1200" dirty="0"/>
          </a:p>
          <a:p>
            <a:pPr algn="l" indent="0" marL="0">
              <a:lnSpc>
                <a:spcPct val="118000"/>
              </a:lnSpc>
              <a:buNone/>
            </a:pPr>
            <a:r>
              <a:rPr lang="en-US" sz="1200" dirty="0">
                <a:solidFill>
                  <a:srgbClr val="3A423F"/>
                </a:solidFill>
                <a:latin typeface="Public Sans" pitchFamily="34" charset="0"/>
                <a:ea typeface="Public Sans" pitchFamily="34" charset="-122"/>
                <a:cs typeface="Public Sans" pitchFamily="34" charset="-120"/>
              </a:rPr>
              <a:t>Un article absent se crée sur place, au moment du scan : on ne s’arrête pas, et il figure au rapport.</a:t>
            </a:r>
            <a:endParaRPr lang="en-US" sz="1200" dirty="0"/>
          </a:p>
        </p:txBody>
      </p:sp>
      <p:sp>
        <p:nvSpPr>
          <p:cNvPr id="15" name="Text 11"/>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note d’intention</a:t>
            </a:r>
            <a:endParaRPr lang="en-US" sz="900" dirty="0"/>
          </a:p>
        </p:txBody>
      </p:sp>
      <p:sp>
        <p:nvSpPr>
          <p:cNvPr id="16" name="Text 12"/>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Quantinvo · note d’intention</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243584"/>
            <a:ext cx="384048" cy="384048"/>
          </a:xfrm>
          <a:prstGeom prst="ellipse">
            <a:avLst/>
          </a:prstGeom>
          <a:solidFill>
            <a:srgbClr val="14181A"/>
          </a:solidFill>
          <a:ln>
            <a:solidFill>
              <a:srgbClr val="14181A"/>
            </a:solidFill>
          </a:ln>
        </p:spPr>
        <p:txBody>
          <a:bodyPr wrap="square" lIns="0" tIns="0" rIns="0" bIns="0" rtlCol="0" anchor="ctr"/>
          <a:lstStyle/>
          <a:p>
            <a:pPr algn="ctr" indent="0" marL="0">
              <a:buNone/>
            </a:pPr>
            <a:r>
              <a:rPr lang="en-US" sz="1200" b="1" dirty="0">
                <a:solidFill>
                  <a:srgbClr val="FFFFFF"/>
                </a:solidFill>
                <a:latin typeface="Archivo" pitchFamily="34" charset="0"/>
                <a:ea typeface="Archivo" pitchFamily="34" charset="-122"/>
                <a:cs typeface="Archivo" pitchFamily="34" charset="-120"/>
              </a:rPr>
              <a:t>5</a:t>
            </a:r>
            <a:endParaRPr lang="en-US" sz="1200" dirty="0"/>
          </a:p>
        </p:txBody>
      </p:sp>
      <p:sp>
        <p:nvSpPr>
          <p:cNvPr id="7" name="Text 4"/>
          <p:cNvSpPr/>
          <p:nvPr/>
        </p:nvSpPr>
        <p:spPr>
          <a:xfrm>
            <a:off x="1298448" y="1207008"/>
            <a:ext cx="3639312" cy="1371600"/>
          </a:xfrm>
          <a:prstGeom prst="rect">
            <a:avLst/>
          </a:prstGeom>
          <a:noFill/>
          <a:ln/>
        </p:spPr>
        <p:txBody>
          <a:bodyPr wrap="square" lIns="0" tIns="0" rIns="0" bIns="0" rtlCol="0" anchor="t"/>
          <a:lstStyle/>
          <a:p>
            <a:pPr indent="0" marL="0">
              <a:lnSpc>
                <a:spcPct val="105000"/>
              </a:lnSpc>
              <a:buNone/>
            </a:pPr>
            <a:r>
              <a:rPr lang="en-US" sz="2300" b="1" dirty="0">
                <a:solidFill>
                  <a:srgbClr val="14181A"/>
                </a:solidFill>
                <a:latin typeface="Archivo" pitchFamily="34" charset="0"/>
                <a:ea typeface="Archivo" pitchFamily="34" charset="-122"/>
                <a:cs typeface="Archivo" pitchFamily="34" charset="-120"/>
              </a:rPr>
              <a:t>Des zones imposées,</a:t>
            </a:r>
            <a:endParaRPr lang="en-US" sz="2300" dirty="0"/>
          </a:p>
          <a:p>
            <a:pPr indent="0" marL="0">
              <a:lnSpc>
                <a:spcPct val="105000"/>
              </a:lnSpc>
              <a:buNone/>
            </a:pPr>
            <a:r>
              <a:rPr lang="en-US" sz="2300" b="1" dirty="0">
                <a:solidFill>
                  <a:srgbClr val="14181A"/>
                </a:solidFill>
                <a:latin typeface="Archivo" pitchFamily="34" charset="0"/>
                <a:ea typeface="Archivo" pitchFamily="34" charset="-122"/>
                <a:cs typeface="Archivo" pitchFamily="34" charset="-120"/>
              </a:rPr>
              <a:t>qu’il faut traduire</a:t>
            </a:r>
            <a:endParaRPr lang="en-US" sz="2300" dirty="0"/>
          </a:p>
        </p:txBody>
      </p:sp>
      <p:sp>
        <p:nvSpPr>
          <p:cNvPr id="8" name="Shape 5"/>
          <p:cNvSpPr/>
          <p:nvPr/>
        </p:nvSpPr>
        <p:spPr>
          <a:xfrm>
            <a:off x="731520" y="2542032"/>
            <a:ext cx="4206240" cy="0"/>
          </a:xfrm>
          <a:prstGeom prst="line">
            <a:avLst/>
          </a:prstGeom>
          <a:noFill/>
          <a:ln w="9525">
            <a:solidFill>
              <a:srgbClr val="E2E5E1"/>
            </a:solidFill>
            <a:prstDash val="solid"/>
          </a:ln>
        </p:spPr>
      </p:sp>
      <p:sp>
        <p:nvSpPr>
          <p:cNvPr id="9" name="Text 6"/>
          <p:cNvSpPr/>
          <p:nvPr/>
        </p:nvSpPr>
        <p:spPr>
          <a:xfrm>
            <a:off x="731520" y="2743200"/>
            <a:ext cx="4206240" cy="3383280"/>
          </a:xfrm>
          <a:prstGeom prst="rect">
            <a:avLst/>
          </a:prstGeom>
          <a:noFill/>
          <a:ln/>
        </p:spPr>
        <p:txBody>
          <a:bodyPr wrap="square" lIns="0" tIns="0" rIns="0" bIns="0" rtlCol="0" anchor="t"/>
          <a:lstStyle/>
          <a:p>
            <a:pPr indent="0" marL="0">
              <a:lnSpc>
                <a:spcPct val="118000"/>
              </a:lnSpc>
              <a:spcAft>
                <a:spcPts val="900"/>
              </a:spcAft>
              <a:buNone/>
            </a:pPr>
            <a:r>
              <a:rPr lang="en-US" sz="1150" b="1" dirty="0">
                <a:solidFill>
                  <a:srgbClr val="14181A"/>
                </a:solidFill>
                <a:latin typeface="Public Sans" pitchFamily="34" charset="0"/>
                <a:ea typeface="Public Sans" pitchFamily="34" charset="-122"/>
                <a:cs typeface="Public Sans" pitchFamily="34" charset="-120"/>
              </a:rPr>
              <a:t>La liste est figée. </a:t>
            </a:r>
            <a:pPr indent="0" marL="0">
              <a:lnSpc>
                <a:spcPct val="118000"/>
              </a:lnSpc>
              <a:spcAft>
                <a:spcPts val="900"/>
              </a:spcAft>
              <a:buNone/>
            </a:pPr>
            <a:r>
              <a:rPr lang="en-US" sz="1150" dirty="0">
                <a:solidFill>
                  <a:srgbClr val="3A423F"/>
                </a:solidFill>
                <a:latin typeface="Public Sans" pitchFamily="34" charset="0"/>
                <a:ea typeface="Public Sans" pitchFamily="34" charset="-122"/>
                <a:cs typeface="Public Sans" pitchFamily="34" charset="-120"/>
              </a:rPr>
              <a:t>Salesfloor, stock room, Luxury, sportswear : on choisit dans une liste, et on ne peut pas nommer la zone comme le magasin la nomme.</a:t>
            </a:r>
            <a:endParaRPr lang="en-US" sz="1150" dirty="0"/>
          </a:p>
          <a:p>
            <a:pPr indent="0" marL="0">
              <a:lnSpc>
                <a:spcPct val="118000"/>
              </a:lnSpc>
              <a:spcAft>
                <a:spcPts val="900"/>
              </a:spcAft>
              <a:buNone/>
            </a:pPr>
            <a:r>
              <a:rPr lang="en-US" sz="1150" b="1" dirty="0">
                <a:solidFill>
                  <a:srgbClr val="14181A"/>
                </a:solidFill>
                <a:latin typeface="Public Sans" pitchFamily="34" charset="0"/>
                <a:ea typeface="Public Sans" pitchFamily="34" charset="-122"/>
                <a:cs typeface="Public Sans" pitchFamily="34" charset="-120"/>
              </a:rPr>
              <a:t>Donc une traduction tenue à côté. </a:t>
            </a:r>
            <a:pPr indent="0" marL="0">
              <a:lnSpc>
                <a:spcPct val="118000"/>
              </a:lnSpc>
              <a:spcAft>
                <a:spcPts val="900"/>
              </a:spcAft>
              <a:buNone/>
            </a:pPr>
            <a:r>
              <a:rPr lang="en-US" sz="1150" dirty="0">
                <a:solidFill>
                  <a:srgbClr val="3A423F"/>
                </a:solidFill>
                <a:latin typeface="Public Sans" pitchFamily="34" charset="0"/>
                <a:ea typeface="Public Sans" pitchFamily="34" charset="-122"/>
                <a:cs typeface="Public Sans" pitchFamily="34" charset="-120"/>
              </a:rPr>
              <a:t>Il faut noter quelque part quelle zone de la plateforme correspond à quel endroit réel. C’est une source d’erreur qui n’a aucune raison d’exister.</a:t>
            </a:r>
            <a:endParaRPr lang="en-US" sz="1150" dirty="0"/>
          </a:p>
        </p:txBody>
      </p:sp>
      <p:pic>
        <p:nvPicPr>
          <p:cNvPr id="10" name="Image 1" descr="preencoded.png">    </p:cNvPr>
          <p:cNvPicPr>
            <a:picLocks noChangeAspect="1"/>
          </p:cNvPicPr>
          <p:nvPr/>
        </p:nvPicPr>
        <p:blipFill>
          <a:blip r:embed="rId2"/>
          <a:stretch>
            <a:fillRect/>
          </a:stretch>
        </p:blipFill>
        <p:spPr>
          <a:xfrm>
            <a:off x="9486985" y="1783080"/>
            <a:ext cx="1970447" cy="4160520"/>
          </a:xfrm>
          <a:prstGeom prst="rect">
            <a:avLst/>
          </a:prstGeom>
        </p:spPr>
      </p:pic>
      <p:sp>
        <p:nvSpPr>
          <p:cNvPr id="11" name="Text 7"/>
          <p:cNvSpPr/>
          <p:nvPr/>
        </p:nvSpPr>
        <p:spPr>
          <a:xfrm>
            <a:off x="9029785" y="6071616"/>
            <a:ext cx="2884847" cy="329184"/>
          </a:xfrm>
          <a:prstGeom prst="rect">
            <a:avLst/>
          </a:prstGeom>
          <a:noFill/>
          <a:ln/>
        </p:spPr>
        <p:txBody>
          <a:bodyPr wrap="square" lIns="0" tIns="0" rIns="0" bIns="0" rtlCol="0" anchor="t"/>
          <a:lstStyle/>
          <a:p>
            <a:pPr algn="ctr" indent="0" marL="0">
              <a:buNone/>
            </a:pPr>
            <a:r>
              <a:rPr lang="en-US" sz="1000" i="1" dirty="0">
                <a:solidFill>
                  <a:srgbClr val="575F5C"/>
                </a:solidFill>
                <a:latin typeface="Public Sans" pitchFamily="34" charset="0"/>
                <a:ea typeface="Public Sans" pitchFamily="34" charset="-122"/>
                <a:cs typeface="Public Sans" pitchFamily="34" charset="-120"/>
              </a:rPr>
              <a:t>L’emplacement porte le nom du magasin</a:t>
            </a:r>
            <a:endParaRPr lang="en-US" sz="1000" dirty="0"/>
          </a:p>
        </p:txBody>
      </p:sp>
      <p:sp>
        <p:nvSpPr>
          <p:cNvPr id="12" name="Text 8"/>
          <p:cNvSpPr/>
          <p:nvPr/>
        </p:nvSpPr>
        <p:spPr>
          <a:xfrm>
            <a:off x="5394960" y="1225296"/>
            <a:ext cx="3634825" cy="274320"/>
          </a:xfrm>
          <a:prstGeom prst="rect">
            <a:avLst/>
          </a:prstGeom>
          <a:noFill/>
          <a:ln/>
        </p:spPr>
        <p:txBody>
          <a:bodyPr wrap="square" lIns="0" tIns="0" rIns="0" bIns="0" rtlCol="0" anchor="t"/>
          <a:lstStyle/>
          <a:p>
            <a:pPr indent="0" marL="0">
              <a:buNone/>
            </a:pPr>
            <a:r>
              <a:rPr lang="en-US" sz="950" b="1" spc="60" kern="0" dirty="0">
                <a:solidFill>
                  <a:srgbClr val="575F5C"/>
                </a:solidFill>
                <a:latin typeface="Public Sans" pitchFamily="34" charset="0"/>
                <a:ea typeface="Public Sans" pitchFamily="34" charset="-122"/>
                <a:cs typeface="Public Sans" pitchFamily="34" charset="-120"/>
              </a:rPr>
              <a:t>CE QUE QUANTINVO FAIT</a:t>
            </a:r>
            <a:endParaRPr lang="en-US" sz="950" dirty="0"/>
          </a:p>
        </p:txBody>
      </p:sp>
      <p:sp>
        <p:nvSpPr>
          <p:cNvPr id="13" name="Shape 9"/>
          <p:cNvSpPr/>
          <p:nvPr/>
        </p:nvSpPr>
        <p:spPr>
          <a:xfrm>
            <a:off x="5394960" y="1572768"/>
            <a:ext cx="3634825" cy="0"/>
          </a:xfrm>
          <a:prstGeom prst="line">
            <a:avLst/>
          </a:prstGeom>
          <a:noFill/>
          <a:ln w="9525">
            <a:solidFill>
              <a:srgbClr val="E2E5E1"/>
            </a:solidFill>
            <a:prstDash val="solid"/>
          </a:ln>
        </p:spPr>
      </p:sp>
      <p:sp>
        <p:nvSpPr>
          <p:cNvPr id="14" name="Text 10"/>
          <p:cNvSpPr/>
          <p:nvPr/>
        </p:nvSpPr>
        <p:spPr>
          <a:xfrm>
            <a:off x="5394960" y="1755648"/>
            <a:ext cx="3634825" cy="402336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Public Sans" pitchFamily="34" charset="0"/>
                <a:ea typeface="Public Sans" pitchFamily="34" charset="-122"/>
                <a:cs typeface="Public Sans" pitchFamily="34" charset="-120"/>
              </a:rPr>
              <a:t>Le magasin nomme ses emplacements : Réserve, Surface de vente, Corner, le nom qu’il emploie déjà. Il leur affecte des plages de balises — les balises 1000 à 1049 sont la surface de vente — et l’avancement se lit emplacement par emplacement.</a:t>
            </a:r>
            <a:endParaRPr lang="en-US" sz="1200" dirty="0"/>
          </a:p>
          <a:p>
            <a:pPr algn="l" indent="0" marL="0">
              <a:lnSpc>
                <a:spcPct val="118000"/>
              </a:lnSpc>
              <a:buNone/>
            </a:pPr>
            <a:endParaRPr lang="en-US" sz="1200" dirty="0"/>
          </a:p>
          <a:p>
            <a:pPr algn="l" indent="0" marL="0">
              <a:lnSpc>
                <a:spcPct val="118000"/>
              </a:lnSpc>
              <a:buNone/>
            </a:pPr>
            <a:r>
              <a:rPr lang="en-US" sz="1200" dirty="0">
                <a:solidFill>
                  <a:srgbClr val="3A423F"/>
                </a:solidFill>
                <a:latin typeface="Public Sans" pitchFamily="34" charset="0"/>
                <a:ea typeface="Public Sans" pitchFamily="34" charset="-122"/>
                <a:cs typeface="Public Sans" pitchFamily="34" charset="-120"/>
              </a:rPr>
              <a:t>Rien à traduire, rien à noter à côté : ce que le compteur scanne porte le nom que le magasin lui donne.</a:t>
            </a:r>
            <a:endParaRPr lang="en-US" sz="1200" dirty="0"/>
          </a:p>
        </p:txBody>
      </p:sp>
      <p:sp>
        <p:nvSpPr>
          <p:cNvPr id="15" name="Text 11"/>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note d’intention</a:t>
            </a:r>
            <a:endParaRPr lang="en-US" sz="900" dirty="0"/>
          </a:p>
        </p:txBody>
      </p:sp>
      <p:sp>
        <p:nvSpPr>
          <p:cNvPr id="16" name="Text 12"/>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Quantinvo · note d’intention</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207008"/>
            <a:ext cx="10725912" cy="822960"/>
          </a:xfrm>
          <a:prstGeom prst="rect">
            <a:avLst/>
          </a:prstGeom>
          <a:noFill/>
          <a:ln/>
        </p:spPr>
        <p:txBody>
          <a:bodyPr wrap="square" lIns="0" tIns="0" rIns="0" bIns="0" rtlCol="0" anchor="t"/>
          <a:lstStyle/>
          <a:p>
            <a:pPr indent="0" marL="0">
              <a:lnSpc>
                <a:spcPct val="105000"/>
              </a:lnSpc>
              <a:buNone/>
            </a:pPr>
            <a:r>
              <a:rPr lang="en-US" sz="2700" b="1" dirty="0">
                <a:solidFill>
                  <a:srgbClr val="14181A"/>
                </a:solidFill>
                <a:latin typeface="Archivo" pitchFamily="34" charset="0"/>
                <a:ea typeface="Archivo" pitchFamily="34" charset="-122"/>
                <a:cs typeface="Archivo" pitchFamily="34" charset="-120"/>
              </a:rPr>
              <a:t>L’écart pendant l’inventaire, pas après</a:t>
            </a:r>
            <a:endParaRPr lang="en-US" sz="2700" dirty="0"/>
          </a:p>
        </p:txBody>
      </p:sp>
      <p:sp>
        <p:nvSpPr>
          <p:cNvPr id="7" name="Text 4"/>
          <p:cNvSpPr/>
          <p:nvPr/>
        </p:nvSpPr>
        <p:spPr>
          <a:xfrm>
            <a:off x="731520" y="1874520"/>
            <a:ext cx="10058400" cy="86868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Public Sans" pitchFamily="34" charset="0"/>
                <a:ea typeface="Public Sans" pitchFamily="34" charset="-122"/>
                <a:cs typeface="Public Sans" pitchFamily="34" charset="-120"/>
              </a:rPr>
              <a:t>C’est le manque que je reproche le plus à la plateforme actuelle : </a:t>
            </a:r>
            <a:pPr algn="l" indent="0" marL="0">
              <a:lnSpc>
                <a:spcPct val="118000"/>
              </a:lnSpc>
              <a:buNone/>
            </a:pPr>
            <a:r>
              <a:rPr lang="en-US" sz="1250" b="1" dirty="0">
                <a:solidFill>
                  <a:srgbClr val="14181A"/>
                </a:solidFill>
                <a:latin typeface="Public Sans" pitchFamily="34" charset="0"/>
                <a:ea typeface="Public Sans" pitchFamily="34" charset="-122"/>
                <a:cs typeface="Public Sans" pitchFamily="34" charset="-120"/>
              </a:rPr>
              <a:t>elle ne donne pas l’écart en direct</a:t>
            </a:r>
            <a:pPr algn="l" indent="0" marL="0">
              <a:lnSpc>
                <a:spcPct val="118000"/>
              </a:lnSpc>
              <a:buNone/>
            </a:pPr>
            <a:r>
              <a:rPr lang="en-US" sz="1250" dirty="0">
                <a:solidFill>
                  <a:srgbClr val="3A423F"/>
                </a:solidFill>
                <a:latin typeface="Public Sans" pitchFamily="34" charset="0"/>
                <a:ea typeface="Public Sans" pitchFamily="34" charset="-122"/>
                <a:cs typeface="Public Sans" pitchFamily="34" charset="-120"/>
              </a:rPr>
              <a:t>. On compte, on clôture, on découvre. Quand l’écart tombe, l’équipe est partie et le rayon a déjà bougé. Quantinvo compare le comptage et l’audit au fil de l’inventaire : chaque écart s’affiche dès que la balise est auditée, avec les deux quantités et sa valeur — et il se tranche d’un bouton.</a:t>
            </a:r>
            <a:endParaRPr lang="en-US" sz="1250" dirty="0"/>
          </a:p>
        </p:txBody>
      </p:sp>
      <p:sp>
        <p:nvSpPr>
          <p:cNvPr id="8" name="Shape 5"/>
          <p:cNvSpPr/>
          <p:nvPr/>
        </p:nvSpPr>
        <p:spPr>
          <a:xfrm>
            <a:off x="1650492" y="2825496"/>
            <a:ext cx="7850673" cy="3127248"/>
          </a:xfrm>
          <a:prstGeom prst="roundRect">
            <a:avLst>
              <a:gd name="adj" fmla="val 1170"/>
            </a:avLst>
          </a:prstGeom>
          <a:solidFill>
            <a:srgbClr val="FFFFFF"/>
          </a:solidFill>
          <a:ln w="12700">
            <a:solidFill>
              <a:srgbClr val="E2E5E1"/>
            </a:solidFill>
            <a:prstDash val="solid"/>
          </a:ln>
        </p:spPr>
      </p:sp>
      <p:pic>
        <p:nvPicPr>
          <p:cNvPr id="9" name="Image 1" descr="preencoded.png">    </p:cNvPr>
          <p:cNvPicPr>
            <a:picLocks noChangeAspect="1"/>
          </p:cNvPicPr>
          <p:nvPr/>
        </p:nvPicPr>
        <p:blipFill>
          <a:blip r:embed="rId2"/>
          <a:stretch>
            <a:fillRect/>
          </a:stretch>
        </p:blipFill>
        <p:spPr>
          <a:xfrm>
            <a:off x="1705356" y="2880360"/>
            <a:ext cx="7740945" cy="3017520"/>
          </a:xfrm>
          <a:prstGeom prst="rect">
            <a:avLst/>
          </a:prstGeom>
        </p:spPr>
      </p:pic>
      <p:sp>
        <p:nvSpPr>
          <p:cNvPr id="10" name="Text 6"/>
          <p:cNvSpPr/>
          <p:nvPr/>
        </p:nvSpPr>
        <p:spPr>
          <a:xfrm>
            <a:off x="2224004" y="6044184"/>
            <a:ext cx="7740945" cy="365760"/>
          </a:xfrm>
          <a:prstGeom prst="rect">
            <a:avLst/>
          </a:prstGeom>
          <a:noFill/>
          <a:ln/>
        </p:spPr>
        <p:txBody>
          <a:bodyPr wrap="square" lIns="0" tIns="0" rIns="0" bIns="0" rtlCol="0" anchor="t"/>
          <a:lstStyle/>
          <a:p>
            <a:pPr indent="0" marL="0">
              <a:buNone/>
            </a:pPr>
            <a:r>
              <a:rPr lang="en-US" sz="1000" i="1" dirty="0">
                <a:solidFill>
                  <a:srgbClr val="575F5C"/>
                </a:solidFill>
                <a:latin typeface="Public Sans" pitchFamily="34" charset="0"/>
                <a:ea typeface="Public Sans" pitchFamily="34" charset="-122"/>
                <a:cs typeface="Public Sans" pitchFamily="34" charset="-120"/>
              </a:rPr>
              <a:t>Onglet « Écarts d’audit » — données d’essai. « Compteur » et « Auditeur » retiennent l’une des deux quantités en un clic.</a:t>
            </a:r>
            <a:endParaRPr lang="en-US" sz="1000" dirty="0"/>
          </a:p>
        </p:txBody>
      </p:sp>
      <p:sp>
        <p:nvSpPr>
          <p:cNvPr id="11" name="Text 7"/>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note d’intention</a:t>
            </a:r>
            <a:endParaRPr lang="en-US" sz="900" dirty="0"/>
          </a:p>
        </p:txBody>
      </p:sp>
      <p:sp>
        <p:nvSpPr>
          <p:cNvPr id="12" name="Text 8"/>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Quantinvo · note d’intention</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207008"/>
            <a:ext cx="10725912" cy="822960"/>
          </a:xfrm>
          <a:prstGeom prst="rect">
            <a:avLst/>
          </a:prstGeom>
          <a:noFill/>
          <a:ln/>
        </p:spPr>
        <p:txBody>
          <a:bodyPr wrap="square" lIns="0" tIns="0" rIns="0" bIns="0" rtlCol="0" anchor="t"/>
          <a:lstStyle/>
          <a:p>
            <a:pPr indent="0" marL="0">
              <a:lnSpc>
                <a:spcPct val="105000"/>
              </a:lnSpc>
              <a:buNone/>
            </a:pPr>
            <a:r>
              <a:rPr lang="en-US" sz="2700" b="1" dirty="0">
                <a:solidFill>
                  <a:srgbClr val="14181A"/>
                </a:solidFill>
                <a:latin typeface="Archivo" pitchFamily="34" charset="0"/>
                <a:ea typeface="Archivo" pitchFamily="34" charset="-122"/>
                <a:cs typeface="Archivo" pitchFamily="34" charset="-120"/>
              </a:rPr>
              <a:t>Un rapport par inventaire</a:t>
            </a:r>
            <a:endParaRPr lang="en-US" sz="2700" dirty="0"/>
          </a:p>
        </p:txBody>
      </p:sp>
      <p:sp>
        <p:nvSpPr>
          <p:cNvPr id="7" name="Text 4"/>
          <p:cNvSpPr/>
          <p:nvPr/>
        </p:nvSpPr>
        <p:spPr>
          <a:xfrm>
            <a:off x="731520" y="1874520"/>
            <a:ext cx="10058400" cy="82296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Public Sans" pitchFamily="34" charset="0"/>
                <a:ea typeface="Public Sans" pitchFamily="34" charset="-122"/>
                <a:cs typeface="Public Sans" pitchFamily="34" charset="-120"/>
              </a:rPr>
              <a:t>Chaque inventaire produit le sien : stock théorique, stock compté, écart en unités et en valeur, ligne par ligne, et le statut de chaque référence. Il se télécharge en Excel ou en CSV. Quand un magasin mène plusieurs inventaires, un rapport consolidé les additionne et signale les références vues deux fois.</a:t>
            </a:r>
            <a:endParaRPr lang="en-US" sz="1250" dirty="0"/>
          </a:p>
        </p:txBody>
      </p:sp>
      <p:sp>
        <p:nvSpPr>
          <p:cNvPr id="8" name="Shape 5"/>
          <p:cNvSpPr/>
          <p:nvPr/>
        </p:nvSpPr>
        <p:spPr>
          <a:xfrm>
            <a:off x="1924812" y="2779776"/>
            <a:ext cx="6899675" cy="3172968"/>
          </a:xfrm>
          <a:prstGeom prst="roundRect">
            <a:avLst>
              <a:gd name="adj" fmla="val 1153"/>
            </a:avLst>
          </a:prstGeom>
          <a:solidFill>
            <a:srgbClr val="FFFFFF"/>
          </a:solidFill>
          <a:ln w="12700">
            <a:solidFill>
              <a:srgbClr val="E2E5E1"/>
            </a:solidFill>
            <a:prstDash val="solid"/>
          </a:ln>
        </p:spPr>
      </p:sp>
      <p:pic>
        <p:nvPicPr>
          <p:cNvPr id="9" name="Image 1" descr="preencoded.png">    </p:cNvPr>
          <p:cNvPicPr>
            <a:picLocks noChangeAspect="1"/>
          </p:cNvPicPr>
          <p:nvPr/>
        </p:nvPicPr>
        <p:blipFill>
          <a:blip r:embed="rId2"/>
          <a:stretch>
            <a:fillRect/>
          </a:stretch>
        </p:blipFill>
        <p:spPr>
          <a:xfrm>
            <a:off x="1979676" y="2834640"/>
            <a:ext cx="6789947" cy="3063240"/>
          </a:xfrm>
          <a:prstGeom prst="rect">
            <a:avLst/>
          </a:prstGeom>
        </p:spPr>
      </p:pic>
      <p:sp>
        <p:nvSpPr>
          <p:cNvPr id="10" name="Text 6"/>
          <p:cNvSpPr/>
          <p:nvPr/>
        </p:nvSpPr>
        <p:spPr>
          <a:xfrm>
            <a:off x="2699503" y="6044184"/>
            <a:ext cx="6789947" cy="365760"/>
          </a:xfrm>
          <a:prstGeom prst="rect">
            <a:avLst/>
          </a:prstGeom>
          <a:noFill/>
          <a:ln/>
        </p:spPr>
        <p:txBody>
          <a:bodyPr wrap="square" lIns="0" tIns="0" rIns="0" bIns="0" rtlCol="0" anchor="t"/>
          <a:lstStyle/>
          <a:p>
            <a:pPr indent="0" marL="0">
              <a:buNone/>
            </a:pPr>
            <a:r>
              <a:rPr lang="en-US" sz="1000" i="1" dirty="0">
                <a:solidFill>
                  <a:srgbClr val="575F5C"/>
                </a:solidFill>
                <a:latin typeface="Public Sans" pitchFamily="34" charset="0"/>
                <a:ea typeface="Public Sans" pitchFamily="34" charset="-122"/>
                <a:cs typeface="Public Sans" pitchFamily="34" charset="-120"/>
              </a:rPr>
              <a:t>Onglet « Rapport » — données d’essai. Le bandeau prévient quand un écart n’a pas encore été arbitré.</a:t>
            </a:r>
            <a:endParaRPr lang="en-US" sz="1000" dirty="0"/>
          </a:p>
        </p:txBody>
      </p:sp>
      <p:sp>
        <p:nvSpPr>
          <p:cNvPr id="11" name="Text 7"/>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note d’intention</a:t>
            </a:r>
            <a:endParaRPr lang="en-US" sz="900" dirty="0"/>
          </a:p>
        </p:txBody>
      </p:sp>
      <p:sp>
        <p:nvSpPr>
          <p:cNvPr id="12" name="Text 8"/>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Quantinvo · note d’intention</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Et l’écart</a:t>
            </a:r>
            <a:endParaRPr lang="en-US" sz="2600" dirty="0"/>
          </a:p>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devient une courbe</a:t>
            </a:r>
            <a:endParaRPr lang="en-US" sz="2600" dirty="0"/>
          </a:p>
        </p:txBody>
      </p:sp>
      <p:sp>
        <p:nvSpPr>
          <p:cNvPr id="7" name="Text 4"/>
          <p:cNvSpPr/>
          <p:nvPr/>
        </p:nvSpPr>
        <p:spPr>
          <a:xfrm>
            <a:off x="731520" y="3017520"/>
            <a:ext cx="4206240" cy="137160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Public Sans" pitchFamily="34" charset="0"/>
                <a:ea typeface="Public Sans" pitchFamily="34" charset="-122"/>
                <a:cs typeface="Public Sans" pitchFamily="34" charset="-120"/>
              </a:rPr>
              <a:t>Ce qui manquait le plus : savoir si l’écart d’une marque se réduit d’un inventaire au suivant. Il faut pour cela pouvoir recompter — donc lever les quatre obstacles précédents — et garder la trace des deux mesures.</a:t>
            </a:r>
            <a:endParaRPr lang="en-US" sz="1250" dirty="0"/>
          </a:p>
        </p:txBody>
      </p:sp>
      <p:sp>
        <p:nvSpPr>
          <p:cNvPr id="8" name="Text 5"/>
          <p:cNvSpPr/>
          <p:nvPr/>
        </p:nvSpPr>
        <p:spPr>
          <a:xfrm>
            <a:off x="731520" y="4434840"/>
            <a:ext cx="4206240" cy="118872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Public Sans" pitchFamily="34" charset="0"/>
                <a:ea typeface="Public Sans" pitchFamily="34" charset="-122"/>
                <a:cs typeface="Public Sans" pitchFamily="34" charset="-120"/>
              </a:rPr>
              <a:t>Le tableau de bord du magasin porte les pièces comptées, la valeur comptée et l’écart des trente derniers jours. Le suivi de variance cesse d’être un tableur tenu à la main.</a:t>
            </a:r>
            <a:endParaRPr lang="en-US" sz="1250" dirty="0"/>
          </a:p>
        </p:txBody>
      </p:sp>
      <p:sp>
        <p:nvSpPr>
          <p:cNvPr id="9" name="Shape 6"/>
          <p:cNvSpPr/>
          <p:nvPr/>
        </p:nvSpPr>
        <p:spPr>
          <a:xfrm>
            <a:off x="6281928" y="1316736"/>
            <a:ext cx="5230368" cy="3983033"/>
          </a:xfrm>
          <a:prstGeom prst="roundRect">
            <a:avLst>
              <a:gd name="adj" fmla="val 918"/>
            </a:avLst>
          </a:prstGeom>
          <a:solidFill>
            <a:srgbClr val="FFFFFF"/>
          </a:solidFill>
          <a:ln w="12700">
            <a:solidFill>
              <a:srgbClr val="E2E5E1"/>
            </a:solidFill>
            <a:prstDash val="solid"/>
          </a:ln>
        </p:spPr>
      </p:sp>
      <p:pic>
        <p:nvPicPr>
          <p:cNvPr id="10" name="Image 1" descr="preencoded.png">    </p:cNvPr>
          <p:cNvPicPr>
            <a:picLocks noChangeAspect="1"/>
          </p:cNvPicPr>
          <p:nvPr/>
        </p:nvPicPr>
        <p:blipFill>
          <a:blip r:embed="rId2"/>
          <a:stretch>
            <a:fillRect/>
          </a:stretch>
        </p:blipFill>
        <p:spPr>
          <a:xfrm>
            <a:off x="6336792" y="1371600"/>
            <a:ext cx="5120640" cy="3873305"/>
          </a:xfrm>
          <a:prstGeom prst="rect">
            <a:avLst/>
          </a:prstGeom>
        </p:spPr>
      </p:pic>
      <p:sp>
        <p:nvSpPr>
          <p:cNvPr id="11" name="Text 7"/>
          <p:cNvSpPr/>
          <p:nvPr/>
        </p:nvSpPr>
        <p:spPr>
          <a:xfrm>
            <a:off x="6336792" y="5391209"/>
            <a:ext cx="5120640" cy="365760"/>
          </a:xfrm>
          <a:prstGeom prst="rect">
            <a:avLst/>
          </a:prstGeom>
          <a:noFill/>
          <a:ln/>
        </p:spPr>
        <p:txBody>
          <a:bodyPr wrap="square" lIns="0" tIns="0" rIns="0" bIns="0" rtlCol="0" anchor="t"/>
          <a:lstStyle/>
          <a:p>
            <a:pPr indent="0" marL="0">
              <a:buNone/>
            </a:pPr>
            <a:r>
              <a:rPr lang="en-US" sz="1000" i="1" dirty="0">
                <a:solidFill>
                  <a:srgbClr val="575F5C"/>
                </a:solidFill>
                <a:latin typeface="Public Sans" pitchFamily="34" charset="0"/>
                <a:ea typeface="Public Sans" pitchFamily="34" charset="-122"/>
                <a:cs typeface="Public Sans" pitchFamily="34" charset="-120"/>
              </a:rPr>
              <a:t>Tableau de bord du superviseur — données d’essai.</a:t>
            </a:r>
            <a:endParaRPr lang="en-US" sz="1000" dirty="0"/>
          </a:p>
        </p:txBody>
      </p:sp>
      <p:sp>
        <p:nvSpPr>
          <p:cNvPr id="12" name="Text 8"/>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note d’intention</a:t>
            </a:r>
            <a:endParaRPr lang="en-US" sz="900" dirty="0"/>
          </a:p>
        </p:txBody>
      </p:sp>
      <p:sp>
        <p:nvSpPr>
          <p:cNvPr id="13" name="Text 9"/>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Quantinvo · note d’intention</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Ce que je ne</a:t>
            </a:r>
            <a:endParaRPr lang="en-US" sz="2600" dirty="0"/>
          </a:p>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promets pas</a:t>
            </a:r>
            <a:endParaRPr lang="en-US" sz="2600" dirty="0"/>
          </a:p>
        </p:txBody>
      </p:sp>
      <p:sp>
        <p:nvSpPr>
          <p:cNvPr id="7" name="Text 4"/>
          <p:cNvSpPr/>
          <p:nvPr/>
        </p:nvSpPr>
        <p:spPr>
          <a:xfrm>
            <a:off x="731520" y="2880360"/>
            <a:ext cx="4206240" cy="822960"/>
          </a:xfrm>
          <a:prstGeom prst="rect">
            <a:avLst/>
          </a:prstGeom>
          <a:noFill/>
          <a:ln/>
        </p:spPr>
        <p:txBody>
          <a:bodyPr wrap="square" lIns="0" tIns="0" rIns="0" bIns="0" rtlCol="0" anchor="t"/>
          <a:lstStyle/>
          <a:p>
            <a:pPr algn="l" indent="0" marL="0">
              <a:lnSpc>
                <a:spcPct val="118000"/>
              </a:lnSpc>
              <a:buNone/>
            </a:pPr>
            <a:r>
              <a:rPr lang="en-US" sz="1250" dirty="0">
                <a:solidFill>
                  <a:srgbClr val="575F5C"/>
                </a:solidFill>
                <a:latin typeface="Public Sans" pitchFamily="34" charset="0"/>
                <a:ea typeface="Public Sans" pitchFamily="34" charset="-122"/>
                <a:cs typeface="Public Sans" pitchFamily="34" charset="-120"/>
              </a:rPr>
              <a:t>Un outil d’inventaire qui prétend tout faire ment sur au moins un point.</a:t>
            </a:r>
            <a:endParaRPr lang="en-US" sz="1250" dirty="0"/>
          </a:p>
        </p:txBody>
      </p:sp>
      <p:sp>
        <p:nvSpPr>
          <p:cNvPr id="8" name="Text 5"/>
          <p:cNvSpPr/>
          <p:nvPr/>
        </p:nvSpPr>
        <p:spPr>
          <a:xfrm>
            <a:off x="5394960" y="1371600"/>
            <a:ext cx="6062472" cy="3291840"/>
          </a:xfrm>
          <a:prstGeom prst="rect">
            <a:avLst/>
          </a:prstGeom>
          <a:noFill/>
          <a:ln/>
        </p:spPr>
        <p:txBody>
          <a:bodyPr wrap="square" lIns="0" tIns="0" rIns="0" bIns="0" rtlCol="0" anchor="t"/>
          <a:lstStyle/>
          <a:p>
            <a:pPr indent="0" marL="0">
              <a:lnSpc>
                <a:spcPct val="118000"/>
              </a:lnSpc>
              <a:spcAft>
                <a:spcPts val="1200"/>
              </a:spcAft>
              <a:buNone/>
            </a:pPr>
            <a:r>
              <a:rPr lang="en-US" sz="1250" b="1" dirty="0">
                <a:solidFill>
                  <a:srgbClr val="14181A"/>
                </a:solidFill>
                <a:latin typeface="Public Sans" pitchFamily="34" charset="0"/>
                <a:ea typeface="Public Sans" pitchFamily="34" charset="-122"/>
                <a:cs typeface="Public Sans" pitchFamily="34" charset="-120"/>
              </a:rPr>
              <a:t>Quantinvo ne remplace ni l’ERP ni la caisse. </a:t>
            </a:r>
            <a:pPr indent="0" marL="0">
              <a:lnSpc>
                <a:spcPct val="118000"/>
              </a:lnSpc>
              <a:spcAft>
                <a:spcPts val="1200"/>
              </a:spcAft>
              <a:buNone/>
            </a:pPr>
            <a:r>
              <a:rPr lang="en-US" sz="1250" dirty="0">
                <a:solidFill>
                  <a:srgbClr val="3A423F"/>
                </a:solidFill>
                <a:latin typeface="Public Sans" pitchFamily="34" charset="0"/>
                <a:ea typeface="Public Sans" pitchFamily="34" charset="-122"/>
                <a:cs typeface="Public Sans" pitchFamily="34" charset="-120"/>
              </a:rPr>
              <a:t>Il compte, il compare, il rend un rapport. L’ajustement du stock reste dans vos systèmes, et c’est vous qui le décidez.</a:t>
            </a:r>
            <a:endParaRPr lang="en-US" sz="1250" dirty="0"/>
          </a:p>
          <a:p>
            <a:pPr indent="0" marL="0">
              <a:lnSpc>
                <a:spcPct val="118000"/>
              </a:lnSpc>
              <a:spcAft>
                <a:spcPts val="1200"/>
              </a:spcAft>
              <a:buNone/>
            </a:pPr>
            <a:r>
              <a:rPr lang="en-US" sz="1250" b="1" dirty="0">
                <a:solidFill>
                  <a:srgbClr val="14181A"/>
                </a:solidFill>
                <a:latin typeface="Public Sans" pitchFamily="34" charset="0"/>
                <a:ea typeface="Public Sans" pitchFamily="34" charset="-122"/>
                <a:cs typeface="Public Sans" pitchFamily="34" charset="-120"/>
              </a:rPr>
              <a:t>Il ne compte pas à votre place. </a:t>
            </a:r>
            <a:pPr indent="0" marL="0">
              <a:lnSpc>
                <a:spcPct val="118000"/>
              </a:lnSpc>
              <a:spcAft>
                <a:spcPts val="1200"/>
              </a:spcAft>
              <a:buNone/>
            </a:pPr>
            <a:r>
              <a:rPr lang="en-US" sz="1250" dirty="0">
                <a:solidFill>
                  <a:srgbClr val="3A423F"/>
                </a:solidFill>
                <a:latin typeface="Public Sans" pitchFamily="34" charset="0"/>
                <a:ea typeface="Public Sans" pitchFamily="34" charset="-122"/>
                <a:cs typeface="Public Sans" pitchFamily="34" charset="-120"/>
              </a:rPr>
              <a:t>Un rayon se parcourt à la main, article par article, et cela prend le temps que cela prend. Ce qui change, c’est tout ce qu’il y avait autour.</a:t>
            </a:r>
            <a:endParaRPr lang="en-US" sz="1250" dirty="0"/>
          </a:p>
          <a:p>
            <a:pPr indent="0" marL="0">
              <a:lnSpc>
                <a:spcPct val="118000"/>
              </a:lnSpc>
              <a:spcAft>
                <a:spcPts val="1200"/>
              </a:spcAft>
              <a:buNone/>
            </a:pPr>
            <a:r>
              <a:rPr lang="en-US" sz="1250" b="1" dirty="0">
                <a:solidFill>
                  <a:srgbClr val="14181A"/>
                </a:solidFill>
                <a:latin typeface="Public Sans" pitchFamily="34" charset="0"/>
                <a:ea typeface="Public Sans" pitchFamily="34" charset="-122"/>
                <a:cs typeface="Public Sans" pitchFamily="34" charset="-120"/>
              </a:rPr>
              <a:t>Il ne lit pas la RFID. </a:t>
            </a:r>
            <a:pPr indent="0" marL="0">
              <a:lnSpc>
                <a:spcPct val="118000"/>
              </a:lnSpc>
              <a:spcAft>
                <a:spcPts val="1200"/>
              </a:spcAft>
              <a:buNone/>
            </a:pPr>
            <a:r>
              <a:rPr lang="en-US" sz="1250" dirty="0">
                <a:solidFill>
                  <a:srgbClr val="3A423F"/>
                </a:solidFill>
                <a:latin typeface="Public Sans" pitchFamily="34" charset="0"/>
                <a:ea typeface="Public Sans" pitchFamily="34" charset="-122"/>
                <a:cs typeface="Public Sans" pitchFamily="34" charset="-120"/>
              </a:rPr>
              <a:t>Codes-barres et QR, oui, à la caméra ou à la douchette. La RFID, non.</a:t>
            </a:r>
            <a:endParaRPr lang="en-US" sz="1250" dirty="0"/>
          </a:p>
          <a:p>
            <a:pPr indent="0" marL="0">
              <a:lnSpc>
                <a:spcPct val="118000"/>
              </a:lnSpc>
              <a:spcAft>
                <a:spcPts val="1200"/>
              </a:spcAft>
              <a:buNone/>
            </a:pPr>
            <a:r>
              <a:rPr lang="en-US" sz="1250" b="1" dirty="0">
                <a:solidFill>
                  <a:srgbClr val="14181A"/>
                </a:solidFill>
                <a:latin typeface="Public Sans" pitchFamily="34" charset="0"/>
                <a:ea typeface="Public Sans" pitchFamily="34" charset="-122"/>
                <a:cs typeface="Public Sans" pitchFamily="34" charset="-120"/>
              </a:rPr>
              <a:t>Et il ne fait pas disparaître la démarque. </a:t>
            </a:r>
            <a:pPr indent="0" marL="0">
              <a:lnSpc>
                <a:spcPct val="118000"/>
              </a:lnSpc>
              <a:spcAft>
                <a:spcPts val="1200"/>
              </a:spcAft>
              <a:buNone/>
            </a:pPr>
            <a:r>
              <a:rPr lang="en-US" sz="1250" dirty="0">
                <a:solidFill>
                  <a:srgbClr val="3A423F"/>
                </a:solidFill>
                <a:latin typeface="Public Sans" pitchFamily="34" charset="0"/>
                <a:ea typeface="Public Sans" pitchFamily="34" charset="-122"/>
                <a:cs typeface="Public Sans" pitchFamily="34" charset="-120"/>
              </a:rPr>
              <a:t>Il la montre plus tôt, plus souvent, et au bon endroit. C’est déjà beaucoup — ce n’est pas la même chose.</a:t>
            </a:r>
            <a:endParaRPr lang="en-US" sz="1250" dirty="0"/>
          </a:p>
        </p:txBody>
      </p:sp>
      <p:sp>
        <p:nvSpPr>
          <p:cNvPr id="9" name="Shape 6"/>
          <p:cNvSpPr/>
          <p:nvPr/>
        </p:nvSpPr>
        <p:spPr>
          <a:xfrm>
            <a:off x="5394960" y="4617720"/>
            <a:ext cx="6062472" cy="1143000"/>
          </a:xfrm>
          <a:prstGeom prst="roundRect">
            <a:avLst>
              <a:gd name="adj" fmla="val 3200"/>
            </a:avLst>
          </a:prstGeom>
          <a:solidFill>
            <a:srgbClr val="F2F3F1"/>
          </a:solidFill>
          <a:ln w="12700">
            <a:solidFill>
              <a:srgbClr val="F2F3F1"/>
            </a:solidFill>
            <a:prstDash val="solid"/>
          </a:ln>
        </p:spPr>
      </p:sp>
      <p:sp>
        <p:nvSpPr>
          <p:cNvPr id="10" name="Text 7"/>
          <p:cNvSpPr/>
          <p:nvPr/>
        </p:nvSpPr>
        <p:spPr>
          <a:xfrm>
            <a:off x="5669280" y="4782312"/>
            <a:ext cx="5513832" cy="228600"/>
          </a:xfrm>
          <a:prstGeom prst="rect">
            <a:avLst/>
          </a:prstGeom>
          <a:noFill/>
          <a:ln/>
        </p:spPr>
        <p:txBody>
          <a:bodyPr wrap="square" lIns="0" tIns="0" rIns="0" bIns="0" rtlCol="0" anchor="t"/>
          <a:lstStyle/>
          <a:p>
            <a:pPr indent="0" marL="0">
              <a:buNone/>
            </a:pPr>
            <a:r>
              <a:rPr lang="en-US" sz="950" b="1" dirty="0">
                <a:solidFill>
                  <a:srgbClr val="575F5C"/>
                </a:solidFill>
                <a:latin typeface="Public Sans" pitchFamily="34" charset="0"/>
                <a:ea typeface="Public Sans" pitchFamily="34" charset="-122"/>
                <a:cs typeface="Public Sans" pitchFamily="34" charset="-120"/>
              </a:rPr>
              <a:t>Et ce qu’il fait, lui</a:t>
            </a:r>
            <a:endParaRPr lang="en-US" sz="950" dirty="0"/>
          </a:p>
        </p:txBody>
      </p:sp>
      <p:sp>
        <p:nvSpPr>
          <p:cNvPr id="11" name="Text 8"/>
          <p:cNvSpPr/>
          <p:nvPr/>
        </p:nvSpPr>
        <p:spPr>
          <a:xfrm>
            <a:off x="5669280" y="5038344"/>
            <a:ext cx="5513832" cy="594360"/>
          </a:xfrm>
          <a:prstGeom prst="rect">
            <a:avLst/>
          </a:prstGeom>
          <a:noFill/>
          <a:ln/>
        </p:spPr>
        <p:txBody>
          <a:bodyPr wrap="square" lIns="0" tIns="0" rIns="0" bIns="0" rtlCol="0" anchor="t"/>
          <a:lstStyle/>
          <a:p>
            <a:pPr indent="0" marL="0">
              <a:lnSpc>
                <a:spcPct val="115000"/>
              </a:lnSpc>
              <a:buNone/>
            </a:pPr>
            <a:r>
              <a:rPr lang="en-US" sz="1150" i="1" dirty="0">
                <a:solidFill>
                  <a:srgbClr val="3A423F"/>
                </a:solidFill>
                <a:latin typeface="Public Sans" pitchFamily="34" charset="0"/>
                <a:ea typeface="Public Sans" pitchFamily="34" charset="-122"/>
                <a:cs typeface="Public Sans" pitchFamily="34" charset="-120"/>
              </a:rPr>
              <a:t>Il retire tout ce qui empêchait de compter souvent : la demande à envoyer, le matériel à commander, la base à rafraîchir, la zone à traduire. Ce qui reste est le comptage — et il est à vous.</a:t>
            </a:r>
            <a:endParaRPr lang="en-US" sz="1150" dirty="0"/>
          </a:p>
        </p:txBody>
      </p:sp>
      <p:sp>
        <p:nvSpPr>
          <p:cNvPr id="12" name="Text 9"/>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note d’intention</a:t>
            </a:r>
            <a:endParaRPr lang="en-US" sz="900" dirty="0"/>
          </a:p>
        </p:txBody>
      </p:sp>
      <p:sp>
        <p:nvSpPr>
          <p:cNvPr id="13" name="Text 10"/>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685800"/>
            <a:ext cx="566928" cy="566928"/>
          </a:xfrm>
          <a:prstGeom prst="rect">
            <a:avLst/>
          </a:prstGeom>
        </p:spPr>
      </p:pic>
      <p:sp>
        <p:nvSpPr>
          <p:cNvPr id="3" name="Text 0"/>
          <p:cNvSpPr/>
          <p:nvPr/>
        </p:nvSpPr>
        <p:spPr>
          <a:xfrm>
            <a:off x="1444752" y="658368"/>
            <a:ext cx="4572000" cy="621792"/>
          </a:xfrm>
          <a:prstGeom prst="rect">
            <a:avLst/>
          </a:prstGeom>
          <a:noFill/>
          <a:ln/>
        </p:spPr>
        <p:txBody>
          <a:bodyPr wrap="square" lIns="0" tIns="0" rIns="0" bIns="0" rtlCol="0" anchor="ctr"/>
          <a:lstStyle/>
          <a:p>
            <a:pPr indent="0" marL="0">
              <a:buNone/>
            </a:pPr>
            <a:r>
              <a:rPr lang="en-US" sz="2400" b="1" dirty="0">
                <a:solidFill>
                  <a:srgbClr val="14181A"/>
                </a:solidFill>
                <a:latin typeface="Archivo" pitchFamily="34" charset="0"/>
                <a:ea typeface="Archivo" pitchFamily="34" charset="-122"/>
                <a:cs typeface="Archivo" pitchFamily="34" charset="-120"/>
              </a:rPr>
              <a:t>Quantinvo</a:t>
            </a:r>
            <a:endParaRPr lang="en-US" sz="2400" dirty="0"/>
          </a:p>
        </p:txBody>
      </p:sp>
      <p:sp>
        <p:nvSpPr>
          <p:cNvPr id="4" name="Shape 1"/>
          <p:cNvSpPr/>
          <p:nvPr/>
        </p:nvSpPr>
        <p:spPr>
          <a:xfrm>
            <a:off x="731520" y="1481328"/>
            <a:ext cx="2011680" cy="20117"/>
          </a:xfrm>
          <a:prstGeom prst="rect">
            <a:avLst/>
          </a:prstGeom>
          <a:solidFill>
            <a:srgbClr val="14181A"/>
          </a:solidFill>
          <a:ln w="12700">
            <a:solidFill>
              <a:srgbClr val="14181A"/>
            </a:solidFill>
            <a:prstDash val="solid"/>
          </a:ln>
        </p:spPr>
      </p:sp>
      <p:sp>
        <p:nvSpPr>
          <p:cNvPr id="5" name="Text 2"/>
          <p:cNvSpPr/>
          <p:nvPr/>
        </p:nvSpPr>
        <p:spPr>
          <a:xfrm>
            <a:off x="731520" y="2377440"/>
            <a:ext cx="8686800" cy="1188720"/>
          </a:xfrm>
          <a:prstGeom prst="rect">
            <a:avLst/>
          </a:prstGeom>
          <a:noFill/>
          <a:ln/>
        </p:spPr>
        <p:txBody>
          <a:bodyPr wrap="square" lIns="0" tIns="0" rIns="0" bIns="0" rtlCol="0" anchor="t"/>
          <a:lstStyle/>
          <a:p>
            <a:pPr indent="0" marL="0">
              <a:lnSpc>
                <a:spcPct val="105000"/>
              </a:lnSpc>
              <a:buNone/>
            </a:pPr>
            <a:r>
              <a:rPr lang="en-US" sz="3600" b="1" dirty="0">
                <a:solidFill>
                  <a:srgbClr val="14181A"/>
                </a:solidFill>
                <a:latin typeface="Archivo" pitchFamily="34" charset="0"/>
                <a:ea typeface="Archivo" pitchFamily="34" charset="-122"/>
                <a:cs typeface="Archivo" pitchFamily="34" charset="-120"/>
              </a:rPr>
              <a:t>Ce que je voulais,</a:t>
            </a:r>
            <a:endParaRPr lang="en-US" sz="3600" dirty="0"/>
          </a:p>
          <a:p>
            <a:pPr indent="0" marL="0">
              <a:lnSpc>
                <a:spcPct val="105000"/>
              </a:lnSpc>
              <a:buNone/>
            </a:pPr>
            <a:r>
              <a:rPr lang="en-US" sz="3600" b="1" dirty="0">
                <a:solidFill>
                  <a:srgbClr val="14181A"/>
                </a:solidFill>
                <a:latin typeface="Archivo" pitchFamily="34" charset="0"/>
                <a:ea typeface="Archivo" pitchFamily="34" charset="-122"/>
                <a:cs typeface="Archivo" pitchFamily="34" charset="-120"/>
              </a:rPr>
              <a:t>au fond</a:t>
            </a:r>
            <a:endParaRPr lang="en-US" sz="3600" dirty="0"/>
          </a:p>
        </p:txBody>
      </p:sp>
      <p:sp>
        <p:nvSpPr>
          <p:cNvPr id="6" name="Text 3"/>
          <p:cNvSpPr/>
          <p:nvPr/>
        </p:nvSpPr>
        <p:spPr>
          <a:xfrm>
            <a:off x="731520" y="3657600"/>
            <a:ext cx="7315200" cy="1188720"/>
          </a:xfrm>
          <a:prstGeom prst="rect">
            <a:avLst/>
          </a:prstGeom>
          <a:noFill/>
          <a:ln/>
        </p:spPr>
        <p:txBody>
          <a:bodyPr wrap="square" lIns="0" tIns="0" rIns="0" bIns="0" rtlCol="0" anchor="t"/>
          <a:lstStyle/>
          <a:p>
            <a:pPr indent="0" marL="0">
              <a:lnSpc>
                <a:spcPct val="120000"/>
              </a:lnSpc>
              <a:buNone/>
            </a:pPr>
            <a:r>
              <a:rPr lang="en-US" sz="1450" dirty="0">
                <a:solidFill>
                  <a:srgbClr val="3A423F"/>
                </a:solidFill>
                <a:latin typeface="Public Sans" pitchFamily="34" charset="0"/>
                <a:ea typeface="Public Sans" pitchFamily="34" charset="-122"/>
                <a:cs typeface="Public Sans" pitchFamily="34" charset="-120"/>
              </a:rPr>
              <a:t>Que chacun soit autonome : que le magasin ne dépende plus d’un service, d’un fournisseur ou d’une commande de matériel pour compter ce qu’il a. Et que là où un service d’inventaire existe, il travaille avec les équipes au lieu de travailler à leur place.</a:t>
            </a:r>
            <a:endParaRPr lang="en-US" sz="1450" dirty="0"/>
          </a:p>
        </p:txBody>
      </p:sp>
      <p:sp>
        <p:nvSpPr>
          <p:cNvPr id="7" name="Text 4"/>
          <p:cNvSpPr/>
          <p:nvPr/>
        </p:nvSpPr>
        <p:spPr>
          <a:xfrm>
            <a:off x="731520" y="5029200"/>
            <a:ext cx="8229600" cy="411480"/>
          </a:xfrm>
          <a:prstGeom prst="rect">
            <a:avLst/>
          </a:prstGeom>
          <a:noFill/>
          <a:ln/>
        </p:spPr>
        <p:txBody>
          <a:bodyPr wrap="square" lIns="0" tIns="0" rIns="0" bIns="0" rtlCol="0" anchor="t"/>
          <a:lstStyle/>
          <a:p>
            <a:pPr indent="0" marL="0">
              <a:buNone/>
            </a:pPr>
            <a:r>
              <a:rPr lang="en-US" sz="1500" b="1" dirty="0">
                <a:solidFill>
                  <a:srgbClr val="14181A"/>
                </a:solidFill>
                <a:latin typeface="Archivo" pitchFamily="34" charset="0"/>
                <a:ea typeface="Archivo" pitchFamily="34" charset="-122"/>
                <a:cs typeface="Archivo" pitchFamily="34" charset="-120"/>
              </a:rPr>
              <a:t>contact@quantinvo.com</a:t>
            </a:r>
            <a:endParaRPr lang="en-US" sz="1500" dirty="0"/>
          </a:p>
        </p:txBody>
      </p:sp>
      <p:sp>
        <p:nvSpPr>
          <p:cNvPr id="8" name="Text 5"/>
          <p:cNvSpPr/>
          <p:nvPr/>
        </p:nvSpPr>
        <p:spPr>
          <a:xfrm>
            <a:off x="731520" y="6080760"/>
            <a:ext cx="9144000" cy="320040"/>
          </a:xfrm>
          <a:prstGeom prst="rect">
            <a:avLst/>
          </a:prstGeom>
          <a:noFill/>
          <a:ln/>
        </p:spPr>
        <p:txBody>
          <a:bodyPr wrap="square" lIns="0" tIns="0" rIns="0" bIns="0" rtlCol="0" anchor="t"/>
          <a:lstStyle/>
          <a:p>
            <a:pPr indent="0" marL="0">
              <a:buNone/>
            </a:pPr>
            <a:r>
              <a:rPr lang="en-US" sz="1050" dirty="0">
                <a:solidFill>
                  <a:srgbClr val="575F5C"/>
                </a:solidFill>
                <a:latin typeface="Public Sans" pitchFamily="34" charset="0"/>
                <a:ea typeface="Public Sans" pitchFamily="34" charset="-122"/>
                <a:cs typeface="Public Sans" pitchFamily="34" charset="-120"/>
              </a:rPr>
              <a:t>Julien Thiong-Kay  ·  Devkaylab  ·  www.quantinvo.com</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Devkaylab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Quantinvo — pourquoi je l'ai créé</dc:title>
  <dc:subject>PptxGenJS Presentation</dc:subject>
  <dc:creator>Devkaylab</dc:creator>
  <cp:lastModifiedBy>Devkaylab</cp:lastModifiedBy>
  <cp:revision>1</cp:revision>
  <dcterms:created xsi:type="dcterms:W3CDTF">2026-09-14T17:29:39Z</dcterms:created>
  <dcterms:modified xsi:type="dcterms:W3CDTF">2026-09-14T17:29:39Z</dcterms:modified>
</cp:coreProperties>
</file>